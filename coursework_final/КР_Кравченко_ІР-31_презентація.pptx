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Добрий день. Тема курсової роботи — проєктування розподіленої IoT-системи обміну телеметрією та координації дронів-перехоплювачів. Об’єкт — умовний регіональний центр протидронової оборони.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 даними Defense News, у 2025 році в Україні вироблено 100 тисяч дронів-перехоплювачів по 3–5 тисяч доларів, тоді як ракета Patriot коштує понад 3 мільйони. У лютому 2026 року на перехоплювачі припадало понад 70 % збитих над Києвом Shahed, а головним обмеженням названо сенсори. Отже, потрібна система, яка зводить дані сенсорів і координує розрахунки.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Мета — розробити проєкт системи, що забезпечує безпеку повітряного простору на території, яку вона покриває. Сім завдань узято з методичних вказівок: від аналізу предметної області до прототипу.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Центр прикриває 3 райони, близько 9 тисяч квадратних кілометрів і 14 об’єктів критичної інфраструктури. Структура лінійно-функціональна. Досліджуваний підрозділ — командний пункт: через нього проходять усі потоки бойового управління.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Аналіз виявив сім проблем: різні канали виявлень, голосове цілевказання із затримкою до 90 секунд, немає даних про готовність тощо. З них виведено 22 функціональні вимоги, 14 — високого пріоритету.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Генеральна мета — безпека повітряного простору території. Метод — дезагрегація цілей: 5 цілей першого рівня, 15 — другого і 30 заходів; пунктиром позначено альтернативи «або».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WBS має чотири рівні: проєкт, 8 субпроєктів, 20 блоків і 42 робочі пакети. Бюджет 29 330 тисяч гривень отримано сумуванням вартості пакетів знизу догори.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Діяльність центру подано п’ятьма пулами-функціями; зовнішні учасники — згорнуті пули. Потоки повідомлень показують, що передається між функціями: виявлення, ціль, завдання, доповіді.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Пул P2: перевірка зон заборони та планів польотів, вибір розрахунку офіцером бойового управління, санкція оперативного чергового. Пропонує одна особа, санкціонує інша.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Прецеденти UC1–UC12. Запропонувати місію завжди включає підбір розрахунку — це include; перепризначення розширює санкціонування лише при відмові — це extend.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Діаграма діяльності охоплює всі 8 допустимих переходів стану місії. Діаграма класів подає 10 класів з 20 таблиць; дві асоціації «запропонував» і «санкціонував» — це правило двох осіб.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Система — інтерактивна супервізорного управління: оператор видає цілевказівки, автоматика виконує. Ядро в основному й резервному ЦОД — трирівневе, позиції обслуговують периферійні шлюзи. Компоненти з позначкою «прототип» реалізовано.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ЦОД з реплікацією, 9 периферійних шлюзів, АРМ і планшети. Протоколи: MQTT 5 для сенсорів, ASTERIX для РЛС, MAVLink 2 для перехоплювачів, HTTPS і WebSocket для застосунків.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ролей і 21 право; адміністратор не має бойових прав, офіцер кібербезпеки читає журнал, але не змінює його. Правила виконуються тригерами СКБД, тому їх неможливо обійти навіть прямим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Прототип — працюючий веб-застосунок над PostgreSQL. Ліворуч — повітряна обстановка з мнемосхемою і чергою загроз, праворуч — картка місії командира розрахунку. Екрани зроблено з працюючого застосунку.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Підсумок: пройдено всі етапи — від аналізу до працюючого прототипу. Ядро бізнес-правил працює і перевірене тестами. Напрями розвитку — периферійні шлюзи з адаптерами, деконфлікція, доставка завдань на планшет. Дякую за увагу.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2DB"/>
                </a:solidFill>
                <a:latin typeface="Arial"/>
              </a:rPr>
              <a:t>Курсова робота з дисципліни «Проєктування інформаційних систем»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960120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Проєктування розподіленої IoT-системи обміну телеметрією та координації дронів-перехоплювачів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7315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2DB"/>
                </a:solidFill>
                <a:latin typeface="Arial"/>
              </a:rPr>
              <a:t>Виконав: </a:t>
            </a:r>
            <a:r>
              <a:rPr sz="1800" b="0">
                <a:solidFill>
                  <a:srgbClr val="FFFFFF"/>
                </a:solidFill>
                <a:latin typeface="Arial"/>
              </a:rPr>
              <a:t>Кравченко Петро Олександрович, гр. ІР-31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2DB"/>
                </a:solidFill>
                <a:latin typeface="Arial"/>
              </a:rPr>
              <a:t>Керівник: </a:t>
            </a:r>
            <a:r>
              <a:rPr sz="1800" b="0">
                <a:solidFill>
                  <a:srgbClr val="FFFFFF"/>
                </a:solidFill>
                <a:latin typeface="Arial"/>
              </a:rPr>
              <a:t>к.т.н., доцент Борисенко Ірина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2DB"/>
                </a:solidFill>
                <a:latin typeface="Arial"/>
              </a:rPr>
              <a:t>КНУ імені Тараса Шевченка · Факультет інформаційних технологій · Київ, 2026</a:t>
            </a:r>
          </a:p>
        </p:txBody>
      </p:sp>
      <p:sp>
        <p:nvSpPr>
          <p:cNvPr id="6" name="Donut 5"/>
          <p:cNvSpPr/>
          <p:nvPr/>
        </p:nvSpPr>
        <p:spPr>
          <a:xfrm>
            <a:off x="9509760" y="3566160"/>
            <a:ext cx="2377440" cy="2377440"/>
          </a:xfrm>
          <a:prstGeom prst="donut">
            <a:avLst>
              <a:gd name="adj" fmla="val 8000"/>
            </a:avLst>
          </a:prstGeom>
          <a:solidFill>
            <a:srgbClr val="E08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4617720"/>
            <a:ext cx="274320" cy="274320"/>
          </a:xfrm>
          <a:prstGeom prst="ellipse">
            <a:avLst/>
          </a:prstGeom>
          <a:solidFill>
            <a:srgbClr val="E08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Актуальність теми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2 /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454298" cy="237744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8142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B2633"/>
                </a:solidFill>
                <a:latin typeface="Arial"/>
              </a:rPr>
              <a:t>100 тис.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дронів-перехоплювачів вироблено в Україні у 2025 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508760"/>
            <a:ext cx="3454298" cy="237744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8738" y="1828800"/>
            <a:ext cx="28142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B2633"/>
                </a:solidFill>
                <a:latin typeface="Arial"/>
              </a:rPr>
              <a:t>3–5 тис.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8738" y="2697480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вартість перехоплювача проти &gt; 3 млн $ за ракету Patriot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8756" y="1508760"/>
            <a:ext cx="3454298" cy="237744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8796" y="1828800"/>
            <a:ext cx="28142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E08E1B"/>
                </a:solidFill>
                <a:latin typeface="Arial"/>
              </a:rPr>
              <a:t>&gt; 70 %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8796" y="2697480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збитих над Києвом Shahed у лютому 2026 р. — на рахунку перехоплювачів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633"/>
                </a:solidFill>
                <a:latin typeface="Arial"/>
              </a:rPr>
              <a:t>Головне обмеження — сенсори. </a:t>
            </a:r>
            <a:r>
              <a:rPr sz="1800" b="0">
                <a:solidFill>
                  <a:srgbClr val="1B2633"/>
                </a:solidFill>
                <a:latin typeface="Arial"/>
              </a:rPr>
              <a:t>Масове застосування перехоплювачів потребує інформаційної системи, яка в реальному часі зводить дані розподіленої мережі сенсорів, допомагає обрати розрахунок і залишає рішення на пуск за людиною.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Джерело: K. Livingstone, Defense News, 05.03.2026.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Мета і завдання роботи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3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2633"/>
                </a:solidFill>
                <a:latin typeface="Arial"/>
              </a:rPr>
              <a:t>Мета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Розробити проєкт розподіленої IoT-системи обміну телеметрією та координації дронів-перехоплювачів, яка забезпечує безпеку повітряного простору на території, що її покриває система.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633"/>
                </a:solidFill>
                <a:latin typeface="Arial"/>
              </a:rPr>
              <a:t>Об’єкт: </a:t>
            </a:r>
            <a:r>
              <a:rPr sz="1600" b="0">
                <a:solidFill>
                  <a:srgbClr val="1B2633"/>
                </a:solidFill>
                <a:latin typeface="Arial"/>
              </a:rPr>
              <a:t>діяльність умовного РЦПДО «Щит-Північ» з виявлення, супроводу й перехоплення повітряних цілей.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633"/>
                </a:solidFill>
                <a:latin typeface="Arial"/>
              </a:rPr>
              <a:t>Предмет: </a:t>
            </a:r>
            <a:r>
              <a:rPr sz="1600" b="0">
                <a:solidFill>
                  <a:srgbClr val="1B2633"/>
                </a:solidFill>
                <a:latin typeface="Arial"/>
              </a:rPr>
              <a:t>процеси збору й злиття телеметрії та координації розрахунків.</a:t>
            </a:r>
          </a:p>
        </p:txBody>
      </p:sp>
      <p:sp>
        <p:nvSpPr>
          <p:cNvPr id="5" name="Oval 4"/>
          <p:cNvSpPr/>
          <p:nvPr/>
        </p:nvSpPr>
        <p:spPr>
          <a:xfrm>
            <a:off x="5760720" y="1325880"/>
            <a:ext cx="475488" cy="475488"/>
          </a:xfrm>
          <a:prstGeom prst="ellipse">
            <a:avLst/>
          </a:prstGeom>
          <a:solidFill>
            <a:srgbClr val="E08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380744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Дослідити предметну область і діяльність центру</a:t>
            </a:r>
          </a:p>
        </p:txBody>
      </p:sp>
      <p:sp>
        <p:nvSpPr>
          <p:cNvPr id="7" name="Oval 6"/>
          <p:cNvSpPr/>
          <p:nvPr/>
        </p:nvSpPr>
        <p:spPr>
          <a:xfrm>
            <a:off x="5760720" y="2002536"/>
            <a:ext cx="475488" cy="475488"/>
          </a:xfrm>
          <a:prstGeom prst="ellipse">
            <a:avLst/>
          </a:prstGeom>
          <a:solidFill>
            <a:srgbClr val="E08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Визначити проблеми та процеси для автоматизації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2679192"/>
            <a:ext cx="475488" cy="475488"/>
          </a:xfrm>
          <a:prstGeom prst="ellipse">
            <a:avLst/>
          </a:prstGeom>
          <a:solidFill>
            <a:srgbClr val="E08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34056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Побудувати дерево цілей і WBS</a:t>
            </a:r>
          </a:p>
        </p:txBody>
      </p:sp>
      <p:sp>
        <p:nvSpPr>
          <p:cNvPr id="11" name="Oval 10"/>
          <p:cNvSpPr/>
          <p:nvPr/>
        </p:nvSpPr>
        <p:spPr>
          <a:xfrm>
            <a:off x="5760720" y="3355848"/>
            <a:ext cx="475488" cy="475488"/>
          </a:xfrm>
          <a:prstGeom prst="ellipse">
            <a:avLst/>
          </a:prstGeom>
          <a:solidFill>
            <a:srgbClr val="E08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410712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Виконати функціональне моделювання в BPMN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0" y="4032504"/>
            <a:ext cx="475488" cy="475488"/>
          </a:xfrm>
          <a:prstGeom prst="ellipse">
            <a:avLst/>
          </a:prstGeom>
          <a:solidFill>
            <a:srgbClr val="E08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087368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Виконати об’єктно-орієнтоване проєктування в UML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0" y="4709160"/>
            <a:ext cx="475488" cy="475488"/>
          </a:xfrm>
          <a:prstGeom prst="ellipse">
            <a:avLst/>
          </a:prstGeom>
          <a:solidFill>
            <a:srgbClr val="E08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764024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Спроєктувати архітектуру, ролі та взаємодію</a:t>
            </a:r>
          </a:p>
        </p:txBody>
      </p:sp>
      <p:sp>
        <p:nvSpPr>
          <p:cNvPr id="17" name="Oval 16"/>
          <p:cNvSpPr/>
          <p:nvPr/>
        </p:nvSpPr>
        <p:spPr>
          <a:xfrm>
            <a:off x="5760720" y="5385816"/>
            <a:ext cx="475488" cy="475488"/>
          </a:xfrm>
          <a:prstGeom prst="ellipse">
            <a:avLst/>
          </a:prstGeom>
          <a:solidFill>
            <a:srgbClr val="E08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440680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Розробити прототип для всіх категорій користувачів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Об’єкт дослідження — РЦПДО «Щит-Північ»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4 / 16</a:t>
            </a:r>
          </a:p>
        </p:txBody>
      </p:sp>
      <p:pic>
        <p:nvPicPr>
          <p:cNvPr id="4" name="01_org_structure" descr="01_org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872" y="1188720"/>
            <a:ext cx="4974175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25880"/>
            <a:ext cx="5120640" cy="102412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53896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633"/>
                </a:solidFill>
                <a:latin typeface="Arial"/>
              </a:rPr>
              <a:t>3 райони · ≈ 9 000 км²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14 об’єктів критичної інфраструктури, ≈ 160 осіб, цілодобово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96312"/>
            <a:ext cx="5120640" cy="102412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2432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633"/>
                </a:solidFill>
                <a:latin typeface="Arial"/>
              </a:rPr>
              <a:t>120 · 4 ·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4495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акустичних сенсорів · РЛС · оптико-електронних постів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66744"/>
            <a:ext cx="5120640" cy="102412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633"/>
                </a:solidFill>
                <a:latin typeface="Arial"/>
              </a:rPr>
              <a:t>18 розрахунків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15384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дронів-перехоплювачів на 9 позиціях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37176"/>
            <a:ext cx="5120640" cy="102412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6519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633"/>
                </a:solidFill>
                <a:latin typeface="Arial"/>
              </a:rPr>
              <a:t>Командний пункт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85816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досліджуваний підрозділ — через нього йдуть усі потоки бойового управління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Проблеми та вимоги до системи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5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6751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633"/>
                </a:solidFill>
                <a:latin typeface="Arial"/>
              </a:rPr>
              <a:t>П1  Виявлення надходять різними каналами → дублікати треків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633"/>
                </a:solidFill>
                <a:latin typeface="Arial"/>
              </a:rPr>
              <a:t>П2  Голосове цілевказання → затримка 30–90 с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633"/>
                </a:solidFill>
                <a:latin typeface="Arial"/>
              </a:rPr>
              <a:t>П3  Немає даних про готовність розрахунків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633"/>
                </a:solidFill>
                <a:latin typeface="Arial"/>
              </a:rPr>
              <a:t>П4  Телеметрія не зберігається централізовано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633"/>
                </a:solidFill>
                <a:latin typeface="Arial"/>
              </a:rPr>
              <a:t>П5  Ризик ураження дружньої авіації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633"/>
                </a:solidFill>
                <a:latin typeface="Arial"/>
              </a:rPr>
              <a:t>П6  Подавлення каналів засобами РЕБ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633"/>
                </a:solidFill>
                <a:latin typeface="Arial"/>
              </a:rPr>
              <a:t>П7  Паперовий облік результатів і витрати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25880"/>
            <a:ext cx="3959352" cy="4480560"/>
          </a:xfrm>
          <a:prstGeom prst="roundRect">
            <a:avLst>
              <a:gd name="adj" fmla="val 8000"/>
            </a:avLst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56032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2DB"/>
                </a:solidFill>
                <a:latin typeface="Arial"/>
              </a:rPr>
              <a:t>функціональні вимоги «Система повинна…»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10896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E08E1B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9776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2DB"/>
                </a:solidFill>
                <a:latin typeface="Arial"/>
              </a:rPr>
              <a:t>з них — високого пріоритету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5262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3949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2DB"/>
                </a:solidFill>
                <a:latin typeface="Arial"/>
              </a:rPr>
              <a:t>ролей користувачів + машинні актори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Дерево цілей: від генеральної мети до заходів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6 / 16</a:t>
            </a:r>
          </a:p>
        </p:txBody>
      </p:sp>
      <p:pic>
        <p:nvPicPr>
          <p:cNvPr id="4" name="04_goal_tree" descr="04_goal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354" y="1143000"/>
            <a:ext cx="3990732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25880"/>
            <a:ext cx="36576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633"/>
                </a:solidFill>
                <a:latin typeface="Arial"/>
              </a:rPr>
              <a:t>Метод дезагрегації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«і/або»-дерево: суцільна рамка — обов’язковий захід, пунктирна — альтернатива «а»/«б».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E08E1B"/>
                </a:solidFill>
                <a:latin typeface="Arial"/>
              </a:rPr>
              <a:t>1 · 5 · 15 · 30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генеральна мета · цілі 1-го рівня · цілі 2-го рівня · заходи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Критерії: призначення ≤ 30 с, доставка завдання ≤ 1 с, 100 % пусків із санкцією другої особи.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Робоча структура проєкту (WBS)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7 / 16</a:t>
            </a:r>
          </a:p>
        </p:txBody>
      </p:sp>
      <p:pic>
        <p:nvPicPr>
          <p:cNvPr id="4" name="05_wbs" descr="05_w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" y="1234440"/>
            <a:ext cx="6644640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0" y="13258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633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928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субпроєктів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4688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633"/>
                </a:solidFill>
                <a:latin typeface="Arial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30358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блоків робіт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6118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633"/>
                </a:solidFill>
                <a:latin typeface="Arial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1788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робочі пакети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7548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08E1B"/>
                </a:solidFill>
                <a:latin typeface="Arial"/>
              </a:rPr>
              <a:t>29 330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53218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тис. грн — бюджет (зворотні обчислення)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BPMN: п’ять пулів-функцій і зовнішні учасники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8 / 16</a:t>
            </a:r>
          </a:p>
        </p:txBody>
      </p:sp>
      <p:pic>
        <p:nvPicPr>
          <p:cNvPr id="4" name="bpmn_00_interaction_map" descr="bpmn_00_interaction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555" y="1325880"/>
            <a:ext cx="9004584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25780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B6C"/>
                </a:solidFill>
                <a:latin typeface="Arial"/>
              </a:rPr>
              <a:t>P1 моніторинг обстановки · P2 призначення цілі та санкціонування пуску · P3 виконання місії · P4 оцінка результату · P5 готовність ресурсів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Призначення цілі за правилом двох осіб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9 / 16</a:t>
            </a:r>
          </a:p>
        </p:txBody>
      </p:sp>
      <p:pic>
        <p:nvPicPr>
          <p:cNvPr id="4" name="bpmn_02_p2_assignment_a" descr="bpmn_02_p2_assignment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425" y="1325880"/>
            <a:ext cx="6986845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03519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633"/>
                </a:solidFill>
                <a:latin typeface="Arial"/>
              </a:rPr>
              <a:t>Правило двох осіб: </a:t>
            </a:r>
            <a:r>
              <a:rPr sz="1600" b="0">
                <a:solidFill>
                  <a:srgbClr val="1B2633"/>
                </a:solidFill>
                <a:latin typeface="Arial"/>
              </a:rPr>
              <a:t>місію пропонує ОБУ, а санкціонує ОЧ, який не є її автором; у БД — обмеження CHECK approved_by ≠ proposed_by.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UML: варіанти використання бойового управління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10 / 16</a:t>
            </a:r>
          </a:p>
        </p:txBody>
      </p:sp>
      <p:pic>
        <p:nvPicPr>
          <p:cNvPr id="4" name="20_uc_combat" descr="20_uc_comb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1110"/>
            <a:ext cx="7680960" cy="43901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325880"/>
            <a:ext cx="3108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08E1B"/>
                </a:solidFill>
                <a:latin typeface="Arial"/>
              </a:rPr>
              <a:t>include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UC3 «Запропонувати місію» завжди виконує UC4 «Підібрати розрахунок».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E08E1B"/>
                </a:solidFill>
                <a:latin typeface="Arial"/>
              </a:rPr>
              <a:t>extend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UC12 розширює UC5 лише за умови «відмова» розрахунку.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Права ролей на прецеденти — у матриці доступу (розділ 3.6).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UML: життєвий цикл місії та діаграма класів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11 / 16</a:t>
            </a:r>
          </a:p>
        </p:txBody>
      </p:sp>
      <p:pic>
        <p:nvPicPr>
          <p:cNvPr id="4" name="22_activity" descr="22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201" y="1234440"/>
            <a:ext cx="3295205" cy="4526280"/>
          </a:xfrm>
          <a:prstGeom prst="rect">
            <a:avLst/>
          </a:prstGeom>
        </p:spPr>
      </p:pic>
      <p:pic>
        <p:nvPicPr>
          <p:cNvPr id="5" name="24_class_all" descr="24_class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1388133"/>
            <a:ext cx="5364327" cy="42188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Діяльність: 8 переходів mission_transition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5897880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Класи: 10 класів, композиція «Місія — Подія»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Архітектура: клієнт-сервер з периферією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12 / 16</a:t>
            </a:r>
          </a:p>
        </p:txBody>
      </p:sp>
      <p:pic>
        <p:nvPicPr>
          <p:cNvPr id="4" name="31_components" descr="31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119" y="1234440"/>
            <a:ext cx="7099202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25880"/>
            <a:ext cx="36576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633"/>
                </a:solidFill>
                <a:latin typeface="Arial"/>
              </a:rPr>
              <a:t>Чому так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Файл-сервер — без контролю прав; «товсті» клієнти — логіка розпорошена; мікросервіси для ядра — складні в експлуатації.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B2633"/>
                </a:solidFill>
                <a:latin typeface="Arial"/>
              </a:rPr>
              <a:t>Прототип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633"/>
                </a:solidFill>
                <a:latin typeface="Arial"/>
              </a:rPr>
              <a:t>браузер — Flask 3.1.1 — PostgreSQL 18.6; правила виконують функції й тригери СКБД.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Розгортання та мережева взаємодія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13 / 16</a:t>
            </a:r>
          </a:p>
        </p:txBody>
      </p:sp>
      <p:pic>
        <p:nvPicPr>
          <p:cNvPr id="4" name="32_deployment" descr="32_de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505" y="1234440"/>
            <a:ext cx="5784684" cy="2240280"/>
          </a:xfrm>
          <a:prstGeom prst="rect">
            <a:avLst/>
          </a:prstGeom>
        </p:spPr>
      </p:pic>
      <p:pic>
        <p:nvPicPr>
          <p:cNvPr id="5" name="33_network" descr="33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068" y="3611880"/>
            <a:ext cx="3838184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37947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633"/>
                </a:solidFill>
                <a:latin typeface="Arial"/>
              </a:rPr>
              <a:t>MQTT 5</a:t>
            </a:r>
            <a:r>
              <a:rPr sz="1600" b="0">
                <a:solidFill>
                  <a:srgbClr val="1B2633"/>
                </a:solidFill>
                <a:latin typeface="Arial"/>
              </a:rPr>
              <a:t> — акустичні сенсори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633"/>
                </a:solidFill>
                <a:latin typeface="Arial"/>
              </a:rPr>
              <a:t>ASTERIX</a:t>
            </a:r>
            <a:r>
              <a:rPr sz="1600" b="0">
                <a:solidFill>
                  <a:srgbClr val="1B2633"/>
                </a:solidFill>
                <a:latin typeface="Arial"/>
              </a:rPr>
              <a:t> — РЛС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633"/>
                </a:solidFill>
                <a:latin typeface="Arial"/>
              </a:rPr>
              <a:t>MAVLink 2</a:t>
            </a:r>
            <a:r>
              <a:rPr sz="1600" b="0">
                <a:solidFill>
                  <a:srgbClr val="1B2633"/>
                </a:solidFill>
                <a:latin typeface="Arial"/>
              </a:rPr>
              <a:t> — перехоплювачі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633"/>
                </a:solidFill>
                <a:latin typeface="Arial"/>
              </a:rPr>
              <a:t>HTTPS, WebSocket</a:t>
            </a:r>
            <a:r>
              <a:rPr sz="1600" b="0">
                <a:solidFill>
                  <a:srgbClr val="1B2633"/>
                </a:solidFill>
                <a:latin typeface="Arial"/>
              </a:rPr>
              <a:t> — застосунки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633"/>
                </a:solidFill>
                <a:latin typeface="Arial"/>
              </a:rPr>
              <a:t>WireGuard</a:t>
            </a:r>
            <a:r>
              <a:rPr sz="1600" b="0">
                <a:solidFill>
                  <a:srgbClr val="1B2633"/>
                </a:solidFill>
                <a:latin typeface="Arial"/>
              </a:rPr>
              <a:t> поверх меш-радіо, LTE чи супутника — магістраль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Ролі, права доступу і захист правил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14 / 16</a:t>
            </a:r>
          </a:p>
        </p:txBody>
      </p:sp>
      <p:pic>
        <p:nvPicPr>
          <p:cNvPr id="4" name="34_interaction" descr="34_inte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660" y="1188720"/>
            <a:ext cx="3637960" cy="50292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rgbClr val="E08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37160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633"/>
                </a:solidFill>
                <a:latin typeface="Arial"/>
              </a:rPr>
              <a:t>13 ролей · 21 право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01368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RBAC: людські ролі й машинні сутності; бойові права — лише R-01, R-02, R-04, R-05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06040"/>
            <a:ext cx="566928" cy="566928"/>
          </a:xfrm>
          <a:prstGeom prst="ellipse">
            <a:avLst/>
          </a:prstGeom>
          <a:solidFill>
            <a:srgbClr val="E08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1460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633"/>
                </a:solidFill>
                <a:latin typeface="Arial"/>
              </a:rPr>
              <a:t>Тригери СКБД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944368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допустимі переходи, «лише свій розрахунок», заборона санкції автором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566928" cy="566928"/>
          </a:xfrm>
          <a:prstGeom prst="ellipse">
            <a:avLst/>
          </a:prstGeom>
          <a:solidFill>
            <a:srgbClr val="E08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5760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633"/>
                </a:solidFill>
                <a:latin typeface="Arial"/>
              </a:rPr>
              <a:t>Журнал аудиту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087368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ланцюжок хешів SHA-256; змінювати й видаляти записи заборонено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892040"/>
            <a:ext cx="566928" cy="566928"/>
          </a:xfrm>
          <a:prstGeom prst="ellipse">
            <a:avLst/>
          </a:prstGeom>
          <a:solidFill>
            <a:srgbClr val="E08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80060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2633"/>
                </a:solidFill>
                <a:latin typeface="Arial"/>
              </a:rPr>
              <a:t>Вхід і сеанс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230368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хеш паролю scrypt, CSRF-маркер, блокування після 5 спроб, тайм-аут 15 хв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633"/>
                </a:solidFill>
                <a:latin typeface="Arial"/>
              </a:rPr>
              <a:t>Прототип: працюючий застосунок для всіх ролей</a:t>
            </a:r>
          </a:p>
        </p:txBody>
      </p:sp>
      <p:sp>
        <p:nvSpPr>
          <p:cNvPr id="3" name="Номер слайда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A5B6C"/>
                </a:solidFill>
                <a:latin typeface="Arial"/>
              </a:rPr>
              <a:t>15 / 16</a:t>
            </a:r>
          </a:p>
        </p:txBody>
      </p:sp>
      <p:pic>
        <p:nvPicPr>
          <p:cNvPr id="4" name="s03_situation" descr="s03_sit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308" y="1234440"/>
            <a:ext cx="4100991" cy="4526280"/>
          </a:xfrm>
          <a:prstGeom prst="rect">
            <a:avLst/>
          </a:prstGeom>
        </p:spPr>
      </p:pic>
      <p:pic>
        <p:nvPicPr>
          <p:cNvPr id="5" name="s08_launched" descr="s08_launch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116" y="1234440"/>
            <a:ext cx="4757549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Повітряна обстановка: мнемосхема і черга загроз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5897880"/>
            <a:ext cx="5364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A5B6C"/>
                </a:solidFill>
                <a:latin typeface="Arial"/>
              </a:rPr>
              <a:t>Картка місії під час виконання (R-04)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Результати та напрями розвитку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2DB"/>
                </a:solidFill>
                <a:latin typeface="Arial"/>
              </a:rPr>
              <a:t>таблиць БД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5544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22 ·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242316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2DB"/>
                </a:solidFill>
                <a:latin typeface="Arial"/>
              </a:rPr>
              <a:t>функції · тригери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42316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2DB"/>
                </a:solidFill>
                <a:latin typeface="Arial"/>
              </a:rPr>
              <a:t>маршрутів застосунку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544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E08E1B"/>
                </a:solidFill>
                <a:latin typeface="Arial"/>
              </a:rPr>
              <a:t>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42316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2DB"/>
                </a:solidFill>
                <a:latin typeface="Arial"/>
              </a:rPr>
              <a:t>автоматизовані тести — успішно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303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Переваги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4E9EE"/>
                </a:solidFill>
                <a:latin typeface="Arial"/>
              </a:rPr>
              <a:t>правила виконує СКБД, застосунок — без прав суперкористувача;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4E9EE"/>
                </a:solidFill>
                <a:latin typeface="Arial"/>
              </a:rPr>
              <a:t>кожна дія — у незмінному журналі аудиту;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4E9EE"/>
                </a:solidFill>
                <a:latin typeface="Arial"/>
              </a:rPr>
              <a:t>рішення на пуск ухвалює людина.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429000"/>
            <a:ext cx="5303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Напрями розвитку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4E9EE"/>
                </a:solidFill>
                <a:latin typeface="Arial"/>
              </a:rPr>
              <a:t>шлюзи з адаптерами MQTT, ASTERIX, MAVLink;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4E9EE"/>
                </a:solidFill>
                <a:latin typeface="Arial"/>
              </a:rPr>
              <a:t>деконфлікція з планами польотів;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4E9EE"/>
                </a:solidFill>
                <a:latin typeface="Arial"/>
              </a:rPr>
              <a:t>доставка завдань на планшет, сповіщення, 2FA.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Захист курсової роботи з ПІС</dc:title>
  <dc:subject/>
  <dc:creator>Петро Кравченко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