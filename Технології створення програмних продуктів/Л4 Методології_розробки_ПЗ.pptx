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1"/>
  </p:notesMasterIdLst>
  <p:sldIdLst>
    <p:sldId id="256" r:id="rId5"/>
    <p:sldId id="257" r:id="rId6"/>
    <p:sldId id="258" r:id="rId7"/>
    <p:sldId id="259" r:id="rId8"/>
    <p:sldId id="271" r:id="rId9"/>
    <p:sldId id="267" r:id="rId10"/>
    <p:sldId id="264" r:id="rId11"/>
    <p:sldId id="265" r:id="rId12"/>
    <p:sldId id="266" r:id="rId13"/>
    <p:sldId id="268" r:id="rId14"/>
    <p:sldId id="269" r:id="rId15"/>
    <p:sldId id="270" r:id="rId16"/>
    <p:sldId id="26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61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63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644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837DE-A94A-4353-966F-D4ACBEDF1E68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1CEAC8-52A1-4828-B190-A1BDC4CB68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627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3.amazonaws.com/static.scrum.org/web/Scrum+Values.png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rum.org/what-professional-scrum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терміну</a:t>
            </a:r>
            <a:r>
              <a:rPr lang="ru-RU" dirty="0"/>
              <a:t> </a:t>
            </a:r>
            <a:r>
              <a:rPr lang="en-US" dirty="0"/>
              <a:t>scrum </a:t>
            </a:r>
            <a:r>
              <a:rPr lang="ru-RU" dirty="0"/>
              <a:t>у </a:t>
            </a:r>
            <a:r>
              <a:rPr lang="ru-RU" dirty="0" err="1"/>
              <a:t>розробці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походить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статті</a:t>
            </a:r>
            <a:r>
              <a:rPr lang="ru-RU" dirty="0"/>
              <a:t> </a:t>
            </a:r>
            <a:r>
              <a:rPr lang="en-US" dirty="0"/>
              <a:t>Harvard Business Review 1986 </a:t>
            </a:r>
            <a:r>
              <a:rPr lang="ru-RU" dirty="0"/>
              <a:t>року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назвою</a:t>
            </a:r>
            <a:r>
              <a:rPr lang="ru-RU" dirty="0"/>
              <a:t> «</a:t>
            </a:r>
            <a:r>
              <a:rPr lang="en-US" dirty="0"/>
              <a:t>The New </a:t>
            </a:r>
            <a:r>
              <a:rPr lang="en-US" dirty="0" err="1"/>
              <a:t>New</a:t>
            </a:r>
            <a:r>
              <a:rPr lang="en-US" dirty="0"/>
              <a:t> Product Development Game» </a:t>
            </a:r>
            <a:r>
              <a:rPr lang="ru-RU" dirty="0" err="1"/>
              <a:t>Хіротаки</a:t>
            </a:r>
            <a:r>
              <a:rPr lang="ru-RU" dirty="0"/>
              <a:t> </a:t>
            </a:r>
            <a:r>
              <a:rPr lang="ru-RU" dirty="0" err="1"/>
              <a:t>Такеучі</a:t>
            </a:r>
            <a:r>
              <a:rPr lang="ru-RU" dirty="0"/>
              <a:t> та </a:t>
            </a:r>
            <a:r>
              <a:rPr lang="ru-RU" dirty="0" err="1"/>
              <a:t>Ікудзіро</a:t>
            </a:r>
            <a:r>
              <a:rPr lang="ru-RU" dirty="0"/>
              <a:t> </a:t>
            </a:r>
            <a:r>
              <a:rPr lang="ru-RU" dirty="0" err="1"/>
              <a:t>Нонаки</a:t>
            </a:r>
            <a:r>
              <a:rPr lang="ru-RU" dirty="0"/>
              <a:t>. </a:t>
            </a:r>
            <a:r>
              <a:rPr lang="ru-RU" dirty="0" err="1"/>
              <a:t>Ґрунтуючись</a:t>
            </a:r>
            <a:r>
              <a:rPr lang="ru-RU" dirty="0"/>
              <a:t> на </a:t>
            </a:r>
            <a:r>
              <a:rPr lang="ru-RU" dirty="0" err="1"/>
              <a:t>тематичних</a:t>
            </a:r>
            <a:r>
              <a:rPr lang="ru-RU" dirty="0"/>
              <a:t> </a:t>
            </a:r>
            <a:r>
              <a:rPr lang="ru-RU" dirty="0" err="1"/>
              <a:t>дослідженнях</a:t>
            </a:r>
            <a:r>
              <a:rPr lang="ru-RU" dirty="0"/>
              <a:t> </a:t>
            </a:r>
            <a:r>
              <a:rPr lang="ru-RU" dirty="0" err="1"/>
              <a:t>фірм-виробників</a:t>
            </a:r>
            <a:r>
              <a:rPr lang="ru-RU" dirty="0"/>
              <a:t> </a:t>
            </a:r>
            <a:r>
              <a:rPr lang="ru-RU" dirty="0" err="1"/>
              <a:t>автомобілів</a:t>
            </a:r>
            <a:r>
              <a:rPr lang="ru-RU" dirty="0"/>
              <a:t>, </a:t>
            </a:r>
            <a:r>
              <a:rPr lang="ru-RU" dirty="0" err="1"/>
              <a:t>фотокопіювальної</a:t>
            </a:r>
            <a:r>
              <a:rPr lang="ru-RU" dirty="0"/>
              <a:t> та </a:t>
            </a:r>
            <a:r>
              <a:rPr lang="ru-RU" dirty="0" err="1"/>
              <a:t>принтерної</a:t>
            </a:r>
            <a:r>
              <a:rPr lang="ru-RU" dirty="0"/>
              <a:t> </a:t>
            </a:r>
            <a:r>
              <a:rPr lang="ru-RU" dirty="0" err="1"/>
              <a:t>промисловості</a:t>
            </a:r>
            <a:r>
              <a:rPr lang="ru-RU" dirty="0"/>
              <a:t>, </a:t>
            </a:r>
            <a:r>
              <a:rPr lang="ru-RU" dirty="0" err="1"/>
              <a:t>автори</a:t>
            </a:r>
            <a:r>
              <a:rPr lang="ru-RU" dirty="0"/>
              <a:t> </a:t>
            </a:r>
            <a:r>
              <a:rPr lang="ru-RU" dirty="0" err="1"/>
              <a:t>окреслили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до </a:t>
            </a:r>
            <a:r>
              <a:rPr lang="ru-RU" dirty="0" err="1"/>
              <a:t>розробки</a:t>
            </a:r>
            <a:r>
              <a:rPr lang="ru-RU" dirty="0"/>
              <a:t> продукту для </a:t>
            </a:r>
            <a:r>
              <a:rPr lang="ru-RU" dirty="0" err="1"/>
              <a:t>підвищення</a:t>
            </a:r>
            <a:r>
              <a:rPr lang="ru-RU" dirty="0"/>
              <a:t> </a:t>
            </a:r>
            <a:r>
              <a:rPr lang="ru-RU" dirty="0" err="1"/>
              <a:t>швидкості</a:t>
            </a:r>
            <a:r>
              <a:rPr lang="ru-RU" dirty="0"/>
              <a:t> та </a:t>
            </a:r>
            <a:r>
              <a:rPr lang="ru-RU" dirty="0" err="1"/>
              <a:t>гнучкості</a:t>
            </a:r>
            <a:r>
              <a:rPr lang="ru-RU" dirty="0"/>
              <a:t>. Вони назвали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підходом</a:t>
            </a:r>
            <a:r>
              <a:rPr lang="ru-RU" dirty="0"/>
              <a:t> до </a:t>
            </a:r>
            <a:r>
              <a:rPr lang="ru-RU" dirty="0" err="1"/>
              <a:t>регбі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включає</a:t>
            </a:r>
            <a:r>
              <a:rPr lang="ru-RU" dirty="0"/>
              <a:t> в себе одну </a:t>
            </a:r>
            <a:r>
              <a:rPr lang="ru-RU" dirty="0" err="1"/>
              <a:t>багатофункціональну</a:t>
            </a:r>
            <a:r>
              <a:rPr lang="ru-RU" dirty="0"/>
              <a:t> команду, яка </a:t>
            </a:r>
            <a:r>
              <a:rPr lang="ru-RU" dirty="0" err="1"/>
              <a:t>працює</a:t>
            </a:r>
            <a:r>
              <a:rPr lang="ru-RU" dirty="0"/>
              <a:t> на </a:t>
            </a:r>
            <a:r>
              <a:rPr lang="ru-RU" dirty="0" err="1"/>
              <a:t>кількох</a:t>
            </a:r>
            <a:r>
              <a:rPr lang="ru-RU" dirty="0"/>
              <a:t> фазах,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накладаються</a:t>
            </a:r>
            <a:r>
              <a:rPr lang="ru-RU" dirty="0"/>
              <a:t> одна на одну,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яких</a:t>
            </a:r>
            <a:r>
              <a:rPr lang="ru-RU" dirty="0"/>
              <a:t> команда «</a:t>
            </a:r>
            <a:r>
              <a:rPr lang="ru-RU" dirty="0" err="1"/>
              <a:t>намагається</a:t>
            </a:r>
            <a:r>
              <a:rPr lang="ru-RU" dirty="0"/>
              <a:t> пройти </a:t>
            </a:r>
            <a:r>
              <a:rPr lang="ru-RU" dirty="0" err="1"/>
              <a:t>дистанцію</a:t>
            </a:r>
            <a:r>
              <a:rPr lang="ru-RU" dirty="0"/>
              <a:t> як </a:t>
            </a:r>
            <a:r>
              <a:rPr lang="ru-RU" dirty="0" err="1"/>
              <a:t>єдине</a:t>
            </a:r>
            <a:r>
              <a:rPr lang="ru-RU" dirty="0"/>
              <a:t> </a:t>
            </a:r>
            <a:r>
              <a:rPr lang="ru-RU" dirty="0" err="1"/>
              <a:t>ціле</a:t>
            </a:r>
            <a:r>
              <a:rPr lang="ru-RU" dirty="0"/>
              <a:t>, </a:t>
            </a:r>
            <a:r>
              <a:rPr lang="ru-RU" dirty="0" err="1"/>
              <a:t>передаючи</a:t>
            </a:r>
            <a:r>
              <a:rPr lang="ru-RU" dirty="0"/>
              <a:t> </a:t>
            </a:r>
            <a:r>
              <a:rPr lang="ru-RU" dirty="0" err="1"/>
              <a:t>м’яч</a:t>
            </a:r>
            <a:r>
              <a:rPr lang="ru-RU" dirty="0"/>
              <a:t> </a:t>
            </a:r>
            <a:r>
              <a:rPr lang="ru-RU" dirty="0" err="1"/>
              <a:t>туди-сюди</a:t>
            </a:r>
            <a:r>
              <a:rPr lang="ru-RU" dirty="0"/>
              <a:t>».[6] </a:t>
            </a:r>
            <a:r>
              <a:rPr lang="ru-RU" dirty="0" err="1"/>
              <a:t>Пізніше</a:t>
            </a:r>
            <a:r>
              <a:rPr lang="ru-RU" dirty="0"/>
              <a:t> </a:t>
            </a:r>
            <a:r>
              <a:rPr lang="ru-RU" dirty="0" err="1"/>
              <a:t>автори</a:t>
            </a:r>
            <a:r>
              <a:rPr lang="ru-RU" dirty="0"/>
              <a:t> </a:t>
            </a:r>
            <a:r>
              <a:rPr lang="ru-RU" dirty="0" err="1"/>
              <a:t>розвинули</a:t>
            </a:r>
            <a:r>
              <a:rPr lang="ru-RU" dirty="0"/>
              <a:t> </a:t>
            </a:r>
            <a:r>
              <a:rPr lang="en-US" dirty="0"/>
              <a:t>scrum </a:t>
            </a:r>
            <a:r>
              <a:rPr lang="ru-RU" dirty="0"/>
              <a:t>у </a:t>
            </a:r>
            <a:r>
              <a:rPr lang="ru-RU" dirty="0" err="1"/>
              <a:t>своїй</a:t>
            </a:r>
            <a:r>
              <a:rPr lang="ru-RU" dirty="0"/>
              <a:t> </a:t>
            </a:r>
            <a:r>
              <a:rPr lang="ru-RU" dirty="0" err="1"/>
              <a:t>книзі</a:t>
            </a:r>
            <a:r>
              <a:rPr lang="ru-RU" dirty="0"/>
              <a:t> </a:t>
            </a:r>
            <a:r>
              <a:rPr lang="en-US" dirty="0"/>
              <a:t>The Knowledge Creating Company.[7]</a:t>
            </a:r>
          </a:p>
          <a:p>
            <a:endParaRPr lang="en-US" dirty="0"/>
          </a:p>
          <a:p>
            <a:r>
              <a:rPr lang="ru-RU" dirty="0"/>
              <a:t>На початку 1990-х </a:t>
            </a:r>
            <a:r>
              <a:rPr lang="ru-RU" dirty="0" err="1"/>
              <a:t>років</a:t>
            </a:r>
            <a:r>
              <a:rPr lang="ru-RU" dirty="0"/>
              <a:t> Кен </a:t>
            </a:r>
            <a:r>
              <a:rPr lang="ru-RU" dirty="0" err="1"/>
              <a:t>Швабер</a:t>
            </a:r>
            <a:r>
              <a:rPr lang="ru-RU" dirty="0"/>
              <a:t> </a:t>
            </a:r>
            <a:r>
              <a:rPr lang="ru-RU" dirty="0" err="1"/>
              <a:t>використовував</a:t>
            </a:r>
            <a:r>
              <a:rPr lang="ru-RU" dirty="0"/>
              <a:t> у </a:t>
            </a:r>
            <a:r>
              <a:rPr lang="ru-RU" dirty="0" err="1"/>
              <a:t>своїй</a:t>
            </a:r>
            <a:r>
              <a:rPr lang="ru-RU" dirty="0"/>
              <a:t> </a:t>
            </a:r>
            <a:r>
              <a:rPr lang="ru-RU" dirty="0" err="1"/>
              <a:t>компанії</a:t>
            </a:r>
            <a:r>
              <a:rPr lang="ru-RU" dirty="0"/>
              <a:t> </a:t>
            </a:r>
            <a:r>
              <a:rPr lang="en-US" dirty="0"/>
              <a:t>Advanced Development Methods </a:t>
            </a:r>
            <a:r>
              <a:rPr lang="ru-RU" dirty="0"/>
              <a:t>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згодом</a:t>
            </a:r>
            <a:r>
              <a:rPr lang="ru-RU" dirty="0"/>
              <a:t> стало </a:t>
            </a:r>
            <a:r>
              <a:rPr lang="ru-RU" dirty="0" err="1"/>
              <a:t>сутичкою</a:t>
            </a:r>
            <a:r>
              <a:rPr lang="ru-RU" dirty="0"/>
              <a:t>. </a:t>
            </a:r>
            <a:r>
              <a:rPr lang="ru-RU" dirty="0" err="1"/>
              <a:t>Джефф</a:t>
            </a:r>
            <a:r>
              <a:rPr lang="ru-RU" dirty="0"/>
              <a:t> Сазерленд, Джон </a:t>
            </a:r>
            <a:r>
              <a:rPr lang="ru-RU" dirty="0" err="1"/>
              <a:t>Скумніоталес</a:t>
            </a:r>
            <a:r>
              <a:rPr lang="ru-RU" dirty="0"/>
              <a:t> і </a:t>
            </a:r>
            <a:r>
              <a:rPr lang="ru-RU" dirty="0" err="1"/>
              <a:t>Джефф</a:t>
            </a:r>
            <a:r>
              <a:rPr lang="ru-RU" dirty="0"/>
              <a:t> </a:t>
            </a:r>
            <a:r>
              <a:rPr lang="ru-RU" dirty="0" err="1"/>
              <a:t>МакКенна</a:t>
            </a:r>
            <a:r>
              <a:rPr lang="ru-RU" dirty="0"/>
              <a:t> </a:t>
            </a:r>
            <a:r>
              <a:rPr lang="ru-RU" dirty="0" err="1"/>
              <a:t>розробили</a:t>
            </a:r>
            <a:r>
              <a:rPr lang="ru-RU" dirty="0"/>
              <a:t> </a:t>
            </a:r>
            <a:r>
              <a:rPr lang="ru-RU" dirty="0" err="1"/>
              <a:t>подібний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у </a:t>
            </a:r>
            <a:r>
              <a:rPr lang="en-US" dirty="0"/>
              <a:t>Easel Corporation, </a:t>
            </a:r>
            <a:r>
              <a:rPr lang="ru-RU" dirty="0" err="1"/>
              <a:t>посилаючись</a:t>
            </a:r>
            <a:r>
              <a:rPr lang="ru-RU" dirty="0"/>
              <a:t> на </a:t>
            </a:r>
            <a:r>
              <a:rPr lang="ru-RU" dirty="0" err="1"/>
              <a:t>підхід</a:t>
            </a:r>
            <a:r>
              <a:rPr lang="ru-RU" dirty="0"/>
              <a:t> </a:t>
            </a:r>
            <a:r>
              <a:rPr lang="ru-RU" dirty="0" err="1"/>
              <a:t>терміном</a:t>
            </a:r>
            <a:r>
              <a:rPr lang="ru-RU" dirty="0"/>
              <a:t> </a:t>
            </a:r>
            <a:r>
              <a:rPr lang="en-US" dirty="0"/>
              <a:t>scrum [8]. </a:t>
            </a:r>
            <a:r>
              <a:rPr lang="ru-RU" dirty="0" err="1"/>
              <a:t>Пізніше</a:t>
            </a:r>
            <a:r>
              <a:rPr lang="ru-RU" dirty="0"/>
              <a:t> Сазерленд і </a:t>
            </a:r>
            <a:r>
              <a:rPr lang="ru-RU" dirty="0" err="1"/>
              <a:t>Швабер</a:t>
            </a:r>
            <a:r>
              <a:rPr lang="ru-RU" dirty="0"/>
              <a:t> </a:t>
            </a:r>
            <a:r>
              <a:rPr lang="ru-RU" dirty="0" err="1"/>
              <a:t>працювали</a:t>
            </a:r>
            <a:r>
              <a:rPr lang="ru-RU" dirty="0"/>
              <a:t> разом,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об’єднати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ідеї</a:t>
            </a:r>
            <a:r>
              <a:rPr lang="ru-RU" dirty="0"/>
              <a:t> в </a:t>
            </a:r>
            <a:r>
              <a:rPr lang="ru-RU" dirty="0" err="1"/>
              <a:t>єдину</a:t>
            </a:r>
            <a:r>
              <a:rPr lang="ru-RU" dirty="0"/>
              <a:t> структуру, </a:t>
            </a:r>
            <a:r>
              <a:rPr lang="ru-RU" dirty="0" err="1"/>
              <a:t>офіційно</a:t>
            </a:r>
            <a:r>
              <a:rPr lang="ru-RU" dirty="0"/>
              <a:t> </a:t>
            </a:r>
            <a:r>
              <a:rPr lang="ru-RU" dirty="0" err="1"/>
              <a:t>відому</a:t>
            </a:r>
            <a:r>
              <a:rPr lang="ru-RU" dirty="0"/>
              <a:t> як </a:t>
            </a:r>
            <a:r>
              <a:rPr lang="en-US" dirty="0"/>
              <a:t>scrum. </a:t>
            </a:r>
            <a:r>
              <a:rPr lang="ru-RU" dirty="0" err="1"/>
              <a:t>Швабер</a:t>
            </a:r>
            <a:r>
              <a:rPr lang="ru-RU" dirty="0"/>
              <a:t> і Сазерленд </a:t>
            </a:r>
            <a:r>
              <a:rPr lang="ru-RU" dirty="0" err="1"/>
              <a:t>протестували</a:t>
            </a:r>
            <a:r>
              <a:rPr lang="ru-RU" dirty="0"/>
              <a:t> </a:t>
            </a:r>
            <a:r>
              <a:rPr lang="en-US" dirty="0"/>
              <a:t>scrum </a:t>
            </a:r>
            <a:r>
              <a:rPr lang="ru-RU" dirty="0"/>
              <a:t>і </a:t>
            </a:r>
            <a:r>
              <a:rPr lang="ru-RU" dirty="0" err="1"/>
              <a:t>постійно</a:t>
            </a:r>
            <a:r>
              <a:rPr lang="ru-RU" dirty="0"/>
              <a:t> </a:t>
            </a:r>
            <a:r>
              <a:rPr lang="ru-RU" dirty="0" err="1"/>
              <a:t>вдосконалювали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призвело</a:t>
            </a:r>
            <a:r>
              <a:rPr lang="ru-RU" dirty="0"/>
              <a:t> до </a:t>
            </a:r>
            <a:r>
              <a:rPr lang="ru-RU" dirty="0" err="1"/>
              <a:t>публікації</a:t>
            </a:r>
            <a:r>
              <a:rPr lang="ru-RU" dirty="0"/>
              <a:t> </a:t>
            </a:r>
            <a:r>
              <a:rPr lang="ru-RU" dirty="0" err="1"/>
              <a:t>дослідницької</a:t>
            </a:r>
            <a:r>
              <a:rPr lang="ru-RU" dirty="0"/>
              <a:t> </a:t>
            </a:r>
            <a:r>
              <a:rPr lang="ru-RU" dirty="0" err="1"/>
              <a:t>статті</a:t>
            </a:r>
            <a:r>
              <a:rPr lang="ru-RU" dirty="0"/>
              <a:t> в 1995 </a:t>
            </a:r>
            <a:r>
              <a:rPr lang="ru-RU" dirty="0" err="1"/>
              <a:t>році</a:t>
            </a:r>
            <a:r>
              <a:rPr lang="ru-RU" dirty="0"/>
              <a:t> [9] і </a:t>
            </a:r>
            <a:r>
              <a:rPr lang="ru-RU" dirty="0" err="1"/>
              <a:t>Маніфесту</a:t>
            </a:r>
            <a:r>
              <a:rPr lang="ru-RU" dirty="0"/>
              <a:t> </a:t>
            </a:r>
            <a:r>
              <a:rPr lang="ru-RU" dirty="0" err="1"/>
              <a:t>гнучкої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в 2001 </a:t>
            </a:r>
            <a:r>
              <a:rPr lang="ru-RU" dirty="0" err="1"/>
              <a:t>році</a:t>
            </a:r>
            <a:r>
              <a:rPr lang="ru-RU" dirty="0"/>
              <a:t>.[10] </a:t>
            </a:r>
            <a:r>
              <a:rPr lang="ru-RU" dirty="0" err="1"/>
              <a:t>Швабер</a:t>
            </a:r>
            <a:r>
              <a:rPr lang="ru-RU" dirty="0"/>
              <a:t>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співпрацював</a:t>
            </a:r>
            <a:r>
              <a:rPr lang="ru-RU" dirty="0"/>
              <a:t> з </a:t>
            </a:r>
            <a:r>
              <a:rPr lang="ru-RU" dirty="0" err="1"/>
              <a:t>Бабатунде</a:t>
            </a:r>
            <a:r>
              <a:rPr lang="ru-RU" dirty="0"/>
              <a:t> </a:t>
            </a:r>
            <a:r>
              <a:rPr lang="ru-RU" dirty="0" err="1"/>
              <a:t>Огуннайке</a:t>
            </a:r>
            <a:r>
              <a:rPr lang="ru-RU" dirty="0"/>
              <a:t> з </a:t>
            </a:r>
            <a:r>
              <a:rPr lang="ru-RU" dirty="0" err="1"/>
              <a:t>дослідницької</a:t>
            </a:r>
            <a:r>
              <a:rPr lang="ru-RU" dirty="0"/>
              <a:t> </a:t>
            </a:r>
            <a:r>
              <a:rPr lang="ru-RU" dirty="0" err="1"/>
              <a:t>станції</a:t>
            </a:r>
            <a:r>
              <a:rPr lang="ru-RU" dirty="0"/>
              <a:t> </a:t>
            </a:r>
            <a:r>
              <a:rPr lang="en-US" dirty="0"/>
              <a:t>DuPont </a:t>
            </a:r>
            <a:r>
              <a:rPr lang="ru-RU" dirty="0"/>
              <a:t>та </a:t>
            </a:r>
            <a:r>
              <a:rPr lang="ru-RU" dirty="0" err="1"/>
              <a:t>Делаверського</a:t>
            </a:r>
            <a:r>
              <a:rPr lang="ru-RU" dirty="0"/>
              <a:t> </a:t>
            </a:r>
            <a:r>
              <a:rPr lang="ru-RU" dirty="0" err="1"/>
              <a:t>університету</a:t>
            </a:r>
            <a:r>
              <a:rPr lang="ru-RU" dirty="0"/>
              <a:t> для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en-US" dirty="0"/>
              <a:t>Scrum. </a:t>
            </a:r>
            <a:r>
              <a:rPr lang="ru-RU" dirty="0" err="1"/>
              <a:t>Огуннайке</a:t>
            </a:r>
            <a:r>
              <a:rPr lang="ru-RU" dirty="0"/>
              <a:t> </a:t>
            </a:r>
            <a:r>
              <a:rPr lang="ru-RU" dirty="0" err="1"/>
              <a:t>вважав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проекти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часто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зазнавати</a:t>
            </a:r>
            <a:r>
              <a:rPr lang="ru-RU" dirty="0"/>
              <a:t> </a:t>
            </a:r>
            <a:r>
              <a:rPr lang="ru-RU" dirty="0" err="1"/>
              <a:t>невдачі</a:t>
            </a:r>
            <a:r>
              <a:rPr lang="ru-RU" dirty="0"/>
              <a:t>, коли </a:t>
            </a:r>
            <a:r>
              <a:rPr lang="ru-RU" dirty="0" err="1"/>
              <a:t>змінюються</a:t>
            </a:r>
            <a:r>
              <a:rPr lang="ru-RU" dirty="0"/>
              <a:t> </a:t>
            </a:r>
            <a:r>
              <a:rPr lang="ru-RU" dirty="0" err="1"/>
              <a:t>початкові</a:t>
            </a:r>
            <a:r>
              <a:rPr lang="ru-RU" dirty="0"/>
              <a:t> </a:t>
            </a:r>
            <a:r>
              <a:rPr lang="ru-RU" dirty="0" err="1"/>
              <a:t>умови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продуктами не </a:t>
            </a:r>
            <a:r>
              <a:rPr lang="ru-RU" dirty="0" err="1"/>
              <a:t>базується</a:t>
            </a:r>
            <a:r>
              <a:rPr lang="ru-RU" dirty="0"/>
              <a:t> на </a:t>
            </a:r>
            <a:r>
              <a:rPr lang="ru-RU" dirty="0" err="1"/>
              <a:t>емпіричній</a:t>
            </a:r>
            <a:r>
              <a:rPr lang="ru-RU" dirty="0"/>
              <a:t> </a:t>
            </a:r>
            <a:r>
              <a:rPr lang="ru-RU" dirty="0" err="1"/>
              <a:t>практиці</a:t>
            </a:r>
            <a:r>
              <a:rPr lang="ru-RU" dirty="0"/>
              <a:t>.[3]</a:t>
            </a:r>
          </a:p>
          <a:p>
            <a:endParaRPr lang="ru-RU" dirty="0"/>
          </a:p>
          <a:p>
            <a:r>
              <a:rPr lang="ru-RU" dirty="0"/>
              <a:t>У 2002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Швабер</a:t>
            </a:r>
            <a:r>
              <a:rPr lang="ru-RU" dirty="0"/>
              <a:t> разом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іншими</a:t>
            </a:r>
            <a:r>
              <a:rPr lang="ru-RU" dirty="0"/>
              <a:t> </a:t>
            </a:r>
            <a:r>
              <a:rPr lang="ru-RU" dirty="0" err="1"/>
              <a:t>заснував</a:t>
            </a:r>
            <a:r>
              <a:rPr lang="ru-RU" dirty="0"/>
              <a:t> </a:t>
            </a:r>
            <a:r>
              <a:rPr lang="en-US" dirty="0"/>
              <a:t>Scrum Alliance </a:t>
            </a:r>
            <a:r>
              <a:rPr lang="ru-RU" dirty="0"/>
              <a:t>і створив </a:t>
            </a:r>
            <a:r>
              <a:rPr lang="ru-RU" dirty="0" err="1"/>
              <a:t>сертифіковану</a:t>
            </a:r>
            <a:r>
              <a:rPr lang="ru-RU" dirty="0"/>
              <a:t> </a:t>
            </a:r>
            <a:r>
              <a:rPr lang="ru-RU" dirty="0" err="1"/>
              <a:t>серію</a:t>
            </a:r>
            <a:r>
              <a:rPr lang="ru-RU" dirty="0"/>
              <a:t> </a:t>
            </a:r>
            <a:r>
              <a:rPr lang="ru-RU" dirty="0" err="1"/>
              <a:t>акредитацій</a:t>
            </a:r>
            <a:r>
              <a:rPr lang="ru-RU" dirty="0"/>
              <a:t> </a:t>
            </a:r>
            <a:r>
              <a:rPr lang="en-US" dirty="0"/>
              <a:t>Scrum.[11] </a:t>
            </a:r>
            <a:r>
              <a:rPr lang="ru-RU" dirty="0" err="1"/>
              <a:t>Швабер</a:t>
            </a:r>
            <a:r>
              <a:rPr lang="ru-RU" dirty="0"/>
              <a:t> </a:t>
            </a:r>
            <a:r>
              <a:rPr lang="ru-RU" dirty="0" err="1"/>
              <a:t>залишив</a:t>
            </a:r>
            <a:r>
              <a:rPr lang="ru-RU" dirty="0"/>
              <a:t> </a:t>
            </a:r>
            <a:r>
              <a:rPr lang="en-US" dirty="0"/>
              <a:t>Scrum Alliance </a:t>
            </a:r>
            <a:r>
              <a:rPr lang="ru-RU" dirty="0" err="1"/>
              <a:t>наприкінці</a:t>
            </a:r>
            <a:r>
              <a:rPr lang="ru-RU" dirty="0"/>
              <a:t> 2009 року і </a:t>
            </a:r>
            <a:r>
              <a:rPr lang="ru-RU" dirty="0" err="1"/>
              <a:t>згодом</a:t>
            </a:r>
            <a:r>
              <a:rPr lang="ru-RU" dirty="0"/>
              <a:t> </a:t>
            </a:r>
            <a:r>
              <a:rPr lang="ru-RU" dirty="0" err="1"/>
              <a:t>заснував</a:t>
            </a:r>
            <a:r>
              <a:rPr lang="ru-RU" dirty="0"/>
              <a:t> </a:t>
            </a:r>
            <a:r>
              <a:rPr lang="en-US" dirty="0"/>
              <a:t>Scrum.org,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наглядає</a:t>
            </a:r>
            <a:r>
              <a:rPr lang="ru-RU" dirty="0"/>
              <a:t> за </a:t>
            </a:r>
            <a:r>
              <a:rPr lang="ru-RU" dirty="0" err="1"/>
              <a:t>паралельною</a:t>
            </a:r>
            <a:r>
              <a:rPr lang="ru-RU" dirty="0"/>
              <a:t> </a:t>
            </a:r>
            <a:r>
              <a:rPr lang="ru-RU" dirty="0" err="1"/>
              <a:t>серією</a:t>
            </a:r>
            <a:r>
              <a:rPr lang="ru-RU" dirty="0"/>
              <a:t> </a:t>
            </a:r>
            <a:r>
              <a:rPr lang="ru-RU" dirty="0" err="1"/>
              <a:t>професійної</a:t>
            </a:r>
            <a:r>
              <a:rPr lang="ru-RU" dirty="0"/>
              <a:t> </a:t>
            </a:r>
            <a:r>
              <a:rPr lang="ru-RU" dirty="0" err="1"/>
              <a:t>акредитації</a:t>
            </a:r>
            <a:r>
              <a:rPr lang="ru-RU" dirty="0"/>
              <a:t> </a:t>
            </a:r>
            <a:r>
              <a:rPr lang="en-US" dirty="0"/>
              <a:t>Scrum.[12] </a:t>
            </a:r>
            <a:r>
              <a:rPr lang="ru-RU" dirty="0"/>
              <a:t>З 2009 року </a:t>
            </a:r>
            <a:r>
              <a:rPr lang="ru-RU" dirty="0" err="1"/>
              <a:t>Швабер</a:t>
            </a:r>
            <a:r>
              <a:rPr lang="ru-RU" dirty="0"/>
              <a:t> і Сазерленд </a:t>
            </a:r>
            <a:r>
              <a:rPr lang="ru-RU" dirty="0" err="1"/>
              <a:t>публікують</a:t>
            </a:r>
            <a:r>
              <a:rPr lang="ru-RU" dirty="0"/>
              <a:t> і </a:t>
            </a:r>
            <a:r>
              <a:rPr lang="ru-RU" dirty="0" err="1"/>
              <a:t>оновлюють</a:t>
            </a:r>
            <a:r>
              <a:rPr lang="ru-RU" dirty="0"/>
              <a:t> </a:t>
            </a:r>
            <a:r>
              <a:rPr lang="ru-RU" dirty="0" err="1"/>
              <a:t>публічний</a:t>
            </a:r>
            <a:r>
              <a:rPr lang="ru-RU" dirty="0"/>
              <a:t> документ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назвою</a:t>
            </a:r>
            <a:r>
              <a:rPr lang="ru-RU" dirty="0"/>
              <a:t> </a:t>
            </a:r>
            <a:r>
              <a:rPr lang="en-US" dirty="0"/>
              <a:t>The Scrum Guide[13].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переглядався</a:t>
            </a:r>
            <a:r>
              <a:rPr lang="ru-RU" dirty="0"/>
              <a:t> </a:t>
            </a:r>
            <a:r>
              <a:rPr lang="ru-RU" dirty="0" err="1"/>
              <a:t>шість</a:t>
            </a:r>
            <a:r>
              <a:rPr lang="ru-RU" dirty="0"/>
              <a:t> </a:t>
            </a:r>
            <a:r>
              <a:rPr lang="ru-RU" dirty="0" err="1"/>
              <a:t>разів</a:t>
            </a:r>
            <a:r>
              <a:rPr lang="ru-RU" dirty="0"/>
              <a:t>, </a:t>
            </a:r>
            <a:r>
              <a:rPr lang="ru-RU" dirty="0" err="1"/>
              <a:t>остання</a:t>
            </a:r>
            <a:r>
              <a:rPr lang="ru-RU" dirty="0"/>
              <a:t> </a:t>
            </a:r>
            <a:r>
              <a:rPr lang="ru-RU" dirty="0" err="1"/>
              <a:t>версія</a:t>
            </a:r>
            <a:r>
              <a:rPr lang="ru-RU" dirty="0"/>
              <a:t>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опублікована</a:t>
            </a:r>
            <a:r>
              <a:rPr lang="ru-RU" dirty="0"/>
              <a:t> в </a:t>
            </a:r>
            <a:r>
              <a:rPr lang="ru-RU" dirty="0" err="1"/>
              <a:t>листопаді</a:t>
            </a:r>
            <a:r>
              <a:rPr lang="ru-RU" dirty="0"/>
              <a:t> 2020 року.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CEAC8-52A1-4828-B190-A1BDC4CB685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5598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 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місце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де команда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збирається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разом,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продукт вперед.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 –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емпіричний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рішення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ґрунтуються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спостереженнях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досвіді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експериментуванні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три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стовпи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прозорість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,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перевірка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адаптація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підтримує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концепцію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ітеративної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Подумайте про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емпіризм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як про роботу через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невеликі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експерименти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навчання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цієї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адаптацію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як того,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робите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так і того, як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робите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за потреби.</a:t>
            </a:r>
          </a:p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Однією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найважливіших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характеристик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об’єднує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елементи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є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довіра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Якщо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довіри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немає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ймовірно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виникне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напруга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вузькі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місця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шляху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виконання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Цінності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є критично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важливими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команд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оскільки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вони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допомагають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керувати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вашою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роботою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зміцнювати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довіру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цінності</a:t>
            </a:r>
            <a:r>
              <a:rPr lang="ru-R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Scrum,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сміливість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,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цілеспрямованість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,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відданість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,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повага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та </a:t>
            </a:r>
            <a:r>
              <a:rPr lang="ru-R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відкритість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, 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важливими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елементами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які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члени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повинні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враховувати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спільної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Цінності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особливо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важливі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середовищах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де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експериментування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є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ключовим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досягнення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прогресу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ru-RU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CEAC8-52A1-4828-B190-A1BDC4CB685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805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Щоб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бути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ефективним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із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потрібно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щось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більше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ніж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просто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дотримання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механіки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основ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фреймворку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Іноді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впадають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звичку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просто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виконувати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дії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Професійний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вимагає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мислення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щодо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способів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мислення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середовища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яке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підтримує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включаючи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довіру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вимагає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вас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прийняття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цінностей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Scrum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роботі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Ми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називаємо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Що таке професійний Scrum?"/>
              </a:rPr>
              <a:t>Professional Scrum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. 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CEAC8-52A1-4828-B190-A1BDC4CB685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385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CEAC8-52A1-4828-B190-A1BDC4CB685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987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аспекти</a:t>
            </a:r>
            <a:r>
              <a:rPr lang="ru-RU" dirty="0"/>
              <a:t> </a:t>
            </a:r>
            <a:r>
              <a:rPr lang="ru-RU" dirty="0" err="1"/>
              <a:t>роблять</a:t>
            </a:r>
            <a:r>
              <a:rPr lang="ru-RU" dirty="0"/>
              <a:t> </a:t>
            </a:r>
            <a:r>
              <a:rPr lang="ru-RU" dirty="0" err="1"/>
              <a:t>Канбан</a:t>
            </a:r>
            <a:r>
              <a:rPr lang="ru-RU" dirty="0"/>
              <a:t> особливо </a:t>
            </a:r>
            <a:r>
              <a:rPr lang="ru-RU" dirty="0" err="1"/>
              <a:t>корисним</a:t>
            </a:r>
            <a:r>
              <a:rPr lang="ru-RU" dirty="0"/>
              <a:t> для </a:t>
            </a:r>
            <a:r>
              <a:rPr lang="ru-RU" dirty="0" err="1"/>
              <a:t>проектів</a:t>
            </a:r>
            <a:r>
              <a:rPr lang="ru-RU" dirty="0"/>
              <a:t>, де </a:t>
            </a:r>
            <a:r>
              <a:rPr lang="ru-RU" dirty="0" err="1"/>
              <a:t>вимоги</a:t>
            </a:r>
            <a:r>
              <a:rPr lang="ru-RU" dirty="0"/>
              <a:t> часто </a:t>
            </a:r>
            <a:r>
              <a:rPr lang="ru-RU" dirty="0" err="1"/>
              <a:t>змінюються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не </a:t>
            </a:r>
            <a:r>
              <a:rPr lang="ru-RU" dirty="0" err="1"/>
              <a:t>можуть</a:t>
            </a:r>
            <a:r>
              <a:rPr lang="ru-RU" dirty="0"/>
              <a:t> бути точно </a:t>
            </a:r>
            <a:r>
              <a:rPr lang="ru-RU" dirty="0" err="1"/>
              <a:t>визначені</a:t>
            </a:r>
            <a:r>
              <a:rPr lang="ru-RU" dirty="0"/>
              <a:t> на початку. </a:t>
            </a:r>
            <a:r>
              <a:rPr lang="ru-RU" dirty="0" err="1"/>
              <a:t>Методологія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швидко</a:t>
            </a:r>
            <a:r>
              <a:rPr lang="ru-RU" dirty="0"/>
              <a:t> </a:t>
            </a:r>
            <a:r>
              <a:rPr lang="ru-RU" dirty="0" err="1"/>
              <a:t>реагувати</a:t>
            </a:r>
            <a:r>
              <a:rPr lang="ru-RU" dirty="0"/>
              <a:t> на </a:t>
            </a:r>
            <a:r>
              <a:rPr lang="ru-RU" dirty="0" err="1"/>
              <a:t>зміни</a:t>
            </a:r>
            <a:r>
              <a:rPr lang="ru-RU" dirty="0"/>
              <a:t> та </a:t>
            </a:r>
            <a:r>
              <a:rPr lang="ru-RU" dirty="0" err="1"/>
              <a:t>підтримувати</a:t>
            </a:r>
            <a:r>
              <a:rPr lang="ru-RU" dirty="0"/>
              <a:t> </a:t>
            </a:r>
            <a:r>
              <a:rPr lang="ru-RU" dirty="0" err="1"/>
              <a:t>високу</a:t>
            </a:r>
            <a:r>
              <a:rPr lang="ru-RU" dirty="0"/>
              <a:t> </a:t>
            </a:r>
            <a:r>
              <a:rPr lang="ru-RU" dirty="0" err="1"/>
              <a:t>адаптивність</a:t>
            </a:r>
            <a:r>
              <a:rPr lang="ru-RU" dirty="0"/>
              <a:t> без </a:t>
            </a:r>
            <a:r>
              <a:rPr lang="ru-RU" dirty="0" err="1"/>
              <a:t>значного</a:t>
            </a:r>
            <a:r>
              <a:rPr lang="ru-RU" dirty="0"/>
              <a:t> дисбалансу в ресурсах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завданнях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CEAC8-52A1-4828-B190-A1BDC4CB685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7277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Чому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усюди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використовується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канбан-дошка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 не,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планшети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або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величезний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монітор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Як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відповідають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питання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шанувальники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звичайна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дошка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переваги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​​вона проста і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візуальний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контроль. На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ній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легко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вносити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зміни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і вона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забезпечує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тактильну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і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соціальну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взаємодію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учасниками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команди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CEAC8-52A1-4828-B190-A1BDC4CB685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3569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</a:t>
            </a:r>
            <a:r>
              <a:rPr lang="ru-RU" dirty="0" err="1"/>
              <a:t>практиці</a:t>
            </a:r>
            <a:r>
              <a:rPr lang="ru-RU" dirty="0"/>
              <a:t> система </a:t>
            </a:r>
            <a:r>
              <a:rPr lang="ru-RU" dirty="0" err="1"/>
              <a:t>відмінно</a:t>
            </a:r>
            <a:r>
              <a:rPr lang="ru-RU" dirty="0"/>
              <a:t> себе </a:t>
            </a:r>
            <a:r>
              <a:rPr lang="ru-RU" dirty="0" err="1"/>
              <a:t>показує</a:t>
            </a:r>
            <a:r>
              <a:rPr lang="ru-RU" dirty="0"/>
              <a:t> в сферах неосновного </a:t>
            </a:r>
            <a:r>
              <a:rPr lang="ru-RU" dirty="0" err="1"/>
              <a:t>виробництва</a:t>
            </a:r>
            <a:r>
              <a:rPr lang="ru-RU" dirty="0"/>
              <a:t>:</a:t>
            </a:r>
          </a:p>
          <a:p>
            <a:r>
              <a:rPr lang="ru-RU" dirty="0" err="1"/>
              <a:t>групи</a:t>
            </a:r>
            <a:r>
              <a:rPr lang="ru-RU" dirty="0"/>
              <a:t> </a:t>
            </a:r>
            <a:r>
              <a:rPr lang="ru-RU" dirty="0" err="1"/>
              <a:t>підтримки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служби</a:t>
            </a:r>
            <a:r>
              <a:rPr lang="ru-RU" dirty="0"/>
              <a:t> </a:t>
            </a:r>
            <a:r>
              <a:rPr lang="ru-RU" dirty="0" err="1"/>
              <a:t>підтримки</a:t>
            </a:r>
            <a:r>
              <a:rPr lang="ru-RU" dirty="0"/>
              <a:t>.</a:t>
            </a:r>
          </a:p>
          <a:p>
            <a:r>
              <a:rPr lang="ru-RU" dirty="0" err="1"/>
              <a:t>Канбан</a:t>
            </a:r>
            <a:r>
              <a:rPr lang="ru-RU" dirty="0"/>
              <a:t> добре </a:t>
            </a:r>
            <a:r>
              <a:rPr lang="ru-RU" dirty="0" err="1"/>
              <a:t>працює</a:t>
            </a:r>
            <a:r>
              <a:rPr lang="ru-RU" dirty="0"/>
              <a:t> при </a:t>
            </a:r>
            <a:r>
              <a:rPr lang="ru-RU" dirty="0" err="1"/>
              <a:t>управлінні</a:t>
            </a:r>
            <a:r>
              <a:rPr lang="ru-RU" dirty="0"/>
              <a:t> </a:t>
            </a:r>
            <a:r>
              <a:rPr lang="ru-RU" dirty="0" err="1"/>
              <a:t>стартапами</a:t>
            </a:r>
            <a:r>
              <a:rPr lang="ru-RU" dirty="0"/>
              <a:t> без </a:t>
            </a:r>
            <a:r>
              <a:rPr lang="ru-RU" dirty="0" err="1"/>
              <a:t>чіткого</a:t>
            </a:r>
            <a:r>
              <a:rPr lang="ru-RU" dirty="0"/>
              <a:t> плану, але де активно </a:t>
            </a:r>
            <a:r>
              <a:rPr lang="ru-RU" dirty="0" err="1"/>
              <a:t>просувається</a:t>
            </a:r>
            <a:r>
              <a:rPr lang="ru-RU" dirty="0"/>
              <a:t> </a:t>
            </a:r>
            <a:r>
              <a:rPr lang="ru-RU" dirty="0" err="1"/>
              <a:t>розробка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CEAC8-52A1-4828-B190-A1BDC4CB685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750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Скрам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як і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agile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kanban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є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гнучкою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методикою і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часто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застосовується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IT-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сфері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Відмінності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між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ними не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очевидні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 перший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погляд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Існує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багато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схожості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наприклад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наявність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беклога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 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підходах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1CEAC8-52A1-4828-B190-A1BDC4CB685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921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BYlv7eP9zgg" TargetMode="Externa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Методології розробки програмного забезпечення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Огляд основних підходів до розробки програмного забезпечення. Важливість вибору правильної методології для успішного проекту.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Водоспадна 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Класична модель розробки ПЗ. Етапи: аналіз вимог, проєктування, реалізація, тестування, впровадження, супровід. Переваги: структурованість, чіткий порядок. Недоліки: складність у внесенні змін на пізніх етапах.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(Гнучкі методології)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Ітеративний підхід до розробки ПЗ. Етапи включають постійні ітерації: планування, розробка, тестування, випуск. Переваги: гнучкість, швидке реагування на зміни. Недоліки: вимоги до постійної комунікації та чіткої організації.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Одна з популярних Agile-методологій. Використовує спринти (короткі ітерації), під час яких команда працює над визначеними завданнями. Основні ролі: Scrum-майстер, власник продукту, команда розробки.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100" y="642938"/>
            <a:ext cx="8229600" cy="11430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Scrum </a:t>
            </a:r>
            <a:r>
              <a:rPr lang="ru-RU" sz="2400" dirty="0" err="1"/>
              <a:t>допомагає</a:t>
            </a:r>
            <a:r>
              <a:rPr lang="ru-RU" sz="2400" dirty="0"/>
              <a:t> людям і командам </a:t>
            </a:r>
            <a:r>
              <a:rPr lang="ru-RU" sz="2400" dirty="0" err="1"/>
              <a:t>поступово</a:t>
            </a:r>
            <a:r>
              <a:rPr lang="ru-RU" sz="2400" dirty="0"/>
              <a:t> </a:t>
            </a:r>
            <a:r>
              <a:rPr lang="ru-RU" sz="2400" dirty="0" err="1"/>
              <a:t>досягати</a:t>
            </a:r>
            <a:r>
              <a:rPr lang="ru-RU" sz="2400" dirty="0"/>
              <a:t> </a:t>
            </a:r>
            <a:r>
              <a:rPr lang="ru-RU" sz="2400" dirty="0" err="1"/>
              <a:t>цінності</a:t>
            </a:r>
            <a:r>
              <a:rPr lang="ru-RU" sz="2400" dirty="0"/>
              <a:t> шляхом </a:t>
            </a:r>
            <a:r>
              <a:rPr lang="ru-RU" sz="2400" dirty="0" err="1"/>
              <a:t>співпраці</a:t>
            </a:r>
            <a:r>
              <a:rPr lang="ru-RU" sz="2400" dirty="0"/>
              <a:t>. Будучи </a:t>
            </a:r>
            <a:r>
              <a:rPr lang="ru-RU" sz="2400" dirty="0" err="1"/>
              <a:t>гнучким</a:t>
            </a:r>
            <a:r>
              <a:rPr lang="ru-RU" sz="2400" dirty="0"/>
              <a:t> </a:t>
            </a:r>
            <a:r>
              <a:rPr lang="ru-RU" sz="2400" dirty="0" err="1"/>
              <a:t>фреймворком</a:t>
            </a:r>
            <a:r>
              <a:rPr lang="ru-RU" sz="2400" dirty="0"/>
              <a:t> , </a:t>
            </a:r>
            <a:r>
              <a:rPr lang="en-US" sz="2400" dirty="0"/>
              <a:t>Scrum </a:t>
            </a:r>
            <a:r>
              <a:rPr lang="ru-RU" sz="2400" dirty="0" err="1"/>
              <a:t>забезпечує</a:t>
            </a:r>
            <a:r>
              <a:rPr lang="ru-RU" sz="2400" dirty="0"/>
              <a:t> </a:t>
            </a:r>
            <a:r>
              <a:rPr lang="ru-RU" sz="2400" dirty="0" err="1"/>
              <a:t>достатню</a:t>
            </a:r>
            <a:r>
              <a:rPr lang="ru-RU" sz="2400" dirty="0"/>
              <a:t> структуру для людей і команд, </a:t>
            </a:r>
            <a:r>
              <a:rPr lang="ru-RU" sz="2400" dirty="0" err="1"/>
              <a:t>щоб</a:t>
            </a:r>
            <a:r>
              <a:rPr lang="ru-RU" sz="2400" dirty="0"/>
              <a:t> </a:t>
            </a:r>
            <a:r>
              <a:rPr lang="ru-RU" sz="2400" dirty="0" err="1"/>
              <a:t>інтегрувати</a:t>
            </a:r>
            <a:r>
              <a:rPr lang="ru-RU" sz="2400" dirty="0"/>
              <a:t> </a:t>
            </a:r>
            <a:r>
              <a:rPr lang="ru-RU" sz="2400" dirty="0" err="1"/>
              <a:t>їх</a:t>
            </a:r>
            <a:r>
              <a:rPr lang="ru-RU" sz="2400" dirty="0"/>
              <a:t> у свою роботу, </a:t>
            </a:r>
            <a:r>
              <a:rPr lang="ru-RU" sz="2400" dirty="0" err="1"/>
              <a:t>додаючи</a:t>
            </a:r>
            <a:r>
              <a:rPr lang="ru-RU" sz="2400" dirty="0"/>
              <a:t> </a:t>
            </a:r>
            <a:r>
              <a:rPr lang="ru-RU" sz="2400" dirty="0" err="1"/>
              <a:t>правильні</a:t>
            </a:r>
            <a:r>
              <a:rPr lang="ru-RU" sz="2400" dirty="0"/>
              <a:t> практики для </a:t>
            </a:r>
            <a:r>
              <a:rPr lang="ru-RU" sz="2400" dirty="0" err="1"/>
              <a:t>оптимізації</a:t>
            </a:r>
            <a:r>
              <a:rPr lang="ru-RU" sz="2400" dirty="0"/>
              <a:t> для </a:t>
            </a:r>
            <a:r>
              <a:rPr lang="ru-RU" sz="2400" dirty="0" err="1"/>
              <a:t>їхніх</a:t>
            </a:r>
            <a:r>
              <a:rPr lang="ru-RU" sz="2400" dirty="0"/>
              <a:t> </a:t>
            </a:r>
            <a:r>
              <a:rPr lang="ru-RU" sz="2400" dirty="0" err="1"/>
              <a:t>конкретних</a:t>
            </a:r>
            <a:r>
              <a:rPr lang="ru-RU" sz="2400" dirty="0"/>
              <a:t> потреб.   Ви можете </a:t>
            </a:r>
            <a:r>
              <a:rPr lang="ru-RU" sz="2400" dirty="0" err="1"/>
              <a:t>подумати</a:t>
            </a:r>
            <a:r>
              <a:rPr lang="ru-RU" sz="2400" dirty="0"/>
              <a:t>, </a:t>
            </a:r>
            <a:r>
              <a:rPr lang="ru-RU" sz="2400" dirty="0" err="1"/>
              <a:t>це</a:t>
            </a:r>
            <a:r>
              <a:rPr lang="ru-RU" sz="2400" dirty="0"/>
              <a:t> </a:t>
            </a:r>
            <a:r>
              <a:rPr lang="ru-RU" sz="2400" dirty="0" err="1"/>
              <a:t>звучить</a:t>
            </a:r>
            <a:r>
              <a:rPr lang="ru-RU" sz="2400" dirty="0"/>
              <a:t> </a:t>
            </a:r>
            <a:r>
              <a:rPr lang="ru-RU" sz="2400" dirty="0" err="1"/>
              <a:t>чудово</a:t>
            </a:r>
            <a:r>
              <a:rPr lang="ru-RU" sz="2400" dirty="0"/>
              <a:t>! Але як </a:t>
            </a:r>
            <a:r>
              <a:rPr lang="ru-RU" sz="2400" dirty="0" err="1"/>
              <a:t>мені</a:t>
            </a:r>
            <a:r>
              <a:rPr lang="ru-RU" sz="2400" dirty="0"/>
              <a:t> </a:t>
            </a:r>
            <a:r>
              <a:rPr lang="ru-RU" sz="2400" dirty="0" err="1"/>
              <a:t>почати</a:t>
            </a:r>
            <a:r>
              <a:rPr lang="ru-RU" sz="2400" dirty="0"/>
              <a:t>?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75681"/>
            <a:ext cx="82296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471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Scrum Agile events, based on </a:t>
            </a:r>
            <a:r>
              <a:rPr lang="en-US" i="1" dirty="0"/>
              <a:t>The 2020 Scrum Guide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73200" y="1901030"/>
            <a:ext cx="6972300" cy="481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97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Scrum —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гнучка</a:t>
            </a:r>
            <a:r>
              <a:rPr lang="ru-RU" dirty="0"/>
              <a:t> структура, яка широко використовується в </a:t>
            </a:r>
            <a:r>
              <a:rPr lang="ru-RU" dirty="0" err="1"/>
              <a:t>розробці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 та в </a:t>
            </a:r>
            <a:r>
              <a:rPr lang="ru-RU" dirty="0" err="1"/>
              <a:t>інших</a:t>
            </a:r>
            <a:r>
              <a:rPr lang="ru-RU" dirty="0"/>
              <a:t> </a:t>
            </a:r>
            <a:r>
              <a:rPr lang="ru-RU" dirty="0" err="1"/>
              <a:t>галузях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допомогти</a:t>
            </a:r>
            <a:r>
              <a:rPr lang="ru-RU" dirty="0"/>
              <a:t> командам </a:t>
            </a:r>
            <a:r>
              <a:rPr lang="ru-RU" dirty="0" err="1"/>
              <a:t>працювати</a:t>
            </a:r>
            <a:r>
              <a:rPr lang="ru-RU" dirty="0"/>
              <a:t> над </a:t>
            </a:r>
            <a:r>
              <a:rPr lang="ru-RU" dirty="0" err="1"/>
              <a:t>складними</a:t>
            </a:r>
            <a:r>
              <a:rPr lang="ru-RU" dirty="0"/>
              <a:t> проектами.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наголошує</a:t>
            </a:r>
            <a:r>
              <a:rPr lang="ru-RU" dirty="0"/>
              <a:t> на </a:t>
            </a:r>
            <a:r>
              <a:rPr lang="ru-RU" dirty="0" err="1"/>
              <a:t>гнучкості</a:t>
            </a:r>
            <a:r>
              <a:rPr lang="ru-RU" dirty="0"/>
              <a:t>, </a:t>
            </a:r>
            <a:r>
              <a:rPr lang="ru-RU" dirty="0" err="1"/>
              <a:t>командній</a:t>
            </a:r>
            <a:r>
              <a:rPr lang="ru-RU" dirty="0"/>
              <a:t> </a:t>
            </a:r>
            <a:r>
              <a:rPr lang="ru-RU" dirty="0" err="1"/>
              <a:t>роботі</a:t>
            </a:r>
            <a:r>
              <a:rPr lang="ru-RU" dirty="0"/>
              <a:t> та </a:t>
            </a:r>
            <a:r>
              <a:rPr lang="ru-RU" dirty="0" err="1"/>
              <a:t>ітеративному</a:t>
            </a:r>
            <a:r>
              <a:rPr lang="ru-RU" dirty="0"/>
              <a:t> </a:t>
            </a:r>
            <a:r>
              <a:rPr lang="ru-RU" dirty="0" err="1"/>
              <a:t>прогресі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«</a:t>
            </a:r>
            <a:r>
              <a:rPr lang="ru-RU" dirty="0" err="1"/>
              <a:t>спринтів</a:t>
            </a:r>
            <a:r>
              <a:rPr lang="ru-RU" dirty="0"/>
              <a:t>» — коротких, </a:t>
            </a:r>
            <a:r>
              <a:rPr lang="ru-RU" dirty="0" err="1"/>
              <a:t>обмежених</a:t>
            </a:r>
            <a:r>
              <a:rPr lang="ru-RU" dirty="0"/>
              <a:t> у </a:t>
            </a:r>
            <a:r>
              <a:rPr lang="ru-RU" dirty="0" err="1"/>
              <a:t>часі</a:t>
            </a:r>
            <a:r>
              <a:rPr lang="ru-RU" dirty="0"/>
              <a:t> </a:t>
            </a:r>
            <a:r>
              <a:rPr lang="ru-RU" dirty="0" err="1"/>
              <a:t>циклів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(</a:t>
            </a:r>
            <a:r>
              <a:rPr lang="ru-RU" dirty="0" err="1"/>
              <a:t>зазвичай</a:t>
            </a:r>
            <a:r>
              <a:rPr lang="ru-RU" dirty="0"/>
              <a:t> 1–4 </a:t>
            </a:r>
            <a:r>
              <a:rPr lang="ru-RU" dirty="0" err="1"/>
              <a:t>тижні</a:t>
            </a:r>
            <a:r>
              <a:rPr lang="ru-RU" dirty="0"/>
              <a:t>). </a:t>
            </a:r>
            <a:r>
              <a:rPr lang="ru-RU" dirty="0" err="1"/>
              <a:t>Кожен</a:t>
            </a:r>
            <a:r>
              <a:rPr lang="ru-RU" dirty="0"/>
              <a:t> спринт </a:t>
            </a:r>
            <a:r>
              <a:rPr lang="ru-RU" dirty="0" err="1"/>
              <a:t>починається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сеансу </a:t>
            </a:r>
            <a:r>
              <a:rPr lang="ru-RU" dirty="0" err="1"/>
              <a:t>планування</a:t>
            </a:r>
            <a:r>
              <a:rPr lang="ru-RU" dirty="0"/>
              <a:t> та </a:t>
            </a:r>
            <a:r>
              <a:rPr lang="ru-RU" dirty="0" err="1"/>
              <a:t>закінчується</a:t>
            </a:r>
            <a:r>
              <a:rPr lang="ru-RU" dirty="0"/>
              <a:t> </a:t>
            </a:r>
            <a:r>
              <a:rPr lang="ru-RU" dirty="0" err="1"/>
              <a:t>оглядом</a:t>
            </a:r>
            <a:r>
              <a:rPr lang="ru-RU" dirty="0"/>
              <a:t> і </a:t>
            </a:r>
            <a:r>
              <a:rPr lang="ru-RU" dirty="0" err="1"/>
              <a:t>ретроспективою</a:t>
            </a:r>
            <a:r>
              <a:rPr lang="ru-RU" dirty="0"/>
              <a:t> для </a:t>
            </a:r>
            <a:r>
              <a:rPr lang="ru-RU" dirty="0" err="1"/>
              <a:t>оцінки</a:t>
            </a:r>
            <a:r>
              <a:rPr lang="ru-RU" dirty="0"/>
              <a:t> </a:t>
            </a:r>
            <a:r>
              <a:rPr lang="ru-RU" dirty="0" err="1"/>
              <a:t>результатів</a:t>
            </a:r>
            <a:r>
              <a:rPr lang="ru-RU" dirty="0"/>
              <a:t> і </a:t>
            </a:r>
            <a:r>
              <a:rPr lang="ru-RU" dirty="0" err="1"/>
              <a:t>вдосконалення</a:t>
            </a:r>
            <a:r>
              <a:rPr lang="ru-RU" dirty="0"/>
              <a:t> </a:t>
            </a:r>
            <a:r>
              <a:rPr lang="ru-RU" dirty="0" err="1"/>
              <a:t>майбутньої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1359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ролі</a:t>
            </a:r>
            <a:r>
              <a:rPr lang="ru-RU" dirty="0"/>
              <a:t> в </a:t>
            </a:r>
            <a:r>
              <a:rPr lang="ru-RU" dirty="0" err="1"/>
              <a:t>Scrum</a:t>
            </a:r>
            <a:r>
              <a:rPr lang="ru-RU" dirty="0"/>
              <a:t> </a:t>
            </a:r>
            <a:r>
              <a:rPr lang="ru-RU" dirty="0" err="1"/>
              <a:t>включають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Scrum Master: </a:t>
            </a:r>
            <a:r>
              <a:rPr lang="ru-RU" dirty="0" err="1"/>
              <a:t>полегшує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і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дотримання</a:t>
            </a:r>
            <a:r>
              <a:rPr lang="ru-RU" dirty="0"/>
              <a:t> </a:t>
            </a:r>
            <a:r>
              <a:rPr lang="ru-RU" dirty="0" err="1"/>
              <a:t>принципів</a:t>
            </a:r>
            <a:r>
              <a:rPr lang="ru-RU" dirty="0"/>
              <a:t> </a:t>
            </a:r>
            <a:r>
              <a:rPr lang="en-US" dirty="0"/>
              <a:t>Scrum.</a:t>
            </a:r>
          </a:p>
          <a:p>
            <a:pPr marL="0" indent="0">
              <a:buNone/>
            </a:pPr>
            <a:r>
              <a:rPr lang="ru-RU" dirty="0" err="1"/>
              <a:t>Власник</a:t>
            </a:r>
            <a:r>
              <a:rPr lang="ru-RU" dirty="0"/>
              <a:t> продукту: </a:t>
            </a:r>
            <a:r>
              <a:rPr lang="ru-RU" dirty="0" err="1"/>
              <a:t>представляє</a:t>
            </a:r>
            <a:r>
              <a:rPr lang="ru-RU" dirty="0"/>
              <a:t> </a:t>
            </a:r>
            <a:r>
              <a:rPr lang="ru-RU" dirty="0" err="1"/>
              <a:t>зацікавлені</a:t>
            </a:r>
            <a:r>
              <a:rPr lang="ru-RU" dirty="0"/>
              <a:t> </a:t>
            </a:r>
            <a:r>
              <a:rPr lang="ru-RU" dirty="0" err="1"/>
              <a:t>сторони</a:t>
            </a:r>
            <a:r>
              <a:rPr lang="ru-RU" dirty="0"/>
              <a:t> та </a:t>
            </a:r>
            <a:r>
              <a:rPr lang="ru-RU" dirty="0" err="1"/>
              <a:t>розставляє</a:t>
            </a:r>
            <a:r>
              <a:rPr lang="ru-RU" dirty="0"/>
              <a:t> </a:t>
            </a:r>
            <a:r>
              <a:rPr lang="ru-RU" dirty="0" err="1"/>
              <a:t>пріоритети</a:t>
            </a:r>
            <a:r>
              <a:rPr lang="ru-RU" dirty="0"/>
              <a:t> для </a:t>
            </a:r>
            <a:r>
              <a:rPr lang="ru-RU" dirty="0" err="1"/>
              <a:t>невиконаних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 (</a:t>
            </a:r>
            <a:r>
              <a:rPr lang="ru-RU" dirty="0" err="1"/>
              <a:t>динамічний</a:t>
            </a:r>
            <a:r>
              <a:rPr lang="ru-RU" dirty="0"/>
              <a:t> список </a:t>
            </a:r>
            <a:r>
              <a:rPr lang="ru-RU" dirty="0" err="1"/>
              <a:t>функцій</a:t>
            </a:r>
            <a:r>
              <a:rPr lang="ru-RU" dirty="0"/>
              <a:t> і </a:t>
            </a:r>
            <a:r>
              <a:rPr lang="ru-RU" dirty="0" err="1"/>
              <a:t>завдань</a:t>
            </a:r>
            <a:r>
              <a:rPr lang="ru-RU" dirty="0"/>
              <a:t>).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Команда </a:t>
            </a:r>
            <a:r>
              <a:rPr lang="en-US" dirty="0"/>
              <a:t>Scrum: </a:t>
            </a:r>
            <a:r>
              <a:rPr lang="ru-RU" dirty="0" err="1"/>
              <a:t>самоорганізована</a:t>
            </a:r>
            <a:r>
              <a:rPr lang="ru-RU" dirty="0"/>
              <a:t> </a:t>
            </a:r>
            <a:r>
              <a:rPr lang="ru-RU" dirty="0" err="1"/>
              <a:t>група</a:t>
            </a:r>
            <a:r>
              <a:rPr lang="ru-RU" dirty="0"/>
              <a:t>, </a:t>
            </a:r>
            <a:r>
              <a:rPr lang="ru-RU" dirty="0" err="1"/>
              <a:t>відповідальна</a:t>
            </a:r>
            <a:r>
              <a:rPr lang="ru-RU" dirty="0"/>
              <a:t> за </a:t>
            </a:r>
            <a:r>
              <a:rPr lang="ru-RU" dirty="0" err="1"/>
              <a:t>надання</a:t>
            </a:r>
            <a:r>
              <a:rPr lang="ru-RU" dirty="0"/>
              <a:t> </a:t>
            </a:r>
            <a:r>
              <a:rPr lang="ru-RU" dirty="0" err="1"/>
              <a:t>додаткових</a:t>
            </a:r>
            <a:r>
              <a:rPr lang="ru-RU" dirty="0"/>
              <a:t> </a:t>
            </a:r>
            <a:r>
              <a:rPr lang="ru-RU" dirty="0" err="1"/>
              <a:t>продуктів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r>
              <a:rPr lang="ru-RU" dirty="0" err="1"/>
              <a:t>Ключові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en-US" dirty="0"/>
              <a:t>Scrum </a:t>
            </a:r>
            <a:r>
              <a:rPr lang="ru-RU" dirty="0" err="1"/>
              <a:t>включають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 </a:t>
            </a:r>
            <a:r>
              <a:rPr lang="ru-RU" dirty="0" err="1"/>
              <a:t>спринтів</a:t>
            </a:r>
            <a:r>
              <a:rPr lang="ru-RU" dirty="0"/>
              <a:t>, </a:t>
            </a:r>
            <a:r>
              <a:rPr lang="ru-RU" dirty="0" err="1"/>
              <a:t>щоденні</a:t>
            </a:r>
            <a:r>
              <a:rPr lang="ru-RU" dirty="0"/>
              <a:t> </a:t>
            </a:r>
            <a:r>
              <a:rPr lang="ru-RU" dirty="0" err="1"/>
              <a:t>виступи</a:t>
            </a:r>
            <a:r>
              <a:rPr lang="ru-RU" dirty="0"/>
              <a:t>, огляди </a:t>
            </a:r>
            <a:r>
              <a:rPr lang="ru-RU" dirty="0" err="1"/>
              <a:t>спринтів</a:t>
            </a:r>
            <a:r>
              <a:rPr lang="ru-RU" dirty="0"/>
              <a:t> та </a:t>
            </a:r>
            <a:r>
              <a:rPr lang="ru-RU" dirty="0" err="1"/>
              <a:t>ретроспективи</a:t>
            </a:r>
            <a:r>
              <a:rPr lang="ru-RU" dirty="0"/>
              <a:t> </a:t>
            </a:r>
            <a:r>
              <a:rPr lang="ru-RU" dirty="0" err="1"/>
              <a:t>спринтів</a:t>
            </a:r>
            <a:r>
              <a:rPr lang="ru-RU" dirty="0"/>
              <a:t>, </a:t>
            </a:r>
            <a:r>
              <a:rPr lang="ru-RU" dirty="0" err="1"/>
              <a:t>усі</a:t>
            </a:r>
            <a:r>
              <a:rPr lang="ru-RU" dirty="0"/>
              <a:t> вони </a:t>
            </a:r>
            <a:r>
              <a:rPr lang="ru-RU" dirty="0" err="1"/>
              <a:t>спрямовані</a:t>
            </a:r>
            <a:r>
              <a:rPr lang="ru-RU" dirty="0"/>
              <a:t> на </a:t>
            </a:r>
            <a:r>
              <a:rPr lang="ru-RU" dirty="0" err="1"/>
              <a:t>сприяння</a:t>
            </a:r>
            <a:r>
              <a:rPr lang="ru-RU" dirty="0"/>
              <a:t> </a:t>
            </a:r>
            <a:r>
              <a:rPr lang="ru-RU" dirty="0" err="1"/>
              <a:t>прозорості</a:t>
            </a:r>
            <a:r>
              <a:rPr lang="ru-RU" dirty="0"/>
              <a:t>, </a:t>
            </a:r>
            <a:r>
              <a:rPr lang="ru-RU" dirty="0" err="1"/>
              <a:t>перевірці</a:t>
            </a:r>
            <a:r>
              <a:rPr lang="ru-RU" dirty="0"/>
              <a:t> та </a:t>
            </a:r>
            <a:r>
              <a:rPr lang="ru-RU" dirty="0" err="1"/>
              <a:t>адаптації</a:t>
            </a:r>
            <a:r>
              <a:rPr lang="ru-RU" dirty="0"/>
              <a:t>​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566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Scrum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Ця</a:t>
            </a:r>
            <a:r>
              <a:rPr lang="ru-RU" dirty="0"/>
              <a:t> структура особливо </a:t>
            </a:r>
            <a:r>
              <a:rPr lang="ru-RU" dirty="0" err="1"/>
              <a:t>ефективна</a:t>
            </a:r>
            <a:r>
              <a:rPr lang="ru-RU" dirty="0"/>
              <a:t> в </a:t>
            </a:r>
            <a:r>
              <a:rPr lang="ru-RU" dirty="0" err="1"/>
              <a:t>середовищах</a:t>
            </a:r>
            <a:r>
              <a:rPr lang="ru-RU" dirty="0"/>
              <a:t>, де </a:t>
            </a:r>
            <a:r>
              <a:rPr lang="ru-RU" dirty="0" err="1"/>
              <a:t>вимоги</a:t>
            </a:r>
            <a:r>
              <a:rPr lang="ru-RU" dirty="0"/>
              <a:t> часто </a:t>
            </a:r>
            <a:r>
              <a:rPr lang="ru-RU" dirty="0" err="1"/>
              <a:t>змінюються</a:t>
            </a:r>
            <a:r>
              <a:rPr lang="ru-RU" dirty="0"/>
              <a:t>, </a:t>
            </a:r>
            <a:r>
              <a:rPr lang="ru-RU" dirty="0" err="1"/>
              <a:t>дозволяючи</a:t>
            </a:r>
            <a:r>
              <a:rPr lang="ru-RU" dirty="0"/>
              <a:t> командам </a:t>
            </a:r>
            <a:r>
              <a:rPr lang="ru-RU" dirty="0" err="1"/>
              <a:t>швидко</a:t>
            </a:r>
            <a:r>
              <a:rPr lang="ru-RU" dirty="0"/>
              <a:t> </a:t>
            </a:r>
            <a:r>
              <a:rPr lang="ru-RU" dirty="0" err="1"/>
              <a:t>адаптуватися</a:t>
            </a:r>
            <a:r>
              <a:rPr lang="ru-RU" dirty="0"/>
              <a:t> на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dirty="0" err="1"/>
              <a:t>відгуків</a:t>
            </a:r>
            <a:r>
              <a:rPr lang="ru-RU" dirty="0"/>
              <a:t> </a:t>
            </a:r>
            <a:r>
              <a:rPr lang="ru-RU" dirty="0" err="1"/>
              <a:t>зацікавлених</a:t>
            </a:r>
            <a:r>
              <a:rPr lang="ru-RU" dirty="0"/>
              <a:t> </a:t>
            </a:r>
            <a:r>
              <a:rPr lang="ru-RU" dirty="0" err="1"/>
              <a:t>сторін</a:t>
            </a:r>
            <a:endParaRPr lang="en-US" dirty="0"/>
          </a:p>
          <a:p>
            <a:r>
              <a:rPr lang="ru-RU" dirty="0" err="1"/>
              <a:t>Однак</a:t>
            </a:r>
            <a:r>
              <a:rPr lang="ru-RU" dirty="0"/>
              <a:t> для </a:t>
            </a:r>
            <a:r>
              <a:rPr lang="ru-RU" dirty="0" err="1"/>
              <a:t>цього</a:t>
            </a:r>
            <a:r>
              <a:rPr lang="ru-RU" dirty="0"/>
              <a:t> </a:t>
            </a:r>
            <a:r>
              <a:rPr lang="ru-RU" dirty="0" err="1"/>
              <a:t>потрібен</a:t>
            </a:r>
            <a:r>
              <a:rPr lang="ru-RU" dirty="0"/>
              <a:t> </a:t>
            </a:r>
            <a:r>
              <a:rPr lang="ru-RU" dirty="0" err="1"/>
              <a:t>високий</a:t>
            </a:r>
            <a:r>
              <a:rPr lang="ru-RU" dirty="0"/>
              <a:t> </a:t>
            </a:r>
            <a:r>
              <a:rPr lang="ru-RU" dirty="0" err="1"/>
              <a:t>рівень</a:t>
            </a:r>
            <a:r>
              <a:rPr lang="ru-RU" dirty="0"/>
              <a:t> </a:t>
            </a:r>
            <a:r>
              <a:rPr lang="ru-RU" dirty="0" err="1"/>
              <a:t>спілкування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інколи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збільшити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 до часу та </a:t>
            </a:r>
            <a:r>
              <a:rPr lang="ru-RU" dirty="0" err="1"/>
              <a:t>складності</a:t>
            </a:r>
            <a:endParaRPr lang="en-US" dirty="0"/>
          </a:p>
          <a:p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отримати</a:t>
            </a:r>
            <a:r>
              <a:rPr lang="ru-RU" dirty="0"/>
              <a:t>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детальну</a:t>
            </a:r>
            <a:r>
              <a:rPr lang="ru-RU" dirty="0"/>
              <a:t> </a:t>
            </a:r>
            <a:r>
              <a:rPr lang="ru-RU" dirty="0" err="1"/>
              <a:t>інформацію</a:t>
            </a:r>
            <a:r>
              <a:rPr lang="ru-RU" dirty="0"/>
              <a:t>,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переглянути</a:t>
            </a:r>
            <a:r>
              <a:rPr lang="ru-RU" dirty="0"/>
              <a:t> </a:t>
            </a:r>
            <a:r>
              <a:rPr lang="ru-RU" dirty="0" err="1"/>
              <a:t>ресурси</a:t>
            </a:r>
            <a:r>
              <a:rPr lang="ru-RU" dirty="0"/>
              <a:t> на (Scrum.org</a:t>
            </a:r>
            <a:r>
              <a:rPr lang="en-US" dirty="0"/>
              <a:t>, ps://​</a:t>
            </a:r>
            <a:r>
              <a:rPr lang="en-US" dirty="0" err="1"/>
              <a:t>Atlassian</a:t>
            </a:r>
            <a:r>
              <a:rPr lang="en-US" dirty="0"/>
              <a:t>/what-is-scrum/) and </a:t>
            </a:r>
            <a:r>
              <a:rPr lang="en-US" dirty="0" err="1"/>
              <a:t>Atlassian's</a:t>
            </a:r>
            <a:r>
              <a:rPr lang="en-US" dirty="0"/>
              <a:t> Scrum guide.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0390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Ось </a:t>
            </a:r>
            <a:r>
              <a:rPr lang="ru-RU" dirty="0" err="1"/>
              <a:t>деякі</a:t>
            </a:r>
            <a:r>
              <a:rPr lang="ru-RU" dirty="0"/>
              <a:t> </a:t>
            </a:r>
            <a:r>
              <a:rPr lang="ru-RU" dirty="0" err="1"/>
              <a:t>загальні</a:t>
            </a:r>
            <a:r>
              <a:rPr lang="ru-RU" dirty="0"/>
              <a:t> </a:t>
            </a:r>
            <a:r>
              <a:rPr lang="ru-RU" dirty="0" err="1"/>
              <a:t>візуальні</a:t>
            </a:r>
            <a:r>
              <a:rPr lang="ru-RU" dirty="0"/>
              <a:t> </a:t>
            </a:r>
            <a:r>
              <a:rPr lang="ru-RU" dirty="0" err="1"/>
              <a:t>представлення</a:t>
            </a:r>
            <a:r>
              <a:rPr lang="ru-RU" dirty="0"/>
              <a:t> </a:t>
            </a:r>
            <a:r>
              <a:rPr lang="ru-RU" dirty="0" err="1"/>
              <a:t>фреймворку</a:t>
            </a:r>
            <a:r>
              <a:rPr lang="ru-RU" dirty="0"/>
              <a:t> </a:t>
            </a:r>
            <a:r>
              <a:rPr lang="en-US" dirty="0"/>
              <a:t>Scrum:</a:t>
            </a:r>
            <a:r>
              <a:rPr lang="ru-RU" dirty="0"/>
              <a:t>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dirty="0"/>
              <a:t>Схема </a:t>
            </a:r>
            <a:r>
              <a:rPr lang="ru-RU" dirty="0" err="1"/>
              <a:t>робочого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 </a:t>
            </a:r>
            <a:r>
              <a:rPr lang="en-US" dirty="0"/>
              <a:t>Scrum: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включає</a:t>
            </a:r>
            <a:r>
              <a:rPr lang="ru-RU" dirty="0"/>
              <a:t> цикл спринту,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ілюструє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 спринту до </a:t>
            </a:r>
            <a:r>
              <a:rPr lang="ru-RU" dirty="0" err="1"/>
              <a:t>щоденного</a:t>
            </a:r>
            <a:r>
              <a:rPr lang="ru-RU" dirty="0"/>
              <a:t> </a:t>
            </a:r>
            <a:r>
              <a:rPr lang="ru-RU" dirty="0" err="1"/>
              <a:t>стояння</a:t>
            </a:r>
            <a:r>
              <a:rPr lang="ru-RU" dirty="0"/>
              <a:t>, </a:t>
            </a:r>
            <a:r>
              <a:rPr lang="ru-RU" dirty="0" err="1"/>
              <a:t>огляду</a:t>
            </a:r>
            <a:r>
              <a:rPr lang="ru-RU" dirty="0"/>
              <a:t> спринту та </a:t>
            </a:r>
            <a:r>
              <a:rPr lang="ru-RU" dirty="0" err="1"/>
              <a:t>ретроспективи</a:t>
            </a:r>
            <a:r>
              <a:rPr lang="ru-RU" dirty="0"/>
              <a:t>. Ви часто </a:t>
            </a:r>
            <a:r>
              <a:rPr lang="ru-RU" dirty="0" err="1"/>
              <a:t>спостерігатимете</a:t>
            </a:r>
            <a:r>
              <a:rPr lang="ru-RU" dirty="0"/>
              <a:t>, як </a:t>
            </a:r>
            <a:r>
              <a:rPr lang="ru-RU" dirty="0" err="1"/>
              <a:t>відставання</a:t>
            </a:r>
            <a:r>
              <a:rPr lang="ru-RU" dirty="0"/>
              <a:t> продукту </a:t>
            </a:r>
            <a:r>
              <a:rPr lang="ru-RU" dirty="0" err="1"/>
              <a:t>надходить</a:t>
            </a:r>
            <a:r>
              <a:rPr lang="ru-RU" dirty="0"/>
              <a:t> у </a:t>
            </a:r>
            <a:r>
              <a:rPr lang="ru-RU" dirty="0" err="1"/>
              <a:t>відставання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спринту, а робота </a:t>
            </a:r>
            <a:r>
              <a:rPr lang="ru-RU" dirty="0" err="1"/>
              <a:t>виконується</a:t>
            </a:r>
            <a:r>
              <a:rPr lang="ru-RU" dirty="0"/>
              <a:t> </a:t>
            </a:r>
            <a:r>
              <a:rPr lang="ru-RU" dirty="0" err="1"/>
              <a:t>поступово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кожного спринту. Приклад таких схем </a:t>
            </a:r>
            <a:r>
              <a:rPr lang="ru-RU" dirty="0" err="1"/>
              <a:t>ви</a:t>
            </a:r>
            <a:r>
              <a:rPr lang="ru-RU" dirty="0"/>
              <a:t> можете </a:t>
            </a:r>
            <a:r>
              <a:rPr lang="ru-RU" dirty="0" err="1"/>
              <a:t>знайти</a:t>
            </a:r>
            <a:r>
              <a:rPr lang="ru-RU" dirty="0"/>
              <a:t> на </a:t>
            </a:r>
            <a:r>
              <a:rPr lang="en-US" dirty="0"/>
              <a:t>Scrum.org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1304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Основа 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57200" y="1909870"/>
            <a:ext cx="8229600" cy="390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69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Professional Scrum</a:t>
            </a:r>
            <a:endParaRPr lang="ru-RU" dirty="0"/>
          </a:p>
        </p:txBody>
      </p:sp>
      <p:pic>
        <p:nvPicPr>
          <p:cNvPr id="4" name="BYlv7eP9zgg"/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934155" y="1816100"/>
            <a:ext cx="7409745" cy="416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765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Канбан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228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dirty="0" err="1"/>
              <a:t>Методологія</a:t>
            </a:r>
            <a:r>
              <a:rPr dirty="0"/>
              <a:t>, </a:t>
            </a:r>
            <a:r>
              <a:rPr dirty="0" err="1"/>
              <a:t>яка</a:t>
            </a:r>
            <a:r>
              <a:rPr dirty="0"/>
              <a:t> </a:t>
            </a:r>
            <a:r>
              <a:rPr dirty="0" err="1"/>
              <a:t>фокусується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візуалізації</a:t>
            </a:r>
            <a:r>
              <a:rPr dirty="0"/>
              <a:t> </a:t>
            </a:r>
            <a:r>
              <a:rPr dirty="0" err="1"/>
              <a:t>процесу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постійному</a:t>
            </a:r>
            <a:r>
              <a:rPr dirty="0"/>
              <a:t> </a:t>
            </a:r>
            <a:r>
              <a:rPr dirty="0" err="1"/>
              <a:t>вдосконаленні</a:t>
            </a:r>
            <a:r>
              <a:rPr dirty="0"/>
              <a:t>. </a:t>
            </a:r>
            <a:r>
              <a:rPr dirty="0" err="1"/>
              <a:t>Використовує</a:t>
            </a:r>
            <a:r>
              <a:rPr dirty="0"/>
              <a:t> </a:t>
            </a:r>
            <a:r>
              <a:rPr dirty="0" err="1"/>
              <a:t>дошку</a:t>
            </a:r>
            <a:r>
              <a:rPr dirty="0"/>
              <a:t> </a:t>
            </a:r>
            <a:r>
              <a:rPr dirty="0" err="1"/>
              <a:t>завдань</a:t>
            </a:r>
            <a:r>
              <a:rPr dirty="0"/>
              <a:t>, </a:t>
            </a:r>
            <a:r>
              <a:rPr dirty="0" err="1"/>
              <a:t>де</a:t>
            </a:r>
            <a:r>
              <a:rPr dirty="0"/>
              <a:t> </a:t>
            </a:r>
            <a:r>
              <a:rPr dirty="0" err="1"/>
              <a:t>показані</a:t>
            </a:r>
            <a:r>
              <a:rPr dirty="0"/>
              <a:t> </a:t>
            </a:r>
            <a:r>
              <a:rPr dirty="0" err="1"/>
              <a:t>завдання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різних</a:t>
            </a:r>
            <a:r>
              <a:rPr dirty="0"/>
              <a:t> </a:t>
            </a:r>
            <a:r>
              <a:rPr dirty="0" err="1"/>
              <a:t>стадіях</a:t>
            </a:r>
            <a:r>
              <a:rPr dirty="0"/>
              <a:t> </a:t>
            </a:r>
            <a:r>
              <a:rPr dirty="0" err="1"/>
              <a:t>виконання</a:t>
            </a:r>
            <a:r>
              <a:rPr dirty="0"/>
              <a:t>. </a:t>
            </a:r>
            <a:r>
              <a:rPr dirty="0" err="1"/>
              <a:t>Переваги</a:t>
            </a:r>
            <a:r>
              <a:rPr dirty="0"/>
              <a:t>: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прогресом</a:t>
            </a:r>
            <a:r>
              <a:rPr dirty="0"/>
              <a:t>, </a:t>
            </a:r>
            <a:r>
              <a:rPr dirty="0" err="1"/>
              <a:t>можливість</a:t>
            </a:r>
            <a:r>
              <a:rPr dirty="0"/>
              <a:t> </a:t>
            </a:r>
            <a:r>
              <a:rPr dirty="0" err="1"/>
              <a:t>оптимізації</a:t>
            </a:r>
            <a:r>
              <a:rPr dirty="0"/>
              <a:t> </a:t>
            </a:r>
            <a:r>
              <a:rPr dirty="0" err="1"/>
              <a:t>роботи</a:t>
            </a:r>
            <a:r>
              <a:rPr dirty="0"/>
              <a:t> в </a:t>
            </a:r>
            <a:r>
              <a:rPr dirty="0" err="1"/>
              <a:t>реальному</a:t>
            </a:r>
            <a:r>
              <a:rPr dirty="0"/>
              <a:t> </a:t>
            </a:r>
            <a:r>
              <a:rPr dirty="0" err="1"/>
              <a:t>часі</a:t>
            </a:r>
            <a:r>
              <a:rPr dirty="0"/>
              <a:t>.</a:t>
            </a:r>
            <a:endParaRPr lang="uk-UA" dirty="0"/>
          </a:p>
          <a:p>
            <a:r>
              <a:rPr lang="ru-RU" dirty="0" err="1"/>
              <a:t>Канбан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гнучка</a:t>
            </a:r>
            <a:r>
              <a:rPr lang="ru-RU" dirty="0"/>
              <a:t> </a:t>
            </a:r>
            <a:r>
              <a:rPr lang="ru-RU" dirty="0" err="1"/>
              <a:t>методологія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проектами, яка походить з </a:t>
            </a:r>
            <a:r>
              <a:rPr lang="ru-RU" dirty="0" err="1"/>
              <a:t>виробничих</a:t>
            </a:r>
            <a:r>
              <a:rPr lang="ru-RU" dirty="0"/>
              <a:t> </a:t>
            </a:r>
            <a:r>
              <a:rPr lang="ru-RU" dirty="0" err="1"/>
              <a:t>процесів</a:t>
            </a:r>
            <a:r>
              <a:rPr lang="ru-RU" dirty="0"/>
              <a:t> </a:t>
            </a:r>
            <a:r>
              <a:rPr lang="en-US" dirty="0"/>
              <a:t>Toyota </a:t>
            </a:r>
            <a:r>
              <a:rPr lang="ru-RU" dirty="0"/>
              <a:t>у 1940-х роках. </a:t>
            </a:r>
            <a:r>
              <a:rPr lang="ru-RU" dirty="0" err="1"/>
              <a:t>Методологія</a:t>
            </a:r>
            <a:r>
              <a:rPr lang="ru-RU" dirty="0"/>
              <a:t> </a:t>
            </a:r>
            <a:r>
              <a:rPr lang="ru-RU" dirty="0" err="1"/>
              <a:t>орієнтована</a:t>
            </a:r>
            <a:r>
              <a:rPr lang="ru-RU" dirty="0"/>
              <a:t> на </a:t>
            </a:r>
            <a:r>
              <a:rPr lang="ru-RU" dirty="0" err="1"/>
              <a:t>візуалізацію</a:t>
            </a:r>
            <a:r>
              <a:rPr lang="ru-RU" dirty="0"/>
              <a:t> </a:t>
            </a:r>
            <a:r>
              <a:rPr lang="ru-RU" dirty="0" err="1"/>
              <a:t>робочого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 та </a:t>
            </a:r>
            <a:r>
              <a:rPr lang="ru-RU" dirty="0" err="1"/>
              <a:t>оптимізацію</a:t>
            </a:r>
            <a:r>
              <a:rPr lang="ru-RU" dirty="0"/>
              <a:t> потоку </a:t>
            </a:r>
            <a:r>
              <a:rPr lang="ru-RU" dirty="0" err="1"/>
              <a:t>завдань</a:t>
            </a:r>
            <a:r>
              <a:rPr lang="ru-RU" dirty="0"/>
              <a:t> через систему, </a:t>
            </a:r>
            <a:r>
              <a:rPr lang="ru-RU" dirty="0" err="1"/>
              <a:t>зокрема</a:t>
            </a:r>
            <a:r>
              <a:rPr lang="ru-RU" dirty="0"/>
              <a:t> через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Канбан-дошки</a:t>
            </a:r>
            <a:r>
              <a:rPr lang="ru-RU" dirty="0"/>
              <a:t>.</a:t>
            </a:r>
          </a:p>
          <a:p>
            <a:pPr algn="just"/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30262"/>
          </a:xfrm>
        </p:spPr>
        <p:txBody>
          <a:bodyPr>
            <a:normAutofit/>
          </a:bodyPr>
          <a:lstStyle/>
          <a:p>
            <a:r>
              <a:rPr lang="ru-RU" sz="2800" b="1" dirty="0" err="1"/>
              <a:t>Основні</a:t>
            </a:r>
            <a:r>
              <a:rPr lang="ru-RU" sz="2800" b="1" dirty="0"/>
              <a:t> </a:t>
            </a:r>
            <a:r>
              <a:rPr lang="ru-RU" sz="2800" b="1" dirty="0" err="1"/>
              <a:t>аспекти</a:t>
            </a:r>
            <a:r>
              <a:rPr lang="ru-RU" sz="2800" b="1" dirty="0"/>
              <a:t> </a:t>
            </a:r>
            <a:r>
              <a:rPr lang="ru-RU" sz="2800" b="1" dirty="0" err="1"/>
              <a:t>методології</a:t>
            </a:r>
            <a:r>
              <a:rPr lang="ru-RU" sz="2800" b="1" dirty="0"/>
              <a:t> </a:t>
            </a:r>
            <a:r>
              <a:rPr lang="ru-RU" sz="2800" b="1" dirty="0" err="1"/>
              <a:t>Канбан</a:t>
            </a:r>
            <a:r>
              <a:rPr lang="ru-RU" sz="2800" b="1" dirty="0"/>
              <a:t>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42900" y="876300"/>
            <a:ext cx="8674100" cy="5816600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ru-RU" sz="2000" dirty="0" err="1"/>
              <a:t>Візуалізація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: </a:t>
            </a:r>
            <a:r>
              <a:rPr lang="ru-RU" sz="2000" dirty="0" err="1"/>
              <a:t>Канбан</a:t>
            </a:r>
            <a:r>
              <a:rPr lang="ru-RU" sz="2000" dirty="0"/>
              <a:t> </a:t>
            </a:r>
            <a:r>
              <a:rPr lang="ru-RU" sz="2000" dirty="0" err="1"/>
              <a:t>використовує</a:t>
            </a:r>
            <a:r>
              <a:rPr lang="ru-RU" sz="2000" dirty="0"/>
              <a:t> </a:t>
            </a:r>
            <a:r>
              <a:rPr lang="ru-RU" sz="2000" dirty="0" err="1"/>
              <a:t>спеціальні</a:t>
            </a:r>
            <a:r>
              <a:rPr lang="ru-RU" sz="2000" dirty="0"/>
              <a:t> </a:t>
            </a:r>
            <a:r>
              <a:rPr lang="ru-RU" sz="2000" dirty="0" err="1"/>
              <a:t>дошки</a:t>
            </a:r>
            <a:r>
              <a:rPr lang="ru-RU" sz="2000" dirty="0"/>
              <a:t> (</a:t>
            </a:r>
            <a:r>
              <a:rPr lang="ru-RU" sz="2000" dirty="0" err="1"/>
              <a:t>фізичні</a:t>
            </a:r>
            <a:r>
              <a:rPr lang="ru-RU" sz="2000" dirty="0"/>
              <a:t> </a:t>
            </a:r>
            <a:r>
              <a:rPr lang="ru-RU" sz="2000" dirty="0" err="1"/>
              <a:t>чи</a:t>
            </a:r>
            <a:r>
              <a:rPr lang="ru-RU" sz="2000" dirty="0"/>
              <a:t> </a:t>
            </a:r>
            <a:r>
              <a:rPr lang="ru-RU" sz="2000" dirty="0" err="1"/>
              <a:t>цифрові</a:t>
            </a:r>
            <a:r>
              <a:rPr lang="ru-RU" sz="2000" dirty="0"/>
              <a:t>), на </a:t>
            </a:r>
            <a:r>
              <a:rPr lang="ru-RU" sz="2000" dirty="0" err="1"/>
              <a:t>яких</a:t>
            </a:r>
            <a:r>
              <a:rPr lang="ru-RU" sz="2000" dirty="0"/>
              <a:t> </a:t>
            </a:r>
            <a:r>
              <a:rPr lang="ru-RU" sz="2000" dirty="0" err="1"/>
              <a:t>завдання</a:t>
            </a:r>
            <a:r>
              <a:rPr lang="ru-RU" sz="2000" dirty="0"/>
              <a:t> </a:t>
            </a:r>
            <a:r>
              <a:rPr lang="ru-RU" sz="2000" dirty="0" err="1"/>
              <a:t>зображуються</a:t>
            </a:r>
            <a:r>
              <a:rPr lang="ru-RU" sz="2000" dirty="0"/>
              <a:t> у </a:t>
            </a:r>
            <a:r>
              <a:rPr lang="ru-RU" sz="2000" dirty="0" err="1"/>
              <a:t>вигляді</a:t>
            </a:r>
            <a:r>
              <a:rPr lang="ru-RU" sz="2000" dirty="0"/>
              <a:t> </a:t>
            </a:r>
            <a:r>
              <a:rPr lang="ru-RU" sz="2000" dirty="0" err="1"/>
              <a:t>карток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переміщуються</a:t>
            </a:r>
            <a:r>
              <a:rPr lang="ru-RU" sz="2000" dirty="0"/>
              <a:t> з </a:t>
            </a:r>
            <a:r>
              <a:rPr lang="ru-RU" sz="2000" dirty="0" err="1"/>
              <a:t>однієї</a:t>
            </a:r>
            <a:r>
              <a:rPr lang="ru-RU" sz="2000" dirty="0"/>
              <a:t> колонки в </a:t>
            </a:r>
            <a:r>
              <a:rPr lang="ru-RU" sz="2000" dirty="0" err="1"/>
              <a:t>іншу</a:t>
            </a:r>
            <a:r>
              <a:rPr lang="ru-RU" sz="2000" dirty="0"/>
              <a:t> (</a:t>
            </a:r>
            <a:r>
              <a:rPr lang="ru-RU" sz="2000" dirty="0" err="1"/>
              <a:t>наприклад</a:t>
            </a:r>
            <a:r>
              <a:rPr lang="ru-RU" sz="2000" dirty="0"/>
              <a:t>, "До </a:t>
            </a:r>
            <a:r>
              <a:rPr lang="ru-RU" sz="2000" dirty="0" err="1"/>
              <a:t>виконання</a:t>
            </a:r>
            <a:r>
              <a:rPr lang="ru-RU" sz="2000" dirty="0"/>
              <a:t>", "У </a:t>
            </a:r>
            <a:r>
              <a:rPr lang="ru-RU" sz="2000" dirty="0" err="1"/>
              <a:t>процесі</a:t>
            </a:r>
            <a:r>
              <a:rPr lang="ru-RU" sz="2000" dirty="0"/>
              <a:t>", "</a:t>
            </a:r>
            <a:r>
              <a:rPr lang="ru-RU" sz="2000" dirty="0" err="1"/>
              <a:t>Виконано</a:t>
            </a:r>
            <a:r>
              <a:rPr lang="ru-RU" sz="2000" dirty="0"/>
              <a:t>"). </a:t>
            </a:r>
            <a:r>
              <a:rPr lang="ru-RU" sz="2000" dirty="0" err="1"/>
              <a:t>Це</a:t>
            </a:r>
            <a:r>
              <a:rPr lang="ru-RU" sz="2000" dirty="0"/>
              <a:t> </a:t>
            </a:r>
            <a:r>
              <a:rPr lang="ru-RU" sz="2000" dirty="0" err="1"/>
              <a:t>дозволяє</a:t>
            </a:r>
            <a:r>
              <a:rPr lang="ru-RU" sz="2000" dirty="0"/>
              <a:t> </a:t>
            </a:r>
            <a:r>
              <a:rPr lang="ru-RU" sz="2000" dirty="0" err="1"/>
              <a:t>всім</a:t>
            </a:r>
            <a:r>
              <a:rPr lang="ru-RU" sz="2000" dirty="0"/>
              <a:t> </a:t>
            </a:r>
            <a:r>
              <a:rPr lang="ru-RU" sz="2000" dirty="0" err="1"/>
              <a:t>учасникам</a:t>
            </a:r>
            <a:r>
              <a:rPr lang="ru-RU" sz="2000" dirty="0"/>
              <a:t> проекту </a:t>
            </a:r>
            <a:r>
              <a:rPr lang="ru-RU" sz="2000" dirty="0" err="1"/>
              <a:t>бачити</a:t>
            </a:r>
            <a:r>
              <a:rPr lang="ru-RU" sz="2000" dirty="0"/>
              <a:t> стан </a:t>
            </a:r>
            <a:r>
              <a:rPr lang="ru-RU" sz="2000" dirty="0" err="1"/>
              <a:t>робіт</a:t>
            </a:r>
            <a:r>
              <a:rPr lang="ru-RU" sz="2000" dirty="0"/>
              <a:t> і </a:t>
            </a:r>
            <a:r>
              <a:rPr lang="ru-RU" sz="2000" dirty="0" err="1"/>
              <a:t>краще</a:t>
            </a:r>
            <a:r>
              <a:rPr lang="ru-RU" sz="2000" dirty="0"/>
              <a:t> </a:t>
            </a:r>
            <a:r>
              <a:rPr lang="ru-RU" sz="2000" dirty="0" err="1"/>
              <a:t>планувати</a:t>
            </a:r>
            <a:r>
              <a:rPr lang="ru-RU" sz="2000" dirty="0"/>
              <a:t> свою </a:t>
            </a:r>
            <a:r>
              <a:rPr lang="ru-RU" sz="2000" dirty="0" err="1"/>
              <a:t>діяльність</a:t>
            </a:r>
            <a:r>
              <a:rPr lang="ru-RU" sz="2000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000" dirty="0" err="1"/>
              <a:t>Обмеження</a:t>
            </a:r>
            <a:r>
              <a:rPr lang="ru-RU" sz="2000" dirty="0"/>
              <a:t> </a:t>
            </a:r>
            <a:r>
              <a:rPr lang="ru-RU" sz="2000" dirty="0" err="1"/>
              <a:t>кількості</a:t>
            </a:r>
            <a:r>
              <a:rPr lang="ru-RU" sz="2000" dirty="0"/>
              <a:t> </a:t>
            </a:r>
            <a:r>
              <a:rPr lang="ru-RU" sz="2000" dirty="0" err="1"/>
              <a:t>завдань</a:t>
            </a:r>
            <a:r>
              <a:rPr lang="ru-RU" sz="2000" dirty="0"/>
              <a:t> у </a:t>
            </a:r>
            <a:r>
              <a:rPr lang="ru-RU" sz="2000" dirty="0" err="1"/>
              <a:t>роботі</a:t>
            </a:r>
            <a:r>
              <a:rPr lang="ru-RU" sz="2000" dirty="0"/>
              <a:t>: Один з </a:t>
            </a:r>
            <a:r>
              <a:rPr lang="ru-RU" sz="2000" dirty="0" err="1"/>
              <a:t>ключових</a:t>
            </a:r>
            <a:r>
              <a:rPr lang="ru-RU" sz="2000" dirty="0"/>
              <a:t> </a:t>
            </a:r>
            <a:r>
              <a:rPr lang="ru-RU" sz="2000" dirty="0" err="1"/>
              <a:t>принципів</a:t>
            </a:r>
            <a:r>
              <a:rPr lang="ru-RU" sz="2000" dirty="0"/>
              <a:t> </a:t>
            </a:r>
            <a:r>
              <a:rPr lang="ru-RU" sz="2000" dirty="0" err="1"/>
              <a:t>Канбан</a:t>
            </a:r>
            <a:r>
              <a:rPr lang="ru-RU" sz="2000" dirty="0"/>
              <a:t> — </a:t>
            </a:r>
            <a:r>
              <a:rPr lang="ru-RU" sz="2000" dirty="0" err="1"/>
              <a:t>це</a:t>
            </a:r>
            <a:r>
              <a:rPr lang="ru-RU" sz="2000" dirty="0"/>
              <a:t> </a:t>
            </a:r>
            <a:r>
              <a:rPr lang="ru-RU" sz="2000" dirty="0" err="1"/>
              <a:t>управління</a:t>
            </a:r>
            <a:r>
              <a:rPr lang="ru-RU" sz="2000" dirty="0"/>
              <a:t> потоком </a:t>
            </a:r>
            <a:r>
              <a:rPr lang="ru-RU" sz="2000" dirty="0" err="1"/>
              <a:t>завдань</a:t>
            </a:r>
            <a:r>
              <a:rPr lang="ru-RU" sz="2000" dirty="0"/>
              <a:t> шляхом </a:t>
            </a:r>
            <a:r>
              <a:rPr lang="ru-RU" sz="2000" dirty="0" err="1"/>
              <a:t>встановлення</a:t>
            </a:r>
            <a:r>
              <a:rPr lang="ru-RU" sz="2000" dirty="0"/>
              <a:t> </a:t>
            </a:r>
            <a:r>
              <a:rPr lang="ru-RU" sz="2000" dirty="0" err="1"/>
              <a:t>лімітів</a:t>
            </a:r>
            <a:r>
              <a:rPr lang="ru-RU" sz="2000" dirty="0"/>
              <a:t> на </a:t>
            </a:r>
            <a:r>
              <a:rPr lang="ru-RU" sz="2000" dirty="0" err="1"/>
              <a:t>кількість</a:t>
            </a:r>
            <a:r>
              <a:rPr lang="ru-RU" sz="2000" dirty="0"/>
              <a:t> </a:t>
            </a:r>
            <a:r>
              <a:rPr lang="ru-RU" sz="2000" dirty="0" err="1"/>
              <a:t>завдань</a:t>
            </a:r>
            <a:r>
              <a:rPr lang="ru-RU" sz="2000" dirty="0"/>
              <a:t>, </a:t>
            </a:r>
            <a:r>
              <a:rPr lang="ru-RU" sz="2000" dirty="0" err="1"/>
              <a:t>що</a:t>
            </a:r>
            <a:r>
              <a:rPr lang="ru-RU" sz="2000" dirty="0"/>
              <a:t> </a:t>
            </a:r>
            <a:r>
              <a:rPr lang="ru-RU" sz="2000" dirty="0" err="1"/>
              <a:t>одночасно</a:t>
            </a:r>
            <a:r>
              <a:rPr lang="ru-RU" sz="2000" dirty="0"/>
              <a:t> </a:t>
            </a:r>
            <a:r>
              <a:rPr lang="ru-RU" sz="2000" dirty="0" err="1"/>
              <a:t>перебувають</a:t>
            </a:r>
            <a:r>
              <a:rPr lang="ru-RU" sz="2000" dirty="0"/>
              <a:t> у </a:t>
            </a:r>
            <a:r>
              <a:rPr lang="ru-RU" sz="2000" dirty="0" err="1"/>
              <a:t>роботі</a:t>
            </a:r>
            <a:r>
              <a:rPr lang="ru-RU" sz="2000" dirty="0"/>
              <a:t> на кожному </a:t>
            </a:r>
            <a:r>
              <a:rPr lang="ru-RU" sz="2000" dirty="0" err="1"/>
              <a:t>етапі</a:t>
            </a:r>
            <a:r>
              <a:rPr lang="ru-RU" sz="2000" dirty="0"/>
              <a:t> </a:t>
            </a:r>
            <a:r>
              <a:rPr lang="ru-RU" sz="2000" dirty="0" err="1"/>
              <a:t>процесу</a:t>
            </a:r>
            <a:r>
              <a:rPr lang="ru-RU" sz="2000" dirty="0"/>
              <a:t>. </a:t>
            </a:r>
            <a:r>
              <a:rPr lang="ru-RU" sz="2000" dirty="0" err="1"/>
              <a:t>Це</a:t>
            </a:r>
            <a:r>
              <a:rPr lang="ru-RU" sz="2000" dirty="0"/>
              <a:t> </a:t>
            </a:r>
            <a:r>
              <a:rPr lang="ru-RU" sz="2000" dirty="0" err="1"/>
              <a:t>допомагає</a:t>
            </a:r>
            <a:r>
              <a:rPr lang="ru-RU" sz="2000" dirty="0"/>
              <a:t> </a:t>
            </a:r>
            <a:r>
              <a:rPr lang="ru-RU" sz="2000" dirty="0" err="1"/>
              <a:t>знизити</a:t>
            </a:r>
            <a:r>
              <a:rPr lang="ru-RU" sz="2000" dirty="0"/>
              <a:t> </a:t>
            </a:r>
            <a:r>
              <a:rPr lang="ru-RU" sz="2000" dirty="0" err="1"/>
              <a:t>перевантаження</a:t>
            </a:r>
            <a:r>
              <a:rPr lang="ru-RU" sz="2000" dirty="0"/>
              <a:t> та </a:t>
            </a:r>
            <a:r>
              <a:rPr lang="ru-RU" sz="2000" dirty="0" err="1"/>
              <a:t>підвищити</a:t>
            </a:r>
            <a:r>
              <a:rPr lang="ru-RU" sz="2000" dirty="0"/>
              <a:t> </a:t>
            </a:r>
            <a:r>
              <a:rPr lang="ru-RU" sz="2000" dirty="0" err="1"/>
              <a:t>ефективність</a:t>
            </a:r>
            <a:r>
              <a:rPr lang="ru-RU" sz="2000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000" dirty="0"/>
              <a:t>Фокус на </a:t>
            </a:r>
            <a:r>
              <a:rPr lang="ru-RU" sz="2000" dirty="0" err="1"/>
              <a:t>протягом</a:t>
            </a:r>
            <a:r>
              <a:rPr lang="ru-RU" sz="2000" dirty="0"/>
              <a:t>: Головна мета </a:t>
            </a:r>
            <a:r>
              <a:rPr lang="ru-RU" sz="2000" dirty="0" err="1"/>
              <a:t>Канбан</a:t>
            </a:r>
            <a:r>
              <a:rPr lang="ru-RU" sz="2000" dirty="0"/>
              <a:t> — </a:t>
            </a:r>
            <a:r>
              <a:rPr lang="ru-RU" sz="2000" dirty="0" err="1"/>
              <a:t>забезпечити</a:t>
            </a:r>
            <a:r>
              <a:rPr lang="ru-RU" sz="2000" dirty="0"/>
              <a:t> </a:t>
            </a:r>
            <a:r>
              <a:rPr lang="ru-RU" sz="2000" dirty="0" err="1"/>
              <a:t>безперервний</a:t>
            </a:r>
            <a:r>
              <a:rPr lang="ru-RU" sz="2000" dirty="0"/>
              <a:t> </a:t>
            </a:r>
            <a:r>
              <a:rPr lang="ru-RU" sz="2000" dirty="0" err="1"/>
              <a:t>потік</a:t>
            </a:r>
            <a:r>
              <a:rPr lang="ru-RU" sz="2000" dirty="0"/>
              <a:t> </a:t>
            </a:r>
            <a:r>
              <a:rPr lang="ru-RU" sz="2000" dirty="0" err="1"/>
              <a:t>роботи</a:t>
            </a:r>
            <a:r>
              <a:rPr lang="ru-RU" sz="2000" dirty="0"/>
              <a:t> та </a:t>
            </a:r>
            <a:r>
              <a:rPr lang="ru-RU" sz="2000" dirty="0" err="1"/>
              <a:t>зменшити</a:t>
            </a:r>
            <a:r>
              <a:rPr lang="ru-RU" sz="2000" dirty="0"/>
              <a:t> час, </a:t>
            </a:r>
            <a:r>
              <a:rPr lang="ru-RU" sz="2000" dirty="0" err="1"/>
              <a:t>необхідний</a:t>
            </a:r>
            <a:r>
              <a:rPr lang="ru-RU" sz="2000" dirty="0"/>
              <a:t> для </a:t>
            </a:r>
            <a:r>
              <a:rPr lang="ru-RU" sz="2000" dirty="0" err="1"/>
              <a:t>завершення</a:t>
            </a:r>
            <a:r>
              <a:rPr lang="ru-RU" sz="2000" dirty="0"/>
              <a:t> кожного </a:t>
            </a:r>
            <a:r>
              <a:rPr lang="ru-RU" sz="2000" dirty="0" err="1"/>
              <a:t>завдання</a:t>
            </a:r>
            <a:r>
              <a:rPr lang="ru-RU" sz="2000" dirty="0"/>
              <a:t>. </a:t>
            </a:r>
            <a:r>
              <a:rPr lang="ru-RU" sz="2000" dirty="0" err="1"/>
              <a:t>Завдяки</a:t>
            </a:r>
            <a:r>
              <a:rPr lang="ru-RU" sz="2000" dirty="0"/>
              <a:t> </a:t>
            </a:r>
            <a:r>
              <a:rPr lang="ru-RU" sz="2000" dirty="0" err="1"/>
              <a:t>візуалізації</a:t>
            </a:r>
            <a:r>
              <a:rPr lang="ru-RU" sz="2000" dirty="0"/>
              <a:t> та </a:t>
            </a:r>
            <a:r>
              <a:rPr lang="ru-RU" sz="2000" dirty="0" err="1"/>
              <a:t>обмеженням</a:t>
            </a:r>
            <a:r>
              <a:rPr lang="ru-RU" sz="2000" dirty="0"/>
              <a:t> у </a:t>
            </a:r>
            <a:r>
              <a:rPr lang="ru-RU" sz="2000" dirty="0" err="1"/>
              <a:t>кількості</a:t>
            </a:r>
            <a:r>
              <a:rPr lang="ru-RU" sz="2000" dirty="0"/>
              <a:t> </a:t>
            </a:r>
            <a:r>
              <a:rPr lang="ru-RU" sz="2000" dirty="0" err="1"/>
              <a:t>завдань</a:t>
            </a:r>
            <a:r>
              <a:rPr lang="ru-RU" sz="2000" dirty="0"/>
              <a:t>, </a:t>
            </a:r>
            <a:r>
              <a:rPr lang="ru-RU" sz="2000" dirty="0" err="1"/>
              <a:t>команди</a:t>
            </a:r>
            <a:r>
              <a:rPr lang="ru-RU" sz="2000" dirty="0"/>
              <a:t> </a:t>
            </a:r>
            <a:r>
              <a:rPr lang="ru-RU" sz="2000" dirty="0" err="1"/>
              <a:t>можуть</a:t>
            </a:r>
            <a:r>
              <a:rPr lang="ru-RU" sz="2000" dirty="0"/>
              <a:t> </a:t>
            </a:r>
            <a:r>
              <a:rPr lang="ru-RU" sz="2000" dirty="0" err="1"/>
              <a:t>швидше</a:t>
            </a:r>
            <a:r>
              <a:rPr lang="ru-RU" sz="2000" dirty="0"/>
              <a:t> </a:t>
            </a:r>
            <a:r>
              <a:rPr lang="ru-RU" sz="2000" dirty="0" err="1"/>
              <a:t>ідентифікувати</a:t>
            </a:r>
            <a:r>
              <a:rPr lang="ru-RU" sz="2000" dirty="0"/>
              <a:t> </a:t>
            </a:r>
            <a:r>
              <a:rPr lang="ru-RU" sz="2000" dirty="0" err="1"/>
              <a:t>затримки</a:t>
            </a:r>
            <a:r>
              <a:rPr lang="ru-RU" sz="2000" dirty="0"/>
              <a:t> та </a:t>
            </a:r>
            <a:r>
              <a:rPr lang="ru-RU" sz="2000" dirty="0" err="1"/>
              <a:t>вузькі</a:t>
            </a:r>
            <a:r>
              <a:rPr lang="ru-RU" sz="2000" dirty="0"/>
              <a:t> </a:t>
            </a:r>
            <a:r>
              <a:rPr lang="ru-RU" sz="2000" dirty="0" err="1"/>
              <a:t>місця</a:t>
            </a:r>
            <a:r>
              <a:rPr lang="ru-RU" sz="2000" dirty="0"/>
              <a:t> у </a:t>
            </a:r>
            <a:r>
              <a:rPr lang="ru-RU" sz="2000" dirty="0" err="1"/>
              <a:t>процесах</a:t>
            </a:r>
            <a:r>
              <a:rPr lang="ru-RU" sz="2000" dirty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ru-RU" sz="2000" dirty="0" err="1"/>
              <a:t>Постійне</a:t>
            </a:r>
            <a:r>
              <a:rPr lang="ru-RU" sz="2000" dirty="0"/>
              <a:t> </a:t>
            </a:r>
            <a:r>
              <a:rPr lang="ru-RU" sz="2000" dirty="0" err="1"/>
              <a:t>вдосконалення</a:t>
            </a:r>
            <a:r>
              <a:rPr lang="ru-RU" sz="2000" dirty="0"/>
              <a:t>: </a:t>
            </a:r>
            <a:r>
              <a:rPr lang="ru-RU" sz="2000" dirty="0" err="1"/>
              <a:t>Канбан</a:t>
            </a:r>
            <a:r>
              <a:rPr lang="ru-RU" sz="2000" dirty="0"/>
              <a:t> </a:t>
            </a:r>
            <a:r>
              <a:rPr lang="ru-RU" sz="2000" dirty="0" err="1"/>
              <a:t>підтримує</a:t>
            </a:r>
            <a:r>
              <a:rPr lang="ru-RU" sz="2000" dirty="0"/>
              <a:t> культуру </a:t>
            </a:r>
            <a:r>
              <a:rPr lang="ru-RU" sz="2000" dirty="0" err="1"/>
              <a:t>безперервного</a:t>
            </a:r>
            <a:r>
              <a:rPr lang="ru-RU" sz="2000" dirty="0"/>
              <a:t> </a:t>
            </a:r>
            <a:r>
              <a:rPr lang="ru-RU" sz="2000" dirty="0" err="1"/>
              <a:t>вдосконалення</a:t>
            </a:r>
            <a:r>
              <a:rPr lang="ru-RU" sz="2000" dirty="0"/>
              <a:t> (</a:t>
            </a:r>
            <a:r>
              <a:rPr lang="en-US" sz="2000" dirty="0"/>
              <a:t>Kaizen). </a:t>
            </a:r>
            <a:r>
              <a:rPr lang="ru-RU" sz="2000" dirty="0" err="1"/>
              <a:t>Команди</a:t>
            </a:r>
            <a:r>
              <a:rPr lang="ru-RU" sz="2000" dirty="0"/>
              <a:t> регулярно </a:t>
            </a:r>
            <a:r>
              <a:rPr lang="ru-RU" sz="2000" dirty="0" err="1"/>
              <a:t>аналізують</a:t>
            </a:r>
            <a:r>
              <a:rPr lang="ru-RU" sz="2000" dirty="0"/>
              <a:t> і </a:t>
            </a:r>
            <a:r>
              <a:rPr lang="ru-RU" sz="2000" dirty="0" err="1"/>
              <a:t>оптимізують</a:t>
            </a:r>
            <a:r>
              <a:rPr lang="ru-RU" sz="2000" dirty="0"/>
              <a:t> </a:t>
            </a:r>
            <a:r>
              <a:rPr lang="ru-RU" sz="2000" dirty="0" err="1"/>
              <a:t>свої</a:t>
            </a:r>
            <a:r>
              <a:rPr lang="ru-RU" sz="2000" dirty="0"/>
              <a:t> </a:t>
            </a:r>
            <a:r>
              <a:rPr lang="ru-RU" sz="2000" dirty="0" err="1"/>
              <a:t>процеси</a:t>
            </a:r>
            <a:r>
              <a:rPr lang="ru-RU" sz="2000" dirty="0"/>
              <a:t> для </a:t>
            </a:r>
            <a:r>
              <a:rPr lang="ru-RU" sz="2000" dirty="0" err="1"/>
              <a:t>підвищення</a:t>
            </a:r>
            <a:r>
              <a:rPr lang="ru-RU" sz="2000" dirty="0"/>
              <a:t> </a:t>
            </a:r>
            <a:r>
              <a:rPr lang="ru-RU" sz="2000" dirty="0" err="1"/>
              <a:t>продуктивності</a:t>
            </a:r>
            <a:r>
              <a:rPr lang="ru-RU" sz="2000" dirty="0"/>
              <a:t> та </a:t>
            </a:r>
            <a:r>
              <a:rPr lang="ru-RU" sz="2000" dirty="0" err="1"/>
              <a:t>якості</a:t>
            </a:r>
            <a:r>
              <a:rPr lang="ru-RU" sz="2000" dirty="0"/>
              <a:t> </a:t>
            </a:r>
            <a:r>
              <a:rPr lang="ru-RU" sz="2000" dirty="0" err="1"/>
              <a:t>результатів</a:t>
            </a:r>
            <a:r>
              <a:rPr lang="ru-RU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9628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ru-RU" dirty="0" err="1"/>
              <a:t>канбан</a:t>
            </a:r>
            <a:r>
              <a:rPr lang="ru-RU" dirty="0"/>
              <a:t> в </a:t>
            </a:r>
            <a:r>
              <a:rPr lang="en-US" dirty="0"/>
              <a:t>IT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44600"/>
            <a:ext cx="8229600" cy="5257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/>
              <a:t>Система </a:t>
            </a:r>
            <a:r>
              <a:rPr lang="ru-RU" sz="2400" dirty="0" err="1"/>
              <a:t>канбан</a:t>
            </a:r>
            <a:r>
              <a:rPr lang="ru-RU" sz="2400" dirty="0"/>
              <a:t>, </a:t>
            </a:r>
            <a:r>
              <a:rPr lang="ru-RU" sz="2400" dirty="0" err="1"/>
              <a:t>продовжуючи</a:t>
            </a:r>
            <a:r>
              <a:rPr lang="ru-RU" sz="2400" dirty="0"/>
              <a:t> </a:t>
            </a:r>
            <a:r>
              <a:rPr lang="ru-RU" sz="2400" dirty="0" err="1"/>
              <a:t>приносити</a:t>
            </a:r>
            <a:r>
              <a:rPr lang="ru-RU" sz="2400" dirty="0"/>
              <a:t> </a:t>
            </a:r>
            <a:r>
              <a:rPr lang="ru-RU" sz="2400" dirty="0" err="1"/>
              <a:t>користь</a:t>
            </a:r>
            <a:r>
              <a:rPr lang="ru-RU" sz="2400" dirty="0"/>
              <a:t> на </a:t>
            </a:r>
            <a:r>
              <a:rPr lang="ru-RU" sz="2400" dirty="0" err="1"/>
              <a:t>виробничих</a:t>
            </a:r>
            <a:r>
              <a:rPr lang="ru-RU" sz="2400" dirty="0"/>
              <a:t> </a:t>
            </a:r>
            <a:r>
              <a:rPr lang="ru-RU" sz="2400" dirty="0" err="1"/>
              <a:t>конвеєрах</a:t>
            </a:r>
            <a:r>
              <a:rPr lang="ru-RU" sz="2400" dirty="0"/>
              <a:t>, проникла в сферу </a:t>
            </a:r>
            <a:r>
              <a:rPr lang="ru-RU" sz="2400" dirty="0" err="1"/>
              <a:t>програмного</a:t>
            </a:r>
            <a:r>
              <a:rPr lang="ru-RU" sz="2400" dirty="0"/>
              <a:t> </a:t>
            </a:r>
            <a:r>
              <a:rPr lang="ru-RU" sz="2400" dirty="0" err="1"/>
              <a:t>забезпечення</a:t>
            </a:r>
            <a:r>
              <a:rPr lang="ru-RU" sz="2400" dirty="0"/>
              <a:t>.</a:t>
            </a:r>
          </a:p>
          <a:p>
            <a:pPr marL="0" indent="0" algn="just">
              <a:buNone/>
            </a:pPr>
            <a:r>
              <a:rPr lang="ru-RU" sz="2400" dirty="0" err="1"/>
              <a:t>Тільки</a:t>
            </a:r>
            <a:r>
              <a:rPr lang="ru-RU" sz="2400" dirty="0"/>
              <a:t> </a:t>
            </a:r>
            <a:r>
              <a:rPr lang="ru-RU" sz="2400" dirty="0" err="1"/>
              <a:t>картки</a:t>
            </a:r>
            <a:r>
              <a:rPr lang="ru-RU" sz="2400" dirty="0"/>
              <a:t>, на </a:t>
            </a:r>
            <a:r>
              <a:rPr lang="ru-RU" sz="2400" dirty="0" err="1"/>
              <a:t>яких</a:t>
            </a:r>
            <a:r>
              <a:rPr lang="ru-RU" sz="2400" dirty="0"/>
              <a:t> </a:t>
            </a:r>
            <a:r>
              <a:rPr lang="ru-RU" sz="2400" dirty="0" err="1"/>
              <a:t>вказані</a:t>
            </a:r>
            <a:r>
              <a:rPr lang="ru-RU" sz="2400" dirty="0"/>
              <a:t> </a:t>
            </a:r>
            <a:r>
              <a:rPr lang="ru-RU" sz="2400" dirty="0" err="1"/>
              <a:t>інформація</a:t>
            </a:r>
            <a:r>
              <a:rPr lang="ru-RU" sz="2400" dirty="0"/>
              <a:t> про </a:t>
            </a:r>
            <a:r>
              <a:rPr lang="ru-RU" sz="2400" dirty="0" err="1"/>
              <a:t>терміни</a:t>
            </a:r>
            <a:r>
              <a:rPr lang="ru-RU" sz="2400" dirty="0"/>
              <a:t> </a:t>
            </a:r>
            <a:r>
              <a:rPr lang="ru-RU" sz="2400" dirty="0" err="1"/>
              <a:t>виконання</a:t>
            </a:r>
            <a:r>
              <a:rPr lang="ru-RU" sz="2400" dirty="0"/>
              <a:t>, </a:t>
            </a:r>
            <a:r>
              <a:rPr lang="ru-RU" sz="2400" dirty="0" err="1"/>
              <a:t>опис</a:t>
            </a:r>
            <a:r>
              <a:rPr lang="ru-RU" sz="2400" dirty="0"/>
              <a:t> </a:t>
            </a:r>
            <a:r>
              <a:rPr lang="ru-RU" sz="2400" dirty="0" err="1"/>
              <a:t>або</a:t>
            </a:r>
            <a:r>
              <a:rPr lang="ru-RU" sz="2400" dirty="0"/>
              <a:t> номер </a:t>
            </a:r>
            <a:r>
              <a:rPr lang="ru-RU" sz="2400" dirty="0" err="1"/>
              <a:t>процесу</a:t>
            </a:r>
            <a:r>
              <a:rPr lang="ru-RU" sz="2400" dirty="0"/>
              <a:t> і </a:t>
            </a:r>
            <a:r>
              <a:rPr lang="ru-RU" sz="2400" dirty="0" err="1"/>
              <a:t>ім’я</a:t>
            </a:r>
            <a:r>
              <a:rPr lang="ru-RU" sz="2400" dirty="0"/>
              <a:t> </a:t>
            </a:r>
            <a:r>
              <a:rPr lang="ru-RU" sz="2400" dirty="0" err="1"/>
              <a:t>виконавця</a:t>
            </a:r>
            <a:r>
              <a:rPr lang="ru-RU" sz="2400" dirty="0"/>
              <a:t>, </a:t>
            </a:r>
            <a:r>
              <a:rPr lang="ru-RU" sz="2400" dirty="0" err="1"/>
              <a:t>тепер</a:t>
            </a:r>
            <a:r>
              <a:rPr lang="ru-RU" sz="2400" dirty="0"/>
              <a:t> </a:t>
            </a:r>
            <a:r>
              <a:rPr lang="ru-RU" sz="2400" dirty="0" err="1"/>
              <a:t>прикріплюються</a:t>
            </a:r>
            <a:r>
              <a:rPr lang="ru-RU" sz="2400" dirty="0"/>
              <a:t> не до </a:t>
            </a:r>
            <a:r>
              <a:rPr lang="ru-RU" sz="2400" dirty="0" err="1"/>
              <a:t>тари</a:t>
            </a:r>
            <a:r>
              <a:rPr lang="ru-RU" sz="2400" dirty="0"/>
              <a:t> з </a:t>
            </a:r>
            <a:r>
              <a:rPr lang="ru-RU" sz="2400" dirty="0" err="1"/>
              <a:t>запчастинами</a:t>
            </a:r>
            <a:r>
              <a:rPr lang="ru-RU" sz="2400" dirty="0"/>
              <a:t>, а до </a:t>
            </a:r>
            <a:r>
              <a:rPr lang="ru-RU" sz="2400" dirty="0" err="1"/>
              <a:t>дошки</a:t>
            </a:r>
            <a:r>
              <a:rPr lang="ru-RU" sz="2400" dirty="0"/>
              <a:t> з </a:t>
            </a:r>
            <a:r>
              <a:rPr lang="ru-RU" sz="2400" dirty="0" err="1"/>
              <a:t>розкресленими</a:t>
            </a:r>
            <a:r>
              <a:rPr lang="ru-RU" sz="2400" dirty="0"/>
              <a:t> колонками:</a:t>
            </a:r>
          </a:p>
          <a:p>
            <a:r>
              <a:rPr lang="ru-RU" sz="2400" dirty="0" err="1"/>
              <a:t>Беклог</a:t>
            </a:r>
            <a:r>
              <a:rPr lang="ru-RU" sz="2400" dirty="0"/>
              <a:t> — </a:t>
            </a:r>
            <a:r>
              <a:rPr lang="ru-RU" sz="2400" dirty="0" err="1"/>
              <a:t>задачі</a:t>
            </a:r>
            <a:r>
              <a:rPr lang="ru-RU" sz="2400" dirty="0"/>
              <a:t>, </a:t>
            </a:r>
            <a:r>
              <a:rPr lang="ru-RU" sz="2400" dirty="0" err="1"/>
              <a:t>які</a:t>
            </a:r>
            <a:r>
              <a:rPr lang="ru-RU" sz="2400" dirty="0"/>
              <a:t> треба </a:t>
            </a:r>
            <a:r>
              <a:rPr lang="ru-RU" sz="2400" dirty="0" err="1"/>
              <a:t>виконати</a:t>
            </a:r>
            <a:endParaRPr lang="ru-RU" sz="2400" dirty="0"/>
          </a:p>
          <a:p>
            <a:r>
              <a:rPr lang="ru-RU" sz="2400" dirty="0" err="1"/>
              <a:t>Задачі</a:t>
            </a:r>
            <a:r>
              <a:rPr lang="ru-RU" sz="2400" dirty="0"/>
              <a:t>, </a:t>
            </a:r>
            <a:r>
              <a:rPr lang="ru-RU" sz="2400" dirty="0" err="1"/>
              <a:t>які</a:t>
            </a:r>
            <a:r>
              <a:rPr lang="ru-RU" sz="2400" dirty="0"/>
              <a:t> на </a:t>
            </a:r>
            <a:r>
              <a:rPr lang="ru-RU" sz="2400" dirty="0" err="1"/>
              <a:t>даний</a:t>
            </a:r>
            <a:r>
              <a:rPr lang="ru-RU" sz="2400" dirty="0"/>
              <a:t> момент </a:t>
            </a:r>
            <a:r>
              <a:rPr lang="ru-RU" sz="2400" dirty="0" err="1"/>
              <a:t>розробляються</a:t>
            </a:r>
            <a:endParaRPr lang="ru-RU" sz="2400" dirty="0"/>
          </a:p>
          <a:p>
            <a:r>
              <a:rPr lang="ru-RU" sz="2400" dirty="0" err="1"/>
              <a:t>Задачі</a:t>
            </a:r>
            <a:r>
              <a:rPr lang="ru-RU" sz="2400" dirty="0"/>
              <a:t>, </a:t>
            </a:r>
            <a:r>
              <a:rPr lang="ru-RU" sz="2400" dirty="0" err="1"/>
              <a:t>які</a:t>
            </a:r>
            <a:r>
              <a:rPr lang="ru-RU" sz="2400" dirty="0"/>
              <a:t> </a:t>
            </a:r>
            <a:r>
              <a:rPr lang="ru-RU" sz="2400" dirty="0" err="1"/>
              <a:t>виконані</a:t>
            </a:r>
            <a:r>
              <a:rPr lang="ru-RU" sz="2400" dirty="0"/>
              <a:t>, але </a:t>
            </a:r>
            <a:r>
              <a:rPr lang="ru-RU" sz="2400" dirty="0" err="1"/>
              <a:t>ще</a:t>
            </a:r>
            <a:r>
              <a:rPr lang="ru-RU" sz="2400" dirty="0"/>
              <a:t> не </a:t>
            </a:r>
            <a:r>
              <a:rPr lang="ru-RU" sz="2400" dirty="0" err="1"/>
              <a:t>передані</a:t>
            </a:r>
            <a:r>
              <a:rPr lang="ru-RU" sz="2400" dirty="0"/>
              <a:t> </a:t>
            </a:r>
            <a:r>
              <a:rPr lang="ru-RU" sz="2400" dirty="0" err="1"/>
              <a:t>тестувальникам</a:t>
            </a:r>
            <a:endParaRPr lang="ru-RU" sz="2400" dirty="0"/>
          </a:p>
          <a:p>
            <a:r>
              <a:rPr lang="ru-RU" sz="2400" dirty="0" err="1"/>
              <a:t>Задачі</a:t>
            </a:r>
            <a:r>
              <a:rPr lang="ru-RU" sz="2400" dirty="0"/>
              <a:t>, </a:t>
            </a:r>
            <a:r>
              <a:rPr lang="ru-RU" sz="2400" dirty="0" err="1"/>
              <a:t>готові</a:t>
            </a:r>
            <a:r>
              <a:rPr lang="ru-RU" sz="2400" dirty="0"/>
              <a:t> до </a:t>
            </a:r>
            <a:r>
              <a:rPr lang="ru-RU" sz="2400" dirty="0" err="1"/>
              <a:t>передачі</a:t>
            </a:r>
            <a:r>
              <a:rPr lang="ru-RU" sz="2400" dirty="0"/>
              <a:t> у </a:t>
            </a:r>
            <a:r>
              <a:rPr lang="ru-RU" sz="2400" dirty="0" err="1"/>
              <a:t>відділ</a:t>
            </a:r>
            <a:r>
              <a:rPr lang="ru-RU" sz="2400" dirty="0"/>
              <a:t> </a:t>
            </a:r>
            <a:r>
              <a:rPr lang="ru-RU" sz="2400" dirty="0" err="1"/>
              <a:t>тестування</a:t>
            </a:r>
            <a:endParaRPr lang="ru-RU" sz="2400" dirty="0"/>
          </a:p>
          <a:p>
            <a:r>
              <a:rPr lang="ru-RU" sz="2400" dirty="0" err="1"/>
              <a:t>Задачі</a:t>
            </a:r>
            <a:r>
              <a:rPr lang="ru-RU" sz="2400" dirty="0"/>
              <a:t>, </a:t>
            </a:r>
            <a:r>
              <a:rPr lang="ru-RU" sz="2400" dirty="0" err="1"/>
              <a:t>які</a:t>
            </a:r>
            <a:r>
              <a:rPr lang="ru-RU" sz="2400" dirty="0"/>
              <a:t> </a:t>
            </a:r>
            <a:r>
              <a:rPr lang="ru-RU" sz="2400" dirty="0" err="1"/>
              <a:t>проходять</a:t>
            </a:r>
            <a:r>
              <a:rPr lang="ru-RU" sz="2400" dirty="0"/>
              <a:t> </a:t>
            </a:r>
            <a:r>
              <a:rPr lang="ru-RU" sz="2400" dirty="0" err="1"/>
              <a:t>перевірку</a:t>
            </a:r>
            <a:r>
              <a:rPr lang="ru-RU" sz="2400" dirty="0"/>
              <a:t> проект-менеджером (ПМ)</a:t>
            </a:r>
          </a:p>
          <a:p>
            <a:r>
              <a:rPr lang="ru-RU" sz="2400" dirty="0" err="1"/>
              <a:t>Виконані</a:t>
            </a:r>
            <a:r>
              <a:rPr lang="ru-RU" sz="2400" dirty="0"/>
              <a:t> </a:t>
            </a:r>
            <a:r>
              <a:rPr lang="ru-RU" sz="2400" dirty="0" err="1"/>
              <a:t>задачі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02603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Канбан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1"/>
            <a:ext cx="4724400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800" b="1" dirty="0"/>
              <a:t>Над колонками </a:t>
            </a:r>
            <a:r>
              <a:rPr lang="ru-RU" sz="2800" b="1" dirty="0" err="1"/>
              <a:t>зазвичай</a:t>
            </a:r>
            <a:r>
              <a:rPr lang="ru-RU" sz="2800" b="1" dirty="0"/>
              <a:t> </a:t>
            </a:r>
            <a:r>
              <a:rPr lang="ru-RU" sz="2800" b="1" dirty="0" err="1"/>
              <a:t>пишться</a:t>
            </a:r>
            <a:r>
              <a:rPr lang="ru-RU" sz="2800" b="1" dirty="0"/>
              <a:t> число — </a:t>
            </a:r>
            <a:r>
              <a:rPr lang="ru-RU" sz="2800" b="1" dirty="0" err="1"/>
              <a:t>ліміт</a:t>
            </a:r>
            <a:r>
              <a:rPr lang="ru-RU" sz="2800" dirty="0"/>
              <a:t>, </a:t>
            </a:r>
            <a:r>
              <a:rPr lang="ru-RU" sz="2800" dirty="0" err="1"/>
              <a:t>який</a:t>
            </a:r>
            <a:r>
              <a:rPr lang="ru-RU" sz="2800" dirty="0"/>
              <a:t> </a:t>
            </a:r>
            <a:r>
              <a:rPr lang="ru-RU" sz="2800" dirty="0" err="1"/>
              <a:t>вказує</a:t>
            </a:r>
            <a:r>
              <a:rPr lang="ru-RU" sz="2800" dirty="0"/>
              <a:t> на </a:t>
            </a:r>
            <a:r>
              <a:rPr lang="ru-RU" sz="2800" dirty="0" err="1"/>
              <a:t>максимальну</a:t>
            </a:r>
            <a:r>
              <a:rPr lang="ru-RU" sz="2800" dirty="0"/>
              <a:t> </a:t>
            </a:r>
            <a:r>
              <a:rPr lang="ru-RU" sz="2800" dirty="0" err="1"/>
              <a:t>кількість</a:t>
            </a:r>
            <a:r>
              <a:rPr lang="ru-RU" sz="2800" dirty="0"/>
              <a:t> </a:t>
            </a:r>
            <a:r>
              <a:rPr lang="ru-RU" sz="2800" dirty="0" err="1"/>
              <a:t>процесів</a:t>
            </a:r>
            <a:r>
              <a:rPr lang="ru-RU" sz="2800" dirty="0"/>
              <a:t> в </a:t>
            </a:r>
            <a:r>
              <a:rPr lang="ru-RU" sz="2800" dirty="0" err="1"/>
              <a:t>ній</a:t>
            </a:r>
            <a:r>
              <a:rPr lang="ru-RU" sz="2800" dirty="0"/>
              <a:t>. </a:t>
            </a:r>
            <a:r>
              <a:rPr lang="ru-RU" sz="2800" dirty="0" err="1"/>
              <a:t>Ліміт</a:t>
            </a:r>
            <a:r>
              <a:rPr lang="ru-RU" sz="2800" dirty="0"/>
              <a:t> </a:t>
            </a:r>
            <a:r>
              <a:rPr lang="ru-RU" sz="2800" dirty="0" err="1"/>
              <a:t>беклога</a:t>
            </a:r>
            <a:r>
              <a:rPr lang="ru-RU" sz="2800" dirty="0"/>
              <a:t> </a:t>
            </a:r>
            <a:r>
              <a:rPr lang="ru-RU" sz="2800" dirty="0" err="1"/>
              <a:t>вираховується</a:t>
            </a:r>
            <a:r>
              <a:rPr lang="ru-RU" sz="2800" dirty="0"/>
              <a:t> в </a:t>
            </a:r>
            <a:r>
              <a:rPr lang="ru-RU" sz="2800" dirty="0" err="1"/>
              <a:t>залежності</a:t>
            </a:r>
            <a:r>
              <a:rPr lang="ru-RU" sz="2800" dirty="0"/>
              <a:t> </a:t>
            </a:r>
            <a:r>
              <a:rPr lang="ru-RU" sz="2800" dirty="0" err="1"/>
              <a:t>від</a:t>
            </a:r>
            <a:r>
              <a:rPr lang="ru-RU" sz="2800" dirty="0"/>
              <a:t> </a:t>
            </a:r>
            <a:r>
              <a:rPr lang="ru-RU" sz="2800" dirty="0" err="1"/>
              <a:t>провідного</a:t>
            </a:r>
            <a:r>
              <a:rPr lang="ru-RU" sz="2800" dirty="0"/>
              <a:t> часу. </a:t>
            </a:r>
            <a:r>
              <a:rPr lang="ru-RU" sz="2800" dirty="0" err="1"/>
              <a:t>Якщо</a:t>
            </a:r>
            <a:r>
              <a:rPr lang="ru-RU" sz="2800" dirty="0"/>
              <a:t> в </a:t>
            </a:r>
            <a:r>
              <a:rPr lang="ru-RU" sz="2800" dirty="0" err="1"/>
              <a:t>системі</a:t>
            </a:r>
            <a:r>
              <a:rPr lang="ru-RU" sz="2800" dirty="0"/>
              <a:t> 5 </a:t>
            </a:r>
            <a:r>
              <a:rPr lang="ru-RU" sz="2800" dirty="0" err="1"/>
              <a:t>робіт</a:t>
            </a:r>
            <a:r>
              <a:rPr lang="ru-RU" sz="2800" dirty="0"/>
              <a:t> в </a:t>
            </a:r>
            <a:r>
              <a:rPr lang="ru-RU" sz="2800" dirty="0" err="1"/>
              <a:t>процесі</a:t>
            </a:r>
            <a:r>
              <a:rPr lang="ru-RU" sz="2800" dirty="0"/>
              <a:t>, і </a:t>
            </a:r>
            <a:r>
              <a:rPr lang="ru-RU" sz="2800" dirty="0" err="1"/>
              <a:t>завершення</a:t>
            </a:r>
            <a:r>
              <a:rPr lang="ru-RU" sz="2800" dirty="0"/>
              <a:t> </a:t>
            </a:r>
            <a:r>
              <a:rPr lang="ru-RU" sz="2800" dirty="0" err="1"/>
              <a:t>кожної</a:t>
            </a:r>
            <a:r>
              <a:rPr lang="ru-RU" sz="2800" dirty="0"/>
              <a:t> з них в </a:t>
            </a:r>
            <a:r>
              <a:rPr lang="ru-RU" sz="2800" dirty="0" err="1"/>
              <a:t>середньому</a:t>
            </a:r>
            <a:r>
              <a:rPr lang="ru-RU" sz="2800" dirty="0"/>
              <a:t> </a:t>
            </a:r>
            <a:r>
              <a:rPr lang="ru-RU" sz="2800" dirty="0" err="1"/>
              <a:t>займає</a:t>
            </a:r>
            <a:r>
              <a:rPr lang="ru-RU" sz="2800" dirty="0"/>
              <a:t> 1 день, то й </a:t>
            </a:r>
            <a:r>
              <a:rPr lang="ru-RU" sz="2800" dirty="0" err="1"/>
              <a:t>беклог</a:t>
            </a:r>
            <a:r>
              <a:rPr lang="ru-RU" sz="2800" dirty="0"/>
              <a:t> </a:t>
            </a:r>
            <a:r>
              <a:rPr lang="ru-RU" sz="2800" dirty="0" err="1"/>
              <a:t>можна</a:t>
            </a:r>
            <a:r>
              <a:rPr lang="ru-RU" sz="2800" dirty="0"/>
              <a:t> </a:t>
            </a:r>
            <a:r>
              <a:rPr lang="ru-RU" sz="2800" dirty="0" err="1"/>
              <a:t>обмежити</a:t>
            </a:r>
            <a:r>
              <a:rPr lang="ru-RU" sz="2800" dirty="0"/>
              <a:t> </a:t>
            </a:r>
            <a:r>
              <a:rPr lang="ru-RU" sz="2800" dirty="0" err="1"/>
              <a:t>лімітом</a:t>
            </a:r>
            <a:r>
              <a:rPr lang="ru-RU" sz="2800" dirty="0"/>
              <a:t> 5.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30868" r="36843"/>
          <a:stretch/>
        </p:blipFill>
        <p:spPr>
          <a:xfrm>
            <a:off x="5397499" y="2356645"/>
            <a:ext cx="3594101" cy="298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89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Структура </a:t>
            </a:r>
            <a:r>
              <a:rPr lang="uk-UA" dirty="0" err="1"/>
              <a:t>Канбан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Структура </a:t>
            </a:r>
            <a:r>
              <a:rPr lang="ru-RU" dirty="0" err="1"/>
              <a:t>вище</a:t>
            </a:r>
            <a:r>
              <a:rPr lang="ru-RU" dirty="0"/>
              <a:t> не є строгою — </a:t>
            </a:r>
            <a:r>
              <a:rPr lang="ru-RU" b="1" dirty="0"/>
              <a:t>в </a:t>
            </a:r>
            <a:r>
              <a:rPr lang="ru-RU" b="1" dirty="0" err="1"/>
              <a:t>залежності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специфіки</a:t>
            </a:r>
            <a:r>
              <a:rPr lang="ru-RU" b="1" dirty="0"/>
              <a:t> проекту </a:t>
            </a:r>
            <a:r>
              <a:rPr lang="ru-RU" b="1" dirty="0" err="1"/>
              <a:t>можуть</a:t>
            </a:r>
            <a:r>
              <a:rPr lang="ru-RU" b="1" dirty="0"/>
              <a:t> бути </a:t>
            </a:r>
            <a:r>
              <a:rPr lang="ru-RU" b="1" dirty="0" err="1"/>
              <a:t>додані</a:t>
            </a:r>
            <a:r>
              <a:rPr lang="ru-RU" b="1" dirty="0"/>
              <a:t> </a:t>
            </a:r>
            <a:r>
              <a:rPr lang="ru-RU" b="1" dirty="0" err="1"/>
              <a:t>імпровізовані</a:t>
            </a:r>
            <a:r>
              <a:rPr lang="ru-RU" b="1" dirty="0"/>
              <a:t> колонки.</a:t>
            </a:r>
            <a:r>
              <a:rPr lang="ru-RU" dirty="0"/>
              <a:t> </a:t>
            </a:r>
            <a:r>
              <a:rPr lang="ru-RU" dirty="0" err="1"/>
              <a:t>Нерідко</a:t>
            </a:r>
            <a:r>
              <a:rPr lang="ru-RU" dirty="0"/>
              <a:t> </a:t>
            </a:r>
            <a:r>
              <a:rPr lang="ru-RU" dirty="0" err="1"/>
              <a:t>зустрічається</a:t>
            </a:r>
            <a:r>
              <a:rPr lang="ru-RU" dirty="0"/>
              <a:t> </a:t>
            </a:r>
            <a:r>
              <a:rPr lang="ru-RU" dirty="0" err="1"/>
              <a:t>канбан</a:t>
            </a:r>
            <a:r>
              <a:rPr lang="ru-RU" dirty="0"/>
              <a:t> система, в 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визначити</a:t>
            </a:r>
            <a:r>
              <a:rPr lang="ru-RU" dirty="0"/>
              <a:t> </a:t>
            </a:r>
            <a:r>
              <a:rPr lang="ru-RU" dirty="0" err="1"/>
              <a:t>критерії</a:t>
            </a:r>
            <a:r>
              <a:rPr lang="ru-RU" dirty="0"/>
              <a:t> </a:t>
            </a:r>
            <a:r>
              <a:rPr lang="ru-RU" dirty="0" err="1"/>
              <a:t>готовності</a:t>
            </a:r>
            <a:r>
              <a:rPr lang="ru-RU" dirty="0"/>
              <a:t> </a:t>
            </a:r>
            <a:r>
              <a:rPr lang="ru-RU" dirty="0" err="1"/>
              <a:t>задачі</a:t>
            </a:r>
            <a:r>
              <a:rPr lang="ru-RU" dirty="0"/>
              <a:t> перед </a:t>
            </a:r>
            <a:r>
              <a:rPr lang="ru-RU" dirty="0" err="1"/>
              <a:t>її</a:t>
            </a:r>
            <a:r>
              <a:rPr lang="ru-RU" dirty="0"/>
              <a:t> </a:t>
            </a:r>
            <a:r>
              <a:rPr lang="ru-RU" dirty="0" err="1"/>
              <a:t>виконанням</a:t>
            </a:r>
            <a:r>
              <a:rPr lang="ru-RU" dirty="0"/>
              <a:t>. </a:t>
            </a:r>
            <a:r>
              <a:rPr lang="ru-RU" dirty="0" err="1"/>
              <a:t>Тоді</a:t>
            </a:r>
            <a:r>
              <a:rPr lang="ru-RU" dirty="0"/>
              <a:t> </a:t>
            </a:r>
            <a:r>
              <a:rPr lang="ru-RU" dirty="0" err="1"/>
              <a:t>з’являються</a:t>
            </a:r>
            <a:r>
              <a:rPr lang="ru-RU" dirty="0"/>
              <a:t> </a:t>
            </a:r>
            <a:r>
              <a:rPr lang="ru-RU" dirty="0" err="1"/>
              <a:t>дві</a:t>
            </a:r>
            <a:r>
              <a:rPr lang="ru-RU" dirty="0"/>
              <a:t> колонки, </a:t>
            </a:r>
            <a:r>
              <a:rPr lang="ru-RU" dirty="0" err="1"/>
              <a:t>які</a:t>
            </a:r>
            <a:r>
              <a:rPr lang="ru-RU" dirty="0"/>
              <a:t> в </a:t>
            </a:r>
            <a:r>
              <a:rPr lang="ru-RU" dirty="0" err="1"/>
              <a:t>англійській</a:t>
            </a:r>
            <a:r>
              <a:rPr lang="ru-RU" dirty="0"/>
              <a:t> </a:t>
            </a:r>
            <a:r>
              <a:rPr lang="ru-RU" dirty="0" err="1"/>
              <a:t>мові</a:t>
            </a:r>
            <a:r>
              <a:rPr lang="ru-RU" dirty="0"/>
              <a:t> </a:t>
            </a:r>
            <a:r>
              <a:rPr lang="ru-RU" dirty="0" err="1"/>
              <a:t>називаються</a:t>
            </a:r>
            <a:r>
              <a:rPr lang="ru-RU" dirty="0"/>
              <a:t> </a:t>
            </a:r>
            <a:r>
              <a:rPr lang="en-US" b="1" dirty="0"/>
              <a:t>specify</a:t>
            </a:r>
            <a:r>
              <a:rPr lang="en-US" dirty="0"/>
              <a:t> (</a:t>
            </a:r>
            <a:r>
              <a:rPr lang="ru-RU" dirty="0" err="1"/>
              <a:t>уточнити</a:t>
            </a:r>
            <a:r>
              <a:rPr lang="ru-RU" dirty="0"/>
              <a:t> </a:t>
            </a:r>
            <a:r>
              <a:rPr lang="ru-RU" dirty="0" err="1"/>
              <a:t>параметри</a:t>
            </a:r>
            <a:r>
              <a:rPr lang="ru-RU" dirty="0"/>
              <a:t>) і </a:t>
            </a:r>
            <a:r>
              <a:rPr lang="en-US" b="1" dirty="0"/>
              <a:t>execute</a:t>
            </a:r>
            <a:r>
              <a:rPr lang="en-US" dirty="0"/>
              <a:t> (</a:t>
            </a:r>
            <a:r>
              <a:rPr lang="ru-RU" dirty="0" err="1"/>
              <a:t>взятися</a:t>
            </a:r>
            <a:r>
              <a:rPr lang="ru-RU" dirty="0"/>
              <a:t> за роботу).</a:t>
            </a:r>
          </a:p>
        </p:txBody>
      </p:sp>
    </p:spTree>
    <p:extLst>
      <p:ext uri="{BB962C8B-B14F-4D97-AF65-F5344CB8AC3E}">
        <p14:creationId xmlns:p14="http://schemas.microsoft.com/office/powerpoint/2010/main" val="5521094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Структура </a:t>
            </a:r>
            <a:r>
              <a:rPr lang="uk-UA" dirty="0" err="1"/>
              <a:t>Канбан</a:t>
            </a:r>
            <a:r>
              <a:rPr lang="uk-UA" dirty="0"/>
              <a:t> (продовження)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err="1"/>
              <a:t>Ще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додаватися</a:t>
            </a:r>
            <a:r>
              <a:rPr lang="ru-RU" dirty="0"/>
              <a:t> колонка з </a:t>
            </a:r>
            <a:r>
              <a:rPr lang="ru-RU" dirty="0" err="1"/>
              <a:t>пріоритетною</a:t>
            </a:r>
            <a:r>
              <a:rPr lang="ru-RU" dirty="0"/>
              <a:t> </a:t>
            </a:r>
            <a:r>
              <a:rPr lang="ru-RU" dirty="0" err="1"/>
              <a:t>чергою</a:t>
            </a:r>
            <a:r>
              <a:rPr lang="ru-RU" dirty="0"/>
              <a:t>. Коли </a:t>
            </a:r>
            <a:r>
              <a:rPr lang="ru-RU" dirty="0" err="1"/>
              <a:t>виконавець</a:t>
            </a:r>
            <a:r>
              <a:rPr lang="ru-RU" dirty="0"/>
              <a:t> </a:t>
            </a:r>
            <a:r>
              <a:rPr lang="ru-RU" dirty="0" err="1"/>
              <a:t>звільняється</a:t>
            </a:r>
            <a:r>
              <a:rPr lang="ru-RU" dirty="0"/>
              <a:t>, то </a:t>
            </a:r>
            <a:r>
              <a:rPr lang="ru-RU" dirty="0" err="1"/>
              <a:t>він</a:t>
            </a:r>
            <a:r>
              <a:rPr lang="ru-RU" dirty="0"/>
              <a:t> повинен </a:t>
            </a:r>
            <a:r>
              <a:rPr lang="ru-RU" dirty="0" err="1"/>
              <a:t>очистити</a:t>
            </a:r>
            <a:r>
              <a:rPr lang="ru-RU" dirty="0"/>
              <a:t> </a:t>
            </a:r>
            <a:r>
              <a:rPr lang="ru-RU" dirty="0" err="1"/>
              <a:t>саме</a:t>
            </a:r>
            <a:r>
              <a:rPr lang="ru-RU" dirty="0"/>
              <a:t> </a:t>
            </a:r>
            <a:r>
              <a:rPr lang="ru-RU" dirty="0" err="1"/>
              <a:t>цю</a:t>
            </a:r>
            <a:r>
              <a:rPr lang="ru-RU" dirty="0"/>
              <a:t> колонку з задачами, а </a:t>
            </a:r>
            <a:r>
              <a:rPr lang="ru-RU" dirty="0" err="1"/>
              <a:t>потім</a:t>
            </a:r>
            <a:r>
              <a:rPr lang="ru-RU" dirty="0"/>
              <a:t> </a:t>
            </a:r>
            <a:r>
              <a:rPr lang="ru-RU" dirty="0" err="1"/>
              <a:t>братися</a:t>
            </a:r>
            <a:r>
              <a:rPr lang="ru-RU" dirty="0"/>
              <a:t> за </a:t>
            </a:r>
            <a:r>
              <a:rPr lang="ru-RU" dirty="0" err="1"/>
              <a:t>інші</a:t>
            </a:r>
            <a:r>
              <a:rPr lang="ru-RU" dirty="0"/>
              <a:t>.</a:t>
            </a:r>
          </a:p>
          <a:p>
            <a:r>
              <a:rPr lang="ru-RU" dirty="0" err="1"/>
              <a:t>Задачі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не </a:t>
            </a:r>
            <a:r>
              <a:rPr lang="ru-RU" dirty="0" err="1"/>
              <a:t>були</a:t>
            </a:r>
            <a:r>
              <a:rPr lang="ru-RU" dirty="0"/>
              <a:t> </a:t>
            </a:r>
            <a:r>
              <a:rPr lang="ru-RU" dirty="0" err="1"/>
              <a:t>виконані</a:t>
            </a:r>
            <a:r>
              <a:rPr lang="ru-RU" dirty="0"/>
              <a:t>, —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повертаються</a:t>
            </a:r>
            <a:r>
              <a:rPr lang="ru-RU" dirty="0"/>
              <a:t> в </a:t>
            </a:r>
            <a:r>
              <a:rPr lang="ru-RU" dirty="0" err="1"/>
              <a:t>беклог</a:t>
            </a:r>
            <a:r>
              <a:rPr lang="ru-RU" dirty="0"/>
              <a:t>,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викреслюються</a:t>
            </a:r>
            <a:r>
              <a:rPr lang="ru-RU" dirty="0"/>
              <a:t> </a:t>
            </a:r>
            <a:r>
              <a:rPr lang="ru-RU" dirty="0" err="1"/>
              <a:t>зі</a:t>
            </a:r>
            <a:r>
              <a:rPr lang="ru-RU" dirty="0"/>
              <a:t> </a:t>
            </a:r>
            <a:r>
              <a:rPr lang="ru-RU" dirty="0" err="1"/>
              <a:t>схеми</a:t>
            </a:r>
            <a:r>
              <a:rPr lang="ru-RU" dirty="0"/>
              <a:t>.</a:t>
            </a:r>
          </a:p>
          <a:p>
            <a:r>
              <a:rPr lang="ru-RU" dirty="0" err="1"/>
              <a:t>Канбан</a:t>
            </a:r>
            <a:r>
              <a:rPr lang="ru-RU" dirty="0"/>
              <a:t> не </a:t>
            </a:r>
            <a:r>
              <a:rPr lang="ru-RU" dirty="0" err="1"/>
              <a:t>заохочує</a:t>
            </a:r>
            <a:r>
              <a:rPr lang="ru-RU" dirty="0"/>
              <a:t> </a:t>
            </a:r>
            <a:r>
              <a:rPr lang="ru-RU" dirty="0" err="1"/>
              <a:t>багатозадачність</a:t>
            </a:r>
            <a:r>
              <a:rPr lang="ru-RU" dirty="0"/>
              <a:t>, тому </a:t>
            </a:r>
            <a:r>
              <a:rPr lang="ru-RU" dirty="0" err="1"/>
              <a:t>встановлюється</a:t>
            </a:r>
            <a:r>
              <a:rPr lang="ru-RU" dirty="0"/>
              <a:t> </a:t>
            </a:r>
            <a:r>
              <a:rPr lang="ru-RU" dirty="0" err="1"/>
              <a:t>ліміт</a:t>
            </a:r>
            <a:r>
              <a:rPr lang="ru-RU" dirty="0"/>
              <a:t> </a:t>
            </a:r>
            <a:r>
              <a:rPr lang="ru-RU" dirty="0" err="1"/>
              <a:t>процесів</a:t>
            </a:r>
            <a:r>
              <a:rPr lang="ru-RU" dirty="0"/>
              <a:t> для одного </a:t>
            </a:r>
            <a:r>
              <a:rPr lang="ru-RU" dirty="0" err="1"/>
              <a:t>виконавця</a:t>
            </a:r>
            <a:r>
              <a:rPr lang="ru-RU" dirty="0"/>
              <a:t>.</a:t>
            </a:r>
          </a:p>
          <a:p>
            <a:r>
              <a:rPr lang="ru-RU" dirty="0" err="1"/>
              <a:t>Виконана</a:t>
            </a:r>
            <a:r>
              <a:rPr lang="ru-RU" dirty="0"/>
              <a:t> робота </a:t>
            </a:r>
            <a:r>
              <a:rPr lang="ru-RU" dirty="0" err="1"/>
              <a:t>краще</a:t>
            </a:r>
            <a:r>
              <a:rPr lang="ru-RU" dirty="0"/>
              <a:t>, </a:t>
            </a:r>
            <a:r>
              <a:rPr lang="ru-RU" dirty="0" err="1"/>
              <a:t>ніж</a:t>
            </a:r>
            <a:r>
              <a:rPr lang="ru-RU" dirty="0"/>
              <a:t> </a:t>
            </a:r>
            <a:r>
              <a:rPr lang="ru-RU" dirty="0" err="1"/>
              <a:t>декілька</a:t>
            </a:r>
            <a:r>
              <a:rPr lang="ru-RU" dirty="0"/>
              <a:t> </a:t>
            </a:r>
            <a:r>
              <a:rPr lang="ru-RU" dirty="0" err="1"/>
              <a:t>розпочатих</a:t>
            </a:r>
            <a:r>
              <a:rPr lang="ru-RU" dirty="0"/>
              <a:t>.</a:t>
            </a:r>
          </a:p>
          <a:p>
            <a:r>
              <a:rPr lang="ru-RU" dirty="0" err="1"/>
              <a:t>Братися</a:t>
            </a:r>
            <a:r>
              <a:rPr lang="ru-RU" dirty="0"/>
              <a:t> за другу роботу </a:t>
            </a:r>
            <a:r>
              <a:rPr lang="ru-RU" dirty="0" err="1"/>
              <a:t>можна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перша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заблокована</a:t>
            </a:r>
            <a:r>
              <a:rPr lang="ru-RU" dirty="0"/>
              <a:t>.</a:t>
            </a:r>
          </a:p>
          <a:p>
            <a:r>
              <a:rPr lang="ru-RU" dirty="0"/>
              <a:t>Час для </a:t>
            </a:r>
            <a:r>
              <a:rPr lang="ru-RU" dirty="0" err="1"/>
              <a:t>виконання</a:t>
            </a:r>
            <a:r>
              <a:rPr lang="ru-RU" dirty="0"/>
              <a:t> </a:t>
            </a:r>
            <a:r>
              <a:rPr lang="ru-RU" dirty="0" err="1"/>
              <a:t>задачі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бути </a:t>
            </a:r>
            <a:r>
              <a:rPr lang="ru-RU" dirty="0" err="1"/>
              <a:t>збалансованим</a:t>
            </a:r>
            <a:r>
              <a:rPr lang="ru-RU" dirty="0"/>
              <a:t>. </a:t>
            </a:r>
            <a:r>
              <a:rPr lang="ru-RU" dirty="0" err="1"/>
              <a:t>Занадто</a:t>
            </a:r>
            <a:r>
              <a:rPr lang="ru-RU" dirty="0"/>
              <a:t> короткий </a:t>
            </a:r>
            <a:r>
              <a:rPr lang="ru-RU" dirty="0" err="1"/>
              <a:t>термін</a:t>
            </a:r>
            <a:r>
              <a:rPr lang="ru-RU" dirty="0"/>
              <a:t> </a:t>
            </a:r>
            <a:r>
              <a:rPr lang="ru-RU" dirty="0" err="1"/>
              <a:t>відіб’ється</a:t>
            </a:r>
            <a:r>
              <a:rPr lang="ru-RU" dirty="0"/>
              <a:t> на </a:t>
            </a:r>
            <a:r>
              <a:rPr lang="ru-RU" dirty="0" err="1"/>
              <a:t>якості</a:t>
            </a:r>
            <a:r>
              <a:rPr lang="ru-RU" dirty="0"/>
              <a:t>. </a:t>
            </a:r>
            <a:r>
              <a:rPr lang="ru-RU" dirty="0" err="1"/>
              <a:t>Надто</a:t>
            </a:r>
            <a:r>
              <a:rPr lang="ru-RU" dirty="0"/>
              <a:t> </a:t>
            </a:r>
            <a:r>
              <a:rPr lang="ru-RU" dirty="0" err="1"/>
              <a:t>розтягнутий</a:t>
            </a:r>
            <a:r>
              <a:rPr lang="ru-RU" dirty="0"/>
              <a:t> </a:t>
            </a:r>
            <a:r>
              <a:rPr lang="ru-RU" dirty="0" err="1"/>
              <a:t>ліміт</a:t>
            </a:r>
            <a:r>
              <a:rPr lang="ru-RU" dirty="0"/>
              <a:t> </a:t>
            </a:r>
            <a:r>
              <a:rPr lang="ru-RU" dirty="0" err="1"/>
              <a:t>витрачає</a:t>
            </a:r>
            <a:r>
              <a:rPr lang="ru-RU" dirty="0"/>
              <a:t> </a:t>
            </a:r>
            <a:r>
              <a:rPr lang="ru-RU" dirty="0" err="1"/>
              <a:t>ресурси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/>
              <a:t> і </a:t>
            </a:r>
            <a:r>
              <a:rPr lang="ru-RU" dirty="0" err="1"/>
              <a:t>підвищує</a:t>
            </a:r>
            <a:r>
              <a:rPr lang="ru-RU" dirty="0"/>
              <a:t> </a:t>
            </a:r>
            <a:r>
              <a:rPr lang="ru-RU" dirty="0" err="1"/>
              <a:t>вартість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1410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00062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Kanban </a:t>
            </a:r>
            <a:r>
              <a:rPr lang="ru-RU" sz="2800" b="1" dirty="0" err="1"/>
              <a:t>має</a:t>
            </a:r>
            <a:r>
              <a:rPr lang="ru-RU" sz="2800" b="1" dirty="0"/>
              <a:t> </a:t>
            </a:r>
            <a:r>
              <a:rPr lang="ru-RU" sz="2800" b="1" dirty="0" err="1"/>
              <a:t>такі</a:t>
            </a:r>
            <a:r>
              <a:rPr lang="ru-RU" sz="2800" b="1" dirty="0"/>
              <a:t> </a:t>
            </a:r>
            <a:r>
              <a:rPr lang="ru-RU" sz="2800" b="1" dirty="0" err="1"/>
              <a:t>переваги</a:t>
            </a:r>
            <a:r>
              <a:rPr lang="ru-RU" sz="2800" b="1" dirty="0"/>
              <a:t>: 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774700"/>
            <a:ext cx="8229600" cy="5880100"/>
          </a:xfrm>
        </p:spPr>
        <p:txBody>
          <a:bodyPr>
            <a:normAutofit fontScale="700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ru-RU" dirty="0" err="1"/>
              <a:t>Гнучкість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. Команда </a:t>
            </a:r>
            <a:r>
              <a:rPr lang="ru-RU" dirty="0" err="1"/>
              <a:t>концентрується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на </a:t>
            </a:r>
            <a:r>
              <a:rPr lang="ru-RU" dirty="0" err="1"/>
              <a:t>поточній</a:t>
            </a:r>
            <a:r>
              <a:rPr lang="ru-RU" dirty="0"/>
              <a:t> </a:t>
            </a:r>
            <a:r>
              <a:rPr lang="ru-RU" dirty="0" err="1"/>
              <a:t>роботі</a:t>
            </a:r>
            <a:r>
              <a:rPr lang="ru-RU" dirty="0"/>
              <a:t>, </a:t>
            </a:r>
            <a:r>
              <a:rPr lang="ru-RU" dirty="0" err="1"/>
              <a:t>пріоритет</a:t>
            </a:r>
            <a:r>
              <a:rPr lang="ru-RU" dirty="0"/>
              <a:t> </a:t>
            </a:r>
            <a:r>
              <a:rPr lang="ru-RU" dirty="0" err="1"/>
              <a:t>задачі</a:t>
            </a:r>
            <a:r>
              <a:rPr lang="ru-RU" dirty="0"/>
              <a:t> </a:t>
            </a:r>
            <a:r>
              <a:rPr lang="ru-RU" dirty="0" err="1"/>
              <a:t>виставляється</a:t>
            </a:r>
            <a:r>
              <a:rPr lang="ru-RU" dirty="0"/>
              <a:t> менеджером.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err="1"/>
              <a:t>Висока</a:t>
            </a:r>
            <a:r>
              <a:rPr lang="ru-RU" dirty="0"/>
              <a:t> </a:t>
            </a:r>
            <a:r>
              <a:rPr lang="ru-RU" dirty="0" err="1"/>
              <a:t>включеність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/>
              <a:t> в </a:t>
            </a:r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.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постійним</a:t>
            </a:r>
            <a:r>
              <a:rPr lang="ru-RU" dirty="0"/>
              <a:t> </a:t>
            </a:r>
            <a:r>
              <a:rPr lang="ru-RU" dirty="0" err="1"/>
              <a:t>зборам</a:t>
            </a:r>
            <a:r>
              <a:rPr lang="ru-RU" dirty="0"/>
              <a:t>, </a:t>
            </a:r>
            <a:r>
              <a:rPr lang="ru-RU" dirty="0" err="1"/>
              <a:t>прозорості</a:t>
            </a:r>
            <a:r>
              <a:rPr lang="ru-RU" dirty="0"/>
              <a:t> </a:t>
            </a:r>
            <a:r>
              <a:rPr lang="ru-RU" dirty="0" err="1"/>
              <a:t>процесів</a:t>
            </a:r>
            <a:r>
              <a:rPr lang="ru-RU" dirty="0"/>
              <a:t> і </a:t>
            </a:r>
            <a:r>
              <a:rPr lang="ru-RU" dirty="0" err="1"/>
              <a:t>можливостям</a:t>
            </a:r>
            <a:r>
              <a:rPr lang="ru-RU" dirty="0"/>
              <a:t> </a:t>
            </a:r>
            <a:r>
              <a:rPr lang="ru-RU" dirty="0" err="1"/>
              <a:t>самоорганізації</a:t>
            </a:r>
            <a:r>
              <a:rPr lang="ru-RU" dirty="0"/>
              <a:t> </a:t>
            </a:r>
            <a:r>
              <a:rPr lang="ru-RU" dirty="0" err="1"/>
              <a:t>працівники</a:t>
            </a:r>
            <a:r>
              <a:rPr lang="ru-RU" dirty="0"/>
              <a:t> </a:t>
            </a:r>
            <a:r>
              <a:rPr lang="ru-RU" dirty="0" err="1"/>
              <a:t>гуртуються</a:t>
            </a:r>
            <a:r>
              <a:rPr lang="ru-RU" dirty="0"/>
              <a:t> і </a:t>
            </a:r>
            <a:r>
              <a:rPr lang="ru-RU" dirty="0" err="1"/>
              <a:t>проявляють</a:t>
            </a:r>
            <a:r>
              <a:rPr lang="ru-RU" dirty="0"/>
              <a:t> </a:t>
            </a:r>
            <a:r>
              <a:rPr lang="ru-RU" dirty="0" err="1"/>
              <a:t>щирий</a:t>
            </a:r>
            <a:r>
              <a:rPr lang="ru-RU" dirty="0"/>
              <a:t> </a:t>
            </a:r>
            <a:r>
              <a:rPr lang="ru-RU" dirty="0" err="1"/>
              <a:t>інтерес</a:t>
            </a:r>
            <a:r>
              <a:rPr lang="ru-RU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err="1"/>
              <a:t>Менша</a:t>
            </a:r>
            <a:r>
              <a:rPr lang="ru-RU" dirty="0"/>
              <a:t> </a:t>
            </a:r>
            <a:r>
              <a:rPr lang="ru-RU" dirty="0" err="1"/>
              <a:t>тривалість</a:t>
            </a:r>
            <a:r>
              <a:rPr lang="ru-RU" dirty="0"/>
              <a:t> циклу.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потрібний</a:t>
            </a:r>
            <a:r>
              <a:rPr lang="ru-RU" dirty="0"/>
              <a:t> </a:t>
            </a:r>
            <a:r>
              <a:rPr lang="ru-RU" dirty="0" err="1"/>
              <a:t>навичок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людей, — </a:t>
            </a:r>
            <a:r>
              <a:rPr lang="ru-RU" dirty="0" err="1"/>
              <a:t>тривалість</a:t>
            </a:r>
            <a:r>
              <a:rPr lang="ru-RU" dirty="0"/>
              <a:t> </a:t>
            </a:r>
            <a:r>
              <a:rPr lang="ru-RU" dirty="0" err="1"/>
              <a:t>скорочується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 ж </a:t>
            </a:r>
            <a:r>
              <a:rPr lang="ru-RU" dirty="0" err="1"/>
              <a:t>тільки</a:t>
            </a:r>
            <a:r>
              <a:rPr lang="ru-RU" dirty="0"/>
              <a:t> одна </a:t>
            </a:r>
            <a:r>
              <a:rPr lang="ru-RU" dirty="0" err="1"/>
              <a:t>людина</a:t>
            </a:r>
            <a:r>
              <a:rPr lang="ru-RU" dirty="0"/>
              <a:t> — </a:t>
            </a:r>
            <a:r>
              <a:rPr lang="ru-RU" dirty="0" err="1"/>
              <a:t>з’являється</a:t>
            </a:r>
            <a:r>
              <a:rPr lang="ru-RU" dirty="0"/>
              <a:t> </a:t>
            </a:r>
            <a:r>
              <a:rPr lang="ru-RU" dirty="0" err="1"/>
              <a:t>вузьке</a:t>
            </a:r>
            <a:r>
              <a:rPr lang="ru-RU" dirty="0"/>
              <a:t> </a:t>
            </a:r>
            <a:r>
              <a:rPr lang="ru-RU" dirty="0" err="1"/>
              <a:t>місце</a:t>
            </a:r>
            <a:r>
              <a:rPr lang="ru-RU" dirty="0"/>
              <a:t>. Тому </a:t>
            </a:r>
            <a:r>
              <a:rPr lang="ru-RU" dirty="0" err="1"/>
              <a:t>співробітники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ділитися</a:t>
            </a:r>
            <a:r>
              <a:rPr lang="ru-RU" dirty="0"/>
              <a:t> </a:t>
            </a:r>
            <a:r>
              <a:rPr lang="ru-RU" dirty="0" err="1"/>
              <a:t>знаннями</a:t>
            </a:r>
            <a:r>
              <a:rPr lang="ru-RU" dirty="0"/>
              <a:t> і </a:t>
            </a:r>
            <a:r>
              <a:rPr lang="ru-RU" dirty="0" err="1"/>
              <a:t>тим</a:t>
            </a:r>
            <a:r>
              <a:rPr lang="ru-RU" dirty="0"/>
              <a:t> самим </a:t>
            </a:r>
            <a:r>
              <a:rPr lang="ru-RU" dirty="0" err="1"/>
              <a:t>оптимізувати</a:t>
            </a:r>
            <a:r>
              <a:rPr lang="ru-RU" dirty="0"/>
              <a:t> </a:t>
            </a:r>
            <a:r>
              <a:rPr lang="ru-RU" dirty="0" err="1"/>
              <a:t>тривалість</a:t>
            </a:r>
            <a:r>
              <a:rPr lang="ru-RU" dirty="0"/>
              <a:t> циклу. </a:t>
            </a:r>
            <a:r>
              <a:rPr lang="ru-RU" dirty="0" err="1"/>
              <a:t>Тоді</a:t>
            </a:r>
            <a:r>
              <a:rPr lang="ru-RU" dirty="0"/>
              <a:t> вся команда </a:t>
            </a:r>
            <a:r>
              <a:rPr lang="ru-RU" dirty="0" err="1"/>
              <a:t>зможе</a:t>
            </a:r>
            <a:r>
              <a:rPr lang="ru-RU" dirty="0"/>
              <a:t> </a:t>
            </a:r>
            <a:r>
              <a:rPr lang="ru-RU" dirty="0" err="1"/>
              <a:t>взятися</a:t>
            </a:r>
            <a:r>
              <a:rPr lang="ru-RU" dirty="0"/>
              <a:t> за роботу, яку </a:t>
            </a:r>
            <a:r>
              <a:rPr lang="ru-RU" dirty="0" err="1"/>
              <a:t>забуксувала</a:t>
            </a:r>
            <a:r>
              <a:rPr lang="ru-RU" dirty="0"/>
              <a:t>, і </a:t>
            </a:r>
            <a:r>
              <a:rPr lang="ru-RU" dirty="0" err="1"/>
              <a:t>відновити</a:t>
            </a:r>
            <a:r>
              <a:rPr lang="ru-RU" dirty="0"/>
              <a:t> </a:t>
            </a:r>
            <a:r>
              <a:rPr lang="ru-RU" dirty="0" err="1"/>
              <a:t>плавний</a:t>
            </a:r>
            <a:r>
              <a:rPr lang="ru-RU" dirty="0"/>
              <a:t> </a:t>
            </a:r>
            <a:r>
              <a:rPr lang="ru-RU" dirty="0" err="1"/>
              <a:t>потік</a:t>
            </a:r>
            <a:r>
              <a:rPr lang="ru-RU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err="1"/>
              <a:t>Менше</a:t>
            </a:r>
            <a:r>
              <a:rPr lang="ru-RU" dirty="0"/>
              <a:t> </a:t>
            </a:r>
            <a:r>
              <a:rPr lang="ru-RU" dirty="0" err="1"/>
              <a:t>вузьких</a:t>
            </a:r>
            <a:r>
              <a:rPr lang="ru-RU" dirty="0"/>
              <a:t> </a:t>
            </a:r>
            <a:r>
              <a:rPr lang="ru-RU" dirty="0" err="1"/>
              <a:t>місць</a:t>
            </a:r>
            <a:r>
              <a:rPr lang="ru-RU" dirty="0"/>
              <a:t>. </a:t>
            </a:r>
            <a:r>
              <a:rPr lang="ru-RU" dirty="0" err="1"/>
              <a:t>Ліміти</a:t>
            </a:r>
            <a:r>
              <a:rPr lang="ru-RU" dirty="0"/>
              <a:t> РВП </a:t>
            </a:r>
            <a:r>
              <a:rPr lang="ru-RU" dirty="0" err="1"/>
              <a:t>дозволяють</a:t>
            </a:r>
            <a:r>
              <a:rPr lang="ru-RU" dirty="0"/>
              <a:t> </a:t>
            </a:r>
            <a:r>
              <a:rPr lang="ru-RU" dirty="0" err="1"/>
              <a:t>швидко</a:t>
            </a:r>
            <a:r>
              <a:rPr lang="ru-RU" dirty="0"/>
              <a:t> </a:t>
            </a:r>
            <a:r>
              <a:rPr lang="ru-RU" dirty="0" err="1"/>
              <a:t>знаходити</a:t>
            </a:r>
            <a:r>
              <a:rPr lang="ru-RU" dirty="0"/>
              <a:t> </a:t>
            </a:r>
            <a:r>
              <a:rPr lang="ru-RU" dirty="0" err="1"/>
              <a:t>вузькі</a:t>
            </a:r>
            <a:r>
              <a:rPr lang="ru-RU" dirty="0"/>
              <a:t> і </a:t>
            </a:r>
            <a:r>
              <a:rPr lang="ru-RU" dirty="0" err="1"/>
              <a:t>проблемні</a:t>
            </a:r>
            <a:r>
              <a:rPr lang="ru-RU" dirty="0"/>
              <a:t> </a:t>
            </a:r>
            <a:r>
              <a:rPr lang="ru-RU" dirty="0" err="1"/>
              <a:t>місця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з’явилися</a:t>
            </a:r>
            <a:r>
              <a:rPr lang="ru-RU" dirty="0"/>
              <a:t> через </a:t>
            </a:r>
            <a:r>
              <a:rPr lang="ru-RU" dirty="0" err="1"/>
              <a:t>дефіцит</a:t>
            </a:r>
            <a:r>
              <a:rPr lang="ru-RU" dirty="0"/>
              <a:t> </a:t>
            </a:r>
            <a:r>
              <a:rPr lang="ru-RU" dirty="0" err="1"/>
              <a:t>уваги</a:t>
            </a:r>
            <a:r>
              <a:rPr lang="ru-RU" dirty="0"/>
              <a:t>, людей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навичок</a:t>
            </a:r>
            <a:r>
              <a:rPr lang="ru-RU" dirty="0"/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ru-RU" dirty="0" err="1"/>
              <a:t>Наочність</a:t>
            </a:r>
            <a:r>
              <a:rPr lang="ru-RU" dirty="0"/>
              <a:t>. Коли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виконавці</a:t>
            </a:r>
            <a:r>
              <a:rPr lang="ru-RU" dirty="0"/>
              <a:t> </a:t>
            </a:r>
            <a:r>
              <a:rPr lang="ru-RU" dirty="0" err="1"/>
              <a:t>мають</a:t>
            </a:r>
            <a:r>
              <a:rPr lang="ru-RU" dirty="0"/>
              <a:t> доступ до </a:t>
            </a:r>
            <a:r>
              <a:rPr lang="ru-RU" dirty="0" err="1"/>
              <a:t>даних</a:t>
            </a:r>
            <a:r>
              <a:rPr lang="ru-RU" dirty="0"/>
              <a:t>, то </a:t>
            </a:r>
            <a:r>
              <a:rPr lang="ru-RU" dirty="0" err="1"/>
              <a:t>вузькі</a:t>
            </a:r>
            <a:r>
              <a:rPr lang="ru-RU" dirty="0"/>
              <a:t> </a:t>
            </a:r>
            <a:r>
              <a:rPr lang="ru-RU" dirty="0" err="1"/>
              <a:t>місця</a:t>
            </a:r>
            <a:r>
              <a:rPr lang="ru-RU" dirty="0"/>
              <a:t> </a:t>
            </a:r>
            <a:r>
              <a:rPr lang="ru-RU" dirty="0" err="1"/>
              <a:t>легше</a:t>
            </a:r>
            <a:r>
              <a:rPr lang="ru-RU" dirty="0"/>
              <a:t> </a:t>
            </a:r>
            <a:r>
              <a:rPr lang="ru-RU" dirty="0" err="1"/>
              <a:t>помітити</a:t>
            </a:r>
            <a:r>
              <a:rPr lang="ru-RU" dirty="0"/>
              <a:t>. </a:t>
            </a:r>
            <a:r>
              <a:rPr lang="en-US" dirty="0"/>
              <a:t>Kanban-</a:t>
            </a:r>
            <a:r>
              <a:rPr lang="ru-RU" dirty="0" err="1"/>
              <a:t>команди</a:t>
            </a:r>
            <a:r>
              <a:rPr lang="ru-RU" dirty="0"/>
              <a:t>, </a:t>
            </a:r>
            <a:r>
              <a:rPr lang="ru-RU" dirty="0" err="1"/>
              <a:t>крім</a:t>
            </a:r>
            <a:r>
              <a:rPr lang="ru-RU" dirty="0"/>
              <a:t> самих </a:t>
            </a:r>
            <a:r>
              <a:rPr lang="ru-RU" dirty="0" err="1"/>
              <a:t>карток</a:t>
            </a:r>
            <a:r>
              <a:rPr lang="ru-RU" dirty="0"/>
              <a:t>,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використовують</a:t>
            </a:r>
            <a:r>
              <a:rPr lang="ru-RU" dirty="0"/>
              <a:t> два </a:t>
            </a:r>
            <a:r>
              <a:rPr lang="ru-RU" dirty="0" err="1"/>
              <a:t>загальних</a:t>
            </a:r>
            <a:r>
              <a:rPr lang="ru-RU" dirty="0"/>
              <a:t> </a:t>
            </a:r>
            <a:r>
              <a:rPr lang="ru-RU" dirty="0" err="1"/>
              <a:t>звіти</a:t>
            </a:r>
            <a:r>
              <a:rPr lang="ru-RU" dirty="0"/>
              <a:t>: </a:t>
            </a:r>
            <a:r>
              <a:rPr lang="ru-RU" dirty="0" err="1"/>
              <a:t>графіки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і </a:t>
            </a:r>
            <a:r>
              <a:rPr lang="ru-RU" dirty="0" err="1"/>
              <a:t>сукупного</a:t>
            </a:r>
            <a:r>
              <a:rPr lang="ru-RU" dirty="0"/>
              <a:t> потоку.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84941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Канбан</a:t>
            </a:r>
            <a:r>
              <a:rPr lang="ru-RU" dirty="0"/>
              <a:t> </a:t>
            </a:r>
            <a:r>
              <a:rPr lang="ru-RU" dirty="0" err="1"/>
              <a:t>має</a:t>
            </a:r>
            <a:r>
              <a:rPr lang="ru-RU" dirty="0"/>
              <a:t> і </a:t>
            </a:r>
            <a:r>
              <a:rPr lang="ru-RU" dirty="0" err="1"/>
              <a:t>недоліки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система погано </a:t>
            </a:r>
            <a:r>
              <a:rPr lang="ru-RU" dirty="0" err="1"/>
              <a:t>працює</a:t>
            </a:r>
            <a:r>
              <a:rPr lang="ru-RU" dirty="0"/>
              <a:t> з командами </a:t>
            </a:r>
            <a:r>
              <a:rPr lang="ru-RU" dirty="0" err="1"/>
              <a:t>чисельністю</a:t>
            </a:r>
            <a:r>
              <a:rPr lang="ru-RU" dirty="0"/>
              <a:t> </a:t>
            </a:r>
            <a:r>
              <a:rPr lang="ru-RU" dirty="0" err="1"/>
              <a:t>понад</a:t>
            </a:r>
            <a:r>
              <a:rPr lang="ru-RU" dirty="0"/>
              <a:t> 5 </a:t>
            </a:r>
            <a:r>
              <a:rPr lang="ru-RU" dirty="0" err="1"/>
              <a:t>осіб</a:t>
            </a:r>
            <a:endParaRPr lang="ru-RU" dirty="0"/>
          </a:p>
          <a:p>
            <a:r>
              <a:rPr lang="ru-RU" dirty="0" err="1"/>
              <a:t>він</a:t>
            </a:r>
            <a:r>
              <a:rPr lang="ru-RU" dirty="0"/>
              <a:t> не </a:t>
            </a:r>
            <a:r>
              <a:rPr lang="ru-RU" dirty="0" err="1"/>
              <a:t>призначений</a:t>
            </a:r>
            <a:r>
              <a:rPr lang="ru-RU" dirty="0"/>
              <a:t> для </a:t>
            </a:r>
            <a:r>
              <a:rPr lang="ru-RU" dirty="0" err="1"/>
              <a:t>довгострокового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101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546100"/>
            <a:ext cx="8229600" cy="1963738"/>
          </a:xfrm>
        </p:spPr>
        <p:txBody>
          <a:bodyPr/>
          <a:lstStyle/>
          <a:p>
            <a:r>
              <a:rPr lang="ru-RU" dirty="0" err="1"/>
              <a:t>Відмінності</a:t>
            </a:r>
            <a:r>
              <a:rPr lang="ru-RU" dirty="0"/>
              <a:t> КАНБАН </a:t>
            </a:r>
            <a:r>
              <a:rPr lang="ru-RU" dirty="0" err="1"/>
              <a:t>від</a:t>
            </a:r>
            <a:r>
              <a:rPr lang="ru-RU" dirty="0"/>
              <a:t> СКРАМ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2186751"/>
              </p:ext>
            </p:extLst>
          </p:nvPr>
        </p:nvGraphicFramePr>
        <p:xfrm>
          <a:off x="292100" y="692742"/>
          <a:ext cx="8750300" cy="5860458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639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8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21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772">
                <a:tc>
                  <a:txBody>
                    <a:bodyPr/>
                    <a:lstStyle/>
                    <a:p>
                      <a:pPr fontAlgn="t"/>
                      <a:endParaRPr lang="ru-RU" sz="2000" b="1" dirty="0">
                        <a:effectLst/>
                      </a:endParaRP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br>
                        <a:rPr lang="ru-RU" sz="2000" b="1" dirty="0">
                          <a:effectLst/>
                        </a:rPr>
                      </a:br>
                      <a:r>
                        <a:rPr lang="ru-RU" sz="2000" b="1" dirty="0" err="1">
                          <a:effectLst/>
                        </a:rPr>
                        <a:t>Скрам</a:t>
                      </a:r>
                      <a:endParaRPr lang="ru-RU" sz="2000" b="1" dirty="0">
                        <a:effectLst/>
                      </a:endParaRP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b="1" dirty="0" err="1">
                          <a:effectLst/>
                        </a:rPr>
                        <a:t>Канбан</a:t>
                      </a:r>
                      <a:endParaRPr lang="ru-RU" sz="2000" b="1" dirty="0">
                        <a:effectLst/>
                      </a:endParaRPr>
                    </a:p>
                  </a:txBody>
                  <a:tcPr marL="72609" marR="72609" marT="36305" marB="3630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772">
                <a:tc>
                  <a:txBody>
                    <a:bodyPr/>
                    <a:lstStyle/>
                    <a:p>
                      <a:pPr fontAlgn="t"/>
                      <a:r>
                        <a:rPr lang="ru-RU" sz="2000" b="1" dirty="0">
                          <a:effectLst/>
                        </a:rPr>
                        <a:t>Темп</a:t>
                      </a: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 err="1">
                          <a:effectLst/>
                        </a:rPr>
                        <a:t>Повторювані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спринти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фіксованої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тривалості</a:t>
                      </a:r>
                      <a:endParaRPr lang="ru-RU" sz="2000" dirty="0">
                        <a:effectLst/>
                      </a:endParaRP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effectLst/>
                        </a:rPr>
                        <a:t>Безперервний процес</a:t>
                      </a:r>
                    </a:p>
                  </a:txBody>
                  <a:tcPr marL="50423" marR="50423" marT="50423" marB="504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6937">
                <a:tc>
                  <a:txBody>
                    <a:bodyPr/>
                    <a:lstStyle/>
                    <a:p>
                      <a:pPr fontAlgn="t"/>
                      <a:r>
                        <a:rPr lang="ru-RU" sz="2000" b="1" dirty="0" err="1">
                          <a:effectLst/>
                        </a:rPr>
                        <a:t>Випуск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ru-RU" sz="2000" b="1" dirty="0" err="1">
                          <a:effectLst/>
                        </a:rPr>
                        <a:t>релізу</a:t>
                      </a:r>
                      <a:endParaRPr lang="ru-RU" sz="2000" b="1" dirty="0">
                        <a:effectLst/>
                      </a:endParaRP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В </a:t>
                      </a:r>
                      <a:r>
                        <a:rPr lang="ru-RU" sz="2000" dirty="0" err="1">
                          <a:effectLst/>
                        </a:rPr>
                        <a:t>кінці</a:t>
                      </a:r>
                      <a:r>
                        <a:rPr lang="ru-RU" sz="2000" dirty="0">
                          <a:effectLst/>
                        </a:rPr>
                        <a:t> кожного спринту </a:t>
                      </a:r>
                      <a:r>
                        <a:rPr lang="ru-RU" sz="2000" dirty="0" err="1">
                          <a:effectLst/>
                        </a:rPr>
                        <a:t>після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схвалення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проектним</a:t>
                      </a:r>
                      <a:r>
                        <a:rPr lang="ru-RU" sz="2000" dirty="0">
                          <a:effectLst/>
                        </a:rPr>
                        <a:t> менеджером (</a:t>
                      </a:r>
                      <a:r>
                        <a:rPr lang="ru-RU" sz="2000" dirty="0" err="1">
                          <a:effectLst/>
                        </a:rPr>
                        <a:t>власником</a:t>
                      </a:r>
                      <a:r>
                        <a:rPr lang="ru-RU" sz="2000" dirty="0">
                          <a:effectLst/>
                        </a:rPr>
                        <a:t> товару)</a:t>
                      </a: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 err="1">
                          <a:effectLst/>
                        </a:rPr>
                        <a:t>Потік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триває</a:t>
                      </a:r>
                      <a:r>
                        <a:rPr lang="ru-RU" sz="2000" dirty="0">
                          <a:effectLst/>
                        </a:rPr>
                        <a:t> без </a:t>
                      </a:r>
                      <a:r>
                        <a:rPr lang="ru-RU" sz="2000" dirty="0" err="1">
                          <a:effectLst/>
                        </a:rPr>
                        <a:t>перерв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або</a:t>
                      </a:r>
                      <a:r>
                        <a:rPr lang="ru-RU" sz="2000" dirty="0">
                          <a:effectLst/>
                        </a:rPr>
                        <a:t> на </a:t>
                      </a:r>
                      <a:r>
                        <a:rPr lang="ru-RU" sz="2000" dirty="0" err="1">
                          <a:effectLst/>
                        </a:rPr>
                        <a:t>розсуд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команди</a:t>
                      </a:r>
                      <a:endParaRPr lang="ru-RU" sz="2000" dirty="0">
                        <a:effectLst/>
                      </a:endParaRPr>
                    </a:p>
                  </a:txBody>
                  <a:tcPr marL="50423" marR="50423" marT="50423" marB="504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160">
                <a:tc>
                  <a:txBody>
                    <a:bodyPr/>
                    <a:lstStyle/>
                    <a:p>
                      <a:pPr fontAlgn="t"/>
                      <a:r>
                        <a:rPr lang="ru-RU" sz="2000" b="1" dirty="0" err="1">
                          <a:effectLst/>
                        </a:rPr>
                        <a:t>Ролі</a:t>
                      </a:r>
                      <a:endParaRPr lang="ru-RU" sz="2000" b="1" dirty="0">
                        <a:effectLst/>
                      </a:endParaRP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effectLst/>
                        </a:rPr>
                        <a:t>Власник продукту, Scrum-майстер, команда розробників</a:t>
                      </a: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>
                          <a:effectLst/>
                        </a:rPr>
                        <a:t>Команда </a:t>
                      </a:r>
                      <a:r>
                        <a:rPr lang="ru-RU" sz="2000" dirty="0" err="1">
                          <a:effectLst/>
                        </a:rPr>
                        <a:t>під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керівництвом</a:t>
                      </a:r>
                      <a:r>
                        <a:rPr lang="ru-RU" sz="2000" dirty="0">
                          <a:effectLst/>
                        </a:rPr>
                        <a:t> ПМ; в </a:t>
                      </a:r>
                      <a:r>
                        <a:rPr lang="ru-RU" sz="2000" dirty="0" err="1">
                          <a:effectLst/>
                        </a:rPr>
                        <a:t>деяких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випадках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залучаються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тренери</a:t>
                      </a:r>
                      <a:r>
                        <a:rPr lang="ru-RU" sz="2000" dirty="0">
                          <a:effectLst/>
                        </a:rPr>
                        <a:t> по </a:t>
                      </a:r>
                      <a:r>
                        <a:rPr lang="ru-RU" sz="2000" dirty="0" err="1">
                          <a:effectLst/>
                        </a:rPr>
                        <a:t>agile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kanban</a:t>
                      </a:r>
                      <a:endParaRPr lang="ru-RU" sz="2000" dirty="0">
                        <a:effectLst/>
                      </a:endParaRPr>
                    </a:p>
                  </a:txBody>
                  <a:tcPr marL="50423" marR="50423" marT="50423" marB="504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383">
                <a:tc>
                  <a:txBody>
                    <a:bodyPr/>
                    <a:lstStyle/>
                    <a:p>
                      <a:pPr fontAlgn="t"/>
                      <a:r>
                        <a:rPr lang="ru-RU" sz="2000" b="1" dirty="0" err="1">
                          <a:effectLst/>
                        </a:rPr>
                        <a:t>Головні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ru-RU" sz="2000" b="1" dirty="0" err="1">
                          <a:effectLst/>
                        </a:rPr>
                        <a:t>показники</a:t>
                      </a:r>
                      <a:endParaRPr lang="ru-RU" sz="2000" b="1" dirty="0">
                        <a:effectLst/>
                      </a:endParaRP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effectLst/>
                        </a:rPr>
                        <a:t>Швидкість команди</a:t>
                      </a: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 err="1">
                          <a:effectLst/>
                        </a:rPr>
                        <a:t>Провідний</a:t>
                      </a:r>
                      <a:r>
                        <a:rPr lang="ru-RU" sz="2000" dirty="0">
                          <a:effectLst/>
                        </a:rPr>
                        <a:t> час</a:t>
                      </a:r>
                    </a:p>
                  </a:txBody>
                  <a:tcPr marL="50423" marR="50423" marT="50423" marB="504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6937">
                <a:tc>
                  <a:txBody>
                    <a:bodyPr/>
                    <a:lstStyle/>
                    <a:p>
                      <a:pPr fontAlgn="t"/>
                      <a:r>
                        <a:rPr lang="ru-RU" sz="2000" b="1" dirty="0" err="1">
                          <a:effectLst/>
                        </a:rPr>
                        <a:t>Щодо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ru-RU" sz="2000" b="1" dirty="0" err="1">
                          <a:effectLst/>
                        </a:rPr>
                        <a:t>прийнятності</a:t>
                      </a:r>
                      <a:r>
                        <a:rPr lang="ru-RU" sz="2000" b="1" dirty="0">
                          <a:effectLst/>
                        </a:rPr>
                        <a:t> </a:t>
                      </a:r>
                      <a:r>
                        <a:rPr lang="ru-RU" sz="2000" b="1" dirty="0" err="1">
                          <a:effectLst/>
                        </a:rPr>
                        <a:t>змін</a:t>
                      </a:r>
                      <a:endParaRPr lang="ru-RU" sz="2000" b="1" dirty="0">
                        <a:effectLst/>
                      </a:endParaRP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>
                          <a:effectLst/>
                        </a:rPr>
                        <a:t>У ході спринту зміни небажані, так як можуть привести до невірної оцінки задач</a:t>
                      </a:r>
                    </a:p>
                  </a:txBody>
                  <a:tcPr marL="50423" marR="50423" marT="50423" marB="50423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ru-RU" sz="2000" dirty="0" err="1">
                          <a:effectLst/>
                        </a:rPr>
                        <a:t>Зміни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можуть</a:t>
                      </a:r>
                      <a:r>
                        <a:rPr lang="ru-RU" sz="2000" dirty="0">
                          <a:effectLst/>
                        </a:rPr>
                        <a:t> </a:t>
                      </a:r>
                      <a:r>
                        <a:rPr lang="ru-RU" sz="2000" dirty="0" err="1">
                          <a:effectLst/>
                        </a:rPr>
                        <a:t>трапитися</a:t>
                      </a:r>
                      <a:r>
                        <a:rPr lang="ru-RU" sz="2000" dirty="0">
                          <a:effectLst/>
                        </a:rPr>
                        <a:t> в будь-</a:t>
                      </a:r>
                      <a:r>
                        <a:rPr lang="ru-RU" sz="2000" dirty="0" err="1">
                          <a:effectLst/>
                        </a:rPr>
                        <a:t>який</a:t>
                      </a:r>
                      <a:r>
                        <a:rPr lang="ru-RU" sz="2000" dirty="0">
                          <a:effectLst/>
                        </a:rPr>
                        <a:t> момент</a:t>
                      </a:r>
                    </a:p>
                  </a:txBody>
                  <a:tcPr marL="50423" marR="50423" marT="50423" marB="504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9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511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Програми</a:t>
            </a:r>
            <a:r>
              <a:rPr lang="ru-RU" b="1" dirty="0"/>
              <a:t> та </a:t>
            </a:r>
            <a:r>
              <a:rPr lang="ru-RU" b="1" dirty="0" err="1"/>
              <a:t>програми</a:t>
            </a:r>
            <a:r>
              <a:rPr lang="ru-RU" b="1" dirty="0"/>
              <a:t> для КАНБАН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7560" y="1206500"/>
            <a:ext cx="6896640" cy="3691731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57200" y="5091429"/>
            <a:ext cx="83439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/>
              <a:t>Популярна система </a:t>
            </a:r>
            <a:r>
              <a:rPr lang="ru-RU" sz="2800" dirty="0" err="1"/>
              <a:t>канбан</a:t>
            </a:r>
            <a:r>
              <a:rPr lang="ru-RU" sz="2800" dirty="0"/>
              <a:t> для </a:t>
            </a:r>
            <a:r>
              <a:rPr lang="ru-RU" sz="2800" dirty="0" err="1"/>
              <a:t>управління</a:t>
            </a:r>
            <a:r>
              <a:rPr lang="ru-RU" sz="2800" dirty="0"/>
              <a:t> задачами. </a:t>
            </a:r>
            <a:r>
              <a:rPr lang="ru-RU" sz="2800" dirty="0" err="1"/>
              <a:t>Відрізняється</a:t>
            </a:r>
            <a:r>
              <a:rPr lang="ru-RU" sz="2800" dirty="0"/>
              <a:t> </a:t>
            </a:r>
            <a:r>
              <a:rPr lang="ru-RU" sz="2800" dirty="0" err="1"/>
              <a:t>візуальною</a:t>
            </a:r>
            <a:r>
              <a:rPr lang="ru-RU" sz="2800" dirty="0"/>
              <a:t> </a:t>
            </a:r>
            <a:r>
              <a:rPr lang="ru-RU" sz="2800" dirty="0" err="1"/>
              <a:t>привабливістю</a:t>
            </a:r>
            <a:r>
              <a:rPr lang="ru-RU" sz="2800" dirty="0"/>
              <a:t> і </a:t>
            </a:r>
            <a:r>
              <a:rPr lang="ru-RU" sz="2800" dirty="0" err="1"/>
              <a:t>зручним</a:t>
            </a:r>
            <a:r>
              <a:rPr lang="ru-RU" sz="2800" dirty="0"/>
              <a:t> </a:t>
            </a:r>
            <a:r>
              <a:rPr lang="ru-RU" sz="2800" dirty="0" err="1"/>
              <a:t>інтерфейсом</a:t>
            </a:r>
            <a:r>
              <a:rPr lang="ru-RU" sz="2800" dirty="0"/>
              <a:t>. </a:t>
            </a:r>
            <a:r>
              <a:rPr lang="ru-RU" sz="2800" dirty="0" err="1"/>
              <a:t>Користувачі</a:t>
            </a:r>
            <a:r>
              <a:rPr lang="ru-RU" sz="2800" dirty="0"/>
              <a:t> </a:t>
            </a:r>
            <a:r>
              <a:rPr lang="ru-RU" sz="2800" dirty="0" err="1"/>
              <a:t>відзначають</a:t>
            </a:r>
            <a:r>
              <a:rPr lang="ru-RU" sz="2800" dirty="0"/>
              <a:t> </a:t>
            </a:r>
            <a:r>
              <a:rPr lang="ru-RU" sz="2800" dirty="0" err="1"/>
              <a:t>його</a:t>
            </a:r>
            <a:r>
              <a:rPr lang="ru-RU" sz="2800" dirty="0"/>
              <a:t> </a:t>
            </a:r>
            <a:r>
              <a:rPr lang="ru-RU" sz="2800" dirty="0" err="1"/>
              <a:t>супергнучкість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369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Kanbantool</a:t>
            </a:r>
            <a:br>
              <a:rPr lang="en-US" b="1" dirty="0"/>
            </a:br>
            <a:endParaRPr lang="ru-RU" dirty="0"/>
          </a:p>
        </p:txBody>
      </p:sp>
      <p:pic>
        <p:nvPicPr>
          <p:cNvPr id="3074" name="Picture 2" descr="Kanbantoo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013" y="1023938"/>
            <a:ext cx="8201973" cy="350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774700" y="5315635"/>
            <a:ext cx="78982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/>
              <a:t>Безкоштовна</a:t>
            </a:r>
            <a:r>
              <a:rPr lang="ru-RU" sz="2800" dirty="0"/>
              <a:t> </a:t>
            </a:r>
            <a:r>
              <a:rPr lang="ru-RU" sz="2800" dirty="0" err="1"/>
              <a:t>дошка</a:t>
            </a:r>
            <a:r>
              <a:rPr lang="ru-RU" sz="2800" dirty="0"/>
              <a:t> для </a:t>
            </a:r>
            <a:r>
              <a:rPr lang="ru-RU" sz="2800" dirty="0" err="1"/>
              <a:t>двох</a:t>
            </a:r>
            <a:r>
              <a:rPr lang="ru-RU" sz="2800" dirty="0"/>
              <a:t> </a:t>
            </a:r>
            <a:r>
              <a:rPr lang="ru-RU" sz="2800" dirty="0" err="1"/>
              <a:t>користувачів</a:t>
            </a:r>
            <a:r>
              <a:rPr lang="ru-RU" sz="2800" dirty="0"/>
              <a:t>. </a:t>
            </a:r>
            <a:r>
              <a:rPr lang="ru-RU" sz="2800" dirty="0" err="1"/>
              <a:t>Підтримка</a:t>
            </a:r>
            <a:r>
              <a:rPr lang="ru-RU" sz="2800" dirty="0"/>
              <a:t> </a:t>
            </a:r>
            <a:r>
              <a:rPr lang="en-US" sz="2800" dirty="0"/>
              <a:t>API </a:t>
            </a:r>
            <a:r>
              <a:rPr lang="ru-RU" sz="2800" dirty="0"/>
              <a:t>і </a:t>
            </a:r>
            <a:r>
              <a:rPr lang="en-US" sz="2800" dirty="0"/>
              <a:t>touch-</a:t>
            </a:r>
            <a:r>
              <a:rPr lang="ru-RU" sz="2800" dirty="0" err="1"/>
              <a:t>інтерфейсів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027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81062"/>
          </a:xfrm>
        </p:spPr>
        <p:txBody>
          <a:bodyPr>
            <a:normAutofit/>
          </a:bodyPr>
          <a:lstStyle/>
          <a:p>
            <a:r>
              <a:rPr lang="en-US" b="1" dirty="0"/>
              <a:t>Lean Kit Kanban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1155700"/>
            <a:ext cx="7823200" cy="4038152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71500" y="5368836"/>
            <a:ext cx="81153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/>
              <a:t>Безкоштовна</a:t>
            </a:r>
            <a:r>
              <a:rPr lang="ru-RU" sz="2800" dirty="0"/>
              <a:t> </a:t>
            </a:r>
            <a:r>
              <a:rPr lang="ru-RU" sz="2800" dirty="0" err="1"/>
              <a:t>дошка</a:t>
            </a:r>
            <a:r>
              <a:rPr lang="ru-RU" sz="2800" dirty="0"/>
              <a:t> для </a:t>
            </a:r>
            <a:r>
              <a:rPr lang="ru-RU" sz="2800" dirty="0" err="1"/>
              <a:t>п’яти</a:t>
            </a:r>
            <a:r>
              <a:rPr lang="ru-RU" sz="2800" dirty="0"/>
              <a:t> </a:t>
            </a:r>
            <a:r>
              <a:rPr lang="ru-RU" sz="2800" dirty="0" err="1"/>
              <a:t>користувачів</a:t>
            </a:r>
            <a:r>
              <a:rPr lang="ru-RU" sz="2800" dirty="0"/>
              <a:t> з гарною </a:t>
            </a:r>
            <a:r>
              <a:rPr lang="ru-RU" sz="2800" dirty="0" err="1"/>
              <a:t>реалізацією</a:t>
            </a:r>
            <a:r>
              <a:rPr lang="ru-RU" sz="2800" dirty="0"/>
              <a:t> </a:t>
            </a:r>
            <a:r>
              <a:rPr lang="ru-RU" sz="2800" dirty="0" err="1"/>
              <a:t>спільної</a:t>
            </a:r>
            <a:r>
              <a:rPr lang="ru-RU" sz="2800" dirty="0"/>
              <a:t> </a:t>
            </a:r>
            <a:r>
              <a:rPr lang="ru-RU" sz="2800" dirty="0" err="1"/>
              <a:t>роботи</a:t>
            </a:r>
            <a:r>
              <a:rPr lang="ru-RU" sz="2800" dirty="0"/>
              <a:t>. </a:t>
            </a:r>
            <a:r>
              <a:rPr lang="ru-RU" sz="2800" dirty="0" err="1"/>
              <a:t>Підтримка</a:t>
            </a:r>
            <a:r>
              <a:rPr lang="ru-RU" sz="2800" dirty="0"/>
              <a:t> </a:t>
            </a:r>
            <a:r>
              <a:rPr lang="en-US" sz="2800" dirty="0"/>
              <a:t>API </a:t>
            </a:r>
            <a:r>
              <a:rPr lang="ru-RU" sz="2800" dirty="0"/>
              <a:t>і </a:t>
            </a:r>
            <a:r>
              <a:rPr lang="ru-RU" sz="2800" dirty="0" err="1"/>
              <a:t>можливість</a:t>
            </a:r>
            <a:r>
              <a:rPr lang="ru-RU" sz="2800" dirty="0"/>
              <a:t> </a:t>
            </a:r>
            <a:r>
              <a:rPr lang="ru-RU" sz="2800" dirty="0" err="1"/>
              <a:t>імпорту</a:t>
            </a:r>
            <a:r>
              <a:rPr lang="ru-RU" sz="2800" dirty="0"/>
              <a:t>/</a:t>
            </a:r>
            <a:r>
              <a:rPr lang="ru-RU" sz="2800" dirty="0" err="1"/>
              <a:t>експорту</a:t>
            </a:r>
            <a:r>
              <a:rPr lang="ru-RU" sz="2800" dirty="0"/>
              <a:t>, широка статистика.</a:t>
            </a:r>
          </a:p>
        </p:txBody>
      </p:sp>
    </p:spTree>
    <p:extLst>
      <p:ext uri="{BB962C8B-B14F-4D97-AF65-F5344CB8AC3E}">
        <p14:creationId xmlns:p14="http://schemas.microsoft.com/office/powerpoint/2010/main" val="6167746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Kanbanize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00" y="1189831"/>
            <a:ext cx="8432800" cy="481165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8900" y="5457041"/>
            <a:ext cx="85979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/>
              <a:t>Повністю</a:t>
            </a:r>
            <a:r>
              <a:rPr lang="ru-RU" sz="2800" dirty="0"/>
              <a:t> </a:t>
            </a:r>
            <a:r>
              <a:rPr lang="ru-RU" sz="2800" dirty="0" err="1"/>
              <a:t>безкоштовний</a:t>
            </a:r>
            <a:r>
              <a:rPr lang="ru-RU" sz="2800" dirty="0"/>
              <a:t> </a:t>
            </a:r>
            <a:r>
              <a:rPr lang="ru-RU" sz="2800" dirty="0" err="1"/>
              <a:t>сервіс</a:t>
            </a:r>
            <a:r>
              <a:rPr lang="ru-RU" sz="2800" dirty="0"/>
              <a:t> з достойною </a:t>
            </a:r>
            <a:r>
              <a:rPr lang="ru-RU" sz="2800" dirty="0" err="1"/>
              <a:t>функціональністю</a:t>
            </a:r>
            <a:r>
              <a:rPr lang="ru-RU" sz="2800" dirty="0"/>
              <a:t>. </a:t>
            </a:r>
            <a:r>
              <a:rPr lang="ru-RU" sz="2800" dirty="0" err="1"/>
              <a:t>Його</a:t>
            </a:r>
            <a:r>
              <a:rPr lang="ru-RU" sz="2800" dirty="0"/>
              <a:t> </a:t>
            </a:r>
            <a:r>
              <a:rPr lang="ru-RU" sz="2800" dirty="0" err="1"/>
              <a:t>власники</a:t>
            </a:r>
            <a:r>
              <a:rPr lang="ru-RU" sz="2800" dirty="0"/>
              <a:t> </a:t>
            </a:r>
            <a:r>
              <a:rPr lang="ru-RU" sz="2800" dirty="0" err="1"/>
              <a:t>гарантують</a:t>
            </a:r>
            <a:r>
              <a:rPr lang="ru-RU" sz="2800" dirty="0"/>
              <a:t> </a:t>
            </a:r>
            <a:r>
              <a:rPr lang="ru-RU" sz="2800" dirty="0" err="1"/>
              <a:t>приріст</a:t>
            </a:r>
            <a:r>
              <a:rPr lang="ru-RU" sz="2800" dirty="0"/>
              <a:t> в </a:t>
            </a:r>
            <a:r>
              <a:rPr lang="ru-RU" sz="2800" dirty="0" err="1"/>
              <a:t>продуктивності</a:t>
            </a:r>
            <a:r>
              <a:rPr lang="ru-RU" sz="2800" dirty="0"/>
              <a:t> на 300% при </a:t>
            </a:r>
            <a:r>
              <a:rPr lang="ru-RU" sz="2800" dirty="0" err="1"/>
              <a:t>використанні</a:t>
            </a:r>
            <a:r>
              <a:rPr lang="ru-RU" sz="2800" dirty="0"/>
              <a:t> </a:t>
            </a:r>
            <a:r>
              <a:rPr lang="ru-RU" sz="2800" dirty="0" err="1"/>
              <a:t>їх</a:t>
            </a:r>
            <a:r>
              <a:rPr lang="ru-RU" sz="2800" dirty="0"/>
              <a:t> продукту.</a:t>
            </a:r>
          </a:p>
        </p:txBody>
      </p:sp>
    </p:spTree>
    <p:extLst>
      <p:ext uri="{BB962C8B-B14F-4D97-AF65-F5344CB8AC3E}">
        <p14:creationId xmlns:p14="http://schemas.microsoft.com/office/powerpoint/2010/main" val="36896374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Підсумки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err="1"/>
              <a:t>Канбан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практика, яка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досягти</a:t>
            </a:r>
            <a:r>
              <a:rPr lang="ru-RU" dirty="0"/>
              <a:t> </a:t>
            </a:r>
            <a:r>
              <a:rPr lang="ru-RU" dirty="0" err="1"/>
              <a:t>успіху</a:t>
            </a:r>
            <a:r>
              <a:rPr lang="ru-RU" dirty="0"/>
              <a:t>, при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гнучких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 є </a:t>
            </a:r>
            <a:r>
              <a:rPr lang="ru-RU" dirty="0" err="1"/>
              <a:t>необов’язковим</a:t>
            </a:r>
            <a:r>
              <a:rPr lang="ru-RU" dirty="0"/>
              <a:t>. </a:t>
            </a:r>
            <a:r>
              <a:rPr lang="ru-RU" dirty="0" err="1"/>
              <a:t>Важливі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досягаються</a:t>
            </a:r>
            <a:r>
              <a:rPr lang="ru-RU" dirty="0"/>
              <a:t>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виключенню</a:t>
            </a:r>
            <a:r>
              <a:rPr lang="ru-RU" dirty="0"/>
              <a:t> </a:t>
            </a:r>
            <a:r>
              <a:rPr lang="ru-RU" dirty="0" err="1"/>
              <a:t>втрат</a:t>
            </a:r>
            <a:r>
              <a:rPr lang="ru-RU" dirty="0"/>
              <a:t> часу,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вузькими</a:t>
            </a:r>
            <a:r>
              <a:rPr lang="ru-RU" dirty="0"/>
              <a:t> </a:t>
            </a:r>
            <a:r>
              <a:rPr lang="ru-RU" dirty="0" err="1"/>
              <a:t>місцями</a:t>
            </a:r>
            <a:r>
              <a:rPr lang="ru-RU" dirty="0"/>
              <a:t> і </a:t>
            </a:r>
            <a:r>
              <a:rPr lang="ru-RU" dirty="0" err="1"/>
              <a:t>зниження</a:t>
            </a:r>
            <a:r>
              <a:rPr lang="ru-RU" dirty="0"/>
              <a:t> </a:t>
            </a:r>
            <a:r>
              <a:rPr lang="ru-RU" dirty="0" err="1"/>
              <a:t>варіативності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Однак</a:t>
            </a:r>
            <a:r>
              <a:rPr lang="ru-RU" dirty="0"/>
              <a:t> </a:t>
            </a:r>
            <a:r>
              <a:rPr lang="ru-RU" dirty="0" err="1"/>
              <a:t>успішні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вимагають</a:t>
            </a:r>
            <a:r>
              <a:rPr lang="ru-RU" dirty="0"/>
              <a:t> часу. Вони </a:t>
            </a:r>
            <a:r>
              <a:rPr lang="ru-RU" dirty="0" err="1"/>
              <a:t>проходять</a:t>
            </a:r>
            <a:r>
              <a:rPr lang="ru-RU" dirty="0"/>
              <a:t> </a:t>
            </a:r>
            <a:r>
              <a:rPr lang="ru-RU" dirty="0" err="1"/>
              <a:t>поступово</a:t>
            </a:r>
            <a:r>
              <a:rPr lang="ru-RU" dirty="0"/>
              <a:t>, при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опір</a:t>
            </a:r>
            <a:r>
              <a:rPr lang="ru-RU" dirty="0"/>
              <a:t> </a:t>
            </a:r>
            <a:r>
              <a:rPr lang="ru-RU" dirty="0" err="1"/>
              <a:t>команди</a:t>
            </a:r>
            <a:r>
              <a:rPr lang="ru-RU" dirty="0"/>
              <a:t> </a:t>
            </a:r>
            <a:r>
              <a:rPr lang="ru-RU" dirty="0" err="1"/>
              <a:t>нововведенням</a:t>
            </a:r>
            <a:r>
              <a:rPr lang="ru-RU" dirty="0"/>
              <a:t> — </a:t>
            </a:r>
            <a:r>
              <a:rPr lang="ru-RU" dirty="0" err="1"/>
              <a:t>мінімальний</a:t>
            </a:r>
            <a:r>
              <a:rPr lang="ru-RU" dirty="0"/>
              <a:t>. </a:t>
            </a:r>
            <a:r>
              <a:rPr lang="ru-RU" dirty="0" err="1"/>
              <a:t>Канбан</a:t>
            </a:r>
            <a:r>
              <a:rPr lang="ru-RU" dirty="0"/>
              <a:t>-система </a:t>
            </a:r>
            <a:r>
              <a:rPr lang="ru-RU" dirty="0" err="1"/>
              <a:t>мотивує</a:t>
            </a:r>
            <a:r>
              <a:rPr lang="ru-RU" dirty="0"/>
              <a:t> персонал </a:t>
            </a:r>
            <a:r>
              <a:rPr lang="ru-RU" dirty="0" err="1"/>
              <a:t>вдосконалюватися</a:t>
            </a:r>
            <a:r>
              <a:rPr lang="ru-RU" dirty="0"/>
              <a:t> без </a:t>
            </a:r>
            <a:r>
              <a:rPr lang="ru-RU" dirty="0" err="1"/>
              <a:t>змін</a:t>
            </a:r>
            <a:r>
              <a:rPr lang="ru-RU" dirty="0"/>
              <a:t> в </a:t>
            </a:r>
            <a:r>
              <a:rPr lang="ru-RU" dirty="0" err="1"/>
              <a:t>інженерних</a:t>
            </a:r>
            <a:r>
              <a:rPr lang="ru-RU" dirty="0"/>
              <a:t> методах.</a:t>
            </a:r>
          </a:p>
        </p:txBody>
      </p:sp>
    </p:spTree>
    <p:extLst>
      <p:ext uri="{BB962C8B-B14F-4D97-AF65-F5344CB8AC3E}">
        <p14:creationId xmlns:p14="http://schemas.microsoft.com/office/powerpoint/2010/main" val="1749271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Як вибрати методологію?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dirty="0" err="1"/>
              <a:t>Фактори</a:t>
            </a:r>
            <a:r>
              <a:rPr dirty="0"/>
              <a:t>, </a:t>
            </a:r>
            <a:r>
              <a:rPr dirty="0" err="1"/>
              <a:t>які</a:t>
            </a:r>
            <a:r>
              <a:rPr dirty="0"/>
              <a:t> </a:t>
            </a:r>
            <a:r>
              <a:rPr dirty="0" err="1"/>
              <a:t>впливають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вибір</a:t>
            </a:r>
            <a:r>
              <a:rPr dirty="0"/>
              <a:t> </a:t>
            </a:r>
            <a:r>
              <a:rPr dirty="0" err="1"/>
              <a:t>методології</a:t>
            </a:r>
            <a:r>
              <a:rPr dirty="0"/>
              <a:t>: </a:t>
            </a:r>
            <a:r>
              <a:rPr dirty="0" err="1"/>
              <a:t>розмір</a:t>
            </a:r>
            <a:r>
              <a:rPr dirty="0"/>
              <a:t> </a:t>
            </a:r>
            <a:r>
              <a:rPr dirty="0" err="1"/>
              <a:t>проекту</a:t>
            </a:r>
            <a:r>
              <a:rPr dirty="0"/>
              <a:t>, </a:t>
            </a:r>
            <a:r>
              <a:rPr dirty="0" err="1"/>
              <a:t>складність</a:t>
            </a:r>
            <a:r>
              <a:rPr dirty="0"/>
              <a:t>, </a:t>
            </a:r>
            <a:r>
              <a:rPr dirty="0" err="1"/>
              <a:t>кількість</a:t>
            </a:r>
            <a:r>
              <a:rPr dirty="0"/>
              <a:t> </a:t>
            </a:r>
            <a:r>
              <a:rPr dirty="0" err="1"/>
              <a:t>зацікавлених</a:t>
            </a:r>
            <a:r>
              <a:rPr dirty="0"/>
              <a:t> </a:t>
            </a:r>
            <a:r>
              <a:rPr dirty="0" err="1"/>
              <a:t>сторін</a:t>
            </a:r>
            <a:r>
              <a:rPr dirty="0"/>
              <a:t>, </a:t>
            </a:r>
            <a:r>
              <a:rPr dirty="0" err="1"/>
              <a:t>рівень</a:t>
            </a:r>
            <a:r>
              <a:rPr dirty="0"/>
              <a:t> </a:t>
            </a:r>
            <a:r>
              <a:rPr dirty="0" err="1"/>
              <a:t>невизначеності</a:t>
            </a:r>
            <a:r>
              <a:rPr dirty="0"/>
              <a:t> </a:t>
            </a:r>
            <a:r>
              <a:rPr dirty="0" err="1"/>
              <a:t>вимог</a:t>
            </a:r>
            <a:r>
              <a:rPr dirty="0"/>
              <a:t>. </a:t>
            </a:r>
            <a:r>
              <a:rPr dirty="0" err="1"/>
              <a:t>Приклад</a:t>
            </a:r>
            <a:r>
              <a:rPr dirty="0"/>
              <a:t>: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великого</a:t>
            </a:r>
            <a:r>
              <a:rPr dirty="0"/>
              <a:t> </a:t>
            </a:r>
            <a:r>
              <a:rPr dirty="0" err="1"/>
              <a:t>корпоративного</a:t>
            </a:r>
            <a:r>
              <a:rPr dirty="0"/>
              <a:t> </a:t>
            </a:r>
            <a:r>
              <a:rPr dirty="0" err="1"/>
              <a:t>проекту</a:t>
            </a:r>
            <a:r>
              <a:rPr dirty="0"/>
              <a:t> </a:t>
            </a:r>
            <a:r>
              <a:rPr dirty="0" err="1"/>
              <a:t>може</a:t>
            </a:r>
            <a:r>
              <a:rPr dirty="0"/>
              <a:t> </a:t>
            </a:r>
            <a:r>
              <a:rPr dirty="0" err="1"/>
              <a:t>підходити</a:t>
            </a:r>
            <a:r>
              <a:rPr dirty="0"/>
              <a:t> </a:t>
            </a:r>
            <a:r>
              <a:rPr dirty="0" err="1"/>
              <a:t>Водоспад</a:t>
            </a:r>
            <a:r>
              <a:rPr dirty="0"/>
              <a:t>, </a:t>
            </a:r>
            <a:r>
              <a:rPr dirty="0" err="1"/>
              <a:t>тоді</a:t>
            </a:r>
            <a:r>
              <a:rPr dirty="0"/>
              <a:t> </a:t>
            </a: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стартапу</a:t>
            </a:r>
            <a:r>
              <a:rPr dirty="0"/>
              <a:t> — Agile.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 Методологія </a:t>
            </a:r>
            <a:r>
              <a:rPr lang="en-US" dirty="0"/>
              <a:t>RUP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" y="1383477"/>
            <a:ext cx="4525963" cy="452596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716463" y="1225689"/>
            <a:ext cx="397033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Rational Unified Process (RUP) — </a:t>
            </a:r>
            <a:r>
              <a:rPr lang="ru-RU" sz="2400" dirty="0" err="1"/>
              <a:t>це</a:t>
            </a:r>
            <a:r>
              <a:rPr lang="ru-RU" sz="2400" dirty="0"/>
              <a:t> </a:t>
            </a:r>
            <a:r>
              <a:rPr lang="ru-RU" sz="2400" dirty="0" err="1"/>
              <a:t>ітераційна</a:t>
            </a:r>
            <a:r>
              <a:rPr lang="ru-RU" sz="2400" dirty="0"/>
              <a:t> </a:t>
            </a:r>
            <a:r>
              <a:rPr lang="ru-RU" sz="2400" dirty="0" err="1"/>
              <a:t>методологія</a:t>
            </a:r>
            <a:r>
              <a:rPr lang="ru-RU" sz="2400" dirty="0"/>
              <a:t> </a:t>
            </a:r>
            <a:r>
              <a:rPr lang="ru-RU" sz="2400" dirty="0" err="1"/>
              <a:t>розробки</a:t>
            </a:r>
            <a:r>
              <a:rPr lang="ru-RU" sz="2400" dirty="0"/>
              <a:t> </a:t>
            </a:r>
            <a:r>
              <a:rPr lang="ru-RU" sz="2400" dirty="0" err="1"/>
              <a:t>програмного</a:t>
            </a:r>
            <a:r>
              <a:rPr lang="ru-RU" sz="2400" dirty="0"/>
              <a:t> </a:t>
            </a:r>
            <a:r>
              <a:rPr lang="ru-RU" sz="2400" dirty="0" err="1"/>
              <a:t>забезпечення</a:t>
            </a:r>
            <a:r>
              <a:rPr lang="ru-RU" sz="2400" dirty="0"/>
              <a:t>, яка </a:t>
            </a:r>
            <a:r>
              <a:rPr lang="ru-RU" sz="2400" dirty="0" err="1"/>
              <a:t>надає</a:t>
            </a:r>
            <a:r>
              <a:rPr lang="ru-RU" sz="2400" dirty="0"/>
              <a:t> </a:t>
            </a:r>
            <a:r>
              <a:rPr lang="ru-RU" sz="2400" dirty="0" err="1"/>
              <a:t>структурований</a:t>
            </a:r>
            <a:r>
              <a:rPr lang="ru-RU" sz="2400" dirty="0"/>
              <a:t> </a:t>
            </a:r>
            <a:r>
              <a:rPr lang="ru-RU" sz="2400" dirty="0" err="1"/>
              <a:t>підхід</a:t>
            </a:r>
            <a:r>
              <a:rPr lang="ru-RU" sz="2400" dirty="0"/>
              <a:t> до </a:t>
            </a:r>
            <a:r>
              <a:rPr lang="ru-RU" sz="2400" dirty="0" err="1"/>
              <a:t>проектування</a:t>
            </a:r>
            <a:r>
              <a:rPr lang="ru-RU" sz="2400" dirty="0"/>
              <a:t> систем. </a:t>
            </a:r>
            <a:r>
              <a:rPr lang="en-US" sz="2400" dirty="0"/>
              <a:t>RUP </a:t>
            </a:r>
            <a:r>
              <a:rPr lang="ru-RU" sz="2400" dirty="0" err="1"/>
              <a:t>розроблений</a:t>
            </a:r>
            <a:r>
              <a:rPr lang="ru-RU" sz="2400" dirty="0"/>
              <a:t> </a:t>
            </a:r>
            <a:r>
              <a:rPr lang="ru-RU" sz="2400" dirty="0" err="1"/>
              <a:t>компанією</a:t>
            </a:r>
            <a:r>
              <a:rPr lang="ru-RU" sz="2400" dirty="0"/>
              <a:t> </a:t>
            </a:r>
            <a:r>
              <a:rPr lang="en-US" sz="2400" dirty="0"/>
              <a:t>Rational Software, </a:t>
            </a:r>
            <a:r>
              <a:rPr lang="ru-RU" sz="2400" dirty="0"/>
              <a:t>яка зараз є </a:t>
            </a:r>
            <a:r>
              <a:rPr lang="ru-RU" sz="2400" dirty="0" err="1"/>
              <a:t>частиною</a:t>
            </a:r>
            <a:r>
              <a:rPr lang="ru-RU" sz="2400" dirty="0"/>
              <a:t> </a:t>
            </a:r>
            <a:r>
              <a:rPr lang="en-US" sz="2400" dirty="0"/>
              <a:t>IBM. </a:t>
            </a:r>
            <a:r>
              <a:rPr lang="ru-RU" sz="2400" dirty="0" err="1"/>
              <a:t>Ця</a:t>
            </a:r>
            <a:r>
              <a:rPr lang="ru-RU" sz="2400" dirty="0"/>
              <a:t> </a:t>
            </a:r>
            <a:r>
              <a:rPr lang="ru-RU" sz="2400" dirty="0" err="1"/>
              <a:t>методологія</a:t>
            </a:r>
            <a:r>
              <a:rPr lang="ru-RU" sz="2400" dirty="0"/>
              <a:t> </a:t>
            </a:r>
            <a:r>
              <a:rPr lang="ru-RU" sz="2400" dirty="0" err="1"/>
              <a:t>об'єднує</a:t>
            </a:r>
            <a:r>
              <a:rPr lang="ru-RU" sz="2400" dirty="0"/>
              <a:t> </a:t>
            </a:r>
            <a:r>
              <a:rPr lang="ru-RU" sz="2400" dirty="0" err="1"/>
              <a:t>кращі</a:t>
            </a:r>
            <a:r>
              <a:rPr lang="ru-RU" sz="2400" dirty="0"/>
              <a:t> практики </a:t>
            </a:r>
            <a:r>
              <a:rPr lang="ru-RU" sz="2400" dirty="0" err="1"/>
              <a:t>із</a:t>
            </a:r>
            <a:r>
              <a:rPr lang="ru-RU" sz="2400" dirty="0"/>
              <a:t> </a:t>
            </a:r>
            <a:r>
              <a:rPr lang="ru-RU" sz="2400" dirty="0" err="1"/>
              <a:t>стандартів</a:t>
            </a:r>
            <a:r>
              <a:rPr lang="ru-RU" sz="2400" dirty="0"/>
              <a:t> </a:t>
            </a:r>
            <a:r>
              <a:rPr lang="ru-RU" sz="2400" dirty="0" err="1"/>
              <a:t>якості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базуються</a:t>
            </a:r>
            <a:r>
              <a:rPr lang="ru-RU" sz="2400" dirty="0"/>
              <a:t> на </a:t>
            </a:r>
            <a:r>
              <a:rPr lang="ru-RU" sz="2400" dirty="0" err="1"/>
              <a:t>досвіді</a:t>
            </a:r>
            <a:r>
              <a:rPr lang="ru-RU" sz="2400" dirty="0"/>
              <a:t> </a:t>
            </a:r>
            <a:r>
              <a:rPr lang="ru-RU" sz="2400" dirty="0" err="1"/>
              <a:t>численних</a:t>
            </a:r>
            <a:r>
              <a:rPr lang="ru-RU" sz="2400" dirty="0"/>
              <a:t> </a:t>
            </a:r>
            <a:r>
              <a:rPr lang="ru-RU" sz="2400" dirty="0" err="1"/>
              <a:t>проектів</a:t>
            </a:r>
            <a:r>
              <a:rPr lang="ru-RU" sz="2400" dirty="0"/>
              <a:t>, </a:t>
            </a:r>
            <a:r>
              <a:rPr lang="ru-RU" sz="2400" dirty="0" err="1"/>
              <a:t>що</a:t>
            </a:r>
            <a:r>
              <a:rPr lang="ru-RU" sz="2400" dirty="0"/>
              <a:t> </a:t>
            </a:r>
            <a:r>
              <a:rPr lang="ru-RU" sz="2400" dirty="0" err="1"/>
              <a:t>успішно</a:t>
            </a:r>
            <a:r>
              <a:rPr lang="ru-RU" sz="2400" dirty="0"/>
              <a:t> </a:t>
            </a:r>
            <a:r>
              <a:rPr lang="ru-RU" sz="2400" dirty="0" err="1"/>
              <a:t>впровадили</a:t>
            </a:r>
            <a:r>
              <a:rPr lang="ru-RU" sz="2400" dirty="0"/>
              <a:t> </a:t>
            </a:r>
            <a:r>
              <a:rPr lang="ru-RU" sz="2400" dirty="0" err="1"/>
              <a:t>ці</a:t>
            </a:r>
            <a:r>
              <a:rPr lang="ru-RU" sz="2400" dirty="0"/>
              <a:t> </a:t>
            </a:r>
            <a:r>
              <a:rPr lang="ru-RU" sz="2400" dirty="0" err="1"/>
              <a:t>підходи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7027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Основні</a:t>
            </a:r>
            <a:r>
              <a:rPr lang="ru-RU" dirty="0"/>
              <a:t> характеристики </a:t>
            </a:r>
            <a:r>
              <a:rPr lang="en-US" dirty="0"/>
              <a:t>RUP: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19075" y="1417638"/>
            <a:ext cx="8705850" cy="5651500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sz="2400" dirty="0" err="1"/>
              <a:t>Ітераційний</a:t>
            </a:r>
            <a:r>
              <a:rPr lang="ru-RU" sz="2400" dirty="0"/>
              <a:t> </a:t>
            </a:r>
            <a:r>
              <a:rPr lang="ru-RU" sz="2400" dirty="0" err="1"/>
              <a:t>процес</a:t>
            </a:r>
            <a:r>
              <a:rPr lang="ru-RU" sz="2400" dirty="0"/>
              <a:t>: </a:t>
            </a:r>
            <a:r>
              <a:rPr lang="en-US" sz="2400" dirty="0"/>
              <a:t>RUP </a:t>
            </a:r>
            <a:r>
              <a:rPr lang="ru-RU" sz="2400" dirty="0" err="1"/>
              <a:t>розділяє</a:t>
            </a:r>
            <a:r>
              <a:rPr lang="ru-RU" sz="2400" dirty="0"/>
              <a:t> проект на </a:t>
            </a:r>
            <a:r>
              <a:rPr lang="ru-RU" sz="2400" dirty="0" err="1"/>
              <a:t>декілька</a:t>
            </a:r>
            <a:r>
              <a:rPr lang="ru-RU" sz="2400" dirty="0"/>
              <a:t> </a:t>
            </a:r>
            <a:r>
              <a:rPr lang="ru-RU" sz="2400" dirty="0" err="1"/>
              <a:t>ітерацій</a:t>
            </a:r>
            <a:r>
              <a:rPr lang="ru-RU" sz="2400" dirty="0"/>
              <a:t>, </a:t>
            </a:r>
            <a:r>
              <a:rPr lang="ru-RU" sz="2400" dirty="0" err="1"/>
              <a:t>кожна</a:t>
            </a:r>
            <a:r>
              <a:rPr lang="ru-RU" sz="2400" dirty="0"/>
              <a:t> з </a:t>
            </a:r>
            <a:r>
              <a:rPr lang="ru-RU" sz="2400" dirty="0" err="1"/>
              <a:t>яких</a:t>
            </a:r>
            <a:r>
              <a:rPr lang="ru-RU" sz="2400" dirty="0"/>
              <a:t> </a:t>
            </a:r>
            <a:r>
              <a:rPr lang="ru-RU" sz="2400" dirty="0" err="1"/>
              <a:t>включає</a:t>
            </a:r>
            <a:r>
              <a:rPr lang="ru-RU" sz="2400" dirty="0"/>
              <a:t> </a:t>
            </a:r>
            <a:r>
              <a:rPr lang="ru-RU" sz="2400" dirty="0" err="1"/>
              <a:t>бізнес-моделювання</a:t>
            </a:r>
            <a:r>
              <a:rPr lang="ru-RU" sz="2400" dirty="0"/>
              <a:t>, </a:t>
            </a:r>
            <a:r>
              <a:rPr lang="ru-RU" sz="2400" dirty="0" err="1"/>
              <a:t>аналіз</a:t>
            </a:r>
            <a:r>
              <a:rPr lang="ru-RU" sz="2400" dirty="0"/>
              <a:t>, </a:t>
            </a:r>
            <a:r>
              <a:rPr lang="ru-RU" sz="2400" dirty="0" err="1"/>
              <a:t>проектування</a:t>
            </a:r>
            <a:r>
              <a:rPr lang="ru-RU" sz="2400" dirty="0"/>
              <a:t>, </a:t>
            </a:r>
            <a:r>
              <a:rPr lang="ru-RU" sz="2400" dirty="0" err="1"/>
              <a:t>реалізацію</a:t>
            </a:r>
            <a:r>
              <a:rPr lang="ru-RU" sz="2400" dirty="0"/>
              <a:t>, </a:t>
            </a:r>
            <a:r>
              <a:rPr lang="ru-RU" sz="2400" dirty="0" err="1"/>
              <a:t>тестування</a:t>
            </a:r>
            <a:r>
              <a:rPr lang="ru-RU" sz="2400" dirty="0"/>
              <a:t> та </a:t>
            </a:r>
            <a:r>
              <a:rPr lang="ru-RU" sz="2400" dirty="0" err="1"/>
              <a:t>розгортання</a:t>
            </a:r>
            <a:r>
              <a:rPr lang="ru-RU" sz="2400" dirty="0"/>
              <a:t>. </a:t>
            </a:r>
            <a:r>
              <a:rPr lang="ru-RU" sz="2400" dirty="0" err="1"/>
              <a:t>Кожна</a:t>
            </a:r>
            <a:r>
              <a:rPr lang="ru-RU" sz="2400" dirty="0"/>
              <a:t> </a:t>
            </a:r>
            <a:r>
              <a:rPr lang="ru-RU" sz="2400" dirty="0" err="1"/>
              <a:t>ітерація</a:t>
            </a:r>
            <a:r>
              <a:rPr lang="ru-RU" sz="2400" dirty="0"/>
              <a:t> </a:t>
            </a:r>
            <a:r>
              <a:rPr lang="ru-RU" sz="2400" dirty="0" err="1"/>
              <a:t>закінчується</a:t>
            </a:r>
            <a:r>
              <a:rPr lang="ru-RU" sz="2400" dirty="0"/>
              <a:t> </a:t>
            </a:r>
            <a:r>
              <a:rPr lang="ru-RU" sz="2400" dirty="0" err="1"/>
              <a:t>випуском</a:t>
            </a:r>
            <a:r>
              <a:rPr lang="ru-RU" sz="2400" dirty="0"/>
              <a:t> продукту.</a:t>
            </a:r>
            <a:endParaRPr lang="en-US" sz="2400" dirty="0"/>
          </a:p>
          <a:p>
            <a:pPr marL="514350" indent="-514350">
              <a:buFont typeface="+mj-lt"/>
              <a:buAutoNum type="arabicParenR"/>
            </a:pPr>
            <a:r>
              <a:rPr lang="ru-RU" sz="2400" dirty="0" err="1"/>
              <a:t>Фази</a:t>
            </a:r>
            <a:r>
              <a:rPr lang="ru-RU" sz="2400" dirty="0"/>
              <a:t> </a:t>
            </a:r>
            <a:r>
              <a:rPr lang="ru-RU" sz="2400" dirty="0" err="1"/>
              <a:t>розвитку</a:t>
            </a:r>
            <a:r>
              <a:rPr lang="ru-RU" sz="2400" dirty="0"/>
              <a:t>: </a:t>
            </a:r>
            <a:r>
              <a:rPr lang="ru-RU" sz="2400" dirty="0" err="1"/>
              <a:t>Методологія</a:t>
            </a:r>
            <a:r>
              <a:rPr lang="ru-RU" sz="2400" dirty="0"/>
              <a:t> </a:t>
            </a:r>
            <a:r>
              <a:rPr lang="ru-RU" sz="2400" dirty="0" err="1"/>
              <a:t>включає</a:t>
            </a:r>
            <a:r>
              <a:rPr lang="ru-RU" sz="2400" dirty="0"/>
              <a:t> </a:t>
            </a:r>
            <a:r>
              <a:rPr lang="ru-RU" sz="2400" dirty="0" err="1"/>
              <a:t>чотири</a:t>
            </a:r>
            <a:r>
              <a:rPr lang="ru-RU" sz="2400" dirty="0"/>
              <a:t> </a:t>
            </a:r>
            <a:r>
              <a:rPr lang="ru-RU" sz="2400" dirty="0" err="1"/>
              <a:t>послідовні</a:t>
            </a:r>
            <a:r>
              <a:rPr lang="ru-RU" sz="2400" dirty="0"/>
              <a:t> </a:t>
            </a:r>
            <a:r>
              <a:rPr lang="ru-RU" sz="2400" dirty="0" err="1"/>
              <a:t>фази</a:t>
            </a:r>
            <a:r>
              <a:rPr lang="ru-RU" sz="2400" dirty="0"/>
              <a:t>:</a:t>
            </a:r>
            <a:endParaRPr lang="en-US" sz="2400" dirty="0"/>
          </a:p>
          <a:p>
            <a:pPr indent="647700">
              <a:buFont typeface="Wingdings" panose="05000000000000000000" pitchFamily="2" charset="2"/>
              <a:buChar char="Ø"/>
            </a:pPr>
            <a:r>
              <a:rPr lang="ru-RU" sz="2400" dirty="0" err="1"/>
              <a:t>Вступ</a:t>
            </a:r>
            <a:r>
              <a:rPr lang="ru-RU" sz="2400" dirty="0"/>
              <a:t> (</a:t>
            </a:r>
            <a:r>
              <a:rPr lang="en-US" sz="2400" dirty="0"/>
              <a:t>Inception): </a:t>
            </a:r>
            <a:r>
              <a:rPr lang="ru-RU" sz="2400" dirty="0" err="1"/>
              <a:t>Визначення</a:t>
            </a:r>
            <a:r>
              <a:rPr lang="ru-RU" sz="2400" dirty="0"/>
              <a:t> </a:t>
            </a:r>
            <a:r>
              <a:rPr lang="ru-RU" sz="2400" dirty="0" err="1"/>
              <a:t>цілей</a:t>
            </a:r>
            <a:r>
              <a:rPr lang="ru-RU" sz="2400" dirty="0"/>
              <a:t>, </a:t>
            </a:r>
            <a:r>
              <a:rPr lang="ru-RU" sz="2400" dirty="0" err="1"/>
              <a:t>обсягу</a:t>
            </a:r>
            <a:r>
              <a:rPr lang="ru-RU" sz="2400" dirty="0"/>
              <a:t> проекту та </a:t>
            </a:r>
            <a:r>
              <a:rPr lang="ru-RU" sz="2400" dirty="0" err="1"/>
              <a:t>витрат</a:t>
            </a:r>
            <a:r>
              <a:rPr lang="ru-RU" sz="2400" dirty="0"/>
              <a:t>.</a:t>
            </a:r>
            <a:endParaRPr lang="en-US" sz="2400" dirty="0"/>
          </a:p>
          <a:p>
            <a:pPr indent="647700">
              <a:buFont typeface="Wingdings" panose="05000000000000000000" pitchFamily="2" charset="2"/>
              <a:buChar char="Ø"/>
            </a:pPr>
            <a:r>
              <a:rPr lang="ru-RU" sz="2400" dirty="0" err="1"/>
              <a:t>Розробка</a:t>
            </a:r>
            <a:r>
              <a:rPr lang="ru-RU" sz="2400" dirty="0"/>
              <a:t> (</a:t>
            </a:r>
            <a:r>
              <a:rPr lang="en-US" sz="2400" dirty="0"/>
              <a:t>Elaboration): </a:t>
            </a:r>
            <a:r>
              <a:rPr lang="ru-RU" sz="2400" dirty="0" err="1"/>
              <a:t>Детальне</a:t>
            </a:r>
            <a:r>
              <a:rPr lang="ru-RU" sz="2400" dirty="0"/>
              <a:t> </a:t>
            </a:r>
            <a:r>
              <a:rPr lang="ru-RU" sz="2400" dirty="0" err="1"/>
              <a:t>планування</a:t>
            </a:r>
            <a:r>
              <a:rPr lang="ru-RU" sz="2400" dirty="0"/>
              <a:t> </a:t>
            </a:r>
            <a:r>
              <a:rPr lang="ru-RU" sz="2400" dirty="0" err="1"/>
              <a:t>архітектури</a:t>
            </a:r>
            <a:r>
              <a:rPr lang="ru-RU" sz="2400" dirty="0"/>
              <a:t>.</a:t>
            </a:r>
            <a:endParaRPr lang="en-US" sz="2400" dirty="0"/>
          </a:p>
          <a:p>
            <a:pPr indent="647700">
              <a:buFont typeface="Wingdings" panose="05000000000000000000" pitchFamily="2" charset="2"/>
              <a:buChar char="Ø"/>
            </a:pPr>
            <a:r>
              <a:rPr lang="ru-RU" sz="2400" dirty="0" err="1"/>
              <a:t>Конструкція</a:t>
            </a:r>
            <a:r>
              <a:rPr lang="ru-RU" sz="2400" dirty="0"/>
              <a:t> (</a:t>
            </a:r>
            <a:r>
              <a:rPr lang="en-US" sz="2400" dirty="0"/>
              <a:t>Construction): </a:t>
            </a:r>
            <a:r>
              <a:rPr lang="ru-RU" sz="2400" dirty="0" err="1"/>
              <a:t>Розробка</a:t>
            </a:r>
            <a:r>
              <a:rPr lang="ru-RU" sz="2400" dirty="0"/>
              <a:t> продукту і </a:t>
            </a:r>
            <a:r>
              <a:rPr lang="ru-RU" sz="2400" dirty="0" err="1"/>
              <a:t>підготовка</a:t>
            </a:r>
            <a:r>
              <a:rPr lang="ru-RU" sz="2400" dirty="0"/>
              <a:t> до </a:t>
            </a:r>
            <a:r>
              <a:rPr lang="ru-RU" sz="2400" dirty="0" err="1"/>
              <a:t>розгортання</a:t>
            </a:r>
            <a:r>
              <a:rPr lang="ru-RU" sz="2400" dirty="0"/>
              <a:t>.</a:t>
            </a:r>
            <a:endParaRPr lang="en-US" sz="2400" dirty="0"/>
          </a:p>
          <a:p>
            <a:pPr indent="647700">
              <a:buFont typeface="Wingdings" panose="05000000000000000000" pitchFamily="2" charset="2"/>
              <a:buChar char="Ø"/>
            </a:pPr>
            <a:r>
              <a:rPr lang="ru-RU" sz="2400" dirty="0" err="1"/>
              <a:t>Перехід</a:t>
            </a:r>
            <a:r>
              <a:rPr lang="ru-RU" sz="2400" dirty="0"/>
              <a:t> (</a:t>
            </a:r>
            <a:r>
              <a:rPr lang="en-US" sz="2400" dirty="0"/>
              <a:t>Transition): </a:t>
            </a:r>
            <a:r>
              <a:rPr lang="ru-RU" sz="2400" dirty="0" err="1"/>
              <a:t>Розгортання</a:t>
            </a:r>
            <a:r>
              <a:rPr lang="ru-RU" sz="2400" dirty="0"/>
              <a:t> </a:t>
            </a:r>
            <a:r>
              <a:rPr lang="ru-RU" sz="2400" dirty="0" err="1"/>
              <a:t>системи</a:t>
            </a:r>
            <a:r>
              <a:rPr lang="ru-RU" sz="2400" dirty="0"/>
              <a:t> на </a:t>
            </a:r>
            <a:r>
              <a:rPr lang="ru-RU" sz="2400" dirty="0" err="1"/>
              <a:t>цільовому</a:t>
            </a:r>
            <a:r>
              <a:rPr lang="ru-RU" sz="2400" dirty="0"/>
              <a:t> </a:t>
            </a:r>
            <a:r>
              <a:rPr lang="ru-RU" sz="2400" dirty="0" err="1"/>
              <a:t>середовищі</a:t>
            </a:r>
            <a:r>
              <a:rPr lang="ru-RU" sz="2400" dirty="0"/>
              <a:t>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00564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Основні</a:t>
            </a:r>
            <a:r>
              <a:rPr lang="ru-RU" dirty="0"/>
              <a:t> характеристики </a:t>
            </a:r>
            <a:r>
              <a:rPr lang="en-US" dirty="0"/>
              <a:t>RUP: (</a:t>
            </a:r>
            <a:r>
              <a:rPr lang="uk-UA" dirty="0"/>
              <a:t>продовження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arenR"/>
            </a:pPr>
            <a:r>
              <a:rPr lang="ru-RU" dirty="0" err="1"/>
              <a:t>Керовані</a:t>
            </a:r>
            <a:r>
              <a:rPr lang="ru-RU" dirty="0"/>
              <a:t> </a:t>
            </a:r>
            <a:r>
              <a:rPr lang="ru-RU" dirty="0" err="1"/>
              <a:t>артефакти</a:t>
            </a:r>
            <a:r>
              <a:rPr lang="ru-RU" dirty="0"/>
              <a:t>: В </a:t>
            </a:r>
            <a:r>
              <a:rPr lang="en-US" dirty="0"/>
              <a:t>RUP </a:t>
            </a:r>
            <a:r>
              <a:rPr lang="ru-RU" dirty="0"/>
              <a:t>велика </a:t>
            </a:r>
            <a:r>
              <a:rPr lang="ru-RU" dirty="0" err="1"/>
              <a:t>увага</a:t>
            </a:r>
            <a:r>
              <a:rPr lang="ru-RU" dirty="0"/>
              <a:t> </a:t>
            </a:r>
            <a:r>
              <a:rPr lang="ru-RU" dirty="0" err="1"/>
              <a:t>приділяється</a:t>
            </a:r>
            <a:r>
              <a:rPr lang="ru-RU" dirty="0"/>
              <a:t> </a:t>
            </a:r>
            <a:r>
              <a:rPr lang="ru-RU" dirty="0" err="1"/>
              <a:t>створенню</a:t>
            </a:r>
            <a:r>
              <a:rPr lang="ru-RU" dirty="0"/>
              <a:t> і </a:t>
            </a:r>
            <a:r>
              <a:rPr lang="ru-RU" dirty="0" err="1"/>
              <a:t>керуванню</a:t>
            </a:r>
            <a:r>
              <a:rPr lang="ru-RU" dirty="0"/>
              <a:t> артефактами (документами, кодом, тестами </a:t>
            </a:r>
            <a:r>
              <a:rPr lang="ru-RU" dirty="0" err="1"/>
              <a:t>тощо</a:t>
            </a:r>
            <a:r>
              <a:rPr lang="ru-RU" dirty="0"/>
              <a:t>) на кожному </a:t>
            </a:r>
            <a:r>
              <a:rPr lang="ru-RU" dirty="0" err="1"/>
              <a:t>етапі</a:t>
            </a:r>
            <a:r>
              <a:rPr lang="ru-RU" dirty="0"/>
              <a:t> </a:t>
            </a:r>
            <a:r>
              <a:rPr lang="ru-RU" dirty="0" err="1"/>
              <a:t>процесу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Ролі</a:t>
            </a:r>
            <a:r>
              <a:rPr lang="ru-RU" dirty="0"/>
              <a:t> та </a:t>
            </a:r>
            <a:r>
              <a:rPr lang="ru-RU" dirty="0" err="1"/>
              <a:t>відповідальності</a:t>
            </a:r>
            <a:r>
              <a:rPr lang="ru-RU" dirty="0"/>
              <a:t>: </a:t>
            </a:r>
            <a:r>
              <a:rPr lang="en-US" dirty="0"/>
              <a:t>RUP </a:t>
            </a:r>
            <a:r>
              <a:rPr lang="ru-RU" dirty="0" err="1"/>
              <a:t>чітко</a:t>
            </a:r>
            <a:r>
              <a:rPr lang="ru-RU" dirty="0"/>
              <a:t> </a:t>
            </a:r>
            <a:r>
              <a:rPr lang="ru-RU" dirty="0" err="1"/>
              <a:t>визначає</a:t>
            </a:r>
            <a:r>
              <a:rPr lang="ru-RU" dirty="0"/>
              <a:t> </a:t>
            </a:r>
            <a:r>
              <a:rPr lang="ru-RU" dirty="0" err="1"/>
              <a:t>ролі</a:t>
            </a:r>
            <a:r>
              <a:rPr lang="ru-RU" dirty="0"/>
              <a:t> у </a:t>
            </a:r>
            <a:r>
              <a:rPr lang="ru-RU" dirty="0" err="1"/>
              <a:t>проекті</a:t>
            </a:r>
            <a:r>
              <a:rPr lang="ru-RU" dirty="0"/>
              <a:t>, </a:t>
            </a:r>
            <a:r>
              <a:rPr lang="ru-RU" dirty="0" err="1"/>
              <a:t>такі</a:t>
            </a:r>
            <a:r>
              <a:rPr lang="ru-RU" dirty="0"/>
              <a:t> як </a:t>
            </a:r>
            <a:r>
              <a:rPr lang="ru-RU" dirty="0" err="1"/>
              <a:t>архітектор</a:t>
            </a:r>
            <a:r>
              <a:rPr lang="ru-RU" dirty="0"/>
              <a:t>, </a:t>
            </a:r>
            <a:r>
              <a:rPr lang="ru-RU" dirty="0" err="1"/>
              <a:t>розробник</a:t>
            </a:r>
            <a:r>
              <a:rPr lang="ru-RU" dirty="0"/>
              <a:t>, </a:t>
            </a:r>
            <a:r>
              <a:rPr lang="ru-RU" dirty="0" err="1"/>
              <a:t>аналітик</a:t>
            </a:r>
            <a:r>
              <a:rPr lang="ru-RU" dirty="0"/>
              <a:t>, тестувальник </a:t>
            </a:r>
            <a:r>
              <a:rPr lang="ru-RU" dirty="0" err="1"/>
              <a:t>тощо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сприяє</a:t>
            </a:r>
            <a:r>
              <a:rPr lang="ru-RU" dirty="0"/>
              <a:t> </a:t>
            </a:r>
            <a:r>
              <a:rPr lang="ru-RU" dirty="0" err="1"/>
              <a:t>кращому</a:t>
            </a:r>
            <a:r>
              <a:rPr lang="ru-RU" dirty="0"/>
              <a:t> </a:t>
            </a:r>
            <a:r>
              <a:rPr lang="ru-RU" dirty="0" err="1"/>
              <a:t>розподілу</a:t>
            </a:r>
            <a:r>
              <a:rPr lang="ru-RU" dirty="0"/>
              <a:t> </a:t>
            </a:r>
            <a:r>
              <a:rPr lang="ru-RU" dirty="0" err="1"/>
              <a:t>обов’язків</a:t>
            </a:r>
            <a:r>
              <a:rPr lang="ru-RU" dirty="0"/>
              <a:t> і </a:t>
            </a:r>
            <a:r>
              <a:rPr lang="ru-RU" dirty="0" err="1"/>
              <a:t>координації</a:t>
            </a:r>
            <a:r>
              <a:rPr lang="ru-RU" dirty="0"/>
              <a:t> </a:t>
            </a:r>
            <a:r>
              <a:rPr lang="ru-RU" dirty="0" err="1"/>
              <a:t>дій</a:t>
            </a:r>
            <a:r>
              <a:rPr lang="ru-RU" dirty="0"/>
              <a:t>.</a:t>
            </a:r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Адаптивність</a:t>
            </a:r>
            <a:r>
              <a:rPr lang="ru-RU" dirty="0"/>
              <a:t>: </a:t>
            </a:r>
            <a:r>
              <a:rPr lang="ru-RU" dirty="0" err="1"/>
              <a:t>Незважаючи</a:t>
            </a:r>
            <a:r>
              <a:rPr lang="ru-RU" dirty="0"/>
              <a:t> на </a:t>
            </a:r>
            <a:r>
              <a:rPr lang="ru-RU" dirty="0" err="1"/>
              <a:t>структурованість</a:t>
            </a:r>
            <a:r>
              <a:rPr lang="ru-RU" dirty="0"/>
              <a:t>, </a:t>
            </a:r>
            <a:r>
              <a:rPr lang="en-US" dirty="0"/>
              <a:t>RUP </a:t>
            </a:r>
            <a:r>
              <a:rPr lang="ru-RU" dirty="0"/>
              <a:t>є </a:t>
            </a:r>
            <a:r>
              <a:rPr lang="ru-RU" dirty="0" err="1"/>
              <a:t>гнучким</a:t>
            </a:r>
            <a:r>
              <a:rPr lang="ru-RU" dirty="0"/>
              <a:t> і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адаптований</a:t>
            </a:r>
            <a:r>
              <a:rPr lang="ru-RU" dirty="0"/>
              <a:t> до </a:t>
            </a:r>
            <a:r>
              <a:rPr lang="ru-RU" dirty="0" err="1"/>
              <a:t>конкретних</a:t>
            </a:r>
            <a:r>
              <a:rPr lang="ru-RU" dirty="0"/>
              <a:t> потреб проекту та </a:t>
            </a:r>
            <a:r>
              <a:rPr lang="ru-RU" dirty="0" err="1"/>
              <a:t>організації</a:t>
            </a:r>
            <a:endParaRPr lang="ru-RU" dirty="0"/>
          </a:p>
          <a:p>
            <a:pPr marL="514350" indent="-514350">
              <a:buFont typeface="+mj-lt"/>
              <a:buAutoNum type="arabicParenR"/>
            </a:pPr>
            <a:r>
              <a:rPr lang="ru-RU" dirty="0" err="1"/>
              <a:t>Покращення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: </a:t>
            </a:r>
            <a:r>
              <a:rPr lang="ru-RU" dirty="0" err="1"/>
              <a:t>Методологія</a:t>
            </a:r>
            <a:r>
              <a:rPr lang="ru-RU" dirty="0"/>
              <a:t>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інструменти</a:t>
            </a:r>
            <a:r>
              <a:rPr lang="ru-RU" dirty="0"/>
              <a:t> для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високої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продукту через </a:t>
            </a:r>
            <a:r>
              <a:rPr lang="ru-RU" dirty="0" err="1"/>
              <a:t>ретельне</a:t>
            </a:r>
            <a:r>
              <a:rPr lang="ru-RU" dirty="0"/>
              <a:t> </a:t>
            </a:r>
            <a:r>
              <a:rPr lang="ru-RU" dirty="0" err="1"/>
              <a:t>планування</a:t>
            </a:r>
            <a:r>
              <a:rPr lang="ru-RU" dirty="0"/>
              <a:t>, </a:t>
            </a:r>
            <a:r>
              <a:rPr lang="ru-RU" dirty="0" err="1"/>
              <a:t>тестування</a:t>
            </a:r>
            <a:r>
              <a:rPr lang="ru-RU" dirty="0"/>
              <a:t> та </a:t>
            </a:r>
            <a:r>
              <a:rPr lang="ru-RU" dirty="0" err="1"/>
              <a:t>аналіз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9133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RUP використовується </a:t>
            </a:r>
            <a:r>
              <a:rPr lang="ru-RU" dirty="0" err="1"/>
              <a:t>переважно</a:t>
            </a:r>
            <a:r>
              <a:rPr lang="ru-RU" dirty="0"/>
              <a:t> у великих проектах, де </a:t>
            </a:r>
            <a:r>
              <a:rPr lang="ru-RU" dirty="0" err="1"/>
              <a:t>необхідно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складними</a:t>
            </a:r>
            <a:r>
              <a:rPr lang="ru-RU" dirty="0"/>
              <a:t> </a:t>
            </a:r>
            <a:r>
              <a:rPr lang="ru-RU" dirty="0" err="1"/>
              <a:t>вимогами</a:t>
            </a:r>
            <a:r>
              <a:rPr lang="ru-RU" dirty="0"/>
              <a:t> та великою </a:t>
            </a:r>
            <a:r>
              <a:rPr lang="ru-RU" dirty="0" err="1"/>
              <a:t>кількістю</a:t>
            </a:r>
            <a:r>
              <a:rPr lang="ru-RU" dirty="0"/>
              <a:t> </a:t>
            </a:r>
            <a:r>
              <a:rPr lang="ru-RU" dirty="0" err="1"/>
              <a:t>артефактів</a:t>
            </a:r>
            <a:r>
              <a:rPr lang="ru-RU" dirty="0"/>
              <a:t>. </a:t>
            </a:r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методологія</a:t>
            </a:r>
            <a:r>
              <a:rPr lang="ru-RU" dirty="0"/>
              <a:t>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структурований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командам </a:t>
            </a:r>
            <a:r>
              <a:rPr lang="ru-RU" dirty="0" err="1"/>
              <a:t>досягти</a:t>
            </a:r>
            <a:r>
              <a:rPr lang="ru-RU" dirty="0"/>
              <a:t> </a:t>
            </a:r>
            <a:r>
              <a:rPr lang="ru-RU" dirty="0" err="1"/>
              <a:t>успіху</a:t>
            </a:r>
            <a:r>
              <a:rPr lang="ru-RU" dirty="0"/>
              <a:t> у </a:t>
            </a:r>
            <a:r>
              <a:rPr lang="ru-RU" dirty="0" err="1"/>
              <a:t>складних</a:t>
            </a:r>
            <a:r>
              <a:rPr lang="ru-RU" dirty="0"/>
              <a:t> проектах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51815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Приклад </a:t>
            </a:r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ru-RU" dirty="0" err="1"/>
              <a:t>технології</a:t>
            </a:r>
            <a:r>
              <a:rPr lang="ru-RU" dirty="0"/>
              <a:t> </a:t>
            </a:r>
            <a:r>
              <a:rPr lang="en-US" dirty="0"/>
              <a:t>RUP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165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b="1" dirty="0"/>
              <a:t>Контекст:</a:t>
            </a:r>
            <a:r>
              <a:rPr lang="en-US" b="1" dirty="0"/>
              <a:t> </a:t>
            </a:r>
            <a:r>
              <a:rPr lang="ru-RU" dirty="0"/>
              <a:t>Великий банк </a:t>
            </a:r>
            <a:r>
              <a:rPr lang="ru-RU" dirty="0" err="1"/>
              <a:t>мав</a:t>
            </a:r>
            <a:r>
              <a:rPr lang="ru-RU" dirty="0"/>
              <a:t> потребу в </a:t>
            </a:r>
            <a:r>
              <a:rPr lang="ru-RU" dirty="0" err="1"/>
              <a:t>розробці</a:t>
            </a:r>
            <a:r>
              <a:rPr lang="ru-RU" dirty="0"/>
              <a:t>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кредитами, яка б дозволяла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ефективно</a:t>
            </a:r>
            <a:r>
              <a:rPr lang="ru-RU" dirty="0"/>
              <a:t> </a:t>
            </a:r>
            <a:r>
              <a:rPr lang="ru-RU" dirty="0" err="1"/>
              <a:t>обробляти</a:t>
            </a:r>
            <a:r>
              <a:rPr lang="ru-RU" dirty="0"/>
              <a:t> </a:t>
            </a:r>
            <a:r>
              <a:rPr lang="ru-RU" dirty="0" err="1"/>
              <a:t>кредитні</a:t>
            </a:r>
            <a:r>
              <a:rPr lang="ru-RU" dirty="0"/>
              <a:t> </a:t>
            </a:r>
            <a:r>
              <a:rPr lang="ru-RU" dirty="0" err="1"/>
              <a:t>запити</a:t>
            </a:r>
            <a:r>
              <a:rPr lang="ru-RU" dirty="0"/>
              <a:t>, </a:t>
            </a:r>
            <a:r>
              <a:rPr lang="ru-RU" dirty="0" err="1"/>
              <a:t>автоматизувати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 про </a:t>
            </a:r>
            <a:r>
              <a:rPr lang="ru-RU" dirty="0" err="1"/>
              <a:t>кредитування</a:t>
            </a:r>
            <a:r>
              <a:rPr lang="ru-RU" dirty="0"/>
              <a:t> та </a:t>
            </a:r>
            <a:r>
              <a:rPr lang="ru-RU" dirty="0" err="1"/>
              <a:t>інтегрувати</a:t>
            </a:r>
            <a:r>
              <a:rPr lang="ru-RU" dirty="0"/>
              <a:t> </a:t>
            </a:r>
            <a:r>
              <a:rPr lang="ru-RU" dirty="0" err="1"/>
              <a:t>цю</a:t>
            </a:r>
            <a:r>
              <a:rPr lang="ru-RU" dirty="0"/>
              <a:t> систему з </a:t>
            </a:r>
            <a:r>
              <a:rPr lang="ru-RU" dirty="0" err="1"/>
              <a:t>іншими</a:t>
            </a:r>
            <a:r>
              <a:rPr lang="ru-RU" dirty="0"/>
              <a:t> </a:t>
            </a:r>
            <a:r>
              <a:rPr lang="ru-RU" dirty="0" err="1"/>
              <a:t>внутрішніми</a:t>
            </a:r>
            <a:r>
              <a:rPr lang="ru-RU" dirty="0"/>
              <a:t> системами банку.</a:t>
            </a:r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ru-RU" b="1" dirty="0"/>
              <a:t>Проблема:</a:t>
            </a:r>
            <a:r>
              <a:rPr lang="en-US" b="1" dirty="0"/>
              <a:t> </a:t>
            </a:r>
            <a:r>
              <a:rPr lang="ru-RU" dirty="0"/>
              <a:t>Стара система </a:t>
            </a:r>
            <a:r>
              <a:rPr lang="ru-RU" dirty="0" err="1"/>
              <a:t>була</a:t>
            </a:r>
            <a:r>
              <a:rPr lang="ru-RU" dirty="0"/>
              <a:t> сильно </a:t>
            </a:r>
            <a:r>
              <a:rPr lang="ru-RU" dirty="0" err="1"/>
              <a:t>застаріла</a:t>
            </a:r>
            <a:r>
              <a:rPr lang="ru-RU" dirty="0"/>
              <a:t> та не могла </a:t>
            </a:r>
            <a:r>
              <a:rPr lang="ru-RU" dirty="0" err="1"/>
              <a:t>ефективно</a:t>
            </a:r>
            <a:r>
              <a:rPr lang="ru-RU" dirty="0"/>
              <a:t> </a:t>
            </a:r>
            <a:r>
              <a:rPr lang="ru-RU" dirty="0" err="1"/>
              <a:t>масштабуватися</a:t>
            </a:r>
            <a:r>
              <a:rPr lang="ru-RU" dirty="0"/>
              <a:t> для </a:t>
            </a:r>
            <a:r>
              <a:rPr lang="ru-RU" dirty="0" err="1"/>
              <a:t>задоволення</a:t>
            </a:r>
            <a:r>
              <a:rPr lang="ru-RU" dirty="0"/>
              <a:t> </a:t>
            </a:r>
            <a:r>
              <a:rPr lang="ru-RU" dirty="0" err="1"/>
              <a:t>зростаючих</a:t>
            </a:r>
            <a:r>
              <a:rPr lang="ru-RU" dirty="0"/>
              <a:t> потреб банку. Банк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зіткнувся</a:t>
            </a:r>
            <a:r>
              <a:rPr lang="ru-RU" dirty="0"/>
              <a:t> з проблемою </a:t>
            </a:r>
            <a:r>
              <a:rPr lang="ru-RU" dirty="0" err="1"/>
              <a:t>необхідності</a:t>
            </a:r>
            <a:r>
              <a:rPr lang="ru-RU" dirty="0"/>
              <a:t> </a:t>
            </a:r>
            <a:r>
              <a:rPr lang="ru-RU" dirty="0" err="1"/>
              <a:t>відповідності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регуляторних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вимагало</a:t>
            </a:r>
            <a:r>
              <a:rPr lang="ru-RU" dirty="0"/>
              <a:t> </a:t>
            </a:r>
            <a:r>
              <a:rPr lang="ru-RU" dirty="0" err="1"/>
              <a:t>гнучкості</a:t>
            </a:r>
            <a:r>
              <a:rPr lang="ru-RU" dirty="0"/>
              <a:t> у </a:t>
            </a:r>
            <a:r>
              <a:rPr lang="ru-RU" dirty="0" err="1"/>
              <a:t>впровадженні</a:t>
            </a:r>
            <a:r>
              <a:rPr lang="ru-RU" dirty="0"/>
              <a:t> </a:t>
            </a:r>
            <a:r>
              <a:rPr lang="ru-RU" dirty="0" err="1"/>
              <a:t>змін</a:t>
            </a:r>
            <a:r>
              <a:rPr lang="ru-RU" dirty="0"/>
              <a:t> у </a:t>
            </a:r>
            <a:r>
              <a:rPr lang="ru-RU" dirty="0" err="1"/>
              <a:t>програмне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98695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Застосування</a:t>
            </a:r>
            <a:r>
              <a:rPr lang="ru-RU" dirty="0"/>
              <a:t> </a:t>
            </a:r>
            <a:r>
              <a:rPr lang="en-US" dirty="0"/>
              <a:t>RUP:</a:t>
            </a:r>
            <a:endParaRPr lang="ru-RU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57200" y="1601024"/>
            <a:ext cx="798417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Вступна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фаза (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Inception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Визначення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основних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вимог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до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системи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Планування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обсягу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проекту і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оцінювання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ресурсів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Підготовка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інвестиційного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обґрунтування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та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здобуття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схвалення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стейкхолдерів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Фаза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розробки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Elaboration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Розробка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детальної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архітектури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системи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Проведення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аналізу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ризиків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Розробка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прототипу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ключових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компонентів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для </a:t>
            </a:r>
            <a:endParaRPr kumimoji="0" lang="en-US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демонстрації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технологічної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життєздатності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556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319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ru-RU" b="1" dirty="0"/>
              <a:t>Конструктивна фаза (</a:t>
            </a:r>
            <a:r>
              <a:rPr lang="en-US" b="1" dirty="0"/>
              <a:t>Construction):</a:t>
            </a:r>
            <a:r>
              <a:rPr lang="ru-RU" dirty="0" err="1"/>
              <a:t>Ітераційна</a:t>
            </a:r>
            <a:r>
              <a:rPr lang="ru-RU" dirty="0"/>
              <a:t> </a:t>
            </a:r>
            <a:r>
              <a:rPr lang="ru-RU" dirty="0" err="1"/>
              <a:t>розробка</a:t>
            </a:r>
            <a:r>
              <a:rPr lang="ru-RU" dirty="0"/>
              <a:t> продукту, яка включала </a:t>
            </a:r>
            <a:r>
              <a:rPr lang="ru-RU" dirty="0" err="1"/>
              <a:t>багаторазові</a:t>
            </a:r>
            <a:r>
              <a:rPr lang="ru-RU" dirty="0"/>
              <a:t> цикли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розробки</a:t>
            </a:r>
            <a:r>
              <a:rPr lang="ru-RU" dirty="0"/>
              <a:t> та </a:t>
            </a:r>
            <a:r>
              <a:rPr lang="ru-RU" dirty="0" err="1"/>
              <a:t>тестування.Регулярне</a:t>
            </a:r>
            <a:r>
              <a:rPr lang="ru-RU" dirty="0"/>
              <a:t> </a:t>
            </a:r>
            <a:r>
              <a:rPr lang="ru-RU" dirty="0" err="1"/>
              <a:t>оновлення</a:t>
            </a:r>
            <a:r>
              <a:rPr lang="ru-RU" dirty="0"/>
              <a:t> </a:t>
            </a:r>
            <a:r>
              <a:rPr lang="ru-RU" dirty="0" err="1"/>
              <a:t>стейкхолдерів</a:t>
            </a:r>
            <a:r>
              <a:rPr lang="ru-RU" dirty="0"/>
              <a:t> з </a:t>
            </a:r>
            <a:r>
              <a:rPr lang="ru-RU" dirty="0" err="1"/>
              <a:t>використанням</a:t>
            </a:r>
            <a:r>
              <a:rPr lang="ru-RU" dirty="0"/>
              <a:t> </a:t>
            </a:r>
            <a:r>
              <a:rPr lang="ru-RU" dirty="0" err="1"/>
              <a:t>реальних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з прототипу.</a:t>
            </a:r>
            <a:endParaRPr lang="en-US" dirty="0"/>
          </a:p>
          <a:p>
            <a:pPr marL="0" indent="0" algn="just">
              <a:buNone/>
            </a:pPr>
            <a:r>
              <a:rPr lang="ru-RU" b="1" dirty="0"/>
              <a:t>Фаза переходу (</a:t>
            </a:r>
            <a:r>
              <a:rPr lang="en-US" b="1" dirty="0"/>
              <a:t>Transition):</a:t>
            </a:r>
            <a:r>
              <a:rPr lang="ru-RU" dirty="0"/>
              <a:t>Запуск </a:t>
            </a:r>
            <a:r>
              <a:rPr lang="ru-RU" dirty="0" err="1"/>
              <a:t>системи</a:t>
            </a:r>
            <a:r>
              <a:rPr lang="ru-RU" dirty="0"/>
              <a:t> в тестовому </a:t>
            </a:r>
            <a:r>
              <a:rPr lang="ru-RU" dirty="0" err="1"/>
              <a:t>середовищі.Навчання</a:t>
            </a:r>
            <a:r>
              <a:rPr lang="ru-RU" dirty="0"/>
              <a:t> </a:t>
            </a:r>
            <a:r>
              <a:rPr lang="ru-RU" dirty="0" err="1"/>
              <a:t>кінцевих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 та ІТ-персоналу.</a:t>
            </a:r>
            <a:r>
              <a:rPr lang="en-US" dirty="0"/>
              <a:t> </a:t>
            </a:r>
            <a:r>
              <a:rPr lang="ru-RU" dirty="0" err="1"/>
              <a:t>Офіційне</a:t>
            </a:r>
            <a:r>
              <a:rPr lang="ru-RU" dirty="0"/>
              <a:t> </a:t>
            </a:r>
            <a:r>
              <a:rPr lang="ru-RU" dirty="0" err="1"/>
              <a:t>впровадження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та </a:t>
            </a:r>
            <a:r>
              <a:rPr lang="ru-RU" dirty="0" err="1"/>
              <a:t>постійна</a:t>
            </a:r>
            <a:r>
              <a:rPr lang="ru-RU" dirty="0"/>
              <a:t> </a:t>
            </a:r>
            <a:r>
              <a:rPr lang="ru-RU" dirty="0" err="1"/>
              <a:t>підтримка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запуску.</a:t>
            </a:r>
          </a:p>
        </p:txBody>
      </p:sp>
    </p:spTree>
    <p:extLst>
      <p:ext uri="{BB962C8B-B14F-4D97-AF65-F5344CB8AC3E}">
        <p14:creationId xmlns:p14="http://schemas.microsoft.com/office/powerpoint/2010/main" val="37015710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застосуванню</a:t>
            </a:r>
            <a:r>
              <a:rPr lang="ru-RU" dirty="0"/>
              <a:t> </a:t>
            </a:r>
            <a:r>
              <a:rPr lang="en-US" dirty="0"/>
              <a:t>RUP </a:t>
            </a:r>
            <a:r>
              <a:rPr lang="ru-RU" dirty="0"/>
              <a:t>банк </a:t>
            </a:r>
            <a:r>
              <a:rPr lang="ru-RU" dirty="0" err="1"/>
              <a:t>зміг</a:t>
            </a:r>
            <a:r>
              <a:rPr lang="ru-RU" dirty="0"/>
              <a:t> </a:t>
            </a:r>
            <a:r>
              <a:rPr lang="ru-RU" dirty="0" err="1"/>
              <a:t>розробити</a:t>
            </a:r>
            <a:r>
              <a:rPr lang="ru-RU" dirty="0"/>
              <a:t> та </a:t>
            </a:r>
            <a:r>
              <a:rPr lang="ru-RU" dirty="0" err="1"/>
              <a:t>впровадити</a:t>
            </a:r>
            <a:r>
              <a:rPr lang="ru-RU" dirty="0"/>
              <a:t> систему, яка не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задовольняла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вимоги</a:t>
            </a:r>
            <a:r>
              <a:rPr lang="ru-RU" dirty="0"/>
              <a:t> </a:t>
            </a:r>
            <a:r>
              <a:rPr lang="ru-RU" dirty="0" err="1"/>
              <a:t>регуляторів</a:t>
            </a:r>
            <a:r>
              <a:rPr lang="ru-RU" dirty="0"/>
              <a:t> та </a:t>
            </a:r>
            <a:r>
              <a:rPr lang="ru-RU" dirty="0" err="1"/>
              <a:t>стейкхолдерів</a:t>
            </a:r>
            <a:r>
              <a:rPr lang="ru-RU" dirty="0"/>
              <a:t>, але й </a:t>
            </a:r>
            <a:r>
              <a:rPr lang="ru-RU" dirty="0" err="1"/>
              <a:t>була</a:t>
            </a:r>
            <a:r>
              <a:rPr lang="ru-RU" dirty="0"/>
              <a:t> </a:t>
            </a:r>
            <a:r>
              <a:rPr lang="ru-RU" dirty="0" err="1"/>
              <a:t>гнучкою</a:t>
            </a:r>
            <a:r>
              <a:rPr lang="ru-RU" dirty="0"/>
              <a:t> </a:t>
            </a:r>
            <a:r>
              <a:rPr lang="ru-RU" dirty="0" err="1"/>
              <a:t>щодо</a:t>
            </a:r>
            <a:r>
              <a:rPr lang="ru-RU" dirty="0"/>
              <a:t> </a:t>
            </a:r>
            <a:r>
              <a:rPr lang="ru-RU" dirty="0" err="1"/>
              <a:t>майбутніх</a:t>
            </a:r>
            <a:r>
              <a:rPr lang="ru-RU" dirty="0"/>
              <a:t> </a:t>
            </a:r>
            <a:r>
              <a:rPr lang="ru-RU" dirty="0" err="1"/>
              <a:t>модифікацій</a:t>
            </a:r>
            <a:r>
              <a:rPr lang="ru-RU" dirty="0"/>
              <a:t>. </a:t>
            </a:r>
            <a:endParaRPr lang="en-US" dirty="0"/>
          </a:p>
          <a:p>
            <a:pPr marL="0" indent="0" algn="just">
              <a:buNone/>
            </a:pPr>
            <a:r>
              <a:rPr lang="ru-RU" dirty="0" err="1"/>
              <a:t>Впровадження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дозволило </a:t>
            </a:r>
            <a:r>
              <a:rPr lang="ru-RU" dirty="0" err="1"/>
              <a:t>значно</a:t>
            </a:r>
            <a:r>
              <a:rPr lang="ru-RU" dirty="0"/>
              <a:t> </a:t>
            </a:r>
            <a:r>
              <a:rPr lang="ru-RU" dirty="0" err="1"/>
              <a:t>знизити</a:t>
            </a:r>
            <a:r>
              <a:rPr lang="ru-RU" dirty="0"/>
              <a:t> час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кредитних</a:t>
            </a:r>
            <a:r>
              <a:rPr lang="ru-RU" dirty="0"/>
              <a:t> заявок та </a:t>
            </a:r>
            <a:r>
              <a:rPr lang="ru-RU" dirty="0" err="1"/>
              <a:t>підвищити</a:t>
            </a:r>
            <a:r>
              <a:rPr lang="ru-RU" dirty="0"/>
              <a:t> </a:t>
            </a:r>
            <a:r>
              <a:rPr lang="ru-RU" dirty="0" err="1"/>
              <a:t>задоволеність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38513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Висновки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Кожна</a:t>
            </a:r>
            <a:r>
              <a:rPr dirty="0"/>
              <a:t> </a:t>
            </a:r>
            <a:r>
              <a:rPr dirty="0" err="1"/>
              <a:t>методологія</a:t>
            </a:r>
            <a:r>
              <a:rPr dirty="0"/>
              <a:t> </a:t>
            </a:r>
            <a:r>
              <a:rPr dirty="0" err="1"/>
              <a:t>має</a:t>
            </a:r>
            <a:r>
              <a:rPr dirty="0"/>
              <a:t> </a:t>
            </a:r>
            <a:r>
              <a:rPr dirty="0" err="1"/>
              <a:t>свої</a:t>
            </a:r>
            <a:r>
              <a:rPr dirty="0"/>
              <a:t> </a:t>
            </a:r>
            <a:r>
              <a:rPr dirty="0" err="1"/>
              <a:t>переваги</a:t>
            </a:r>
            <a:r>
              <a:rPr dirty="0"/>
              <a:t> і </a:t>
            </a:r>
            <a:r>
              <a:rPr dirty="0" err="1"/>
              <a:t>недоліки</a:t>
            </a:r>
            <a:r>
              <a:rPr dirty="0"/>
              <a:t>. </a:t>
            </a:r>
            <a:r>
              <a:rPr dirty="0" err="1"/>
              <a:t>Важливо</a:t>
            </a:r>
            <a:r>
              <a:rPr dirty="0"/>
              <a:t> </a:t>
            </a:r>
            <a:r>
              <a:rPr dirty="0" err="1"/>
              <a:t>правильно</a:t>
            </a:r>
            <a:r>
              <a:rPr dirty="0"/>
              <a:t> </a:t>
            </a:r>
            <a:r>
              <a:rPr dirty="0" err="1"/>
              <a:t>обрати</a:t>
            </a:r>
            <a:r>
              <a:rPr dirty="0"/>
              <a:t> </a:t>
            </a:r>
            <a:r>
              <a:rPr dirty="0" err="1"/>
              <a:t>методологію</a:t>
            </a:r>
            <a:r>
              <a:rPr dirty="0"/>
              <a:t>, </a:t>
            </a:r>
            <a:r>
              <a:rPr dirty="0" err="1"/>
              <a:t>виходячи</a:t>
            </a:r>
            <a:r>
              <a:rPr dirty="0"/>
              <a:t> з </a:t>
            </a:r>
            <a:r>
              <a:rPr dirty="0" err="1"/>
              <a:t>потреб</a:t>
            </a:r>
            <a:r>
              <a:rPr dirty="0"/>
              <a:t> </a:t>
            </a:r>
            <a:r>
              <a:rPr dirty="0" err="1"/>
              <a:t>проекту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команди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0bf197-73fd-41e1-ba51-8f8de062c38b" xsi:nil="true"/>
    <lcf76f155ced4ddcb4097134ff3c332f xmlns="e5e6fc73-9031-450c-9de5-7bc5986304f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50F5A9156BD1D478258C645CBF5B6E4" ma:contentTypeVersion="12" ma:contentTypeDescription="Створення нового документа." ma:contentTypeScope="" ma:versionID="83d92c811543da1f76b416e5bc573936">
  <xsd:schema xmlns:xsd="http://www.w3.org/2001/XMLSchema" xmlns:xs="http://www.w3.org/2001/XMLSchema" xmlns:p="http://schemas.microsoft.com/office/2006/metadata/properties" xmlns:ns2="e5e6fc73-9031-450c-9de5-7bc5986304f3" xmlns:ns3="df0bf197-73fd-41e1-ba51-8f8de062c38b" targetNamespace="http://schemas.microsoft.com/office/2006/metadata/properties" ma:root="true" ma:fieldsID="551a23d05d0179dcfc84395080967a0f" ns2:_="" ns3:_="">
    <xsd:import namespace="e5e6fc73-9031-450c-9de5-7bc5986304f3"/>
    <xsd:import namespace="df0bf197-73fd-41e1-ba51-8f8de062c3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6fc73-9031-450c-9de5-7bc5986304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зображень" ma:readOnly="false" ma:fieldId="{5cf76f15-5ced-4ddc-b409-7134ff3c332f}" ma:taxonomyMulti="true" ma:sspId="ee9b83cc-1686-492f-80a3-07431345b1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bf197-73fd-41e1-ba51-8f8de062c38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7d9b0f9-d676-41f6-9742-644e7637553d}" ma:internalName="TaxCatchAll" ma:showField="CatchAllData" ma:web="df0bf197-73fd-41e1-ba51-8f8de062c3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E217DFC-33E0-4238-A23F-DECECB3EB2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4E6D53-03EE-4ABF-B3DA-290FF7B9190C}">
  <ds:schemaRefs>
    <ds:schemaRef ds:uri="http://schemas.microsoft.com/office/2006/metadata/properties"/>
    <ds:schemaRef ds:uri="http://schemas.microsoft.com/office/infopath/2007/PartnerControls"/>
    <ds:schemaRef ds:uri="df0bf197-73fd-41e1-ba51-8f8de062c38b"/>
    <ds:schemaRef ds:uri="e5e6fc73-9031-450c-9de5-7bc5986304f3"/>
  </ds:schemaRefs>
</ds:datastoreItem>
</file>

<file path=customXml/itemProps3.xml><?xml version="1.0" encoding="utf-8"?>
<ds:datastoreItem xmlns:ds="http://schemas.openxmlformats.org/officeDocument/2006/customXml" ds:itemID="{92F4A26C-E541-4C8A-8052-D36E97C25A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e6fc73-9031-450c-9de5-7bc5986304f3"/>
    <ds:schemaRef ds:uri="df0bf197-73fd-41e1-ba51-8f8de062c3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2241</Words>
  <Application>Microsoft Office PowerPoint</Application>
  <PresentationFormat>On-screen Show (4:3)</PresentationFormat>
  <Paragraphs>157</Paragraphs>
  <Slides>36</Slides>
  <Notes>8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Методології розробки програмного забезпечення</vt:lpstr>
      <vt:lpstr>Водоспадна модель</vt:lpstr>
      <vt:lpstr>Agile (Гнучкі методології)</vt:lpstr>
      <vt:lpstr>Scrum</vt:lpstr>
      <vt:lpstr>Scrum допомагає людям і командам поступово досягати цінності шляхом співпраці. Будучи гнучким фреймворком , Scrum забезпечує достатню структуру для людей і команд, щоб інтегрувати їх у свою роботу, додаючи правильні практики для оптимізації для їхніх конкретних потреб.   Ви можете подумати, це звучить чудово! Але як мені почати?</vt:lpstr>
      <vt:lpstr>Scrum Agile events, based on The 2020 Scrum Guide</vt:lpstr>
      <vt:lpstr>Scrum —</vt:lpstr>
      <vt:lpstr>Основні ролі в Scrum включають:</vt:lpstr>
      <vt:lpstr>Scrum</vt:lpstr>
      <vt:lpstr>Ось деякі загальні візуальні представлення фреймворку Scrum: </vt:lpstr>
      <vt:lpstr>Основа </vt:lpstr>
      <vt:lpstr>Professional Scrum</vt:lpstr>
      <vt:lpstr>Канбан</vt:lpstr>
      <vt:lpstr>Основні аспекти методології Канбан:</vt:lpstr>
      <vt:lpstr>Застосування канбан в IT</vt:lpstr>
      <vt:lpstr>Канбан</vt:lpstr>
      <vt:lpstr>Структура Канбан</vt:lpstr>
      <vt:lpstr>Структура Канбан (продовження)</vt:lpstr>
      <vt:lpstr>Kanban має такі переваги: </vt:lpstr>
      <vt:lpstr>Канбан має і недоліки:</vt:lpstr>
      <vt:lpstr>Відмінності КАНБАН від СКРАМ</vt:lpstr>
      <vt:lpstr>Програми та програми для КАНБАН</vt:lpstr>
      <vt:lpstr>Kanbantool </vt:lpstr>
      <vt:lpstr>Lean Kit Kanban</vt:lpstr>
      <vt:lpstr>Kanbanize</vt:lpstr>
      <vt:lpstr>Підсумки </vt:lpstr>
      <vt:lpstr>Як вибрати методологію?</vt:lpstr>
      <vt:lpstr> Методологія RUP</vt:lpstr>
      <vt:lpstr>Основні характеристики RUP:</vt:lpstr>
      <vt:lpstr>Основні характеристики RUP: (продовження)</vt:lpstr>
      <vt:lpstr>PowerPoint Presentation</vt:lpstr>
      <vt:lpstr>Приклад застосування технології RUP</vt:lpstr>
      <vt:lpstr>Застосування RUP:</vt:lpstr>
      <vt:lpstr>PowerPoint Presentation</vt:lpstr>
      <vt:lpstr>Результат:</vt:lpstr>
      <vt:lpstr>Висновки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Методології розробки програмного забезпечення</dc:title>
  <dc:subject/>
  <dc:creator/>
  <cp:keywords/>
  <dc:description>generated using python-pptx</dc:description>
  <cp:lastModifiedBy>admin</cp:lastModifiedBy>
  <cp:revision>10</cp:revision>
  <dcterms:created xsi:type="dcterms:W3CDTF">2013-01-27T09:14:16Z</dcterms:created>
  <dcterms:modified xsi:type="dcterms:W3CDTF">2025-12-11T19:44:13Z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0x010100D50F5A9156BD1D478258C645CBF5B6E4</vt:lpwstr>
  </property>
  <property fmtid="{D5CDD505-2E9C-101B-9397-08002B2CF9AE}" pid="3" name="MediaServiceImageTags">
    <vt:lpwstr/>
  </property>
</Properties>
</file>