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D64BE-870C-43EF-B69A-5ED60BEC3106}" v="2" dt="2024-09-23T09:50:54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644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равченко Ольга Віталіївна" userId="S::kravchenkoo@fit.knu.ua::871be5f6-9003-4e78-a80a-b292033cf73a" providerId="AD" clId="Web-{4A8D64BE-870C-43EF-B69A-5ED60BEC3106}"/>
    <pc:docChg chg="modSld">
      <pc:chgData name="Кравченко Ольга Віталіївна" userId="S::kravchenkoo@fit.knu.ua::871be5f6-9003-4e78-a80a-b292033cf73a" providerId="AD" clId="Web-{4A8D64BE-870C-43EF-B69A-5ED60BEC3106}" dt="2024-09-23T09:50:54.439" v="2" actId="20577"/>
      <pc:docMkLst>
        <pc:docMk/>
      </pc:docMkLst>
      <pc:sldChg chg="modSp">
        <pc:chgData name="Кравченко Ольга Віталіївна" userId="S::kravchenkoo@fit.knu.ua::871be5f6-9003-4e78-a80a-b292033cf73a" providerId="AD" clId="Web-{4A8D64BE-870C-43EF-B69A-5ED60BEC3106}" dt="2024-09-23T09:50:54.439" v="2" actId="20577"/>
        <pc:sldMkLst>
          <pc:docMk/>
          <pc:sldMk cId="3686324787" sldId="277"/>
        </pc:sldMkLst>
        <pc:spChg chg="mod">
          <ac:chgData name="Кравченко Ольга Віталіївна" userId="S::kravchenkoo@fit.knu.ua::871be5f6-9003-4e78-a80a-b292033cf73a" providerId="AD" clId="Web-{4A8D64BE-870C-43EF-B69A-5ED60BEC3106}" dt="2024-09-23T09:50:54.439" v="2" actId="20577"/>
          <ac:spMkLst>
            <pc:docMk/>
            <pc:sldMk cId="3686324787" sldId="27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20258-4F6F-4844-991B-7C8E900C8748}" type="datetimeFigureOut">
              <a:rPr lang="ru-RU" smtClean="0"/>
              <a:t>23.09.2024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201C4-3CF2-4E8B-A958-2799C098778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76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err="1"/>
              <a:t>Автоматизоване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r>
              <a:rPr lang="ru-RU" dirty="0"/>
              <a:t> та </a:t>
            </a:r>
            <a:r>
              <a:rPr lang="ru-RU" b="1" dirty="0" err="1"/>
              <a:t>ручне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r>
              <a:rPr lang="ru-RU" dirty="0"/>
              <a:t> є </a:t>
            </a:r>
            <a:r>
              <a:rPr lang="ru-RU" dirty="0" err="1"/>
              <a:t>двома</a:t>
            </a:r>
            <a:r>
              <a:rPr lang="ru-RU" dirty="0"/>
              <a:t> </a:t>
            </a:r>
            <a:r>
              <a:rPr lang="ru-RU" dirty="0" err="1"/>
              <a:t>підходами</a:t>
            </a:r>
            <a:r>
              <a:rPr lang="ru-RU" dirty="0"/>
              <a:t> до </a:t>
            </a:r>
            <a:r>
              <a:rPr lang="ru-RU" dirty="0" err="1"/>
              <a:t>перевірки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.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них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переваги</a:t>
            </a:r>
            <a:r>
              <a:rPr lang="ru-RU" dirty="0"/>
              <a:t>, </a:t>
            </a:r>
            <a:r>
              <a:rPr lang="ru-RU" dirty="0" err="1"/>
              <a:t>недоліки</a:t>
            </a:r>
            <a:r>
              <a:rPr lang="ru-RU" dirty="0"/>
              <a:t> та </a:t>
            </a:r>
            <a:r>
              <a:rPr lang="ru-RU" dirty="0" err="1"/>
              <a:t>застосування</a:t>
            </a:r>
            <a:r>
              <a:rPr lang="ru-RU" dirty="0"/>
              <a:t>, </a:t>
            </a:r>
            <a:r>
              <a:rPr lang="ru-RU" dirty="0" err="1"/>
              <a:t>залежно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типу проекту, </a:t>
            </a:r>
            <a:r>
              <a:rPr lang="ru-RU" dirty="0" err="1"/>
              <a:t>вимог</a:t>
            </a:r>
            <a:r>
              <a:rPr lang="ru-RU" dirty="0"/>
              <a:t> і </a:t>
            </a:r>
            <a:r>
              <a:rPr lang="ru-RU" dirty="0" err="1"/>
              <a:t>ресурсів</a:t>
            </a:r>
            <a:r>
              <a:rPr lang="ru-RU" dirty="0"/>
              <a:t>. Ось </a:t>
            </a:r>
            <a:r>
              <a:rPr lang="ru-RU" dirty="0" err="1"/>
              <a:t>порівняння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підходів</a:t>
            </a:r>
            <a:r>
              <a:rPr lang="ru-RU" dirty="0"/>
              <a:t>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201C4-3CF2-4E8B-A958-2799C098778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115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fziq0PzUv0" TargetMode="External"/><Relationship Id="rId2" Type="http://schemas.openxmlformats.org/officeDocument/2006/relationships/hyperlink" Target="https://www.youtube.com/watch?v=9dcTKgBYZhQ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playlist?list=PLQT9FNTTk6lpdHbgGG3je0xq2JlVcBM5U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Тестування програмних продуктів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Презентація за темою: 'Тестування програмних продуктів'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Вступ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just">
              <a:buNone/>
            </a:pPr>
            <a:r>
              <a:rPr dirty="0" err="1"/>
              <a:t>Що</a:t>
            </a:r>
            <a:r>
              <a:rPr dirty="0"/>
              <a:t> </a:t>
            </a:r>
            <a:r>
              <a:rPr dirty="0" err="1"/>
              <a:t>таке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 </a:t>
            </a:r>
            <a:r>
              <a:rPr dirty="0" err="1"/>
              <a:t>програмного</a:t>
            </a:r>
            <a:r>
              <a:rPr dirty="0"/>
              <a:t> </a:t>
            </a:r>
            <a:r>
              <a:rPr dirty="0" err="1"/>
              <a:t>забезпечення</a:t>
            </a:r>
            <a:r>
              <a:rPr dirty="0"/>
              <a:t>?</a:t>
            </a:r>
            <a:endParaRPr lang="uk-UA" dirty="0"/>
          </a:p>
          <a:p>
            <a:pPr marL="0" indent="0" algn="just">
              <a:buNone/>
            </a:pPr>
            <a:endParaRPr dirty="0"/>
          </a:p>
          <a:p>
            <a:r>
              <a:rPr dirty="0" err="1"/>
              <a:t>Значення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 у </a:t>
            </a:r>
            <a:r>
              <a:rPr dirty="0" err="1"/>
              <a:t>життєвому</a:t>
            </a:r>
            <a:r>
              <a:rPr dirty="0"/>
              <a:t> </a:t>
            </a:r>
            <a:r>
              <a:rPr dirty="0" err="1"/>
              <a:t>циклі</a:t>
            </a:r>
            <a:r>
              <a:rPr dirty="0"/>
              <a:t> </a:t>
            </a:r>
            <a:r>
              <a:rPr dirty="0" err="1"/>
              <a:t>розробки</a:t>
            </a:r>
            <a:r>
              <a:rPr dirty="0"/>
              <a:t> ПЗ</a:t>
            </a:r>
          </a:p>
          <a:p>
            <a:r>
              <a:rPr dirty="0" err="1"/>
              <a:t>Цілі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завдання</a:t>
            </a:r>
            <a:r>
              <a:rPr dirty="0"/>
              <a:t> </a:t>
            </a:r>
            <a:r>
              <a:rPr dirty="0" err="1"/>
              <a:t>тестування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Типи тестування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Функціональне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: </a:t>
            </a:r>
            <a:r>
              <a:rPr dirty="0" err="1"/>
              <a:t>Що</a:t>
            </a:r>
            <a:r>
              <a:rPr dirty="0"/>
              <a:t> </a:t>
            </a:r>
            <a:r>
              <a:rPr dirty="0" err="1"/>
              <a:t>перевіряється</a:t>
            </a:r>
            <a:r>
              <a:rPr dirty="0"/>
              <a:t>, </a:t>
            </a:r>
            <a:r>
              <a:rPr dirty="0" err="1"/>
              <a:t>Приклади</a:t>
            </a:r>
            <a:r>
              <a:rPr dirty="0"/>
              <a:t> </a:t>
            </a:r>
            <a:r>
              <a:rPr dirty="0" err="1"/>
              <a:t>тестів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Нефункціональне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: </a:t>
            </a:r>
            <a:r>
              <a:rPr dirty="0" err="1"/>
              <a:t>Продуктивність</a:t>
            </a:r>
            <a:r>
              <a:rPr dirty="0"/>
              <a:t>, </a:t>
            </a:r>
            <a:r>
              <a:rPr dirty="0" err="1"/>
              <a:t>Безпека</a:t>
            </a:r>
            <a:r>
              <a:rPr dirty="0"/>
              <a:t>, </a:t>
            </a:r>
            <a:r>
              <a:rPr dirty="0" err="1"/>
              <a:t>Юзабіліті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Автоматизоване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 vs </a:t>
            </a:r>
            <a:r>
              <a:rPr dirty="0" err="1"/>
              <a:t>Ручне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: </a:t>
            </a:r>
            <a:r>
              <a:rPr dirty="0" err="1"/>
              <a:t>Переваги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недоліки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Функціональне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– </a:t>
            </a:r>
            <a:r>
              <a:rPr lang="ru-RU" dirty="0" err="1"/>
              <a:t>це</a:t>
            </a:r>
            <a:r>
              <a:rPr lang="ru-RU" dirty="0"/>
              <a:t> тип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перевіряє</a:t>
            </a:r>
            <a:r>
              <a:rPr lang="ru-RU" dirty="0"/>
              <a:t> </a:t>
            </a:r>
            <a:r>
              <a:rPr lang="ru-RU" dirty="0" err="1"/>
              <a:t>коректність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відповідно</a:t>
            </a:r>
            <a:r>
              <a:rPr lang="ru-RU" dirty="0"/>
              <a:t> до </a:t>
            </a:r>
            <a:r>
              <a:rPr lang="ru-RU" dirty="0" err="1"/>
              <a:t>вимог</a:t>
            </a:r>
            <a:r>
              <a:rPr lang="ru-RU" dirty="0"/>
              <a:t> і </a:t>
            </a:r>
            <a:r>
              <a:rPr lang="ru-RU" dirty="0" err="1"/>
              <a:t>специфікацій</a:t>
            </a:r>
            <a:r>
              <a:rPr lang="ru-RU" dirty="0"/>
              <a:t>. </a:t>
            </a:r>
            <a:r>
              <a:rPr lang="ru-RU" dirty="0" err="1"/>
              <a:t>Основна</a:t>
            </a:r>
            <a:r>
              <a:rPr lang="ru-RU" dirty="0"/>
              <a:t> мета </a:t>
            </a:r>
            <a:r>
              <a:rPr lang="ru-RU" dirty="0" err="1"/>
              <a:t>функціонального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полягає</a:t>
            </a:r>
            <a:r>
              <a:rPr lang="ru-RU" dirty="0"/>
              <a:t> в тому,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переконатися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кожна</a:t>
            </a:r>
            <a:r>
              <a:rPr lang="ru-RU" dirty="0"/>
              <a:t> </a:t>
            </a:r>
            <a:r>
              <a:rPr lang="ru-RU" dirty="0" err="1"/>
              <a:t>функція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продукту </a:t>
            </a:r>
            <a:r>
              <a:rPr lang="ru-RU" dirty="0" err="1"/>
              <a:t>працює</a:t>
            </a:r>
            <a:r>
              <a:rPr lang="ru-RU" dirty="0"/>
              <a:t> </a:t>
            </a:r>
            <a:r>
              <a:rPr lang="ru-RU" dirty="0" err="1"/>
              <a:t>належним</a:t>
            </a:r>
            <a:r>
              <a:rPr lang="ru-RU" dirty="0"/>
              <a:t> чином і </a:t>
            </a:r>
            <a:r>
              <a:rPr lang="ru-RU" dirty="0" err="1"/>
              <a:t>дає</a:t>
            </a:r>
            <a:r>
              <a:rPr lang="ru-RU" dirty="0"/>
              <a:t> </a:t>
            </a:r>
            <a:r>
              <a:rPr lang="ru-RU" dirty="0" err="1"/>
              <a:t>очікувані</a:t>
            </a:r>
            <a:r>
              <a:rPr lang="ru-RU" dirty="0"/>
              <a:t> </a:t>
            </a:r>
            <a:r>
              <a:rPr lang="ru-RU" dirty="0" err="1"/>
              <a:t>результати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7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err="1"/>
              <a:t>Основні</a:t>
            </a:r>
            <a:r>
              <a:rPr lang="ru-RU" sz="2800" b="1" dirty="0"/>
              <a:t> </a:t>
            </a:r>
            <a:r>
              <a:rPr lang="ru-RU" sz="2800" b="1" dirty="0" err="1"/>
              <a:t>аспекти</a:t>
            </a:r>
            <a:r>
              <a:rPr lang="ru-RU" sz="2800" b="1" dirty="0"/>
              <a:t> </a:t>
            </a:r>
            <a:r>
              <a:rPr lang="ru-RU" sz="2800" b="1" dirty="0" err="1"/>
              <a:t>функціонального</a:t>
            </a:r>
            <a:r>
              <a:rPr lang="ru-RU" sz="2800" b="1" dirty="0"/>
              <a:t> </a:t>
            </a:r>
            <a:r>
              <a:rPr lang="ru-RU" sz="2800" b="1" dirty="0" err="1"/>
              <a:t>тестування</a:t>
            </a:r>
            <a:r>
              <a:rPr lang="ru-RU" sz="2800" b="1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5600" y="1143000"/>
            <a:ext cx="8331200" cy="55626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тестується</a:t>
            </a:r>
            <a:r>
              <a:rPr lang="ru-RU" dirty="0"/>
              <a:t>: </a:t>
            </a:r>
            <a:r>
              <a:rPr lang="ru-RU" dirty="0" err="1"/>
              <a:t>Введення</a:t>
            </a:r>
            <a:r>
              <a:rPr lang="ru-RU" dirty="0"/>
              <a:t> (</a:t>
            </a:r>
            <a:r>
              <a:rPr lang="en-US" dirty="0"/>
              <a:t>input): </a:t>
            </a:r>
            <a:r>
              <a:rPr lang="ru-RU" dirty="0" err="1"/>
              <a:t>дані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вводить </a:t>
            </a:r>
            <a:r>
              <a:rPr lang="ru-RU" dirty="0" err="1"/>
              <a:t>користувач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система. </a:t>
            </a:r>
            <a:r>
              <a:rPr lang="ru-RU" dirty="0" err="1"/>
              <a:t>Вихід</a:t>
            </a:r>
            <a:r>
              <a:rPr lang="ru-RU" dirty="0"/>
              <a:t> (</a:t>
            </a:r>
            <a:r>
              <a:rPr lang="en-US" dirty="0"/>
              <a:t>output): </a:t>
            </a:r>
            <a:r>
              <a:rPr lang="ru-RU" dirty="0"/>
              <a:t>результат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певної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 </a:t>
            </a:r>
            <a:r>
              <a:rPr lang="ru-RU" dirty="0" err="1"/>
              <a:t>Поведінка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: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дій</a:t>
            </a:r>
            <a:r>
              <a:rPr lang="ru-RU" dirty="0"/>
              <a:t> і </a:t>
            </a:r>
            <a:r>
              <a:rPr lang="ru-RU" dirty="0" err="1"/>
              <a:t>реакцій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специфікаціям</a:t>
            </a:r>
            <a:r>
              <a:rPr lang="ru-RU" dirty="0"/>
              <a:t>. </a:t>
            </a:r>
          </a:p>
          <a:p>
            <a:pPr algn="just"/>
            <a:r>
              <a:rPr lang="ru-RU" dirty="0"/>
              <a:t>Як проводиться: </a:t>
            </a:r>
            <a:r>
              <a:rPr lang="ru-RU" dirty="0" err="1"/>
              <a:t>Функціональне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виконується</a:t>
            </a:r>
            <a:r>
              <a:rPr lang="ru-RU" dirty="0"/>
              <a:t> без </a:t>
            </a:r>
            <a:r>
              <a:rPr lang="ru-RU" dirty="0" err="1"/>
              <a:t>вивчення</a:t>
            </a:r>
            <a:r>
              <a:rPr lang="ru-RU" dirty="0"/>
              <a:t> </a:t>
            </a:r>
            <a:r>
              <a:rPr lang="ru-RU" dirty="0" err="1"/>
              <a:t>внутрішньої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коду </a:t>
            </a:r>
            <a:r>
              <a:rPr lang="ru-RU" dirty="0" err="1"/>
              <a:t>програми</a:t>
            </a:r>
            <a:r>
              <a:rPr lang="ru-RU" dirty="0"/>
              <a:t> (метод "</a:t>
            </a:r>
            <a:r>
              <a:rPr lang="ru-RU" dirty="0" err="1"/>
              <a:t>чорного</a:t>
            </a:r>
            <a:r>
              <a:rPr lang="ru-RU" dirty="0"/>
              <a:t> ящика"). </a:t>
            </a:r>
            <a:r>
              <a:rPr lang="ru-RU" dirty="0" err="1"/>
              <a:t>Тестувальники</a:t>
            </a:r>
            <a:r>
              <a:rPr lang="ru-RU" dirty="0"/>
              <a:t> </a:t>
            </a:r>
            <a:r>
              <a:rPr lang="ru-RU" dirty="0" err="1"/>
              <a:t>перевіряють</a:t>
            </a:r>
            <a:r>
              <a:rPr lang="ru-RU" dirty="0"/>
              <a:t>,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виконуються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, як </a:t>
            </a:r>
            <a:r>
              <a:rPr lang="ru-RU" dirty="0" err="1"/>
              <a:t>зазначено</a:t>
            </a:r>
            <a:r>
              <a:rPr lang="ru-RU" dirty="0"/>
              <a:t> у </a:t>
            </a:r>
            <a:r>
              <a:rPr lang="ru-RU" dirty="0" err="1"/>
              <a:t>вимогах</a:t>
            </a:r>
            <a:r>
              <a:rPr lang="ru-RU" dirty="0"/>
              <a:t>, без </a:t>
            </a:r>
            <a:r>
              <a:rPr lang="ru-RU" dirty="0" err="1"/>
              <a:t>врахування</a:t>
            </a:r>
            <a:r>
              <a:rPr lang="ru-RU" dirty="0"/>
              <a:t> того, як </a:t>
            </a:r>
            <a:r>
              <a:rPr lang="ru-RU" dirty="0" err="1"/>
              <a:t>реалізовані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.</a:t>
            </a:r>
          </a:p>
          <a:p>
            <a:pPr algn="just"/>
            <a:r>
              <a:rPr lang="ru-RU" dirty="0" err="1"/>
              <a:t>Основні</a:t>
            </a:r>
            <a:r>
              <a:rPr lang="ru-RU" dirty="0"/>
              <a:t> кроки: </a:t>
            </a:r>
            <a:r>
              <a:rPr lang="ru-RU" dirty="0" err="1"/>
              <a:t>Вивчення</a:t>
            </a:r>
            <a:r>
              <a:rPr lang="ru-RU" dirty="0"/>
              <a:t> </a:t>
            </a:r>
            <a:r>
              <a:rPr lang="ru-RU" dirty="0" err="1"/>
              <a:t>функціональних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 до </a:t>
            </a:r>
            <a:r>
              <a:rPr lang="ru-RU" dirty="0" err="1"/>
              <a:t>системи</a:t>
            </a:r>
            <a:r>
              <a:rPr lang="ru-RU" dirty="0"/>
              <a:t>. </a:t>
            </a:r>
            <a:r>
              <a:rPr lang="ru-RU" dirty="0" err="1"/>
              <a:t>Створення</a:t>
            </a:r>
            <a:r>
              <a:rPr lang="ru-RU" dirty="0"/>
              <a:t> тест-</a:t>
            </a:r>
            <a:r>
              <a:rPr lang="ru-RU" dirty="0" err="1"/>
              <a:t>кейсів</a:t>
            </a:r>
            <a:r>
              <a:rPr lang="ru-RU" dirty="0"/>
              <a:t> для </a:t>
            </a:r>
            <a:r>
              <a:rPr lang="ru-RU" dirty="0" err="1"/>
              <a:t>кожної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на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dirty="0" err="1"/>
              <a:t>специфікацій</a:t>
            </a:r>
            <a:r>
              <a:rPr lang="ru-RU" dirty="0"/>
              <a:t>. </a:t>
            </a:r>
            <a:r>
              <a:rPr lang="ru-RU" dirty="0" err="1"/>
              <a:t>Виконання</a:t>
            </a:r>
            <a:r>
              <a:rPr lang="ru-RU" dirty="0"/>
              <a:t> тест-</a:t>
            </a:r>
            <a:r>
              <a:rPr lang="ru-RU" dirty="0" err="1"/>
              <a:t>кейсів</a:t>
            </a:r>
            <a:r>
              <a:rPr lang="ru-RU" dirty="0"/>
              <a:t> та </a:t>
            </a:r>
            <a:r>
              <a:rPr lang="ru-RU" dirty="0" err="1"/>
              <a:t>порівняння</a:t>
            </a:r>
            <a:r>
              <a:rPr lang="ru-RU" dirty="0"/>
              <a:t> </a:t>
            </a:r>
            <a:r>
              <a:rPr lang="ru-RU" dirty="0" err="1"/>
              <a:t>отриманих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 з </a:t>
            </a:r>
            <a:r>
              <a:rPr lang="ru-RU" dirty="0" err="1"/>
              <a:t>очікуваними</a:t>
            </a:r>
            <a:r>
              <a:rPr lang="ru-RU" dirty="0"/>
              <a:t>. </a:t>
            </a:r>
            <a:r>
              <a:rPr lang="ru-RU" dirty="0" err="1"/>
              <a:t>Звіт</a:t>
            </a:r>
            <a:r>
              <a:rPr lang="ru-RU" dirty="0"/>
              <a:t> про </a:t>
            </a:r>
            <a:r>
              <a:rPr lang="ru-RU" dirty="0" err="1"/>
              <a:t>виявлені</a:t>
            </a:r>
            <a:r>
              <a:rPr lang="ru-RU" dirty="0"/>
              <a:t> </a:t>
            </a:r>
            <a:r>
              <a:rPr lang="ru-RU" dirty="0" err="1"/>
              <a:t>помилки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невідповідності</a:t>
            </a:r>
            <a:r>
              <a:rPr lang="ru-RU" dirty="0"/>
              <a:t>.</a:t>
            </a:r>
          </a:p>
          <a:p>
            <a:pPr algn="just"/>
            <a:r>
              <a:rPr lang="ru-RU" dirty="0"/>
              <a:t> </a:t>
            </a:r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функціональних</a:t>
            </a:r>
            <a:r>
              <a:rPr lang="ru-RU" dirty="0"/>
              <a:t> </a:t>
            </a:r>
            <a:r>
              <a:rPr lang="ru-RU" dirty="0" err="1"/>
              <a:t>тестів:Тестування</a:t>
            </a:r>
            <a:r>
              <a:rPr lang="ru-RU" dirty="0"/>
              <a:t> </a:t>
            </a:r>
            <a:r>
              <a:rPr lang="ru-RU" dirty="0" err="1"/>
              <a:t>користувацького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: </a:t>
            </a:r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ru-RU" dirty="0" err="1"/>
              <a:t>інтерфейсних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, таких як кнопки, </a:t>
            </a:r>
            <a:r>
              <a:rPr lang="ru-RU" dirty="0" err="1"/>
              <a:t>форми</a:t>
            </a:r>
            <a:r>
              <a:rPr lang="ru-RU" dirty="0"/>
              <a:t>, поля </a:t>
            </a:r>
            <a:r>
              <a:rPr lang="ru-RU" dirty="0" err="1"/>
              <a:t>введення</a:t>
            </a:r>
            <a:r>
              <a:rPr lang="ru-RU" dirty="0"/>
              <a:t>. </a:t>
            </a:r>
          </a:p>
          <a:p>
            <a:pPr algn="just"/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: </a:t>
            </a:r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ru-RU" dirty="0" err="1"/>
              <a:t>правильності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запитів</a:t>
            </a:r>
            <a:r>
              <a:rPr lang="ru-RU" dirty="0"/>
              <a:t> і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у </a:t>
            </a:r>
            <a:r>
              <a:rPr lang="ru-RU" dirty="0" err="1"/>
              <a:t>базі.Тестування</a:t>
            </a:r>
            <a:r>
              <a:rPr lang="ru-RU" dirty="0"/>
              <a:t> </a:t>
            </a:r>
            <a:r>
              <a:rPr lang="en-US" dirty="0"/>
              <a:t>API: </a:t>
            </a:r>
            <a:r>
              <a:rPr lang="ru-RU" dirty="0" err="1"/>
              <a:t>перевірка</a:t>
            </a:r>
            <a:r>
              <a:rPr lang="ru-RU" dirty="0"/>
              <a:t> того, як </a:t>
            </a:r>
            <a:r>
              <a:rPr lang="en-US" dirty="0"/>
              <a:t>API </a:t>
            </a:r>
            <a:r>
              <a:rPr lang="ru-RU" dirty="0" err="1"/>
              <a:t>взаємодіє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зовнішніми</a:t>
            </a:r>
            <a:r>
              <a:rPr lang="ru-RU" dirty="0"/>
              <a:t> системами.</a:t>
            </a:r>
          </a:p>
        </p:txBody>
      </p:sp>
    </p:spTree>
    <p:extLst>
      <p:ext uri="{BB962C8B-B14F-4D97-AF65-F5344CB8AC3E}">
        <p14:creationId xmlns:p14="http://schemas.microsoft.com/office/powerpoint/2010/main" val="296144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Переваги</a:t>
            </a:r>
            <a:r>
              <a:rPr lang="ru-RU" dirty="0"/>
              <a:t> </a:t>
            </a:r>
            <a:r>
              <a:rPr lang="ru-RU" dirty="0" err="1"/>
              <a:t>функціонального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виявити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r>
              <a:rPr lang="ru-RU" dirty="0"/>
              <a:t> на </a:t>
            </a:r>
            <a:r>
              <a:rPr lang="ru-RU" dirty="0" err="1"/>
              <a:t>рівні</a:t>
            </a:r>
            <a:r>
              <a:rPr lang="ru-RU" dirty="0"/>
              <a:t> </a:t>
            </a:r>
            <a:r>
              <a:rPr lang="ru-RU" dirty="0" err="1"/>
              <a:t>взаємодії</a:t>
            </a:r>
            <a:r>
              <a:rPr lang="ru-RU" dirty="0"/>
              <a:t> з </a:t>
            </a:r>
            <a:r>
              <a:rPr lang="ru-RU" dirty="0" err="1"/>
              <a:t>користувачем</a:t>
            </a:r>
            <a:r>
              <a:rPr lang="ru-RU" dirty="0"/>
              <a:t> і </a:t>
            </a:r>
            <a:r>
              <a:rPr lang="ru-RU" dirty="0" err="1"/>
              <a:t>відповідності</a:t>
            </a:r>
            <a:r>
              <a:rPr lang="ru-RU" dirty="0"/>
              <a:t> </a:t>
            </a:r>
            <a:r>
              <a:rPr lang="ru-RU" dirty="0" err="1"/>
              <a:t>бізнес-вимогам</a:t>
            </a:r>
            <a:r>
              <a:rPr lang="ru-RU" dirty="0"/>
              <a:t>. Не </a:t>
            </a:r>
            <a:r>
              <a:rPr lang="ru-RU" dirty="0" err="1"/>
              <a:t>вимагає</a:t>
            </a:r>
            <a:r>
              <a:rPr lang="ru-RU" dirty="0"/>
              <a:t> </a:t>
            </a:r>
            <a:r>
              <a:rPr lang="ru-RU" dirty="0" err="1"/>
              <a:t>знань</a:t>
            </a:r>
            <a:r>
              <a:rPr lang="ru-RU" dirty="0"/>
              <a:t> про </a:t>
            </a:r>
            <a:r>
              <a:rPr lang="ru-RU" dirty="0" err="1"/>
              <a:t>внутрішню</a:t>
            </a:r>
            <a:r>
              <a:rPr lang="ru-RU" dirty="0"/>
              <a:t> структуру коду, тому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виконувати</a:t>
            </a:r>
            <a:r>
              <a:rPr lang="ru-RU" dirty="0"/>
              <a:t> як </a:t>
            </a:r>
            <a:r>
              <a:rPr lang="ru-RU" dirty="0" err="1"/>
              <a:t>розробники</a:t>
            </a:r>
            <a:r>
              <a:rPr lang="ru-RU" dirty="0"/>
              <a:t>, так і </a:t>
            </a:r>
            <a:r>
              <a:rPr lang="ru-RU" dirty="0" err="1"/>
              <a:t>спеціалізовані</a:t>
            </a:r>
            <a:r>
              <a:rPr lang="ru-RU" dirty="0"/>
              <a:t> </a:t>
            </a:r>
            <a:r>
              <a:rPr lang="ru-RU" dirty="0" err="1"/>
              <a:t>тестувальники</a:t>
            </a:r>
            <a:r>
              <a:rPr lang="ru-RU" dirty="0"/>
              <a:t>. </a:t>
            </a:r>
            <a:r>
              <a:rPr lang="ru-RU" dirty="0" err="1"/>
              <a:t>Функціональне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критично </a:t>
            </a:r>
            <a:r>
              <a:rPr lang="ru-RU" dirty="0" err="1"/>
              <a:t>важливе</a:t>
            </a:r>
            <a:r>
              <a:rPr lang="ru-RU" dirty="0"/>
              <a:t> для </a:t>
            </a:r>
            <a:r>
              <a:rPr lang="ru-RU" dirty="0" err="1"/>
              <a:t>забезпечення</a:t>
            </a:r>
            <a:r>
              <a:rPr lang="ru-RU" dirty="0"/>
              <a:t> того,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працюють</a:t>
            </a:r>
            <a:r>
              <a:rPr lang="ru-RU" dirty="0"/>
              <a:t> як </a:t>
            </a:r>
            <a:r>
              <a:rPr lang="ru-RU" dirty="0" err="1"/>
              <a:t>передбачено</a:t>
            </a:r>
            <a:r>
              <a:rPr lang="ru-RU" dirty="0"/>
              <a:t>, і система готова до </a:t>
            </a:r>
            <a:r>
              <a:rPr lang="ru-RU" dirty="0" err="1"/>
              <a:t>роботи</a:t>
            </a:r>
            <a:r>
              <a:rPr lang="ru-RU" dirty="0"/>
              <a:t> на </a:t>
            </a:r>
            <a:r>
              <a:rPr lang="ru-RU" dirty="0" err="1"/>
              <a:t>практиці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8918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Нефункціональне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– </a:t>
            </a:r>
            <a:r>
              <a:rPr lang="ru-RU" dirty="0" err="1"/>
              <a:t>це</a:t>
            </a:r>
            <a:r>
              <a:rPr lang="ru-RU" dirty="0"/>
              <a:t> тип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перевіряє</a:t>
            </a:r>
            <a:r>
              <a:rPr lang="ru-RU" dirty="0"/>
              <a:t> </a:t>
            </a:r>
            <a:r>
              <a:rPr lang="ru-RU" dirty="0" err="1"/>
              <a:t>нефункціональні</a:t>
            </a:r>
            <a:r>
              <a:rPr lang="ru-RU" dirty="0"/>
              <a:t> </a:t>
            </a:r>
            <a:r>
              <a:rPr lang="ru-RU" dirty="0" err="1"/>
              <a:t>аспекти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, </a:t>
            </a:r>
            <a:r>
              <a:rPr lang="ru-RU" dirty="0" err="1"/>
              <a:t>тобто</a:t>
            </a:r>
            <a:r>
              <a:rPr lang="ru-RU" dirty="0"/>
              <a:t> як вона </a:t>
            </a:r>
            <a:r>
              <a:rPr lang="ru-RU" dirty="0" err="1"/>
              <a:t>виконує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, а не 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саме</a:t>
            </a:r>
            <a:r>
              <a:rPr lang="ru-RU" dirty="0"/>
              <a:t> вона </a:t>
            </a:r>
            <a:r>
              <a:rPr lang="ru-RU" dirty="0" err="1"/>
              <a:t>робить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спрямоване</a:t>
            </a:r>
            <a:r>
              <a:rPr lang="ru-RU" dirty="0"/>
              <a:t> на </a:t>
            </a:r>
            <a:r>
              <a:rPr lang="ru-RU" dirty="0" err="1"/>
              <a:t>оцінку</a:t>
            </a:r>
            <a:r>
              <a:rPr lang="ru-RU" dirty="0"/>
              <a:t> </a:t>
            </a:r>
            <a:r>
              <a:rPr lang="ru-RU" dirty="0" err="1"/>
              <a:t>продуктивності</a:t>
            </a:r>
            <a:r>
              <a:rPr lang="ru-RU" dirty="0"/>
              <a:t>, </a:t>
            </a:r>
            <a:r>
              <a:rPr lang="ru-RU" dirty="0" err="1"/>
              <a:t>надійності</a:t>
            </a:r>
            <a:r>
              <a:rPr lang="ru-RU" dirty="0"/>
              <a:t>, </a:t>
            </a:r>
            <a:r>
              <a:rPr lang="ru-RU" dirty="0" err="1"/>
              <a:t>безпеки</a:t>
            </a:r>
            <a:r>
              <a:rPr lang="ru-RU" dirty="0"/>
              <a:t>, </a:t>
            </a:r>
            <a:r>
              <a:rPr lang="ru-RU" dirty="0" err="1"/>
              <a:t>зручності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та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атрибутів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продукту.</a:t>
            </a:r>
          </a:p>
        </p:txBody>
      </p:sp>
    </p:spTree>
    <p:extLst>
      <p:ext uri="{BB962C8B-B14F-4D97-AF65-F5344CB8AC3E}">
        <p14:creationId xmlns:p14="http://schemas.microsoft.com/office/powerpoint/2010/main" val="250178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аспекти</a:t>
            </a:r>
            <a:r>
              <a:rPr lang="ru-RU" dirty="0"/>
              <a:t> </a:t>
            </a:r>
            <a:r>
              <a:rPr lang="ru-RU" dirty="0" err="1"/>
              <a:t>нефункціонального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тестується</a:t>
            </a:r>
            <a:r>
              <a:rPr lang="ru-RU" b="1" dirty="0"/>
              <a:t>:</a:t>
            </a:r>
            <a:endParaRPr lang="ru-RU" dirty="0"/>
          </a:p>
          <a:p>
            <a:r>
              <a:rPr lang="ru-RU" b="1" dirty="0" err="1"/>
              <a:t>Продуктивність</a:t>
            </a:r>
            <a:r>
              <a:rPr lang="ru-RU" dirty="0"/>
              <a:t>: </a:t>
            </a:r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ru-RU" dirty="0" err="1"/>
              <a:t>швидкості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, часу </a:t>
            </a:r>
            <a:r>
              <a:rPr lang="ru-RU" dirty="0" err="1"/>
              <a:t>відгуку</a:t>
            </a:r>
            <a:r>
              <a:rPr lang="ru-RU" dirty="0"/>
              <a:t>, </a:t>
            </a:r>
            <a:r>
              <a:rPr lang="ru-RU" dirty="0" err="1"/>
              <a:t>обробки</a:t>
            </a:r>
            <a:r>
              <a:rPr lang="ru-RU" dirty="0"/>
              <a:t> великих </a:t>
            </a:r>
            <a:r>
              <a:rPr lang="ru-RU" dirty="0" err="1"/>
              <a:t>обсягів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тощо</a:t>
            </a:r>
            <a:r>
              <a:rPr lang="ru-RU" dirty="0"/>
              <a:t>.</a:t>
            </a:r>
          </a:p>
          <a:p>
            <a:r>
              <a:rPr lang="ru-RU" b="1" dirty="0" err="1"/>
              <a:t>Масштабованість</a:t>
            </a:r>
            <a:r>
              <a:rPr lang="ru-RU" dirty="0"/>
              <a:t>: </a:t>
            </a:r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ru-RU" dirty="0" err="1"/>
              <a:t>здатності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коректно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при </a:t>
            </a:r>
            <a:r>
              <a:rPr lang="ru-RU" dirty="0" err="1"/>
              <a:t>збільшенні</a:t>
            </a:r>
            <a:r>
              <a:rPr lang="ru-RU" dirty="0"/>
              <a:t> </a:t>
            </a:r>
            <a:r>
              <a:rPr lang="ru-RU" dirty="0" err="1"/>
              <a:t>навантаження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обсягів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.</a:t>
            </a:r>
          </a:p>
          <a:p>
            <a:r>
              <a:rPr lang="ru-RU" b="1" dirty="0" err="1"/>
              <a:t>Надійність</a:t>
            </a:r>
            <a:r>
              <a:rPr lang="ru-RU" dirty="0"/>
              <a:t>: </a:t>
            </a:r>
            <a:r>
              <a:rPr lang="ru-RU" dirty="0" err="1"/>
              <a:t>оцінка</a:t>
            </a:r>
            <a:r>
              <a:rPr lang="ru-RU" dirty="0"/>
              <a:t> </a:t>
            </a:r>
            <a:r>
              <a:rPr lang="ru-RU" dirty="0" err="1"/>
              <a:t>стабільності</a:t>
            </a:r>
            <a:r>
              <a:rPr lang="ru-RU" dirty="0"/>
              <a:t> та </a:t>
            </a:r>
            <a:r>
              <a:rPr lang="ru-RU" dirty="0" err="1"/>
              <a:t>здатності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без </a:t>
            </a:r>
            <a:r>
              <a:rPr lang="ru-RU" dirty="0" err="1"/>
              <a:t>збоїв</a:t>
            </a:r>
            <a:r>
              <a:rPr lang="ru-RU" dirty="0"/>
              <a:t> </a:t>
            </a:r>
            <a:r>
              <a:rPr lang="ru-RU" dirty="0" err="1"/>
              <a:t>протягом</a:t>
            </a:r>
            <a:r>
              <a:rPr lang="ru-RU" dirty="0"/>
              <a:t> </a:t>
            </a:r>
            <a:r>
              <a:rPr lang="ru-RU" dirty="0" err="1"/>
              <a:t>тривалого</a:t>
            </a:r>
            <a:r>
              <a:rPr lang="ru-RU" dirty="0"/>
              <a:t> часу.</a:t>
            </a:r>
          </a:p>
          <a:p>
            <a:r>
              <a:rPr lang="ru-RU" b="1" dirty="0" err="1"/>
              <a:t>Безпека</a:t>
            </a:r>
            <a:r>
              <a:rPr lang="ru-RU" dirty="0"/>
              <a:t>: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здатності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протистояти</a:t>
            </a:r>
            <a:r>
              <a:rPr lang="ru-RU" dirty="0"/>
              <a:t> атакам, </a:t>
            </a:r>
            <a:r>
              <a:rPr lang="ru-RU" dirty="0" err="1"/>
              <a:t>запобігання</a:t>
            </a:r>
            <a:r>
              <a:rPr lang="ru-RU" dirty="0"/>
              <a:t> </a:t>
            </a:r>
            <a:r>
              <a:rPr lang="ru-RU" dirty="0" err="1"/>
              <a:t>несанкціонованому</a:t>
            </a:r>
            <a:r>
              <a:rPr lang="ru-RU" dirty="0"/>
              <a:t> доступу.</a:t>
            </a:r>
          </a:p>
          <a:p>
            <a:r>
              <a:rPr lang="ru-RU" b="1" dirty="0" err="1"/>
              <a:t>Юзабіліті</a:t>
            </a:r>
            <a:r>
              <a:rPr lang="ru-RU" b="1" dirty="0"/>
              <a:t> (</a:t>
            </a:r>
            <a:r>
              <a:rPr lang="ru-RU" b="1" dirty="0" err="1"/>
              <a:t>зручність</a:t>
            </a:r>
            <a:r>
              <a:rPr lang="ru-RU" b="1" dirty="0"/>
              <a:t> </a:t>
            </a:r>
            <a:r>
              <a:rPr lang="ru-RU" b="1" dirty="0" err="1"/>
              <a:t>використання</a:t>
            </a:r>
            <a:r>
              <a:rPr lang="ru-RU" b="1" dirty="0"/>
              <a:t>)</a:t>
            </a:r>
            <a:r>
              <a:rPr lang="ru-RU" dirty="0"/>
              <a:t>: </a:t>
            </a:r>
            <a:r>
              <a:rPr lang="ru-RU" dirty="0" err="1"/>
              <a:t>оцінка</a:t>
            </a:r>
            <a:r>
              <a:rPr lang="ru-RU" dirty="0"/>
              <a:t> того, </a:t>
            </a:r>
            <a:r>
              <a:rPr lang="ru-RU" dirty="0" err="1"/>
              <a:t>наскільки</a:t>
            </a:r>
            <a:r>
              <a:rPr lang="ru-RU" dirty="0"/>
              <a:t> легко і </a:t>
            </a:r>
            <a:r>
              <a:rPr lang="ru-RU" dirty="0" err="1"/>
              <a:t>інтуїтивно</a:t>
            </a:r>
            <a:r>
              <a:rPr lang="ru-RU" dirty="0"/>
              <a:t> </a:t>
            </a:r>
            <a:r>
              <a:rPr lang="ru-RU" dirty="0" err="1"/>
              <a:t>користувачам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з </a:t>
            </a:r>
            <a:r>
              <a:rPr lang="ru-RU" dirty="0" err="1"/>
              <a:t>інтерфейсом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b="1" dirty="0" err="1"/>
              <a:t>Сумісність</a:t>
            </a:r>
            <a:r>
              <a:rPr lang="ru-RU" dirty="0"/>
              <a:t>: </a:t>
            </a:r>
            <a:r>
              <a:rPr lang="ru-RU" dirty="0" err="1"/>
              <a:t>перевірка</a:t>
            </a:r>
            <a:r>
              <a:rPr lang="ru-RU" dirty="0"/>
              <a:t> того, як система </a:t>
            </a:r>
            <a:r>
              <a:rPr lang="ru-RU" dirty="0" err="1"/>
              <a:t>взаємодіє</a:t>
            </a:r>
            <a:r>
              <a:rPr lang="ru-RU" dirty="0"/>
              <a:t> з </a:t>
            </a:r>
            <a:r>
              <a:rPr lang="ru-RU" dirty="0" err="1"/>
              <a:t>різними</a:t>
            </a:r>
            <a:r>
              <a:rPr lang="ru-RU" dirty="0"/>
              <a:t> браузерами, </a:t>
            </a:r>
            <a:r>
              <a:rPr lang="ru-RU" dirty="0" err="1"/>
              <a:t>операційними</a:t>
            </a:r>
            <a:r>
              <a:rPr lang="ru-RU" dirty="0"/>
              <a:t> системами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іншими</a:t>
            </a:r>
            <a:r>
              <a:rPr lang="ru-RU" dirty="0"/>
              <a:t> </a:t>
            </a:r>
            <a:r>
              <a:rPr lang="ru-RU" dirty="0" err="1"/>
              <a:t>програмними</a:t>
            </a:r>
            <a:r>
              <a:rPr lang="ru-RU" dirty="0"/>
              <a:t> продуктами.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8855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200" y="419100"/>
            <a:ext cx="8813800" cy="60071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sz="2200" b="1" dirty="0"/>
              <a:t>2. Як проводиться: </a:t>
            </a:r>
          </a:p>
          <a:p>
            <a:pPr algn="just"/>
            <a:r>
              <a:rPr lang="ru-RU" sz="2000" dirty="0" err="1"/>
              <a:t>Нефункціональне</a:t>
            </a:r>
            <a:r>
              <a:rPr lang="ru-RU" sz="2000" dirty="0"/>
              <a:t> </a:t>
            </a:r>
            <a:r>
              <a:rPr lang="ru-RU" sz="2000" dirty="0" err="1"/>
              <a:t>тестування</a:t>
            </a:r>
            <a:r>
              <a:rPr lang="ru-RU" sz="2000" dirty="0"/>
              <a:t> часто </a:t>
            </a:r>
            <a:r>
              <a:rPr lang="ru-RU" sz="2000" dirty="0" err="1"/>
              <a:t>виконується</a:t>
            </a:r>
            <a:r>
              <a:rPr lang="ru-RU" sz="2000" dirty="0"/>
              <a:t> з </a:t>
            </a:r>
            <a:r>
              <a:rPr lang="ru-RU" sz="2000" dirty="0" err="1"/>
              <a:t>використанням</a:t>
            </a:r>
            <a:r>
              <a:rPr lang="ru-RU" sz="2000" dirty="0"/>
              <a:t> </a:t>
            </a:r>
            <a:r>
              <a:rPr lang="ru-RU" sz="2000" dirty="0" err="1"/>
              <a:t>спеціалізованих</a:t>
            </a:r>
            <a:r>
              <a:rPr lang="ru-RU" sz="2000" dirty="0"/>
              <a:t> </a:t>
            </a:r>
            <a:r>
              <a:rPr lang="ru-RU" sz="2000" dirty="0" err="1"/>
              <a:t>інструментів</a:t>
            </a:r>
            <a:r>
              <a:rPr lang="ru-RU" sz="2000" dirty="0"/>
              <a:t> для </a:t>
            </a:r>
            <a:r>
              <a:rPr lang="ru-RU" sz="2000" dirty="0" err="1"/>
              <a:t>моделювання</a:t>
            </a:r>
            <a:r>
              <a:rPr lang="ru-RU" sz="2000" dirty="0"/>
              <a:t> </a:t>
            </a:r>
            <a:r>
              <a:rPr lang="ru-RU" sz="2000" dirty="0" err="1"/>
              <a:t>навантаження</a:t>
            </a:r>
            <a:r>
              <a:rPr lang="ru-RU" sz="2000" dirty="0"/>
              <a:t>, </a:t>
            </a:r>
            <a:r>
              <a:rPr lang="ru-RU" sz="2000" dirty="0" err="1"/>
              <a:t>аналізу</a:t>
            </a:r>
            <a:r>
              <a:rPr lang="ru-RU" sz="2000" dirty="0"/>
              <a:t> </a:t>
            </a:r>
            <a:r>
              <a:rPr lang="ru-RU" sz="2000" dirty="0" err="1"/>
              <a:t>безпеки</a:t>
            </a:r>
            <a:r>
              <a:rPr lang="ru-RU" sz="2000" dirty="0"/>
              <a:t> та </a:t>
            </a:r>
            <a:r>
              <a:rPr lang="ru-RU" sz="2000" dirty="0" err="1"/>
              <a:t>вимірювання</a:t>
            </a:r>
            <a:r>
              <a:rPr lang="ru-RU" sz="2000" dirty="0"/>
              <a:t> </a:t>
            </a:r>
            <a:r>
              <a:rPr lang="ru-RU" sz="2000" dirty="0" err="1"/>
              <a:t>різних</a:t>
            </a:r>
            <a:r>
              <a:rPr lang="ru-RU" sz="2000" dirty="0"/>
              <a:t> </a:t>
            </a:r>
            <a:r>
              <a:rPr lang="ru-RU" sz="2000" dirty="0" err="1"/>
              <a:t>параметрів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/>
              <a:t>. На </a:t>
            </a:r>
            <a:r>
              <a:rPr lang="ru-RU" sz="2000" dirty="0" err="1"/>
              <a:t>відміну</a:t>
            </a:r>
            <a:r>
              <a:rPr lang="ru-RU" sz="2000" dirty="0"/>
              <a:t> </a:t>
            </a:r>
            <a:r>
              <a:rPr lang="ru-RU" sz="2000" dirty="0" err="1"/>
              <a:t>від</a:t>
            </a:r>
            <a:r>
              <a:rPr lang="ru-RU" sz="2000" dirty="0"/>
              <a:t> </a:t>
            </a:r>
            <a:r>
              <a:rPr lang="ru-RU" sz="2000" dirty="0" err="1"/>
              <a:t>функціонального</a:t>
            </a:r>
            <a:r>
              <a:rPr lang="ru-RU" sz="2000" dirty="0"/>
              <a:t> </a:t>
            </a:r>
            <a:r>
              <a:rPr lang="ru-RU" sz="2000" dirty="0" err="1"/>
              <a:t>тестування</a:t>
            </a:r>
            <a:r>
              <a:rPr lang="ru-RU" sz="2000" dirty="0"/>
              <a:t>, яке </a:t>
            </a:r>
            <a:r>
              <a:rPr lang="ru-RU" sz="2000" dirty="0" err="1"/>
              <a:t>спрямоване</a:t>
            </a:r>
            <a:r>
              <a:rPr lang="ru-RU" sz="2000" dirty="0"/>
              <a:t> на </a:t>
            </a:r>
            <a:r>
              <a:rPr lang="ru-RU" sz="2000" dirty="0" err="1"/>
              <a:t>перевірку</a:t>
            </a:r>
            <a:r>
              <a:rPr lang="ru-RU" sz="2000" dirty="0"/>
              <a:t> </a:t>
            </a:r>
            <a:r>
              <a:rPr lang="ru-RU" sz="2000" dirty="0" err="1"/>
              <a:t>правильності</a:t>
            </a:r>
            <a:r>
              <a:rPr lang="ru-RU" sz="2000" dirty="0"/>
              <a:t> </a:t>
            </a:r>
            <a:r>
              <a:rPr lang="ru-RU" sz="2000" dirty="0" err="1"/>
              <a:t>виконання</a:t>
            </a:r>
            <a:r>
              <a:rPr lang="ru-RU" sz="2000" dirty="0"/>
              <a:t> </a:t>
            </a:r>
            <a:r>
              <a:rPr lang="ru-RU" sz="2000" dirty="0" err="1"/>
              <a:t>функцій</a:t>
            </a:r>
            <a:r>
              <a:rPr lang="ru-RU" sz="2000" dirty="0"/>
              <a:t>, </a:t>
            </a:r>
            <a:r>
              <a:rPr lang="ru-RU" sz="2000" dirty="0" err="1"/>
              <a:t>нефункціональне</a:t>
            </a:r>
            <a:r>
              <a:rPr lang="ru-RU" sz="2000" dirty="0"/>
              <a:t> </a:t>
            </a:r>
            <a:r>
              <a:rPr lang="ru-RU" sz="2000" dirty="0" err="1"/>
              <a:t>тестування</a:t>
            </a:r>
            <a:r>
              <a:rPr lang="ru-RU" sz="2000" dirty="0"/>
              <a:t> </a:t>
            </a:r>
            <a:r>
              <a:rPr lang="ru-RU" sz="2000" dirty="0" err="1"/>
              <a:t>досліджує</a:t>
            </a:r>
            <a:r>
              <a:rPr lang="ru-RU" sz="2000" dirty="0"/>
              <a:t> "</a:t>
            </a:r>
            <a:r>
              <a:rPr lang="ru-RU" sz="2000" dirty="0" err="1"/>
              <a:t>якість</a:t>
            </a:r>
            <a:r>
              <a:rPr lang="ru-RU" sz="2000" dirty="0"/>
              <a:t>" </a:t>
            </a:r>
            <a:r>
              <a:rPr lang="ru-RU" sz="2000" dirty="0" err="1"/>
              <a:t>цих</a:t>
            </a:r>
            <a:r>
              <a:rPr lang="ru-RU" sz="2000" dirty="0"/>
              <a:t> </a:t>
            </a:r>
            <a:r>
              <a:rPr lang="ru-RU" sz="2000" dirty="0" err="1"/>
              <a:t>функцій</a:t>
            </a:r>
            <a:r>
              <a:rPr lang="ru-RU" sz="2000" dirty="0"/>
              <a:t> у </a:t>
            </a:r>
            <a:r>
              <a:rPr lang="ru-RU" sz="2000" dirty="0" err="1"/>
              <a:t>різних</a:t>
            </a:r>
            <a:r>
              <a:rPr lang="ru-RU" sz="2000" dirty="0"/>
              <a:t> </a:t>
            </a:r>
            <a:r>
              <a:rPr lang="ru-RU" sz="2000" dirty="0" err="1"/>
              <a:t>умовах</a:t>
            </a:r>
            <a:r>
              <a:rPr lang="ru-RU" sz="2000" dirty="0"/>
              <a:t>.</a:t>
            </a:r>
          </a:p>
          <a:p>
            <a:pPr marL="0" indent="0" algn="just">
              <a:buNone/>
            </a:pPr>
            <a:r>
              <a:rPr lang="ru-RU" sz="2000" b="1" dirty="0"/>
              <a:t>3. </a:t>
            </a:r>
            <a:r>
              <a:rPr lang="ru-RU" sz="2000" b="1" dirty="0" err="1"/>
              <a:t>Типи</a:t>
            </a:r>
            <a:r>
              <a:rPr lang="ru-RU" sz="2000" b="1" dirty="0"/>
              <a:t> </a:t>
            </a:r>
            <a:r>
              <a:rPr lang="ru-RU" sz="2000" b="1" dirty="0" err="1"/>
              <a:t>нефункціональних</a:t>
            </a:r>
            <a:r>
              <a:rPr lang="ru-RU" sz="2000" b="1" dirty="0"/>
              <a:t> </a:t>
            </a:r>
            <a:r>
              <a:rPr lang="ru-RU" sz="2000" b="1" dirty="0" err="1"/>
              <a:t>тестів</a:t>
            </a:r>
            <a:r>
              <a:rPr lang="ru-RU" sz="2000" b="1" dirty="0"/>
              <a:t>:</a:t>
            </a:r>
          </a:p>
          <a:p>
            <a:pPr algn="just"/>
            <a:r>
              <a:rPr lang="ru-RU" sz="2000" dirty="0" err="1"/>
              <a:t>Тестування</a:t>
            </a:r>
            <a:r>
              <a:rPr lang="ru-RU" sz="2000" dirty="0"/>
              <a:t> </a:t>
            </a:r>
            <a:r>
              <a:rPr lang="ru-RU" sz="2000" dirty="0" err="1"/>
              <a:t>продуктивності</a:t>
            </a:r>
            <a:r>
              <a:rPr lang="ru-RU" sz="2000" dirty="0"/>
              <a:t>: </a:t>
            </a:r>
            <a:r>
              <a:rPr lang="ru-RU" sz="2000" dirty="0" err="1"/>
              <a:t>визначає</a:t>
            </a:r>
            <a:r>
              <a:rPr lang="ru-RU" sz="2000" dirty="0"/>
              <a:t>, як система </a:t>
            </a:r>
            <a:r>
              <a:rPr lang="ru-RU" sz="2000" dirty="0" err="1"/>
              <a:t>працює</a:t>
            </a:r>
            <a:r>
              <a:rPr lang="ru-RU" sz="2000" dirty="0"/>
              <a:t> </a:t>
            </a:r>
            <a:r>
              <a:rPr lang="ru-RU" sz="2000" dirty="0" err="1"/>
              <a:t>під</a:t>
            </a:r>
            <a:r>
              <a:rPr lang="ru-RU" sz="2000" dirty="0"/>
              <a:t> </a:t>
            </a:r>
            <a:r>
              <a:rPr lang="ru-RU" sz="2000" dirty="0" err="1"/>
              <a:t>навантаженням</a:t>
            </a:r>
            <a:r>
              <a:rPr lang="ru-RU" sz="2000" dirty="0"/>
              <a:t>. </a:t>
            </a:r>
            <a:r>
              <a:rPr lang="ru-RU" sz="2000" dirty="0" err="1"/>
              <a:t>Приклади</a:t>
            </a:r>
            <a:r>
              <a:rPr lang="ru-RU" sz="2000" dirty="0"/>
              <a:t>: </a:t>
            </a:r>
            <a:r>
              <a:rPr lang="ru-RU" sz="2000" dirty="0" err="1"/>
              <a:t>тестування</a:t>
            </a:r>
            <a:r>
              <a:rPr lang="ru-RU" sz="2000" dirty="0"/>
              <a:t> </a:t>
            </a:r>
            <a:r>
              <a:rPr lang="ru-RU" sz="2000" dirty="0" err="1"/>
              <a:t>навантаження</a:t>
            </a:r>
            <a:r>
              <a:rPr lang="ru-RU" sz="2000" dirty="0"/>
              <a:t> (</a:t>
            </a:r>
            <a:r>
              <a:rPr lang="en-US" sz="2000" dirty="0"/>
              <a:t>Load Testing), </a:t>
            </a:r>
            <a:r>
              <a:rPr lang="ru-RU" sz="2000" dirty="0" err="1"/>
              <a:t>тестування</a:t>
            </a:r>
            <a:r>
              <a:rPr lang="ru-RU" sz="2000" dirty="0"/>
              <a:t> </a:t>
            </a:r>
            <a:r>
              <a:rPr lang="ru-RU" sz="2000" dirty="0" err="1"/>
              <a:t>стресу</a:t>
            </a:r>
            <a:r>
              <a:rPr lang="ru-RU" sz="2000" dirty="0"/>
              <a:t> (</a:t>
            </a:r>
            <a:r>
              <a:rPr lang="en-US" sz="2000" dirty="0"/>
              <a:t>Stress Testing), </a:t>
            </a:r>
            <a:r>
              <a:rPr lang="ru-RU" sz="2000" dirty="0" err="1"/>
              <a:t>тестування</a:t>
            </a:r>
            <a:r>
              <a:rPr lang="ru-RU" sz="2000" dirty="0"/>
              <a:t> </a:t>
            </a:r>
            <a:r>
              <a:rPr lang="ru-RU" sz="2000" dirty="0" err="1"/>
              <a:t>стабільності</a:t>
            </a:r>
            <a:r>
              <a:rPr lang="ru-RU" sz="2000" dirty="0"/>
              <a:t> (</a:t>
            </a:r>
            <a:r>
              <a:rPr lang="en-US" sz="2000" dirty="0"/>
              <a:t>Stability Testing).</a:t>
            </a:r>
            <a:endParaRPr lang="uk-UA" sz="2000" dirty="0"/>
          </a:p>
          <a:p>
            <a:pPr algn="just"/>
            <a:r>
              <a:rPr lang="ru-RU" sz="2000" dirty="0" err="1"/>
              <a:t>Тестування</a:t>
            </a:r>
            <a:r>
              <a:rPr lang="ru-RU" sz="2000" dirty="0"/>
              <a:t> </a:t>
            </a:r>
            <a:r>
              <a:rPr lang="ru-RU" sz="2000" dirty="0" err="1"/>
              <a:t>безпеки</a:t>
            </a:r>
            <a:r>
              <a:rPr lang="ru-RU" sz="2000" dirty="0"/>
              <a:t>: </a:t>
            </a:r>
            <a:r>
              <a:rPr lang="ru-RU" sz="2000" dirty="0" err="1"/>
              <a:t>включає</a:t>
            </a:r>
            <a:r>
              <a:rPr lang="ru-RU" sz="2000" dirty="0"/>
              <a:t> </a:t>
            </a:r>
            <a:r>
              <a:rPr lang="ru-RU" sz="2000" dirty="0" err="1"/>
              <a:t>перевірку</a:t>
            </a:r>
            <a:r>
              <a:rPr lang="ru-RU" sz="2000" dirty="0"/>
              <a:t> </a:t>
            </a:r>
            <a:r>
              <a:rPr lang="ru-RU" sz="2000" dirty="0" err="1"/>
              <a:t>можливостей</a:t>
            </a:r>
            <a:r>
              <a:rPr lang="ru-RU" sz="2000" dirty="0"/>
              <a:t> </a:t>
            </a:r>
            <a:r>
              <a:rPr lang="ru-RU" sz="2000" dirty="0" err="1"/>
              <a:t>захисту</a:t>
            </a:r>
            <a:r>
              <a:rPr lang="ru-RU" sz="2000" dirty="0"/>
              <a:t> </a:t>
            </a:r>
            <a:r>
              <a:rPr lang="ru-RU" sz="2000" dirty="0" err="1"/>
              <a:t>даних</a:t>
            </a:r>
            <a:r>
              <a:rPr lang="ru-RU" sz="2000" dirty="0"/>
              <a:t>, </a:t>
            </a:r>
            <a:r>
              <a:rPr lang="ru-RU" sz="2000" dirty="0" err="1"/>
              <a:t>автентифікації</a:t>
            </a:r>
            <a:r>
              <a:rPr lang="ru-RU" sz="2000" dirty="0"/>
              <a:t>, </a:t>
            </a:r>
            <a:r>
              <a:rPr lang="ru-RU" sz="2000" dirty="0" err="1"/>
              <a:t>авторизації</a:t>
            </a:r>
            <a:r>
              <a:rPr lang="ru-RU" sz="2000" dirty="0"/>
              <a:t>, </a:t>
            </a:r>
            <a:r>
              <a:rPr lang="ru-RU" sz="2000" dirty="0" err="1"/>
              <a:t>шифрування</a:t>
            </a:r>
            <a:r>
              <a:rPr lang="ru-RU" sz="2000" dirty="0"/>
              <a:t>, а </a:t>
            </a:r>
            <a:r>
              <a:rPr lang="ru-RU" sz="2000" dirty="0" err="1"/>
              <a:t>також</a:t>
            </a:r>
            <a:r>
              <a:rPr lang="ru-RU" sz="2000" dirty="0"/>
              <a:t> </a:t>
            </a:r>
            <a:r>
              <a:rPr lang="ru-RU" sz="2000" dirty="0" err="1"/>
              <a:t>виявлення</a:t>
            </a:r>
            <a:r>
              <a:rPr lang="ru-RU" sz="2000" dirty="0"/>
              <a:t> </a:t>
            </a:r>
            <a:r>
              <a:rPr lang="ru-RU" sz="2000" dirty="0" err="1"/>
              <a:t>вразливостей</a:t>
            </a:r>
            <a:r>
              <a:rPr lang="ru-RU" sz="2000" dirty="0"/>
              <a:t> (</a:t>
            </a:r>
            <a:r>
              <a:rPr lang="en-US" sz="2000" dirty="0"/>
              <a:t>Penetration Testing).</a:t>
            </a:r>
            <a:endParaRPr lang="uk-UA" sz="2000" dirty="0"/>
          </a:p>
          <a:p>
            <a:pPr algn="just"/>
            <a:r>
              <a:rPr lang="ru-RU" sz="2000" dirty="0" err="1"/>
              <a:t>Тестування</a:t>
            </a:r>
            <a:r>
              <a:rPr lang="ru-RU" sz="2000" dirty="0"/>
              <a:t> </a:t>
            </a:r>
            <a:r>
              <a:rPr lang="ru-RU" sz="2000" dirty="0" err="1"/>
              <a:t>юзабіліті</a:t>
            </a:r>
            <a:r>
              <a:rPr lang="ru-RU" sz="2000" dirty="0"/>
              <a:t>: </a:t>
            </a:r>
            <a:r>
              <a:rPr lang="ru-RU" sz="2000" dirty="0" err="1"/>
              <a:t>оцінює</a:t>
            </a:r>
            <a:r>
              <a:rPr lang="ru-RU" sz="2000" dirty="0"/>
              <a:t>, </a:t>
            </a:r>
            <a:r>
              <a:rPr lang="ru-RU" sz="2000" dirty="0" err="1"/>
              <a:t>наскільки</a:t>
            </a:r>
            <a:r>
              <a:rPr lang="ru-RU" sz="2000" dirty="0"/>
              <a:t> </a:t>
            </a:r>
            <a:r>
              <a:rPr lang="ru-RU" sz="2000" dirty="0" err="1"/>
              <a:t>зручна</a:t>
            </a:r>
            <a:r>
              <a:rPr lang="ru-RU" sz="2000" dirty="0"/>
              <a:t> система для </a:t>
            </a:r>
            <a:r>
              <a:rPr lang="ru-RU" sz="2000" dirty="0" err="1"/>
              <a:t>кінцевого</a:t>
            </a:r>
            <a:r>
              <a:rPr lang="ru-RU" sz="2000" dirty="0"/>
              <a:t> </a:t>
            </a:r>
            <a:r>
              <a:rPr lang="ru-RU" sz="2000" dirty="0" err="1"/>
              <a:t>користувача</a:t>
            </a:r>
            <a:r>
              <a:rPr lang="ru-RU" sz="2000" dirty="0"/>
              <a:t>. Часто </a:t>
            </a:r>
            <a:r>
              <a:rPr lang="ru-RU" sz="2000" dirty="0" err="1"/>
              <a:t>включає</a:t>
            </a:r>
            <a:r>
              <a:rPr lang="ru-RU" sz="2000" dirty="0"/>
              <a:t> </a:t>
            </a:r>
            <a:r>
              <a:rPr lang="ru-RU" sz="2000" dirty="0" err="1"/>
              <a:t>проведення</a:t>
            </a:r>
            <a:r>
              <a:rPr lang="ru-RU" sz="2000" dirty="0"/>
              <a:t> </a:t>
            </a:r>
            <a:r>
              <a:rPr lang="ru-RU" sz="2000" dirty="0" err="1"/>
              <a:t>досліджень</a:t>
            </a:r>
            <a:r>
              <a:rPr lang="ru-RU" sz="2000" dirty="0"/>
              <a:t> з </a:t>
            </a:r>
            <a:r>
              <a:rPr lang="ru-RU" sz="2000" dirty="0" err="1"/>
              <a:t>реальними</a:t>
            </a:r>
            <a:r>
              <a:rPr lang="ru-RU" sz="2000" dirty="0"/>
              <a:t> </a:t>
            </a:r>
            <a:r>
              <a:rPr lang="ru-RU" sz="2000" dirty="0" err="1"/>
              <a:t>користувачами</a:t>
            </a:r>
            <a:r>
              <a:rPr lang="ru-RU" sz="2000" dirty="0"/>
              <a:t> для </a:t>
            </a:r>
            <a:r>
              <a:rPr lang="ru-RU" sz="2000" dirty="0" err="1"/>
              <a:t>оцінки</a:t>
            </a:r>
            <a:r>
              <a:rPr lang="ru-RU" sz="2000" dirty="0"/>
              <a:t> </a:t>
            </a:r>
            <a:r>
              <a:rPr lang="ru-RU" sz="2000" dirty="0" err="1"/>
              <a:t>їхньої</a:t>
            </a:r>
            <a:r>
              <a:rPr lang="ru-RU" sz="2000" dirty="0"/>
              <a:t> </a:t>
            </a:r>
            <a:r>
              <a:rPr lang="ru-RU" sz="2000" dirty="0" err="1"/>
              <a:t>взаємодії</a:t>
            </a:r>
            <a:r>
              <a:rPr lang="ru-RU" sz="2000" dirty="0"/>
              <a:t> з  </a:t>
            </a:r>
            <a:r>
              <a:rPr lang="ru-RU" sz="2000" dirty="0" err="1"/>
              <a:t>родуктом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 err="1"/>
              <a:t>Тестування</a:t>
            </a:r>
            <a:r>
              <a:rPr lang="ru-RU" sz="2000" dirty="0"/>
              <a:t> </a:t>
            </a:r>
            <a:r>
              <a:rPr lang="ru-RU" sz="2000" dirty="0" err="1"/>
              <a:t>надійності</a:t>
            </a:r>
            <a:r>
              <a:rPr lang="ru-RU" sz="2000" dirty="0"/>
              <a:t>: </a:t>
            </a:r>
            <a:r>
              <a:rPr lang="ru-RU" sz="2000" dirty="0" err="1"/>
              <a:t>вимірює</a:t>
            </a:r>
            <a:r>
              <a:rPr lang="ru-RU" sz="2000" dirty="0"/>
              <a:t> </a:t>
            </a:r>
            <a:r>
              <a:rPr lang="ru-RU" sz="2000" dirty="0" err="1"/>
              <a:t>здатність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/>
              <a:t> </a:t>
            </a:r>
            <a:r>
              <a:rPr lang="ru-RU" sz="2000" dirty="0" err="1"/>
              <a:t>функціонувати</a:t>
            </a:r>
            <a:r>
              <a:rPr lang="ru-RU" sz="2000" dirty="0"/>
              <a:t> без </a:t>
            </a:r>
            <a:r>
              <a:rPr lang="ru-RU" sz="2000" dirty="0" err="1"/>
              <a:t>помилок</a:t>
            </a:r>
            <a:r>
              <a:rPr lang="ru-RU" sz="2000" dirty="0"/>
              <a:t> </a:t>
            </a:r>
            <a:r>
              <a:rPr lang="ru-RU" sz="2000" dirty="0" err="1"/>
              <a:t>протягом</a:t>
            </a:r>
            <a:r>
              <a:rPr lang="ru-RU" sz="2000" dirty="0"/>
              <a:t> </a:t>
            </a:r>
            <a:r>
              <a:rPr lang="ru-RU" sz="2000" dirty="0" err="1"/>
              <a:t>певного</a:t>
            </a:r>
            <a:r>
              <a:rPr lang="ru-RU" sz="2000" dirty="0"/>
              <a:t> </a:t>
            </a:r>
            <a:r>
              <a:rPr lang="ru-RU" sz="2000" dirty="0" err="1"/>
              <a:t>часу.Тестування</a:t>
            </a:r>
            <a:r>
              <a:rPr lang="ru-RU" sz="2000" dirty="0"/>
              <a:t> </a:t>
            </a:r>
            <a:r>
              <a:rPr lang="ru-RU" sz="2000" dirty="0" err="1"/>
              <a:t>сумісності</a:t>
            </a:r>
            <a:r>
              <a:rPr lang="ru-RU" sz="2000" dirty="0"/>
              <a:t>: </a:t>
            </a:r>
            <a:r>
              <a:rPr lang="ru-RU" sz="2000" dirty="0" err="1"/>
              <a:t>перевіряє</a:t>
            </a:r>
            <a:r>
              <a:rPr lang="ru-RU" sz="2000" dirty="0"/>
              <a:t> </a:t>
            </a:r>
            <a:r>
              <a:rPr lang="ru-RU" sz="2000" dirty="0" err="1"/>
              <a:t>коректну</a:t>
            </a:r>
            <a:r>
              <a:rPr lang="ru-RU" sz="2000" dirty="0"/>
              <a:t> роботу </a:t>
            </a:r>
            <a:r>
              <a:rPr lang="ru-RU" sz="2000" dirty="0" err="1"/>
              <a:t>системи</a:t>
            </a:r>
            <a:r>
              <a:rPr lang="ru-RU" sz="2000" dirty="0"/>
              <a:t> на </a:t>
            </a:r>
            <a:r>
              <a:rPr lang="ru-RU" sz="2000" dirty="0" err="1"/>
              <a:t>різних</a:t>
            </a:r>
            <a:r>
              <a:rPr lang="ru-RU" sz="2000" dirty="0"/>
              <a:t> </a:t>
            </a:r>
            <a:r>
              <a:rPr lang="ru-RU" sz="2000" dirty="0" err="1"/>
              <a:t>пристроях</a:t>
            </a:r>
            <a:r>
              <a:rPr lang="ru-RU" sz="2000" dirty="0"/>
              <a:t>, </a:t>
            </a:r>
            <a:r>
              <a:rPr lang="ru-RU" sz="2000" dirty="0" err="1"/>
              <a:t>операційних</a:t>
            </a:r>
            <a:r>
              <a:rPr lang="ru-RU" sz="2000" dirty="0"/>
              <a:t> системах, браузерах </a:t>
            </a:r>
            <a:r>
              <a:rPr lang="ru-RU" sz="2000" dirty="0" err="1"/>
              <a:t>або</a:t>
            </a:r>
            <a:r>
              <a:rPr lang="ru-RU" sz="2000" dirty="0"/>
              <a:t> з </a:t>
            </a:r>
            <a:r>
              <a:rPr lang="ru-RU" sz="2000" dirty="0" err="1"/>
              <a:t>іншими</a:t>
            </a:r>
            <a:r>
              <a:rPr lang="ru-RU" sz="2000" dirty="0"/>
              <a:t> системами.</a:t>
            </a:r>
          </a:p>
        </p:txBody>
      </p:sp>
    </p:spTree>
    <p:extLst>
      <p:ext uri="{BB962C8B-B14F-4D97-AF65-F5344CB8AC3E}">
        <p14:creationId xmlns:p14="http://schemas.microsoft.com/office/powerpoint/2010/main" val="972719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50900"/>
            <a:ext cx="8089900" cy="52752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4. </a:t>
            </a:r>
            <a:r>
              <a:rPr lang="ru-RU" b="1" dirty="0" err="1"/>
              <a:t>Основні</a:t>
            </a:r>
            <a:r>
              <a:rPr lang="ru-RU" b="1" dirty="0"/>
              <a:t> кроки </a:t>
            </a:r>
            <a:r>
              <a:rPr lang="ru-RU" b="1" dirty="0" err="1"/>
              <a:t>нефункціонального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r>
              <a:rPr lang="ru-RU" b="1" dirty="0"/>
              <a:t>:</a:t>
            </a:r>
            <a:endParaRPr lang="ru-RU" dirty="0"/>
          </a:p>
          <a:p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нефункціональних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вимог</a:t>
            </a:r>
            <a:r>
              <a:rPr lang="ru-RU" dirty="0"/>
              <a:t> до </a:t>
            </a:r>
            <a:r>
              <a:rPr lang="ru-RU" dirty="0" err="1"/>
              <a:t>продуктивності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безпеки</a:t>
            </a:r>
            <a:r>
              <a:rPr lang="ru-RU" dirty="0"/>
              <a:t>.</a:t>
            </a:r>
          </a:p>
          <a:p>
            <a:r>
              <a:rPr lang="ru-RU" dirty="0" err="1"/>
              <a:t>Вибір</a:t>
            </a:r>
            <a:r>
              <a:rPr lang="ru-RU" dirty="0"/>
              <a:t> </a:t>
            </a:r>
            <a:r>
              <a:rPr lang="ru-RU" dirty="0" err="1"/>
              <a:t>інструментів</a:t>
            </a:r>
            <a:r>
              <a:rPr lang="ru-RU" dirty="0"/>
              <a:t> для </a:t>
            </a:r>
            <a:r>
              <a:rPr lang="ru-RU" dirty="0" err="1"/>
              <a:t>тестування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en-US" dirty="0" err="1"/>
              <a:t>JMeter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ru-RU" dirty="0" err="1"/>
              <a:t>навантажувального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, </a:t>
            </a:r>
            <a:r>
              <a:rPr lang="en-US" dirty="0"/>
              <a:t>OWASP ZAP </a:t>
            </a:r>
            <a:r>
              <a:rPr lang="ru-RU" dirty="0"/>
              <a:t>для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безпеки</a:t>
            </a:r>
            <a:r>
              <a:rPr lang="ru-RU" dirty="0"/>
              <a:t>).</a:t>
            </a:r>
          </a:p>
          <a:p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різними</a:t>
            </a:r>
            <a:r>
              <a:rPr lang="ru-RU" dirty="0"/>
              <a:t> </a:t>
            </a:r>
            <a:r>
              <a:rPr lang="ru-RU" dirty="0" err="1"/>
              <a:t>умовами</a:t>
            </a:r>
            <a:r>
              <a:rPr lang="ru-RU" dirty="0"/>
              <a:t>.</a:t>
            </a:r>
          </a:p>
          <a:p>
            <a:r>
              <a:rPr lang="ru-RU" dirty="0" err="1"/>
              <a:t>Оцінка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 і </a:t>
            </a:r>
            <a:r>
              <a:rPr lang="ru-RU" dirty="0" err="1"/>
              <a:t>підготовка</a:t>
            </a:r>
            <a:r>
              <a:rPr lang="ru-RU" dirty="0"/>
              <a:t> </a:t>
            </a:r>
            <a:r>
              <a:rPr lang="ru-RU" dirty="0" err="1"/>
              <a:t>звіту</a:t>
            </a:r>
            <a:r>
              <a:rPr lang="ru-RU" dirty="0"/>
              <a:t> з </a:t>
            </a:r>
            <a:r>
              <a:rPr lang="ru-RU" dirty="0" err="1"/>
              <a:t>виявленими</a:t>
            </a:r>
            <a:r>
              <a:rPr lang="ru-RU" dirty="0"/>
              <a:t> проблемами.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8089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Переваги</a:t>
            </a:r>
            <a:r>
              <a:rPr lang="ru-RU" dirty="0"/>
              <a:t> </a:t>
            </a:r>
            <a:r>
              <a:rPr lang="ru-RU" dirty="0" err="1"/>
              <a:t>нефункціонального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902200"/>
          </a:xfrm>
        </p:spPr>
        <p:txBody>
          <a:bodyPr>
            <a:normAutofit fontScale="85000" lnSpcReduction="10000"/>
          </a:bodyPr>
          <a:lstStyle/>
          <a:p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оцінити</a:t>
            </a:r>
            <a:r>
              <a:rPr lang="ru-RU" dirty="0"/>
              <a:t>,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продукт </a:t>
            </a:r>
            <a:r>
              <a:rPr lang="ru-RU" dirty="0" err="1"/>
              <a:t>вимогам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, таким як </a:t>
            </a:r>
            <a:r>
              <a:rPr lang="ru-RU" dirty="0" err="1"/>
              <a:t>продуктивність</a:t>
            </a:r>
            <a:r>
              <a:rPr lang="ru-RU" dirty="0"/>
              <a:t>, </a:t>
            </a:r>
            <a:r>
              <a:rPr lang="ru-RU" dirty="0" err="1"/>
              <a:t>безпека</a:t>
            </a:r>
            <a:r>
              <a:rPr lang="ru-RU" dirty="0"/>
              <a:t>, </a:t>
            </a:r>
            <a:r>
              <a:rPr lang="ru-RU" dirty="0" err="1"/>
              <a:t>зручність</a:t>
            </a:r>
            <a:r>
              <a:rPr lang="ru-RU" dirty="0"/>
              <a:t> і </a:t>
            </a:r>
            <a:r>
              <a:rPr lang="ru-RU" dirty="0" err="1"/>
              <a:t>сумісність</a:t>
            </a:r>
            <a:r>
              <a:rPr lang="ru-RU" dirty="0"/>
              <a:t>.</a:t>
            </a:r>
          </a:p>
          <a:p>
            <a:r>
              <a:rPr lang="ru-RU" dirty="0" err="1"/>
              <a:t>Дає</a:t>
            </a:r>
            <a:r>
              <a:rPr lang="ru-RU" dirty="0"/>
              <a:t> </a:t>
            </a:r>
            <a:r>
              <a:rPr lang="ru-RU" dirty="0" err="1"/>
              <a:t>змогу</a:t>
            </a:r>
            <a:r>
              <a:rPr lang="ru-RU" dirty="0"/>
              <a:t> </a:t>
            </a:r>
            <a:r>
              <a:rPr lang="ru-RU" dirty="0" err="1"/>
              <a:t>уникнути</a:t>
            </a:r>
            <a:r>
              <a:rPr lang="ru-RU" dirty="0"/>
              <a:t> </a:t>
            </a:r>
            <a:r>
              <a:rPr lang="ru-RU" dirty="0" err="1"/>
              <a:t>критичних</a:t>
            </a:r>
            <a:r>
              <a:rPr lang="ru-RU" dirty="0"/>
              <a:t> проблем, </a:t>
            </a:r>
            <a:r>
              <a:rPr lang="ru-RU" dirty="0" err="1"/>
              <a:t>пов'язаних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перевантаженням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, </a:t>
            </a:r>
            <a:r>
              <a:rPr lang="ru-RU" dirty="0" err="1"/>
              <a:t>збоями</a:t>
            </a:r>
            <a:r>
              <a:rPr lang="ru-RU" dirty="0"/>
              <a:t> при </a:t>
            </a:r>
            <a:r>
              <a:rPr lang="ru-RU" dirty="0" err="1"/>
              <a:t>високому</a:t>
            </a:r>
            <a:r>
              <a:rPr lang="ru-RU" dirty="0"/>
              <a:t> </a:t>
            </a:r>
            <a:r>
              <a:rPr lang="ru-RU" dirty="0" err="1"/>
              <a:t>навантаженні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атакою з боку </a:t>
            </a:r>
            <a:r>
              <a:rPr lang="ru-RU" dirty="0" err="1"/>
              <a:t>хакерів</a:t>
            </a:r>
            <a:r>
              <a:rPr lang="ru-RU" dirty="0"/>
              <a:t>.</a:t>
            </a:r>
          </a:p>
          <a:p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задоволення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r>
              <a:rPr lang="ru-RU" dirty="0"/>
              <a:t>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оцінці</a:t>
            </a:r>
            <a:r>
              <a:rPr lang="ru-RU" dirty="0"/>
              <a:t> </a:t>
            </a:r>
            <a:r>
              <a:rPr lang="ru-RU" dirty="0" err="1"/>
              <a:t>зручності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та </a:t>
            </a:r>
            <a:r>
              <a:rPr lang="ru-RU" dirty="0" err="1"/>
              <a:t>стабільності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dirty="0" err="1"/>
              <a:t>Нефункціональне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є </a:t>
            </a:r>
            <a:r>
              <a:rPr lang="ru-RU" dirty="0" err="1"/>
              <a:t>ключовим</a:t>
            </a:r>
            <a:r>
              <a:rPr lang="ru-RU" dirty="0"/>
              <a:t> для </a:t>
            </a:r>
            <a:r>
              <a:rPr lang="ru-RU" dirty="0" err="1"/>
              <a:t>забезпечення</a:t>
            </a:r>
            <a:r>
              <a:rPr lang="ru-RU" dirty="0"/>
              <a:t>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програмний</a:t>
            </a:r>
            <a:r>
              <a:rPr lang="ru-RU" dirty="0"/>
              <a:t> продукт не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працював</a:t>
            </a:r>
            <a:r>
              <a:rPr lang="ru-RU" dirty="0"/>
              <a:t> правильно, але й </a:t>
            </a:r>
            <a:r>
              <a:rPr lang="ru-RU" dirty="0" err="1"/>
              <a:t>відповідав</a:t>
            </a:r>
            <a:r>
              <a:rPr lang="ru-RU" dirty="0"/>
              <a:t> </a:t>
            </a:r>
            <a:r>
              <a:rPr lang="ru-RU" dirty="0" err="1"/>
              <a:t>вимогам</a:t>
            </a:r>
            <a:r>
              <a:rPr lang="ru-RU" dirty="0"/>
              <a:t> до </a:t>
            </a:r>
            <a:r>
              <a:rPr lang="ru-RU" dirty="0" err="1"/>
              <a:t>якості</a:t>
            </a:r>
            <a:r>
              <a:rPr lang="ru-RU" dirty="0"/>
              <a:t> та </a:t>
            </a:r>
            <a:r>
              <a:rPr lang="ru-RU" dirty="0" err="1"/>
              <a:t>надійності</a:t>
            </a:r>
            <a:r>
              <a:rPr lang="ru-RU" dirty="0"/>
              <a:t> в </a:t>
            </a:r>
            <a:r>
              <a:rPr lang="ru-RU" dirty="0" err="1"/>
              <a:t>реальних</a:t>
            </a:r>
            <a:r>
              <a:rPr lang="ru-RU" dirty="0"/>
              <a:t> </a:t>
            </a:r>
            <a:r>
              <a:rPr lang="ru-RU" dirty="0" err="1"/>
              <a:t>умовах</a:t>
            </a:r>
            <a:r>
              <a:rPr lang="ru-RU" dirty="0"/>
              <a:t> </a:t>
            </a:r>
            <a:r>
              <a:rPr lang="ru-RU" dirty="0" err="1"/>
              <a:t>експлуатації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166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Автоматизоване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err="1"/>
              <a:t>Автоматизоване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передбачає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спеціальних</a:t>
            </a:r>
            <a:r>
              <a:rPr lang="ru-RU" dirty="0"/>
              <a:t> </a:t>
            </a:r>
            <a:r>
              <a:rPr lang="ru-RU" dirty="0" err="1"/>
              <a:t>програмних</a:t>
            </a:r>
            <a:r>
              <a:rPr lang="ru-RU" dirty="0"/>
              <a:t> </a:t>
            </a:r>
            <a:r>
              <a:rPr lang="ru-RU" dirty="0" err="1"/>
              <a:t>інструментів</a:t>
            </a:r>
            <a:r>
              <a:rPr lang="ru-RU" dirty="0"/>
              <a:t> для </a:t>
            </a:r>
            <a:r>
              <a:rPr lang="ru-RU" dirty="0" err="1"/>
              <a:t>автоматизації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. </a:t>
            </a:r>
          </a:p>
          <a:p>
            <a:r>
              <a:rPr lang="ru-RU" dirty="0" err="1"/>
              <a:t>Скрипти</a:t>
            </a:r>
            <a:r>
              <a:rPr lang="ru-RU" dirty="0"/>
              <a:t>, </a:t>
            </a:r>
            <a:r>
              <a:rPr lang="ru-RU" dirty="0" err="1"/>
              <a:t>написані</a:t>
            </a:r>
            <a:r>
              <a:rPr lang="ru-RU" dirty="0"/>
              <a:t> </a:t>
            </a:r>
            <a:r>
              <a:rPr lang="ru-RU" dirty="0" err="1"/>
              <a:t>тестувальниками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розробниками</a:t>
            </a:r>
            <a:r>
              <a:rPr lang="ru-RU" dirty="0"/>
              <a:t>, автоматично </a:t>
            </a:r>
            <a:r>
              <a:rPr lang="ru-RU" dirty="0" err="1"/>
              <a:t>виконують</a:t>
            </a:r>
            <a:r>
              <a:rPr lang="ru-RU" dirty="0"/>
              <a:t> </a:t>
            </a:r>
            <a:r>
              <a:rPr lang="ru-RU" dirty="0" err="1"/>
              <a:t>тестові</a:t>
            </a:r>
            <a:r>
              <a:rPr lang="ru-RU" dirty="0"/>
              <a:t> </a:t>
            </a:r>
            <a:r>
              <a:rPr lang="ru-RU" dirty="0" err="1"/>
              <a:t>сценарії</a:t>
            </a:r>
            <a:r>
              <a:rPr lang="ru-RU" dirty="0"/>
              <a:t> та </a:t>
            </a:r>
            <a:r>
              <a:rPr lang="ru-RU" dirty="0" err="1"/>
              <a:t>перевіряють</a:t>
            </a:r>
            <a:r>
              <a:rPr lang="ru-RU" dirty="0"/>
              <a:t> </a:t>
            </a:r>
            <a:r>
              <a:rPr lang="ru-RU" dirty="0" err="1"/>
              <a:t>результати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 err="1"/>
              <a:t>Приклади</a:t>
            </a:r>
            <a:r>
              <a:rPr lang="ru-RU" b="1" dirty="0"/>
              <a:t> </a:t>
            </a:r>
            <a:r>
              <a:rPr lang="ru-RU" b="1" dirty="0" err="1"/>
              <a:t>інструментів</a:t>
            </a:r>
            <a:r>
              <a:rPr lang="ru-RU" b="1" dirty="0"/>
              <a:t> для </a:t>
            </a:r>
            <a:r>
              <a:rPr lang="ru-RU" b="1" dirty="0" err="1"/>
              <a:t>автоматизованого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r>
              <a:rPr lang="ru-RU" b="1" dirty="0"/>
              <a:t>:</a:t>
            </a:r>
          </a:p>
          <a:p>
            <a:r>
              <a:rPr lang="en-US" dirty="0"/>
              <a:t>Selenium, </a:t>
            </a:r>
            <a:r>
              <a:rPr lang="en-US" dirty="0" err="1"/>
              <a:t>JUnit</a:t>
            </a:r>
            <a:r>
              <a:rPr lang="en-US" dirty="0"/>
              <a:t>, </a:t>
            </a:r>
            <a:r>
              <a:rPr lang="en-US" dirty="0" err="1"/>
              <a:t>TestNG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ru-RU" dirty="0" err="1"/>
              <a:t>тестування</a:t>
            </a:r>
            <a:r>
              <a:rPr lang="ru-RU" dirty="0"/>
              <a:t> веб-</a:t>
            </a:r>
            <a:r>
              <a:rPr lang="ru-RU" dirty="0" err="1"/>
              <a:t>додатків</a:t>
            </a:r>
            <a:r>
              <a:rPr lang="ru-RU" dirty="0"/>
              <a:t>.</a:t>
            </a:r>
          </a:p>
          <a:p>
            <a:r>
              <a:rPr lang="en-US" dirty="0" err="1"/>
              <a:t>JMeter</a:t>
            </a:r>
            <a:r>
              <a:rPr lang="en-US" dirty="0"/>
              <a:t>, </a:t>
            </a:r>
            <a:r>
              <a:rPr lang="en-US" dirty="0" err="1"/>
              <a:t>LoadRunner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навантаження</a:t>
            </a:r>
            <a:r>
              <a:rPr lang="ru-RU" dirty="0"/>
              <a:t>.</a:t>
            </a:r>
          </a:p>
          <a:p>
            <a:r>
              <a:rPr lang="en-US" dirty="0" err="1"/>
              <a:t>Appium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ru-RU" dirty="0" err="1"/>
              <a:t>мобільних</a:t>
            </a:r>
            <a:r>
              <a:rPr lang="ru-RU" dirty="0"/>
              <a:t> </a:t>
            </a:r>
            <a:r>
              <a:rPr lang="ru-RU" dirty="0" err="1"/>
              <a:t>додатків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1510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19100"/>
            <a:ext cx="8229600" cy="61849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 err="1"/>
              <a:t>Переваги</a:t>
            </a:r>
            <a:r>
              <a:rPr lang="ru-RU" b="1" dirty="0"/>
              <a:t>:</a:t>
            </a:r>
          </a:p>
          <a:p>
            <a:pPr algn="just"/>
            <a:r>
              <a:rPr lang="ru-RU" b="1" dirty="0" err="1"/>
              <a:t>Швидкість</a:t>
            </a:r>
            <a:r>
              <a:rPr lang="ru-RU" dirty="0"/>
              <a:t>: </a:t>
            </a:r>
            <a:r>
              <a:rPr lang="ru-RU" dirty="0" err="1"/>
              <a:t>Автоматизовані</a:t>
            </a:r>
            <a:r>
              <a:rPr lang="ru-RU" dirty="0"/>
              <a:t> тести </a:t>
            </a:r>
            <a:r>
              <a:rPr lang="ru-RU" dirty="0" err="1"/>
              <a:t>виконуються</a:t>
            </a:r>
            <a:r>
              <a:rPr lang="ru-RU" dirty="0"/>
              <a:t> </a:t>
            </a:r>
            <a:r>
              <a:rPr lang="ru-RU" dirty="0" err="1"/>
              <a:t>значно</a:t>
            </a:r>
            <a:r>
              <a:rPr lang="ru-RU" dirty="0"/>
              <a:t> </a:t>
            </a:r>
            <a:r>
              <a:rPr lang="ru-RU" dirty="0" err="1"/>
              <a:t>швидше</a:t>
            </a:r>
            <a:r>
              <a:rPr lang="ru-RU" dirty="0"/>
              <a:t>, </a:t>
            </a:r>
            <a:r>
              <a:rPr lang="ru-RU" dirty="0" err="1"/>
              <a:t>ніж</a:t>
            </a:r>
            <a:r>
              <a:rPr lang="ru-RU" dirty="0"/>
              <a:t> </a:t>
            </a:r>
            <a:r>
              <a:rPr lang="ru-RU" dirty="0" err="1"/>
              <a:t>ручні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особливо </a:t>
            </a:r>
            <a:r>
              <a:rPr lang="ru-RU" dirty="0" err="1"/>
              <a:t>важливо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регресійного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, коли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багаторазово</a:t>
            </a:r>
            <a:r>
              <a:rPr lang="ru-RU" dirty="0"/>
              <a:t> </a:t>
            </a:r>
            <a:r>
              <a:rPr lang="ru-RU" dirty="0" err="1"/>
              <a:t>повторювати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/>
              <a:t>самі</a:t>
            </a:r>
            <a:r>
              <a:rPr lang="ru-RU" dirty="0"/>
              <a:t> тести.</a:t>
            </a:r>
          </a:p>
          <a:p>
            <a:pPr algn="just"/>
            <a:r>
              <a:rPr lang="ru-RU" b="1" dirty="0" err="1"/>
              <a:t>Масштабованість</a:t>
            </a:r>
            <a:r>
              <a:rPr lang="ru-RU" dirty="0"/>
              <a:t>: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одночасно</a:t>
            </a:r>
            <a:r>
              <a:rPr lang="ru-RU" dirty="0"/>
              <a:t> </a:t>
            </a:r>
            <a:r>
              <a:rPr lang="ru-RU" dirty="0" err="1"/>
              <a:t>запускати</a:t>
            </a:r>
            <a:r>
              <a:rPr lang="ru-RU" dirty="0"/>
              <a:t> тести на </a:t>
            </a:r>
            <a:r>
              <a:rPr lang="ru-RU" dirty="0" err="1"/>
              <a:t>багатьох</a:t>
            </a:r>
            <a:r>
              <a:rPr lang="ru-RU" dirty="0"/>
              <a:t> </a:t>
            </a:r>
            <a:r>
              <a:rPr lang="ru-RU" dirty="0" err="1"/>
              <a:t>середовищах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з </a:t>
            </a:r>
            <a:r>
              <a:rPr lang="ru-RU" dirty="0" err="1"/>
              <a:t>різними</a:t>
            </a:r>
            <a:r>
              <a:rPr lang="ru-RU" dirty="0"/>
              <a:t> </a:t>
            </a:r>
            <a:r>
              <a:rPr lang="ru-RU" dirty="0" err="1"/>
              <a:t>налаштуваннями</a:t>
            </a:r>
            <a:r>
              <a:rPr lang="ru-RU" dirty="0"/>
              <a:t>.</a:t>
            </a:r>
          </a:p>
          <a:p>
            <a:pPr algn="just"/>
            <a:r>
              <a:rPr lang="ru-RU" b="1" dirty="0" err="1"/>
              <a:t>Повторюваність</a:t>
            </a:r>
            <a:r>
              <a:rPr lang="ru-RU" dirty="0"/>
              <a:t>: </a:t>
            </a:r>
            <a:r>
              <a:rPr lang="ru-RU" dirty="0" err="1"/>
              <a:t>Автоматизовані</a:t>
            </a:r>
            <a:r>
              <a:rPr lang="ru-RU" dirty="0"/>
              <a:t> тести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запускати</a:t>
            </a:r>
            <a:r>
              <a:rPr lang="ru-RU" dirty="0"/>
              <a:t> </a:t>
            </a:r>
            <a:r>
              <a:rPr lang="ru-RU" dirty="0" err="1"/>
              <a:t>знову</a:t>
            </a:r>
            <a:r>
              <a:rPr lang="ru-RU" dirty="0"/>
              <a:t> і </a:t>
            </a:r>
            <a:r>
              <a:rPr lang="ru-RU" dirty="0" err="1"/>
              <a:t>знову</a:t>
            </a:r>
            <a:r>
              <a:rPr lang="ru-RU" dirty="0"/>
              <a:t> без </a:t>
            </a:r>
            <a:r>
              <a:rPr lang="ru-RU" dirty="0" err="1"/>
              <a:t>помилок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виникати</a:t>
            </a:r>
            <a:r>
              <a:rPr lang="ru-RU" dirty="0"/>
              <a:t> через </a:t>
            </a:r>
            <a:r>
              <a:rPr lang="ru-RU" dirty="0" err="1"/>
              <a:t>людський</a:t>
            </a:r>
            <a:r>
              <a:rPr lang="ru-RU" dirty="0"/>
              <a:t> фактор.</a:t>
            </a:r>
          </a:p>
          <a:p>
            <a:pPr algn="just"/>
            <a:r>
              <a:rPr lang="ru-RU" b="1" dirty="0" err="1"/>
              <a:t>Ефективність</a:t>
            </a:r>
            <a:r>
              <a:rPr lang="ru-RU" b="1" dirty="0"/>
              <a:t> при великих </a:t>
            </a:r>
            <a:r>
              <a:rPr lang="ru-RU" b="1" dirty="0" err="1"/>
              <a:t>проєктах</a:t>
            </a:r>
            <a:r>
              <a:rPr lang="ru-RU" dirty="0"/>
              <a:t>: </a:t>
            </a:r>
            <a:r>
              <a:rPr lang="ru-RU" dirty="0" err="1"/>
              <a:t>Ідеально</a:t>
            </a:r>
            <a:r>
              <a:rPr lang="ru-RU" dirty="0"/>
              <a:t> </a:t>
            </a:r>
            <a:r>
              <a:rPr lang="ru-RU" dirty="0" err="1"/>
              <a:t>підходить</a:t>
            </a:r>
            <a:r>
              <a:rPr lang="ru-RU" dirty="0"/>
              <a:t> для великих </a:t>
            </a:r>
            <a:r>
              <a:rPr lang="ru-RU" dirty="0" err="1"/>
              <a:t>проєктів</a:t>
            </a:r>
            <a:r>
              <a:rPr lang="ru-RU" dirty="0"/>
              <a:t>, де </a:t>
            </a:r>
            <a:r>
              <a:rPr lang="ru-RU" dirty="0" err="1"/>
              <a:t>необхідно</a:t>
            </a:r>
            <a:r>
              <a:rPr lang="ru-RU" dirty="0"/>
              <a:t> часто </a:t>
            </a:r>
            <a:r>
              <a:rPr lang="ru-RU" dirty="0" err="1"/>
              <a:t>виконувати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/>
              <a:t>самі</a:t>
            </a:r>
            <a:r>
              <a:rPr lang="ru-RU" dirty="0"/>
              <a:t> тести.</a:t>
            </a:r>
          </a:p>
          <a:p>
            <a:pPr algn="just"/>
            <a:r>
              <a:rPr lang="ru-RU" b="1" dirty="0" err="1"/>
              <a:t>Безперервна</a:t>
            </a:r>
            <a:r>
              <a:rPr lang="ru-RU" b="1" dirty="0"/>
              <a:t> </a:t>
            </a:r>
            <a:r>
              <a:rPr lang="ru-RU" b="1" dirty="0" err="1"/>
              <a:t>інтеграція</a:t>
            </a:r>
            <a:r>
              <a:rPr lang="ru-RU" dirty="0"/>
              <a:t>: </a:t>
            </a:r>
            <a:r>
              <a:rPr lang="ru-RU" dirty="0" err="1"/>
              <a:t>Автоматизовані</a:t>
            </a:r>
            <a:r>
              <a:rPr lang="ru-RU" dirty="0"/>
              <a:t> тести легко </a:t>
            </a:r>
            <a:r>
              <a:rPr lang="ru-RU" dirty="0" err="1"/>
              <a:t>інтегруються</a:t>
            </a:r>
            <a:r>
              <a:rPr lang="ru-RU" dirty="0"/>
              <a:t> в </a:t>
            </a:r>
            <a:r>
              <a:rPr lang="ru-RU" dirty="0" err="1"/>
              <a:t>процеси</a:t>
            </a:r>
            <a:r>
              <a:rPr lang="ru-RU" dirty="0"/>
              <a:t> </a:t>
            </a:r>
            <a:r>
              <a:rPr lang="en-US" dirty="0"/>
              <a:t>CI/CD (</a:t>
            </a:r>
            <a:r>
              <a:rPr lang="ru-RU" dirty="0" err="1"/>
              <a:t>безперервної</a:t>
            </a:r>
            <a:r>
              <a:rPr lang="ru-RU" dirty="0"/>
              <a:t> </a:t>
            </a:r>
            <a:r>
              <a:rPr lang="ru-RU" dirty="0" err="1"/>
              <a:t>інтеграції</a:t>
            </a:r>
            <a:r>
              <a:rPr lang="ru-RU" dirty="0"/>
              <a:t>/</a:t>
            </a:r>
            <a:r>
              <a:rPr lang="ru-RU" dirty="0" err="1"/>
              <a:t>розгортання</a:t>
            </a:r>
            <a:r>
              <a:rPr lang="ru-RU" dirty="0"/>
              <a:t>),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швидко</a:t>
            </a:r>
            <a:r>
              <a:rPr lang="ru-RU" dirty="0"/>
              <a:t> </a:t>
            </a:r>
            <a:r>
              <a:rPr lang="ru-RU" dirty="0" err="1"/>
              <a:t>виявляти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внесення</a:t>
            </a:r>
            <a:r>
              <a:rPr lang="ru-RU" dirty="0"/>
              <a:t> </a:t>
            </a:r>
            <a:r>
              <a:rPr lang="ru-RU" dirty="0" err="1"/>
              <a:t>змін</a:t>
            </a:r>
            <a:r>
              <a:rPr lang="ru-RU" dirty="0"/>
              <a:t> до коду.</a:t>
            </a:r>
          </a:p>
          <a:p>
            <a:pPr marL="0" indent="0" algn="just">
              <a:buNone/>
            </a:pPr>
            <a:r>
              <a:rPr lang="ru-RU" b="1" dirty="0" err="1"/>
              <a:t>Недоліки</a:t>
            </a:r>
            <a:r>
              <a:rPr lang="ru-RU" b="1" dirty="0"/>
              <a:t>:</a:t>
            </a:r>
          </a:p>
          <a:p>
            <a:pPr algn="just"/>
            <a:r>
              <a:rPr lang="ru-RU" b="1" dirty="0" err="1"/>
              <a:t>Вартість</a:t>
            </a:r>
            <a:r>
              <a:rPr lang="ru-RU" b="1" dirty="0"/>
              <a:t> </a:t>
            </a:r>
            <a:r>
              <a:rPr lang="ru-RU" b="1" dirty="0" err="1"/>
              <a:t>впровадження</a:t>
            </a:r>
            <a:r>
              <a:rPr lang="ru-RU" dirty="0"/>
              <a:t>: </a:t>
            </a:r>
            <a:r>
              <a:rPr lang="ru-RU" dirty="0" err="1"/>
              <a:t>Створення</a:t>
            </a:r>
            <a:r>
              <a:rPr lang="ru-RU" dirty="0"/>
              <a:t> та </a:t>
            </a:r>
            <a:r>
              <a:rPr lang="ru-RU" dirty="0" err="1"/>
              <a:t>підтримка</a:t>
            </a:r>
            <a:r>
              <a:rPr lang="ru-RU" dirty="0"/>
              <a:t> </a:t>
            </a:r>
            <a:r>
              <a:rPr lang="ru-RU" dirty="0" err="1"/>
              <a:t>автоматизованих</a:t>
            </a:r>
            <a:r>
              <a:rPr lang="ru-RU" dirty="0"/>
              <a:t> </a:t>
            </a:r>
            <a:r>
              <a:rPr lang="ru-RU" dirty="0" err="1"/>
              <a:t>тестів</a:t>
            </a:r>
            <a:r>
              <a:rPr lang="ru-RU" dirty="0"/>
              <a:t> </a:t>
            </a:r>
            <a:r>
              <a:rPr lang="ru-RU" dirty="0" err="1"/>
              <a:t>вимагає</a:t>
            </a:r>
            <a:r>
              <a:rPr lang="ru-RU" dirty="0"/>
              <a:t> часу та </a:t>
            </a:r>
            <a:r>
              <a:rPr lang="ru-RU" dirty="0" err="1"/>
              <a:t>ресурсів</a:t>
            </a:r>
            <a:r>
              <a:rPr lang="ru-RU" dirty="0"/>
              <a:t>. </a:t>
            </a:r>
            <a:r>
              <a:rPr lang="ru-RU" dirty="0" err="1"/>
              <a:t>Потрібні</a:t>
            </a:r>
            <a:r>
              <a:rPr lang="ru-RU" dirty="0"/>
              <a:t> </a:t>
            </a:r>
            <a:r>
              <a:rPr lang="ru-RU" dirty="0" err="1"/>
              <a:t>спеціалісти</a:t>
            </a:r>
            <a:r>
              <a:rPr lang="ru-RU" dirty="0"/>
              <a:t> для </a:t>
            </a:r>
            <a:r>
              <a:rPr lang="ru-RU" dirty="0" err="1"/>
              <a:t>написання</a:t>
            </a:r>
            <a:r>
              <a:rPr lang="ru-RU" dirty="0"/>
              <a:t> </a:t>
            </a:r>
            <a:r>
              <a:rPr lang="ru-RU" dirty="0" err="1"/>
              <a:t>тестових</a:t>
            </a:r>
            <a:r>
              <a:rPr lang="ru-RU" dirty="0"/>
              <a:t> </a:t>
            </a:r>
            <a:r>
              <a:rPr lang="ru-RU" dirty="0" err="1"/>
              <a:t>скриптів</a:t>
            </a:r>
            <a:r>
              <a:rPr lang="ru-RU" dirty="0"/>
              <a:t>.</a:t>
            </a:r>
          </a:p>
          <a:p>
            <a:pPr algn="just"/>
            <a:r>
              <a:rPr lang="ru-RU" b="1" dirty="0"/>
              <a:t>Не </a:t>
            </a:r>
            <a:r>
              <a:rPr lang="ru-RU" b="1" dirty="0" err="1"/>
              <a:t>підходить</a:t>
            </a:r>
            <a:r>
              <a:rPr lang="ru-RU" b="1" dirty="0"/>
              <a:t> для </a:t>
            </a:r>
            <a:r>
              <a:rPr lang="ru-RU" b="1" dirty="0" err="1"/>
              <a:t>всіх</a:t>
            </a:r>
            <a:r>
              <a:rPr lang="ru-RU" b="1" dirty="0"/>
              <a:t> </a:t>
            </a:r>
            <a:r>
              <a:rPr lang="ru-RU" b="1" dirty="0" err="1"/>
              <a:t>видів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r>
              <a:rPr lang="ru-RU" dirty="0"/>
              <a:t>: </a:t>
            </a:r>
            <a:r>
              <a:rPr lang="ru-RU" dirty="0" err="1"/>
              <a:t>Деякі</a:t>
            </a:r>
            <a:r>
              <a:rPr lang="ru-RU" dirty="0"/>
              <a:t> тести, особливо </a:t>
            </a:r>
            <a:r>
              <a:rPr lang="ru-RU" dirty="0" err="1"/>
              <a:t>пов'язані</a:t>
            </a:r>
            <a:r>
              <a:rPr lang="ru-RU" dirty="0"/>
              <a:t> з </a:t>
            </a:r>
            <a:r>
              <a:rPr lang="ru-RU" dirty="0" err="1"/>
              <a:t>юзабіліті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візуальною</a:t>
            </a:r>
            <a:r>
              <a:rPr lang="ru-RU" dirty="0"/>
              <a:t> </a:t>
            </a:r>
            <a:r>
              <a:rPr lang="ru-RU" dirty="0" err="1"/>
              <a:t>оцінкою</a:t>
            </a:r>
            <a:r>
              <a:rPr lang="ru-RU" dirty="0"/>
              <a:t>, </a:t>
            </a:r>
            <a:r>
              <a:rPr lang="ru-RU" dirty="0" err="1"/>
              <a:t>краще</a:t>
            </a:r>
            <a:r>
              <a:rPr lang="ru-RU" dirty="0"/>
              <a:t> </a:t>
            </a:r>
            <a:r>
              <a:rPr lang="ru-RU" dirty="0" err="1"/>
              <a:t>виконувати</a:t>
            </a:r>
            <a:r>
              <a:rPr lang="ru-RU" dirty="0"/>
              <a:t> </a:t>
            </a:r>
            <a:r>
              <a:rPr lang="ru-RU" dirty="0" err="1"/>
              <a:t>вручну</a:t>
            </a:r>
            <a:r>
              <a:rPr lang="ru-RU" dirty="0"/>
              <a:t>.</a:t>
            </a:r>
          </a:p>
          <a:p>
            <a:pPr algn="just"/>
            <a:r>
              <a:rPr lang="ru-RU" b="1" dirty="0" err="1"/>
              <a:t>Підтримка</a:t>
            </a:r>
            <a:r>
              <a:rPr lang="ru-RU" b="1" dirty="0"/>
              <a:t> </a:t>
            </a:r>
            <a:r>
              <a:rPr lang="ru-RU" b="1" dirty="0" err="1"/>
              <a:t>тестів</a:t>
            </a:r>
            <a:r>
              <a:rPr lang="ru-RU" dirty="0"/>
              <a:t>: Коли </a:t>
            </a:r>
            <a:r>
              <a:rPr lang="ru-RU" dirty="0" err="1"/>
              <a:t>програма</a:t>
            </a:r>
            <a:r>
              <a:rPr lang="ru-RU" dirty="0"/>
              <a:t> </a:t>
            </a:r>
            <a:r>
              <a:rPr lang="ru-RU" dirty="0" err="1"/>
              <a:t>змінюється</a:t>
            </a:r>
            <a:r>
              <a:rPr lang="ru-RU" dirty="0"/>
              <a:t>, </a:t>
            </a:r>
            <a:r>
              <a:rPr lang="ru-RU" dirty="0" err="1"/>
              <a:t>автоматизовані</a:t>
            </a:r>
            <a:r>
              <a:rPr lang="ru-RU" dirty="0"/>
              <a:t> тести часто </a:t>
            </a:r>
            <a:r>
              <a:rPr lang="ru-RU" dirty="0" err="1"/>
              <a:t>вимагають</a:t>
            </a:r>
            <a:r>
              <a:rPr lang="ru-RU" dirty="0"/>
              <a:t> </a:t>
            </a:r>
            <a:r>
              <a:rPr lang="ru-RU" dirty="0" err="1"/>
              <a:t>оновлення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трудомістким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0830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Тестування</a:t>
            </a:r>
            <a:r>
              <a:rPr lang="ru-RU" dirty="0"/>
              <a:t> веб-</a:t>
            </a:r>
            <a:r>
              <a:rPr lang="ru-RU" dirty="0" err="1"/>
              <a:t>додатків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31900"/>
            <a:ext cx="8229600" cy="548640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buNone/>
            </a:pPr>
            <a:r>
              <a:rPr lang="ru-RU" sz="2900"/>
              <a:t>Ось </a:t>
            </a:r>
            <a:r>
              <a:rPr lang="ru-RU" sz="2900" err="1"/>
              <a:t>кілька</a:t>
            </a:r>
            <a:r>
              <a:rPr lang="ru-RU" sz="2900"/>
              <a:t> </a:t>
            </a:r>
            <a:r>
              <a:rPr lang="ru-RU" sz="2900" err="1"/>
              <a:t>посилань</a:t>
            </a:r>
            <a:r>
              <a:rPr lang="ru-RU" sz="2900"/>
              <a:t> на </a:t>
            </a:r>
            <a:r>
              <a:rPr lang="ru-RU" sz="2900" err="1"/>
              <a:t>відео</a:t>
            </a:r>
            <a:r>
              <a:rPr lang="ru-RU" sz="2900"/>
              <a:t> з </a:t>
            </a:r>
            <a:r>
              <a:rPr lang="ru-RU" sz="2900" err="1"/>
              <a:t>тестування</a:t>
            </a:r>
            <a:r>
              <a:rPr lang="ru-RU" sz="2900"/>
              <a:t> веб-</a:t>
            </a:r>
            <a:r>
              <a:rPr lang="ru-RU" sz="2900" err="1"/>
              <a:t>додатків</a:t>
            </a:r>
            <a:r>
              <a:rPr lang="ru-RU" sz="2900"/>
              <a:t>:</a:t>
            </a:r>
            <a:endParaRPr lang="uk-UA" sz="2900"/>
          </a:p>
          <a:p>
            <a:pPr>
              <a:buNone/>
            </a:pPr>
            <a:r>
              <a:rPr lang="ru-RU" sz="2900" dirty="0">
                <a:latin typeface="Arial"/>
                <a:cs typeface="Arial"/>
              </a:rPr>
              <a:t>•</a:t>
            </a:r>
            <a:r>
              <a:rPr lang="ru-RU" sz="2900" b="1" dirty="0"/>
              <a:t>Web Application </a:t>
            </a:r>
            <a:r>
              <a:rPr lang="ru-RU" sz="2900" b="1" dirty="0" err="1"/>
              <a:t>Testing</a:t>
            </a:r>
            <a:r>
              <a:rPr lang="ru-RU" sz="2900" b="1" dirty="0"/>
              <a:t> </a:t>
            </a:r>
            <a:r>
              <a:rPr lang="ru-RU" sz="2900" b="1" dirty="0" err="1"/>
              <a:t>Tutorial</a:t>
            </a:r>
            <a:r>
              <a:rPr lang="ru-RU" sz="2900" dirty="0"/>
              <a:t> : </a:t>
            </a:r>
            <a:r>
              <a:rPr lang="ru-RU" sz="2900" dirty="0" err="1"/>
              <a:t>Посібник</a:t>
            </a:r>
            <a:r>
              <a:rPr lang="ru-RU" sz="2900" dirty="0"/>
              <a:t> </a:t>
            </a:r>
            <a:r>
              <a:rPr lang="ru-RU" sz="2900" dirty="0" err="1"/>
              <a:t>із</a:t>
            </a:r>
            <a:r>
              <a:rPr lang="ru-RU" sz="2900" dirty="0"/>
              <a:t> </a:t>
            </a:r>
            <a:r>
              <a:rPr lang="ru-RU" sz="2900" dirty="0" err="1"/>
              <a:t>підходів</a:t>
            </a:r>
            <a:r>
              <a:rPr lang="ru-RU" sz="2900" dirty="0"/>
              <a:t> до </a:t>
            </a:r>
            <a:r>
              <a:rPr lang="ru-RU" sz="2900" dirty="0" err="1"/>
              <a:t>тестування</a:t>
            </a:r>
            <a:r>
              <a:rPr lang="ru-RU" sz="2900" dirty="0"/>
              <a:t> веб-</a:t>
            </a:r>
            <a:r>
              <a:rPr lang="ru-RU" sz="2900" dirty="0" err="1"/>
              <a:t>додатків</a:t>
            </a:r>
            <a:r>
              <a:rPr lang="ru-RU" sz="2900" dirty="0"/>
              <a:t>, </a:t>
            </a:r>
            <a:r>
              <a:rPr lang="ru-RU" sz="2900" dirty="0" err="1"/>
              <a:t>корисний</a:t>
            </a:r>
            <a:r>
              <a:rPr lang="ru-RU" sz="2900" dirty="0"/>
              <a:t> для </a:t>
            </a:r>
            <a:r>
              <a:rPr lang="ru-RU" sz="2900" dirty="0" err="1"/>
              <a:t>початківців</a:t>
            </a:r>
            <a:r>
              <a:rPr lang="ru-RU" sz="2900" dirty="0"/>
              <a:t> у ручному </a:t>
            </a:r>
            <a:r>
              <a:rPr lang="ru-RU" sz="2900" dirty="0" err="1"/>
              <a:t>тестуванні</a:t>
            </a:r>
            <a:r>
              <a:rPr lang="ru-RU" sz="2900" dirty="0"/>
              <a:t>. </a:t>
            </a:r>
            <a:r>
              <a:rPr lang="ru-RU" sz="2900" dirty="0">
                <a:hlinkClick r:id="rId2"/>
              </a:rPr>
              <a:t>https://www.youtube</a:t>
            </a:r>
            <a:r>
              <a:rPr lang="ru-RU" sz="2900" dirty="0">
                <a:hlinkClick r:id="rId2"/>
              </a:rPr>
              <a:t>.com/watch?v=9dcTKgBYZhQ</a:t>
            </a:r>
            <a:endParaRPr lang="en-US"/>
          </a:p>
          <a:p>
            <a:pPr>
              <a:buNone/>
            </a:pPr>
            <a:r>
              <a:rPr lang="ru-RU" sz="2900" dirty="0">
                <a:latin typeface="Arial"/>
                <a:cs typeface="Arial"/>
              </a:rPr>
              <a:t>•</a:t>
            </a:r>
            <a:r>
              <a:rPr lang="ru-RU" sz="2900" b="1" dirty="0" err="1"/>
              <a:t>Тестування</a:t>
            </a:r>
            <a:r>
              <a:rPr lang="ru-RU" sz="2900" b="1" dirty="0"/>
              <a:t> веб-</a:t>
            </a:r>
            <a:r>
              <a:rPr lang="ru-RU" sz="2900" b="1" dirty="0" err="1"/>
              <a:t>додатків</a:t>
            </a:r>
            <a:r>
              <a:rPr lang="ru-RU" sz="2900" dirty="0"/>
              <a:t> : </a:t>
            </a:r>
            <a:r>
              <a:rPr lang="ru-RU" sz="2900" dirty="0" err="1"/>
              <a:t>Інший</a:t>
            </a:r>
            <a:r>
              <a:rPr lang="ru-RU" sz="2900" dirty="0"/>
              <a:t> ресурс, </a:t>
            </a:r>
            <a:r>
              <a:rPr lang="ru-RU" sz="2900" dirty="0" err="1"/>
              <a:t>що</a:t>
            </a:r>
            <a:r>
              <a:rPr lang="ru-RU" sz="2900" dirty="0"/>
              <a:t> </a:t>
            </a:r>
            <a:r>
              <a:rPr lang="ru-RU" sz="2900" dirty="0" err="1"/>
              <a:t>охоплює</a:t>
            </a:r>
            <a:r>
              <a:rPr lang="ru-RU" sz="2900" dirty="0"/>
              <a:t> </a:t>
            </a:r>
            <a:r>
              <a:rPr lang="ru-RU" sz="2900" dirty="0" err="1"/>
              <a:t>основні</a:t>
            </a:r>
            <a:r>
              <a:rPr lang="ru-RU" sz="2900" dirty="0"/>
              <a:t> </a:t>
            </a:r>
            <a:r>
              <a:rPr lang="ru-RU" sz="2900" dirty="0" err="1"/>
              <a:t>аспекти</a:t>
            </a:r>
            <a:r>
              <a:rPr lang="ru-RU" sz="2900" dirty="0"/>
              <a:t> ручного </a:t>
            </a:r>
            <a:r>
              <a:rPr lang="ru-RU" sz="2900" dirty="0" err="1"/>
              <a:t>тестування</a:t>
            </a:r>
            <a:r>
              <a:rPr lang="ru-RU" sz="2900" dirty="0"/>
              <a:t> веб-</a:t>
            </a:r>
            <a:r>
              <a:rPr lang="ru-RU" sz="2900" dirty="0" err="1"/>
              <a:t>додатків</a:t>
            </a:r>
            <a:r>
              <a:rPr lang="ru-RU" sz="2900" dirty="0"/>
              <a:t>. </a:t>
            </a:r>
            <a:r>
              <a:rPr lang="ru-RU" sz="2900" dirty="0">
                <a:hlinkClick r:id="rId3"/>
              </a:rPr>
              <a:t>https://www.youtube.com/watch?v=5fziq0PzUv0</a:t>
            </a:r>
            <a:r>
              <a:rPr lang="ru-RU" sz="2900" dirty="0"/>
              <a:t>.</a:t>
            </a:r>
            <a:endParaRPr lang="ru-RU" sz="2900"/>
          </a:p>
          <a:p>
            <a:pPr>
              <a:buNone/>
            </a:pPr>
            <a:r>
              <a:rPr lang="ru-RU" sz="2900" dirty="0">
                <a:latin typeface="Arial"/>
                <a:cs typeface="Arial"/>
              </a:rPr>
              <a:t>•</a:t>
            </a:r>
            <a:r>
              <a:rPr lang="ru-RU" sz="2900" b="1" dirty="0" err="1"/>
              <a:t>Повний</a:t>
            </a:r>
            <a:r>
              <a:rPr lang="ru-RU" sz="2900" b="1" dirty="0"/>
              <a:t> курс ручного </a:t>
            </a:r>
            <a:r>
              <a:rPr lang="ru-RU" sz="2900" b="1" dirty="0" err="1"/>
              <a:t>тестування</a:t>
            </a:r>
            <a:r>
              <a:rPr lang="ru-RU" sz="2900" dirty="0"/>
              <a:t> : Плейлист з </a:t>
            </a:r>
            <a:r>
              <a:rPr lang="ru-RU" sz="2900" dirty="0" err="1"/>
              <a:t>усіма</a:t>
            </a:r>
            <a:r>
              <a:rPr lang="ru-RU" sz="2900" dirty="0"/>
              <a:t> </a:t>
            </a:r>
            <a:r>
              <a:rPr lang="ru-RU" sz="2900" dirty="0" err="1"/>
              <a:t>етапами</a:t>
            </a:r>
            <a:r>
              <a:rPr lang="ru-RU" sz="2900" dirty="0"/>
              <a:t> ручного </a:t>
            </a:r>
            <a:r>
              <a:rPr lang="ru-RU" sz="2900" dirty="0" err="1"/>
              <a:t>тестування</a:t>
            </a:r>
            <a:r>
              <a:rPr lang="ru-RU" sz="2900" dirty="0"/>
              <a:t>, </a:t>
            </a:r>
            <a:r>
              <a:rPr lang="ru-RU" sz="2900" dirty="0" err="1"/>
              <a:t>включаючи</a:t>
            </a:r>
            <a:r>
              <a:rPr lang="ru-RU" sz="2900" dirty="0"/>
              <a:t> веб-</a:t>
            </a:r>
            <a:r>
              <a:rPr lang="ru-RU" sz="2900" dirty="0" err="1"/>
              <a:t>додатки</a:t>
            </a:r>
            <a:r>
              <a:rPr lang="ru-RU" sz="2900" dirty="0"/>
              <a:t>. </a:t>
            </a:r>
            <a:r>
              <a:rPr lang="ru-RU" sz="2900" dirty="0">
                <a:hlinkClick r:id="rId4"/>
              </a:rPr>
              <a:t>https://www.youtube.com/playlist?list=PLQT9FNTTk6lpdHbgGG3je0xq2JlVcBM5U</a:t>
            </a:r>
            <a:r>
              <a:rPr lang="ru-RU" sz="2900" dirty="0"/>
              <a:t>.</a:t>
            </a:r>
            <a:endParaRPr lang="ru-RU" sz="2900"/>
          </a:p>
          <a:p>
            <a:pPr>
              <a:buNone/>
            </a:pPr>
            <a:r>
              <a:rPr lang="ru-RU" sz="2900" dirty="0">
                <a:latin typeface="Arial"/>
                <a:cs typeface="Arial"/>
              </a:rPr>
              <a:t>•</a:t>
            </a:r>
            <a:r>
              <a:rPr lang="ru-RU" sz="2900" dirty="0" err="1"/>
              <a:t>Це</a:t>
            </a:r>
            <a:r>
              <a:rPr lang="ru-RU" sz="2900" dirty="0"/>
              <a:t> </a:t>
            </a:r>
            <a:r>
              <a:rPr lang="ru-RU" sz="2900" dirty="0" err="1"/>
              <a:t>відео</a:t>
            </a:r>
            <a:r>
              <a:rPr lang="ru-RU" sz="2900" dirty="0"/>
              <a:t> </a:t>
            </a:r>
            <a:r>
              <a:rPr lang="ru-RU" sz="2900" dirty="0" err="1"/>
              <a:t>повністю</a:t>
            </a:r>
            <a:r>
              <a:rPr lang="ru-RU" sz="2900" dirty="0"/>
              <a:t> вам </a:t>
            </a:r>
            <a:r>
              <a:rPr lang="ru-RU" sz="2900" dirty="0" err="1"/>
              <a:t>освоїти</a:t>
            </a:r>
            <a:r>
              <a:rPr lang="ru-RU" sz="2900" dirty="0"/>
              <a:t> </a:t>
            </a:r>
            <a:r>
              <a:rPr lang="ru-RU" sz="2900" dirty="0" err="1"/>
              <a:t>основи</a:t>
            </a:r>
            <a:r>
              <a:rPr lang="ru-RU" sz="2900" dirty="0"/>
              <a:t> </a:t>
            </a:r>
            <a:r>
              <a:rPr lang="ru-RU" sz="2900" dirty="0" err="1"/>
              <a:t>тестування</a:t>
            </a:r>
            <a:r>
              <a:rPr lang="ru-RU" sz="2900" dirty="0"/>
              <a:t> веб-</a:t>
            </a:r>
            <a:r>
              <a:rPr lang="ru-RU" sz="2900" dirty="0" err="1"/>
              <a:t>додатків</a:t>
            </a:r>
            <a:r>
              <a:rPr lang="ru-RU" sz="2900" dirty="0"/>
              <a:t>.</a:t>
            </a:r>
            <a:endParaRPr lang="ru-RU" sz="2900" dirty="0">
              <a:cs typeface="Calibri"/>
            </a:endParaRPr>
          </a:p>
          <a:p>
            <a:pPr marL="0" indent="0">
              <a:buNone/>
            </a:pPr>
            <a:endParaRPr lang="ru-RU" dirty="0">
              <a:cs typeface="Calibri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324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Ручне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 err="1"/>
              <a:t>Ручне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передбачає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тестувальники</a:t>
            </a:r>
            <a:r>
              <a:rPr lang="ru-RU" dirty="0"/>
              <a:t> </a:t>
            </a:r>
            <a:r>
              <a:rPr lang="ru-RU" dirty="0" err="1"/>
              <a:t>виконують</a:t>
            </a:r>
            <a:r>
              <a:rPr lang="ru-RU" dirty="0"/>
              <a:t> тести </a:t>
            </a:r>
            <a:r>
              <a:rPr lang="ru-RU" dirty="0" err="1"/>
              <a:t>вручну</a:t>
            </a:r>
            <a:r>
              <a:rPr lang="ru-RU" dirty="0"/>
              <a:t>, </a:t>
            </a:r>
            <a:r>
              <a:rPr lang="ru-RU" dirty="0" err="1"/>
              <a:t>перевіряючи</a:t>
            </a:r>
            <a:r>
              <a:rPr lang="ru-RU" dirty="0"/>
              <a:t> </a:t>
            </a:r>
            <a:r>
              <a:rPr lang="ru-RU" dirty="0" err="1"/>
              <a:t>функціональність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відповідно</a:t>
            </a:r>
            <a:r>
              <a:rPr lang="ru-RU" dirty="0"/>
              <a:t> до </a:t>
            </a:r>
            <a:r>
              <a:rPr lang="ru-RU" dirty="0" err="1"/>
              <a:t>сценаріїв</a:t>
            </a:r>
            <a:r>
              <a:rPr lang="ru-RU" dirty="0"/>
              <a:t>.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 часто використовується для </a:t>
            </a:r>
            <a:r>
              <a:rPr lang="ru-RU" dirty="0" err="1"/>
              <a:t>першочергової</a:t>
            </a:r>
            <a:r>
              <a:rPr lang="ru-RU" dirty="0"/>
              <a:t> </a:t>
            </a:r>
            <a:r>
              <a:rPr lang="ru-RU" dirty="0" err="1"/>
              <a:t>перевірки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/>
              <a:t>функцій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для </a:t>
            </a:r>
            <a:r>
              <a:rPr lang="ru-RU" dirty="0" err="1"/>
              <a:t>більш</a:t>
            </a:r>
            <a:r>
              <a:rPr lang="ru-RU" dirty="0"/>
              <a:t> тонких </a:t>
            </a:r>
            <a:r>
              <a:rPr lang="ru-RU" dirty="0" err="1"/>
              <a:t>тестів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вимагають</a:t>
            </a:r>
            <a:r>
              <a:rPr lang="ru-RU" dirty="0"/>
              <a:t> </a:t>
            </a:r>
            <a:r>
              <a:rPr lang="ru-RU" dirty="0" err="1"/>
              <a:t>людського</a:t>
            </a:r>
            <a:r>
              <a:rPr lang="ru-RU" dirty="0"/>
              <a:t> </a:t>
            </a:r>
            <a:r>
              <a:rPr lang="ru-RU" dirty="0" err="1"/>
              <a:t>судження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 err="1"/>
              <a:t>Ознаки</a:t>
            </a:r>
            <a:r>
              <a:rPr lang="ru-RU" b="1" dirty="0"/>
              <a:t> </a:t>
            </a:r>
            <a:r>
              <a:rPr lang="ru-RU" b="1" dirty="0" err="1"/>
              <a:t>застосування</a:t>
            </a:r>
            <a:r>
              <a:rPr lang="ru-RU" b="1" dirty="0"/>
              <a:t>:</a:t>
            </a:r>
          </a:p>
          <a:p>
            <a:pPr marL="0" indent="0">
              <a:buNone/>
            </a:pPr>
            <a:endParaRPr lang="ru-RU" b="1" dirty="0"/>
          </a:p>
          <a:p>
            <a:r>
              <a:rPr lang="ru-RU" dirty="0" err="1"/>
              <a:t>Підходить</a:t>
            </a:r>
            <a:r>
              <a:rPr lang="ru-RU" dirty="0"/>
              <a:t> для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складних</a:t>
            </a:r>
            <a:r>
              <a:rPr lang="ru-RU" dirty="0"/>
              <a:t> </a:t>
            </a:r>
            <a:r>
              <a:rPr lang="ru-RU" dirty="0" err="1"/>
              <a:t>функцій</a:t>
            </a:r>
            <a:r>
              <a:rPr lang="ru-RU" dirty="0"/>
              <a:t>.</a:t>
            </a:r>
          </a:p>
          <a:p>
            <a:r>
              <a:rPr lang="ru-RU" dirty="0"/>
              <a:t>Добре </a:t>
            </a:r>
            <a:r>
              <a:rPr lang="ru-RU" dirty="0" err="1"/>
              <a:t>підходить</a:t>
            </a:r>
            <a:r>
              <a:rPr lang="ru-RU" dirty="0"/>
              <a:t> для </a:t>
            </a:r>
            <a:r>
              <a:rPr lang="ru-RU" dirty="0" err="1"/>
              <a:t>короткострокових</a:t>
            </a:r>
            <a:r>
              <a:rPr lang="ru-RU" dirty="0"/>
              <a:t> </a:t>
            </a:r>
            <a:r>
              <a:rPr lang="ru-RU" dirty="0" err="1"/>
              <a:t>проєктів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там, де </a:t>
            </a:r>
            <a:r>
              <a:rPr lang="ru-RU" dirty="0" err="1"/>
              <a:t>автоматизація</a:t>
            </a:r>
            <a:r>
              <a:rPr lang="ru-RU" dirty="0"/>
              <a:t> не </a:t>
            </a:r>
            <a:r>
              <a:rPr lang="ru-RU" dirty="0" err="1"/>
              <a:t>виправдана</a:t>
            </a:r>
            <a:r>
              <a:rPr lang="ru-RU" dirty="0"/>
              <a:t>.</a:t>
            </a:r>
          </a:p>
          <a:p>
            <a:r>
              <a:rPr lang="ru-RU" dirty="0"/>
              <a:t>Використовується для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візуальних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і </a:t>
            </a:r>
            <a:r>
              <a:rPr lang="ru-RU" dirty="0" err="1"/>
              <a:t>зручності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0219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Переваги та недоліки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165100" y="1155700"/>
            <a:ext cx="4330700" cy="5537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err="1"/>
              <a:t>Переваги</a:t>
            </a:r>
            <a:r>
              <a:rPr lang="ru-RU" b="1" dirty="0"/>
              <a:t>:</a:t>
            </a:r>
          </a:p>
          <a:p>
            <a:pPr algn="just"/>
            <a:r>
              <a:rPr lang="ru-RU" b="1" dirty="0" err="1"/>
              <a:t>Гнучкість</a:t>
            </a:r>
            <a:r>
              <a:rPr lang="ru-RU" dirty="0"/>
              <a:t>: Тестувальник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адаптуватися</a:t>
            </a:r>
            <a:r>
              <a:rPr lang="ru-RU" dirty="0"/>
              <a:t> до </a:t>
            </a:r>
            <a:r>
              <a:rPr lang="ru-RU" dirty="0" err="1"/>
              <a:t>нових</a:t>
            </a:r>
            <a:r>
              <a:rPr lang="ru-RU" dirty="0"/>
              <a:t> умов, </a:t>
            </a:r>
            <a:r>
              <a:rPr lang="ru-RU" dirty="0" err="1"/>
              <a:t>проводити</a:t>
            </a:r>
            <a:r>
              <a:rPr lang="ru-RU" dirty="0"/>
              <a:t> </a:t>
            </a:r>
            <a:r>
              <a:rPr lang="ru-RU" dirty="0" err="1"/>
              <a:t>непередбачені</a:t>
            </a:r>
            <a:r>
              <a:rPr lang="ru-RU" dirty="0"/>
              <a:t> тести та </a:t>
            </a:r>
            <a:r>
              <a:rPr lang="ru-RU" dirty="0" err="1"/>
              <a:t>перевіряти</a:t>
            </a:r>
            <a:r>
              <a:rPr lang="ru-RU" dirty="0"/>
              <a:t> </a:t>
            </a:r>
            <a:r>
              <a:rPr lang="ru-RU" dirty="0" err="1"/>
              <a:t>деталі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не </a:t>
            </a:r>
            <a:r>
              <a:rPr lang="ru-RU" dirty="0" err="1"/>
              <a:t>були</a:t>
            </a:r>
            <a:r>
              <a:rPr lang="ru-RU" dirty="0"/>
              <a:t> </a:t>
            </a:r>
            <a:r>
              <a:rPr lang="ru-RU" dirty="0" err="1"/>
              <a:t>враховані</a:t>
            </a:r>
            <a:r>
              <a:rPr lang="ru-RU" dirty="0"/>
              <a:t> в </a:t>
            </a:r>
            <a:r>
              <a:rPr lang="ru-RU" dirty="0" err="1"/>
              <a:t>автоматизованих</a:t>
            </a:r>
            <a:r>
              <a:rPr lang="ru-RU" dirty="0"/>
              <a:t> </a:t>
            </a:r>
            <a:r>
              <a:rPr lang="ru-RU" dirty="0" err="1"/>
              <a:t>сценаріях</a:t>
            </a:r>
            <a:r>
              <a:rPr lang="ru-RU" dirty="0"/>
              <a:t>.</a:t>
            </a:r>
          </a:p>
          <a:p>
            <a:pPr algn="just"/>
            <a:r>
              <a:rPr lang="ru-RU" b="1" dirty="0" err="1"/>
              <a:t>Підходить</a:t>
            </a:r>
            <a:r>
              <a:rPr lang="ru-RU" b="1" dirty="0"/>
              <a:t> для </a:t>
            </a:r>
            <a:r>
              <a:rPr lang="ru-RU" b="1" dirty="0" err="1"/>
              <a:t>тестування</a:t>
            </a:r>
            <a:r>
              <a:rPr lang="ru-RU" b="1" dirty="0"/>
              <a:t> </a:t>
            </a:r>
            <a:r>
              <a:rPr lang="ru-RU" b="1" dirty="0" err="1"/>
              <a:t>юзабіліті</a:t>
            </a:r>
            <a:r>
              <a:rPr lang="ru-RU" dirty="0"/>
              <a:t>: </a:t>
            </a:r>
            <a:r>
              <a:rPr lang="ru-RU" dirty="0" err="1"/>
              <a:t>Ручне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необхідне</a:t>
            </a:r>
            <a:r>
              <a:rPr lang="ru-RU" dirty="0"/>
              <a:t> для </a:t>
            </a:r>
            <a:r>
              <a:rPr lang="ru-RU" dirty="0" err="1"/>
              <a:t>перевірки</a:t>
            </a:r>
            <a:r>
              <a:rPr lang="ru-RU" dirty="0"/>
              <a:t> </a:t>
            </a:r>
            <a:r>
              <a:rPr lang="ru-RU" dirty="0" err="1"/>
              <a:t>зручності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 і </a:t>
            </a:r>
            <a:r>
              <a:rPr lang="ru-RU" dirty="0" err="1"/>
              <a:t>взаємодії</a:t>
            </a:r>
            <a:r>
              <a:rPr lang="ru-RU" dirty="0"/>
              <a:t> з </a:t>
            </a:r>
            <a:r>
              <a:rPr lang="ru-RU" dirty="0" err="1"/>
              <a:t>програмою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важко</a:t>
            </a:r>
            <a:r>
              <a:rPr lang="ru-RU" dirty="0"/>
              <a:t> </a:t>
            </a:r>
            <a:r>
              <a:rPr lang="ru-RU" dirty="0" err="1"/>
              <a:t>автоматизувати</a:t>
            </a:r>
            <a:r>
              <a:rPr lang="ru-RU" dirty="0"/>
              <a:t>.</a:t>
            </a:r>
          </a:p>
          <a:p>
            <a:pPr algn="just"/>
            <a:r>
              <a:rPr lang="ru-RU" b="1" dirty="0"/>
              <a:t>Простота</a:t>
            </a:r>
            <a:r>
              <a:rPr lang="ru-RU" dirty="0"/>
              <a:t>: </a:t>
            </a:r>
            <a:r>
              <a:rPr lang="ru-RU" dirty="0" err="1"/>
              <a:t>Ручне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не </a:t>
            </a:r>
            <a:r>
              <a:rPr lang="ru-RU" dirty="0" err="1"/>
              <a:t>вимагає</a:t>
            </a:r>
            <a:r>
              <a:rPr lang="ru-RU" dirty="0"/>
              <a:t> </a:t>
            </a:r>
            <a:r>
              <a:rPr lang="ru-RU" dirty="0" err="1"/>
              <a:t>спеціальних</a:t>
            </a:r>
            <a:r>
              <a:rPr lang="ru-RU" dirty="0"/>
              <a:t> </a:t>
            </a:r>
            <a:r>
              <a:rPr lang="ru-RU" dirty="0" err="1"/>
              <a:t>інструментів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навичок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.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4495800" y="1155700"/>
            <a:ext cx="4483100" cy="55372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r>
              <a:rPr lang="ru-RU" b="1" dirty="0" err="1"/>
              <a:t>Недоліки</a:t>
            </a:r>
            <a:r>
              <a:rPr lang="ru-RU" b="1" dirty="0"/>
              <a:t>:</a:t>
            </a:r>
          </a:p>
          <a:p>
            <a:pPr algn="just"/>
            <a:r>
              <a:rPr lang="ru-RU" b="1" dirty="0" err="1"/>
              <a:t>Повільність</a:t>
            </a:r>
            <a:r>
              <a:rPr lang="ru-RU" dirty="0"/>
              <a:t>: </a:t>
            </a:r>
            <a:r>
              <a:rPr lang="ru-RU" dirty="0" err="1"/>
              <a:t>Ручне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тестів</a:t>
            </a:r>
            <a:r>
              <a:rPr lang="ru-RU" dirty="0"/>
              <a:t> </a:t>
            </a:r>
            <a:r>
              <a:rPr lang="ru-RU" dirty="0" err="1"/>
              <a:t>займає</a:t>
            </a:r>
            <a:r>
              <a:rPr lang="ru-RU" dirty="0"/>
              <a:t> </a:t>
            </a:r>
            <a:r>
              <a:rPr lang="ru-RU" dirty="0" err="1"/>
              <a:t>більше</a:t>
            </a:r>
            <a:r>
              <a:rPr lang="ru-RU" dirty="0"/>
              <a:t> часу, особливо при повторному </a:t>
            </a:r>
            <a:r>
              <a:rPr lang="ru-RU" dirty="0" err="1"/>
              <a:t>тестуванні</a:t>
            </a:r>
            <a:r>
              <a:rPr lang="ru-RU" dirty="0"/>
              <a:t>, як-от </a:t>
            </a:r>
            <a:r>
              <a:rPr lang="ru-RU" dirty="0" err="1"/>
              <a:t>регресійному</a:t>
            </a:r>
            <a:r>
              <a:rPr lang="ru-RU" dirty="0"/>
              <a:t> </a:t>
            </a:r>
            <a:r>
              <a:rPr lang="ru-RU" dirty="0" err="1"/>
              <a:t>тестуванні</a:t>
            </a:r>
            <a:r>
              <a:rPr lang="ru-RU" dirty="0"/>
              <a:t>.</a:t>
            </a:r>
          </a:p>
          <a:p>
            <a:pPr algn="just"/>
            <a:r>
              <a:rPr lang="ru-RU" b="1" dirty="0" err="1"/>
              <a:t>Можливість</a:t>
            </a:r>
            <a:r>
              <a:rPr lang="ru-RU" b="1" dirty="0"/>
              <a:t> </a:t>
            </a:r>
            <a:r>
              <a:rPr lang="ru-RU" b="1" dirty="0" err="1"/>
              <a:t>людських</a:t>
            </a:r>
            <a:r>
              <a:rPr lang="ru-RU" b="1" dirty="0"/>
              <a:t> </a:t>
            </a:r>
            <a:r>
              <a:rPr lang="ru-RU" b="1" dirty="0" err="1"/>
              <a:t>помилок</a:t>
            </a:r>
            <a:r>
              <a:rPr lang="ru-RU" dirty="0"/>
              <a:t>: Тестувальник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пропустити</a:t>
            </a:r>
            <a:r>
              <a:rPr lang="ru-RU" dirty="0"/>
              <a:t> дефект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помилитися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тестування</a:t>
            </a:r>
            <a:r>
              <a:rPr lang="ru-RU" dirty="0"/>
              <a:t>.</a:t>
            </a:r>
          </a:p>
          <a:p>
            <a:pPr algn="just"/>
            <a:r>
              <a:rPr lang="ru-RU" b="1" dirty="0" err="1"/>
              <a:t>Неможливість</a:t>
            </a:r>
            <a:r>
              <a:rPr lang="ru-RU" b="1" dirty="0"/>
              <a:t> </a:t>
            </a:r>
            <a:r>
              <a:rPr lang="ru-RU" b="1" dirty="0" err="1"/>
              <a:t>повторюваних</a:t>
            </a:r>
            <a:r>
              <a:rPr lang="ru-RU" b="1" dirty="0"/>
              <a:t> </a:t>
            </a:r>
            <a:r>
              <a:rPr lang="ru-RU" b="1" dirty="0" err="1"/>
              <a:t>тестів</a:t>
            </a:r>
            <a:r>
              <a:rPr lang="ru-RU" dirty="0"/>
              <a:t>: Для </a:t>
            </a:r>
            <a:r>
              <a:rPr lang="ru-RU" dirty="0" err="1"/>
              <a:t>тестів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запускати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разів</a:t>
            </a:r>
            <a:r>
              <a:rPr lang="ru-RU" dirty="0"/>
              <a:t>, </a:t>
            </a:r>
            <a:r>
              <a:rPr lang="ru-RU" dirty="0" err="1"/>
              <a:t>ручне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стає</a:t>
            </a:r>
            <a:r>
              <a:rPr lang="ru-RU" dirty="0"/>
              <a:t> </a:t>
            </a:r>
            <a:r>
              <a:rPr lang="ru-RU" dirty="0" err="1"/>
              <a:t>неефективним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2166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Основні етапи процесу тестування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Аналіз</a:t>
            </a:r>
            <a:r>
              <a:rPr dirty="0"/>
              <a:t> </a:t>
            </a:r>
            <a:r>
              <a:rPr dirty="0" err="1"/>
              <a:t>вимог</a:t>
            </a:r>
            <a:endParaRPr dirty="0"/>
          </a:p>
          <a:p>
            <a:r>
              <a:rPr dirty="0" err="1"/>
              <a:t>Планування</a:t>
            </a:r>
            <a:r>
              <a:rPr dirty="0"/>
              <a:t> </a:t>
            </a:r>
            <a:r>
              <a:rPr dirty="0" err="1"/>
              <a:t>тестування</a:t>
            </a:r>
            <a:endParaRPr dirty="0"/>
          </a:p>
          <a:p>
            <a:r>
              <a:rPr dirty="0" err="1"/>
              <a:t>Розробка</a:t>
            </a:r>
            <a:r>
              <a:rPr dirty="0"/>
              <a:t> </a:t>
            </a:r>
            <a:r>
              <a:rPr dirty="0" err="1"/>
              <a:t>тест-кейсів</a:t>
            </a:r>
            <a:endParaRPr dirty="0"/>
          </a:p>
          <a:p>
            <a:r>
              <a:rPr dirty="0" err="1"/>
              <a:t>Виконання</a:t>
            </a:r>
            <a:r>
              <a:rPr dirty="0"/>
              <a:t> </a:t>
            </a:r>
            <a:r>
              <a:rPr dirty="0" err="1"/>
              <a:t>тестування</a:t>
            </a:r>
            <a:endParaRPr dirty="0"/>
          </a:p>
          <a:p>
            <a:r>
              <a:rPr dirty="0" err="1"/>
              <a:t>Оцінка</a:t>
            </a:r>
            <a:r>
              <a:rPr dirty="0"/>
              <a:t> </a:t>
            </a:r>
            <a:r>
              <a:rPr dirty="0" err="1"/>
              <a:t>результатів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звітність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 тестування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Чорний ящик (Black-box testing)</a:t>
            </a:r>
          </a:p>
          <a:p>
            <a:r>
              <a:t>Білий ящик (White-box testing)</a:t>
            </a:r>
          </a:p>
          <a:p>
            <a:r>
              <a:t>Сірий ящик (Grey-box testing)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Рівні тестування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Модульне тестування (Unit testing)</a:t>
            </a:r>
          </a:p>
          <a:p>
            <a:r>
              <a:t>Інтеграційне тестування (Integration testing)</a:t>
            </a:r>
          </a:p>
          <a:p>
            <a:r>
              <a:t>Системне тестування (System testing)</a:t>
            </a:r>
          </a:p>
          <a:p>
            <a:r>
              <a:t>Приймальне тестування (Acceptance testing)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Інструменти для тестування ПЗ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Інструменти для автоматизації: Selenium, JUnit, TestNG</a:t>
            </a:r>
          </a:p>
          <a:p>
            <a:r>
              <a:t>Інструменти для тестування навантаження: JMeter, LoadRunner</a:t>
            </a:r>
          </a:p>
          <a:p>
            <a:r>
              <a:t>Трекери помилок: Jira, Bugzilla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Автоматизація тестування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Коли варто автоматизувати тести?</a:t>
            </a:r>
          </a:p>
          <a:p>
            <a:r>
              <a:t>Переваги автоматизованого тестування</a:t>
            </a:r>
          </a:p>
          <a:p>
            <a:r>
              <a:t>Стратегії автоматизації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Ключові показники якості програмного продукту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Які метрики використовуються для оцінки якості</a:t>
            </a:r>
          </a:p>
          <a:p>
            <a:r>
              <a:t>Показники успішності тестування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Роль тестування в Agile та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Тестування в рамках Agile-методологій</a:t>
            </a:r>
          </a:p>
          <a:p>
            <a:r>
              <a:t>Безперервне тестування у DevOps (Continuous Testing)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Важливість тестування для забезпечення якості ПЗ</a:t>
            </a:r>
          </a:p>
          <a:p>
            <a:r>
              <a:t>Виклики та перспективи розвитку тестування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0bf197-73fd-41e1-ba51-8f8de062c38b" xsi:nil="true"/>
    <lcf76f155ced4ddcb4097134ff3c332f xmlns="e5e6fc73-9031-450c-9de5-7bc5986304f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50F5A9156BD1D478258C645CBF5B6E4" ma:contentTypeVersion="12" ma:contentTypeDescription="Создание документа." ma:contentTypeScope="" ma:versionID="11858a2ebce4109694a2c45154aaadf1">
  <xsd:schema xmlns:xsd="http://www.w3.org/2001/XMLSchema" xmlns:xs="http://www.w3.org/2001/XMLSchema" xmlns:p="http://schemas.microsoft.com/office/2006/metadata/properties" xmlns:ns2="e5e6fc73-9031-450c-9de5-7bc5986304f3" xmlns:ns3="df0bf197-73fd-41e1-ba51-8f8de062c38b" targetNamespace="http://schemas.microsoft.com/office/2006/metadata/properties" ma:root="true" ma:fieldsID="b4601445fbed1be4719cec889fac3656" ns2:_="" ns3:_="">
    <xsd:import namespace="e5e6fc73-9031-450c-9de5-7bc5986304f3"/>
    <xsd:import namespace="df0bf197-73fd-41e1-ba51-8f8de062c3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6fc73-9031-450c-9de5-7bc5986304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ee9b83cc-1686-492f-80a3-07431345b1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bf197-73fd-41e1-ba51-8f8de062c38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7d9b0f9-d676-41f6-9742-644e7637553d}" ma:internalName="TaxCatchAll" ma:showField="CatchAllData" ma:web="df0bf197-73fd-41e1-ba51-8f8de062c3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E3AEF4-776C-422D-A4E8-0C1A3B616EE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F3FF12A-1EBB-4CA2-BFE6-F845CFCEAB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AC150D-AB06-4331-B478-FD51BD362217}"/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1465</Words>
  <Application>Microsoft Office PowerPoint</Application>
  <PresentationFormat>Екран (4:3)</PresentationFormat>
  <Paragraphs>132</Paragraphs>
  <Slides>24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24</vt:i4>
      </vt:variant>
    </vt:vector>
  </HeadingPairs>
  <TitlesOfParts>
    <vt:vector size="25" baseType="lpstr">
      <vt:lpstr>Office Theme</vt:lpstr>
      <vt:lpstr>Тестування програмних продуктів</vt:lpstr>
      <vt:lpstr>Вступ</vt:lpstr>
      <vt:lpstr>Типи тестування</vt:lpstr>
      <vt:lpstr>Функціональне тестування</vt:lpstr>
      <vt:lpstr>Основні аспекти функціонального тестування:</vt:lpstr>
      <vt:lpstr>Переваги функціонального тестування:</vt:lpstr>
      <vt:lpstr>Нефункціональне тестування</vt:lpstr>
      <vt:lpstr>Основні аспекти нефункціонального тестування:</vt:lpstr>
      <vt:lpstr>Презентація PowerPoint</vt:lpstr>
      <vt:lpstr>Презентація PowerPoint</vt:lpstr>
      <vt:lpstr>Переваги нефункціонального тестування:</vt:lpstr>
      <vt:lpstr>Автоматизоване тестування</vt:lpstr>
      <vt:lpstr>Презентація PowerPoint</vt:lpstr>
      <vt:lpstr>Тестування веб-додатків</vt:lpstr>
      <vt:lpstr>Ручне тестування</vt:lpstr>
      <vt:lpstr>Переваги та недоліки</vt:lpstr>
      <vt:lpstr>Основні етапи процесу тестування</vt:lpstr>
      <vt:lpstr>Методи тестування</vt:lpstr>
      <vt:lpstr>Рівні тестування</vt:lpstr>
      <vt:lpstr>Інструменти для тестування ПЗ</vt:lpstr>
      <vt:lpstr>Автоматизація тестування</vt:lpstr>
      <vt:lpstr>Ключові показники якості програмного продукту</vt:lpstr>
      <vt:lpstr>Роль тестування в Agile та DevOps</vt:lpstr>
      <vt:lpstr>Заключення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Тестування програмних продуктів</dc:title>
  <dc:subject/>
  <dc:creator/>
  <cp:keywords/>
  <dc:description>generated using python-pptx</dc:description>
  <cp:lastModifiedBy>admin</cp:lastModifiedBy>
  <cp:revision>14</cp:revision>
  <dcterms:created xsi:type="dcterms:W3CDTF">2013-01-27T09:14:16Z</dcterms:created>
  <dcterms:modified xsi:type="dcterms:W3CDTF">2024-09-23T09:50:57Z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0x010100D50F5A9156BD1D478258C645CBF5B6E4</vt:lpwstr>
  </property>
</Properties>
</file>