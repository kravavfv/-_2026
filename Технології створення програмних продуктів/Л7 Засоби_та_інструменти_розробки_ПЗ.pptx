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Засоби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інструменти</a:t>
            </a:r>
            <a:r>
              <a:rPr dirty="0"/>
              <a:t> </a:t>
            </a:r>
            <a:r>
              <a:rPr dirty="0" err="1"/>
              <a:t>розробки</a:t>
            </a:r>
            <a:r>
              <a:rPr dirty="0"/>
              <a:t> ПЗ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57700"/>
            <a:ext cx="6400800" cy="1181100"/>
          </a:xfrm>
        </p:spPr>
        <p:txBody>
          <a:bodyPr/>
          <a:lstStyle/>
          <a:p>
            <a:r>
              <a:rPr lang="uk-UA" dirty="0" err="1"/>
              <a:t>К.т.н</a:t>
            </a:r>
            <a:r>
              <a:rPr lang="uk-UA" dirty="0"/>
              <a:t>., доцент Ольга КРАВЧЕНКО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Вступ: Роль інструментів у розробці ПЗ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Важливість</a:t>
            </a:r>
            <a:r>
              <a:rPr dirty="0"/>
              <a:t> </a:t>
            </a:r>
            <a:r>
              <a:rPr dirty="0" err="1"/>
              <a:t>засобів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інструментів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ефективного</a:t>
            </a:r>
            <a:r>
              <a:rPr dirty="0"/>
              <a:t> </a:t>
            </a:r>
            <a:r>
              <a:rPr dirty="0" err="1"/>
              <a:t>процесу</a:t>
            </a:r>
            <a:r>
              <a:rPr dirty="0"/>
              <a:t> </a:t>
            </a:r>
            <a:r>
              <a:rPr dirty="0" err="1"/>
              <a:t>розробки</a:t>
            </a:r>
            <a:r>
              <a:rPr dirty="0"/>
              <a:t>.</a:t>
            </a:r>
          </a:p>
          <a:p>
            <a:r>
              <a:rPr dirty="0" err="1"/>
              <a:t>Основні</a:t>
            </a:r>
            <a:r>
              <a:rPr dirty="0"/>
              <a:t> </a:t>
            </a:r>
            <a:r>
              <a:rPr dirty="0" err="1"/>
              <a:t>категорії</a:t>
            </a:r>
            <a:r>
              <a:rPr dirty="0"/>
              <a:t> </a:t>
            </a:r>
            <a:r>
              <a:rPr dirty="0" err="1"/>
              <a:t>інструментів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Важливість</a:t>
            </a:r>
            <a:r>
              <a:rPr lang="ru-RU" dirty="0"/>
              <a:t> </a:t>
            </a:r>
            <a:r>
              <a:rPr lang="ru-RU" dirty="0" err="1"/>
              <a:t>засобів</a:t>
            </a:r>
            <a:r>
              <a:rPr lang="ru-RU" dirty="0"/>
              <a:t> та </a:t>
            </a:r>
            <a:r>
              <a:rPr lang="ru-RU" dirty="0" err="1"/>
              <a:t>інструментів</a:t>
            </a:r>
            <a:r>
              <a:rPr lang="ru-RU" dirty="0"/>
              <a:t> для </a:t>
            </a:r>
            <a:r>
              <a:rPr lang="ru-RU" dirty="0" err="1"/>
              <a:t>ефективного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2940" y="2731769"/>
            <a:ext cx="8229600" cy="251460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 err="1"/>
              <a:t>Засоби</a:t>
            </a:r>
            <a:r>
              <a:rPr lang="ru-RU" dirty="0"/>
              <a:t> та </a:t>
            </a:r>
            <a:r>
              <a:rPr lang="ru-RU" dirty="0" err="1"/>
              <a:t>інструменти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є </a:t>
            </a:r>
            <a:r>
              <a:rPr lang="ru-RU" dirty="0" err="1"/>
              <a:t>критичними</a:t>
            </a:r>
            <a:r>
              <a:rPr lang="ru-RU" dirty="0"/>
              <a:t> для </a:t>
            </a:r>
            <a:r>
              <a:rPr lang="ru-RU" dirty="0" err="1"/>
              <a:t>ефективного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з </a:t>
            </a:r>
            <a:r>
              <a:rPr lang="ru-RU" dirty="0" err="1"/>
              <a:t>кількох</a:t>
            </a:r>
            <a:r>
              <a:rPr lang="ru-RU" dirty="0"/>
              <a:t> </a:t>
            </a:r>
            <a:r>
              <a:rPr lang="ru-RU" dirty="0" err="1"/>
              <a:t>ключових</a:t>
            </a:r>
            <a:r>
              <a:rPr lang="ru-RU" dirty="0"/>
              <a:t> причин</a:t>
            </a:r>
          </a:p>
        </p:txBody>
      </p:sp>
    </p:spTree>
    <p:extLst>
      <p:ext uri="{BB962C8B-B14F-4D97-AF65-F5344CB8AC3E}">
        <p14:creationId xmlns:p14="http://schemas.microsoft.com/office/powerpoint/2010/main" val="242362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Ключові причини створення ПЗ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4330" y="1245870"/>
            <a:ext cx="8538210" cy="53721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1</a:t>
            </a:r>
            <a:r>
              <a:rPr lang="ru-RU" sz="3800" b="1" dirty="0"/>
              <a:t>. </a:t>
            </a:r>
            <a:r>
              <a:rPr lang="ru-RU" sz="3800" b="1" dirty="0" err="1"/>
              <a:t>Підвищення</a:t>
            </a:r>
            <a:r>
              <a:rPr lang="ru-RU" sz="3800" b="1" dirty="0"/>
              <a:t> </a:t>
            </a:r>
            <a:r>
              <a:rPr lang="ru-RU" sz="3800" b="1" dirty="0" err="1"/>
              <a:t>продуктивності</a:t>
            </a:r>
            <a:endParaRPr lang="ru-RU" sz="3800" b="1" dirty="0"/>
          </a:p>
          <a:p>
            <a:pPr algn="just"/>
            <a:r>
              <a:rPr lang="ru-RU" sz="3800" dirty="0" err="1"/>
              <a:t>Інструменти</a:t>
            </a:r>
            <a:r>
              <a:rPr lang="ru-RU" sz="3800" dirty="0"/>
              <a:t> </a:t>
            </a:r>
            <a:r>
              <a:rPr lang="ru-RU" sz="3800" dirty="0" err="1"/>
              <a:t>автоматизують</a:t>
            </a:r>
            <a:r>
              <a:rPr lang="ru-RU" sz="3800" dirty="0"/>
              <a:t> </a:t>
            </a:r>
            <a:r>
              <a:rPr lang="ru-RU" sz="3800" dirty="0" err="1"/>
              <a:t>рутинні</a:t>
            </a:r>
            <a:r>
              <a:rPr lang="ru-RU" sz="3800" dirty="0"/>
              <a:t> </a:t>
            </a:r>
            <a:r>
              <a:rPr lang="ru-RU" sz="3800" dirty="0" err="1"/>
              <a:t>задачі</a:t>
            </a:r>
            <a:r>
              <a:rPr lang="ru-RU" sz="3800" dirty="0"/>
              <a:t>, </a:t>
            </a:r>
            <a:r>
              <a:rPr lang="ru-RU" sz="3800" dirty="0" err="1"/>
              <a:t>дозволяючи</a:t>
            </a:r>
            <a:r>
              <a:rPr lang="ru-RU" sz="3800" dirty="0"/>
              <a:t> </a:t>
            </a:r>
            <a:r>
              <a:rPr lang="ru-RU" sz="3800" dirty="0" err="1"/>
              <a:t>розробникам</a:t>
            </a:r>
            <a:r>
              <a:rPr lang="ru-RU" sz="3800" dirty="0"/>
              <a:t> </a:t>
            </a:r>
            <a:r>
              <a:rPr lang="ru-RU" sz="3800" dirty="0" err="1"/>
              <a:t>зосередитися</a:t>
            </a:r>
            <a:r>
              <a:rPr lang="ru-RU" sz="3800" dirty="0"/>
              <a:t> на </a:t>
            </a:r>
            <a:r>
              <a:rPr lang="ru-RU" sz="3800" dirty="0" err="1"/>
              <a:t>більш</a:t>
            </a:r>
            <a:r>
              <a:rPr lang="ru-RU" sz="3800" dirty="0"/>
              <a:t> </a:t>
            </a:r>
            <a:r>
              <a:rPr lang="ru-RU" sz="3800" dirty="0" err="1"/>
              <a:t>важливих</a:t>
            </a:r>
            <a:r>
              <a:rPr lang="ru-RU" sz="3800" dirty="0"/>
              <a:t> аспектах проекту. Наприклад, </a:t>
            </a:r>
            <a:r>
              <a:rPr lang="ru-RU" sz="3800" dirty="0" err="1"/>
              <a:t>системи</a:t>
            </a:r>
            <a:r>
              <a:rPr lang="ru-RU" sz="3800" dirty="0"/>
              <a:t> </a:t>
            </a:r>
            <a:r>
              <a:rPr lang="ru-RU" sz="3800" dirty="0" err="1"/>
              <a:t>керування</a:t>
            </a:r>
            <a:r>
              <a:rPr lang="ru-RU" sz="3800" dirty="0"/>
              <a:t> </a:t>
            </a:r>
            <a:r>
              <a:rPr lang="ru-RU" sz="3800" dirty="0" err="1"/>
              <a:t>версіями</a:t>
            </a:r>
            <a:r>
              <a:rPr lang="ru-RU" sz="3800" dirty="0"/>
              <a:t> (</a:t>
            </a:r>
            <a:r>
              <a:rPr lang="en-US" sz="3800" dirty="0" err="1"/>
              <a:t>Git</a:t>
            </a:r>
            <a:r>
              <a:rPr lang="en-US" sz="3800" dirty="0"/>
              <a:t>), </a:t>
            </a:r>
            <a:r>
              <a:rPr lang="ru-RU" sz="3800" dirty="0" err="1"/>
              <a:t>автоматизація</a:t>
            </a:r>
            <a:r>
              <a:rPr lang="ru-RU" sz="3800" dirty="0"/>
              <a:t> </a:t>
            </a:r>
            <a:r>
              <a:rPr lang="ru-RU" sz="3800" dirty="0" err="1"/>
              <a:t>тестування</a:t>
            </a:r>
            <a:r>
              <a:rPr lang="ru-RU" sz="3800" dirty="0"/>
              <a:t> та </a:t>
            </a:r>
            <a:r>
              <a:rPr lang="ru-RU" sz="3800" dirty="0" err="1"/>
              <a:t>платформи</a:t>
            </a:r>
            <a:r>
              <a:rPr lang="ru-RU" sz="3800" dirty="0"/>
              <a:t> </a:t>
            </a:r>
            <a:r>
              <a:rPr lang="en-US" sz="3800" dirty="0"/>
              <a:t>CI/CD (Jenkins, </a:t>
            </a:r>
            <a:r>
              <a:rPr lang="en-US" sz="3800" dirty="0" err="1"/>
              <a:t>GitLab</a:t>
            </a:r>
            <a:r>
              <a:rPr lang="en-US" sz="3800" dirty="0"/>
              <a:t> CI) </a:t>
            </a:r>
            <a:r>
              <a:rPr lang="ru-RU" sz="3800" dirty="0" err="1"/>
              <a:t>дозволяють</a:t>
            </a:r>
            <a:r>
              <a:rPr lang="ru-RU" sz="3800" dirty="0"/>
              <a:t> </a:t>
            </a:r>
            <a:r>
              <a:rPr lang="ru-RU" sz="3800" dirty="0" err="1"/>
              <a:t>зменшити</a:t>
            </a:r>
            <a:r>
              <a:rPr lang="ru-RU" sz="3800" dirty="0"/>
              <a:t> </a:t>
            </a:r>
            <a:r>
              <a:rPr lang="ru-RU" sz="3800" dirty="0" err="1"/>
              <a:t>кількість</a:t>
            </a:r>
            <a:r>
              <a:rPr lang="ru-RU" sz="3800" dirty="0"/>
              <a:t> </a:t>
            </a:r>
            <a:r>
              <a:rPr lang="ru-RU" sz="3800" dirty="0" err="1"/>
              <a:t>ручної</a:t>
            </a:r>
            <a:r>
              <a:rPr lang="ru-RU" sz="3800" dirty="0"/>
              <a:t> </a:t>
            </a:r>
            <a:r>
              <a:rPr lang="ru-RU" sz="3800" dirty="0" err="1"/>
              <a:t>роботи</a:t>
            </a:r>
            <a:r>
              <a:rPr lang="ru-RU" sz="3800" dirty="0"/>
              <a:t> та </a:t>
            </a:r>
            <a:r>
              <a:rPr lang="ru-RU" sz="3800" dirty="0" err="1"/>
              <a:t>мінімізувати</a:t>
            </a:r>
            <a:endParaRPr lang="ru-RU" sz="3800" dirty="0"/>
          </a:p>
          <a:p>
            <a:pPr marL="0" indent="0" algn="just">
              <a:buNone/>
            </a:pPr>
            <a:endParaRPr lang="ru-RU" sz="3800" dirty="0"/>
          </a:p>
          <a:p>
            <a:pPr marL="0" indent="0" algn="just">
              <a:buNone/>
            </a:pPr>
            <a:r>
              <a:rPr lang="ru-RU" sz="3800" b="1" dirty="0"/>
              <a:t>2. </a:t>
            </a:r>
            <a:r>
              <a:rPr lang="ru-RU" sz="3800" b="1" dirty="0" err="1"/>
              <a:t>Забезпечення</a:t>
            </a:r>
            <a:r>
              <a:rPr lang="ru-RU" sz="3800" b="1" dirty="0"/>
              <a:t> </a:t>
            </a:r>
            <a:r>
              <a:rPr lang="ru-RU" sz="3800" b="1" dirty="0" err="1"/>
              <a:t>співпраці</a:t>
            </a:r>
            <a:r>
              <a:rPr lang="ru-RU" sz="3800" b="1" dirty="0"/>
              <a:t> в </a:t>
            </a:r>
            <a:r>
              <a:rPr lang="ru-RU" sz="3800" b="1" dirty="0" err="1"/>
              <a:t>команді</a:t>
            </a:r>
            <a:endParaRPr lang="ru-RU" sz="3800" b="1" dirty="0"/>
          </a:p>
          <a:p>
            <a:pPr algn="just"/>
            <a:r>
              <a:rPr lang="ru-RU" sz="3800" dirty="0"/>
              <a:t>У сучасних </a:t>
            </a:r>
            <a:r>
              <a:rPr lang="ru-RU" sz="3800" dirty="0" err="1"/>
              <a:t>умовах</a:t>
            </a:r>
            <a:r>
              <a:rPr lang="ru-RU" sz="3800" dirty="0"/>
              <a:t> </a:t>
            </a:r>
            <a:r>
              <a:rPr lang="ru-RU" sz="3800" dirty="0" err="1"/>
              <a:t>програмні</a:t>
            </a:r>
            <a:r>
              <a:rPr lang="ru-RU" sz="3800" dirty="0"/>
              <a:t> </a:t>
            </a:r>
            <a:r>
              <a:rPr lang="ru-RU" sz="3800" dirty="0" err="1"/>
              <a:t>продукти</a:t>
            </a:r>
            <a:r>
              <a:rPr lang="ru-RU" sz="3800" dirty="0"/>
              <a:t> </a:t>
            </a:r>
            <a:r>
              <a:rPr lang="ru-RU" sz="3800" dirty="0" err="1"/>
              <a:t>розробляються</a:t>
            </a:r>
            <a:r>
              <a:rPr lang="ru-RU" sz="3800" dirty="0"/>
              <a:t> великими командами, часто з </a:t>
            </a:r>
            <a:r>
              <a:rPr lang="ru-RU" sz="3800" dirty="0" err="1"/>
              <a:t>різних</a:t>
            </a:r>
            <a:r>
              <a:rPr lang="ru-RU" sz="3800" dirty="0"/>
              <a:t> </a:t>
            </a:r>
            <a:r>
              <a:rPr lang="ru-RU" sz="3800" dirty="0" err="1"/>
              <a:t>куточків</a:t>
            </a:r>
            <a:r>
              <a:rPr lang="ru-RU" sz="3800" dirty="0"/>
              <a:t> </a:t>
            </a:r>
            <a:r>
              <a:rPr lang="ru-RU" sz="3800" dirty="0" err="1"/>
              <a:t>світу</a:t>
            </a:r>
            <a:r>
              <a:rPr lang="ru-RU" sz="3800" dirty="0"/>
              <a:t>. </a:t>
            </a:r>
            <a:r>
              <a:rPr lang="ru-RU" sz="3800" dirty="0" err="1"/>
              <a:t>Засоби</a:t>
            </a:r>
            <a:r>
              <a:rPr lang="ru-RU" sz="3800" dirty="0"/>
              <a:t> для </a:t>
            </a:r>
            <a:r>
              <a:rPr lang="ru-RU" sz="3800" dirty="0" err="1"/>
              <a:t>керування</a:t>
            </a:r>
            <a:r>
              <a:rPr lang="ru-RU" sz="3800" dirty="0"/>
              <a:t> </a:t>
            </a:r>
            <a:r>
              <a:rPr lang="ru-RU" sz="3800" dirty="0" err="1"/>
              <a:t>версіями</a:t>
            </a:r>
            <a:r>
              <a:rPr lang="ru-RU" sz="3800" dirty="0"/>
              <a:t> (</a:t>
            </a:r>
            <a:r>
              <a:rPr lang="en-US" sz="3800" dirty="0"/>
              <a:t>GitHub, </a:t>
            </a:r>
            <a:r>
              <a:rPr lang="en-US" sz="3800" dirty="0" err="1"/>
              <a:t>GitLab</a:t>
            </a:r>
            <a:r>
              <a:rPr lang="en-US" sz="3800" dirty="0"/>
              <a:t>) </a:t>
            </a:r>
            <a:r>
              <a:rPr lang="ru-RU" sz="3800" dirty="0"/>
              <a:t>та </a:t>
            </a:r>
            <a:r>
              <a:rPr lang="ru-RU" sz="3800" dirty="0" err="1"/>
              <a:t>платформи</a:t>
            </a:r>
            <a:r>
              <a:rPr lang="ru-RU" sz="3800" dirty="0"/>
              <a:t> для </a:t>
            </a:r>
            <a:r>
              <a:rPr lang="ru-RU" sz="3800" dirty="0" err="1"/>
              <a:t>управління</a:t>
            </a:r>
            <a:r>
              <a:rPr lang="ru-RU" sz="3800" dirty="0"/>
              <a:t> </a:t>
            </a:r>
            <a:r>
              <a:rPr lang="ru-RU" sz="3800" dirty="0" err="1"/>
              <a:t>проєктами</a:t>
            </a:r>
            <a:r>
              <a:rPr lang="ru-RU" sz="3800" dirty="0"/>
              <a:t> (</a:t>
            </a:r>
            <a:r>
              <a:rPr lang="en-US" sz="3800" dirty="0"/>
              <a:t>Jira, </a:t>
            </a:r>
            <a:r>
              <a:rPr lang="en-US" sz="3800" dirty="0" err="1"/>
              <a:t>Trello</a:t>
            </a:r>
            <a:r>
              <a:rPr lang="en-US" sz="3800" dirty="0"/>
              <a:t>) </a:t>
            </a:r>
            <a:r>
              <a:rPr lang="ru-RU" sz="3800" dirty="0"/>
              <a:t>не </a:t>
            </a:r>
            <a:r>
              <a:rPr lang="ru-RU" sz="3800" dirty="0" err="1"/>
              <a:t>дозволяють</a:t>
            </a:r>
            <a:r>
              <a:rPr lang="ru-RU" sz="3800" dirty="0"/>
              <a:t> </a:t>
            </a:r>
            <a:r>
              <a:rPr lang="ru-RU" sz="3800" dirty="0" err="1"/>
              <a:t>команді</a:t>
            </a:r>
            <a:r>
              <a:rPr lang="ru-RU" sz="3800" dirty="0"/>
              <a:t> </a:t>
            </a:r>
            <a:r>
              <a:rPr lang="ru-RU" sz="3800" dirty="0" err="1"/>
              <a:t>синхронізувати</a:t>
            </a:r>
            <a:r>
              <a:rPr lang="ru-RU" sz="3800" dirty="0"/>
              <a:t> роботу, </a:t>
            </a:r>
            <a:r>
              <a:rPr lang="ru-RU" sz="3800" dirty="0" err="1"/>
              <a:t>відслідковувати</a:t>
            </a:r>
            <a:r>
              <a:rPr lang="ru-RU" sz="3800" dirty="0"/>
              <a:t> </a:t>
            </a:r>
            <a:r>
              <a:rPr lang="ru-RU" sz="3800" dirty="0" err="1"/>
              <a:t>зміни</a:t>
            </a:r>
            <a:r>
              <a:rPr lang="ru-RU" sz="3800" dirty="0"/>
              <a:t> в </a:t>
            </a:r>
            <a:r>
              <a:rPr lang="ru-RU" sz="3800" dirty="0" err="1"/>
              <a:t>коді</a:t>
            </a:r>
            <a:r>
              <a:rPr lang="ru-RU" sz="3800" dirty="0"/>
              <a:t>, </a:t>
            </a:r>
            <a:r>
              <a:rPr lang="ru-RU" sz="3800" dirty="0" err="1"/>
              <a:t>коментувати</a:t>
            </a:r>
            <a:r>
              <a:rPr lang="ru-RU" sz="3800" dirty="0"/>
              <a:t> та </a:t>
            </a:r>
            <a:r>
              <a:rPr lang="ru-RU" sz="3800" dirty="0" err="1"/>
              <a:t>відповідати</a:t>
            </a:r>
            <a:r>
              <a:rPr lang="ru-RU" sz="3800" dirty="0"/>
              <a:t> </a:t>
            </a:r>
            <a:r>
              <a:rPr lang="ru-RU" sz="3800" dirty="0" err="1"/>
              <a:t>завданням</a:t>
            </a:r>
            <a:r>
              <a:rPr lang="ru-RU" sz="3800" dirty="0"/>
              <a:t>, </a:t>
            </a:r>
            <a:r>
              <a:rPr lang="ru-RU" sz="3800" dirty="0" err="1"/>
              <a:t>що</a:t>
            </a:r>
            <a:r>
              <a:rPr lang="ru-RU" sz="3800" dirty="0"/>
              <a:t> </a:t>
            </a:r>
            <a:r>
              <a:rPr lang="ru-RU" sz="3800" dirty="0" err="1"/>
              <a:t>покращує</a:t>
            </a:r>
            <a:r>
              <a:rPr lang="ru-RU" sz="3800" dirty="0"/>
              <a:t> </a:t>
            </a:r>
            <a:r>
              <a:rPr lang="ru-RU" sz="3800" dirty="0" err="1"/>
              <a:t>комунікативність</a:t>
            </a:r>
            <a:r>
              <a:rPr lang="ru-RU" sz="3800" dirty="0"/>
              <a:t> і </a:t>
            </a:r>
            <a:r>
              <a:rPr lang="ru-RU" sz="3800" dirty="0" err="1"/>
              <a:t>продуктивність</a:t>
            </a:r>
            <a:endParaRPr lang="ru-RU" sz="3800" dirty="0"/>
          </a:p>
          <a:p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249961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590"/>
            <a:ext cx="8229600" cy="59775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3. </a:t>
            </a:r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якістю</a:t>
            </a:r>
            <a:r>
              <a:rPr lang="ru-RU" b="1" dirty="0"/>
              <a:t> коду</a:t>
            </a:r>
          </a:p>
          <a:p>
            <a:r>
              <a:rPr lang="ru-RU" dirty="0" err="1"/>
              <a:t>Засоби</a:t>
            </a:r>
            <a:r>
              <a:rPr lang="ru-RU" dirty="0"/>
              <a:t> для </a:t>
            </a:r>
            <a:r>
              <a:rPr lang="ru-RU" dirty="0" err="1"/>
              <a:t>тестування</a:t>
            </a:r>
            <a:r>
              <a:rPr lang="ru-RU" dirty="0"/>
              <a:t> та статичного </a:t>
            </a:r>
            <a:r>
              <a:rPr lang="ru-RU" dirty="0" err="1"/>
              <a:t>аналізу</a:t>
            </a:r>
            <a:r>
              <a:rPr lang="ru-RU" dirty="0"/>
              <a:t> коду (</a:t>
            </a:r>
            <a:r>
              <a:rPr lang="en-US" dirty="0" err="1"/>
              <a:t>SonarQube</a:t>
            </a:r>
            <a:r>
              <a:rPr lang="en-US" dirty="0"/>
              <a:t>, </a:t>
            </a:r>
            <a:r>
              <a:rPr lang="en-US" dirty="0" err="1"/>
              <a:t>ESLint</a:t>
            </a:r>
            <a:r>
              <a:rPr lang="en-US" dirty="0"/>
              <a:t>)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розробникам</a:t>
            </a:r>
            <a:r>
              <a:rPr lang="ru-RU" dirty="0"/>
              <a:t> </a:t>
            </a:r>
            <a:r>
              <a:rPr lang="ru-RU" dirty="0" err="1"/>
              <a:t>перевірити</a:t>
            </a:r>
            <a:r>
              <a:rPr lang="ru-RU" dirty="0"/>
              <a:t> </a:t>
            </a:r>
            <a:r>
              <a:rPr lang="ru-RU" dirty="0" err="1"/>
              <a:t>якість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коду на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виявлення</a:t>
            </a:r>
            <a:r>
              <a:rPr lang="ru-RU" dirty="0"/>
              <a:t> </a:t>
            </a:r>
            <a:r>
              <a:rPr lang="ru-RU" dirty="0" err="1"/>
              <a:t>помилок</a:t>
            </a:r>
            <a:r>
              <a:rPr lang="ru-RU" dirty="0"/>
              <a:t> на </a:t>
            </a:r>
            <a:r>
              <a:rPr lang="ru-RU" dirty="0" err="1"/>
              <a:t>ранніх</a:t>
            </a:r>
            <a:r>
              <a:rPr lang="ru-RU" dirty="0"/>
              <a:t> </a:t>
            </a:r>
            <a:r>
              <a:rPr lang="ru-RU" dirty="0" err="1"/>
              <a:t>стадіях</a:t>
            </a:r>
            <a:r>
              <a:rPr lang="ru-RU" dirty="0"/>
              <a:t> та </a:t>
            </a:r>
            <a:r>
              <a:rPr lang="ru-RU" dirty="0" err="1"/>
              <a:t>покращує</a:t>
            </a:r>
            <a:r>
              <a:rPr lang="ru-RU" dirty="0"/>
              <a:t> </a:t>
            </a:r>
            <a:r>
              <a:rPr lang="ru-RU" dirty="0" err="1"/>
              <a:t>загальну</a:t>
            </a:r>
            <a:r>
              <a:rPr lang="ru-RU" dirty="0"/>
              <a:t> </a:t>
            </a:r>
            <a:r>
              <a:rPr lang="ru-RU" dirty="0" err="1"/>
              <a:t>стабільність</a:t>
            </a:r>
            <a:r>
              <a:rPr lang="ru-RU" dirty="0"/>
              <a:t> продукту</a:t>
            </a:r>
          </a:p>
          <a:p>
            <a:pPr marL="0" indent="0">
              <a:buNone/>
            </a:pPr>
            <a:r>
              <a:rPr lang="ru-RU" b="1" dirty="0"/>
              <a:t>4. </a:t>
            </a:r>
            <a:r>
              <a:rPr lang="ru-RU" b="1" dirty="0" err="1"/>
              <a:t>Безперервна</a:t>
            </a:r>
            <a:r>
              <a:rPr lang="ru-RU" b="1" dirty="0"/>
              <a:t> </a:t>
            </a:r>
            <a:r>
              <a:rPr lang="ru-RU" b="1" dirty="0" err="1"/>
              <a:t>інтеграція</a:t>
            </a:r>
            <a:r>
              <a:rPr lang="ru-RU" b="1" dirty="0"/>
              <a:t> та доставка</a:t>
            </a:r>
          </a:p>
          <a:p>
            <a:pPr marL="0" indent="0">
              <a:buNone/>
            </a:pPr>
            <a:r>
              <a:rPr lang="ru-RU" b="1" dirty="0"/>
              <a:t>5. </a:t>
            </a:r>
            <a:r>
              <a:rPr lang="ru-RU" b="1" dirty="0" err="1"/>
              <a:t>Моделювання</a:t>
            </a:r>
            <a:r>
              <a:rPr lang="ru-RU" b="1" dirty="0"/>
              <a:t> та </a:t>
            </a:r>
            <a:r>
              <a:rPr lang="ru-RU" b="1" dirty="0" err="1"/>
              <a:t>архітектурне</a:t>
            </a:r>
            <a:r>
              <a:rPr lang="ru-RU" b="1" dirty="0"/>
              <a:t> </a:t>
            </a:r>
            <a:r>
              <a:rPr lang="ru-RU" b="1" dirty="0" err="1"/>
              <a:t>проектування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6. </a:t>
            </a:r>
            <a:r>
              <a:rPr lang="ru-RU" b="1" dirty="0" err="1"/>
              <a:t>Краща</a:t>
            </a:r>
            <a:r>
              <a:rPr lang="ru-RU" b="1" dirty="0"/>
              <a:t> </a:t>
            </a:r>
            <a:r>
              <a:rPr lang="ru-RU" b="1" dirty="0" err="1"/>
              <a:t>організація</a:t>
            </a:r>
            <a:r>
              <a:rPr lang="ru-RU" b="1" dirty="0"/>
              <a:t> </a:t>
            </a:r>
            <a:r>
              <a:rPr lang="ru-RU" b="1" dirty="0" err="1"/>
              <a:t>роботи</a:t>
            </a:r>
            <a:r>
              <a:rPr lang="ru-RU" b="1" dirty="0"/>
              <a:t> та </a:t>
            </a:r>
            <a:r>
              <a:rPr lang="ru-RU" b="1" dirty="0" err="1"/>
              <a:t>управління</a:t>
            </a:r>
            <a:r>
              <a:rPr lang="ru-RU" b="1" dirty="0"/>
              <a:t> проектом</a:t>
            </a:r>
          </a:p>
          <a:p>
            <a:pPr marL="0" indent="0">
              <a:buNone/>
            </a:pPr>
            <a:r>
              <a:rPr lang="ru-RU" b="1" dirty="0"/>
              <a:t>7. </a:t>
            </a:r>
            <a:r>
              <a:rPr lang="ru-RU" b="1" dirty="0" err="1"/>
              <a:t>Гнучкість</a:t>
            </a:r>
            <a:r>
              <a:rPr lang="ru-RU" b="1" dirty="0"/>
              <a:t> та </a:t>
            </a:r>
            <a:r>
              <a:rPr lang="ru-RU" b="1" dirty="0" err="1"/>
              <a:t>масштабованість</a:t>
            </a:r>
            <a:endParaRPr lang="ru-RU" b="1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98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категорії</a:t>
            </a:r>
            <a:r>
              <a:rPr lang="ru-RU" dirty="0"/>
              <a:t> </a:t>
            </a:r>
            <a:r>
              <a:rPr lang="ru-RU" dirty="0" err="1"/>
              <a:t>інструментів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ПЗ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5740" y="1417638"/>
            <a:ext cx="8835390" cy="52689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1. </a:t>
            </a:r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версіями</a:t>
            </a:r>
            <a:endParaRPr lang="ru-RU" b="1" dirty="0"/>
          </a:p>
          <a:p>
            <a:pPr algn="just"/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інструменти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відстежувати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в </a:t>
            </a:r>
            <a:r>
              <a:rPr lang="ru-RU" dirty="0" err="1"/>
              <a:t>коді</a:t>
            </a:r>
            <a:r>
              <a:rPr lang="ru-RU" dirty="0"/>
              <a:t> та </a:t>
            </a:r>
            <a:r>
              <a:rPr lang="ru-RU" dirty="0" err="1"/>
              <a:t>забезпечують</a:t>
            </a:r>
            <a:r>
              <a:rPr lang="ru-RU" dirty="0"/>
              <a:t> </a:t>
            </a:r>
            <a:r>
              <a:rPr lang="ru-RU" dirty="0" err="1"/>
              <a:t>спільну</a:t>
            </a:r>
            <a:r>
              <a:rPr lang="ru-RU" dirty="0"/>
              <a:t> роботу </a:t>
            </a:r>
            <a:r>
              <a:rPr lang="ru-RU" dirty="0" err="1"/>
              <a:t>розробників</a:t>
            </a:r>
            <a:r>
              <a:rPr lang="ru-RU" dirty="0"/>
              <a:t>. Вони </a:t>
            </a:r>
            <a:r>
              <a:rPr lang="ru-RU" dirty="0" err="1"/>
              <a:t>зберігають</a:t>
            </a:r>
            <a:r>
              <a:rPr lang="ru-RU" dirty="0"/>
              <a:t> </a:t>
            </a:r>
            <a:r>
              <a:rPr lang="ru-RU" dirty="0" err="1"/>
              <a:t>історію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 і не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з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версіями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b="1" dirty="0"/>
              <a:t>2. </a:t>
            </a:r>
            <a:r>
              <a:rPr lang="ru-RU" b="1" dirty="0" err="1"/>
              <a:t>Інтегровані</a:t>
            </a:r>
            <a:r>
              <a:rPr lang="ru-RU" b="1" dirty="0"/>
              <a:t> </a:t>
            </a:r>
            <a:r>
              <a:rPr lang="ru-RU" b="1" dirty="0" err="1"/>
              <a:t>розробки</a:t>
            </a:r>
            <a:r>
              <a:rPr lang="ru-RU" b="1" dirty="0"/>
              <a:t> </a:t>
            </a:r>
            <a:r>
              <a:rPr lang="ru-RU" b="1" dirty="0" err="1"/>
              <a:t>середовища</a:t>
            </a:r>
            <a:r>
              <a:rPr lang="ru-RU" b="1" dirty="0"/>
              <a:t> (</a:t>
            </a:r>
            <a:r>
              <a:rPr lang="en-US" b="1" dirty="0"/>
              <a:t>IDE)</a:t>
            </a:r>
          </a:p>
          <a:p>
            <a:pPr algn="just"/>
            <a:r>
              <a:rPr lang="en-US" dirty="0"/>
              <a:t>IDE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єдине</a:t>
            </a:r>
            <a:r>
              <a:rPr lang="ru-RU" dirty="0"/>
              <a:t> </a:t>
            </a:r>
            <a:r>
              <a:rPr lang="ru-RU" dirty="0" err="1"/>
              <a:t>середовище</a:t>
            </a:r>
            <a:r>
              <a:rPr lang="ru-RU" dirty="0"/>
              <a:t> для </a:t>
            </a:r>
            <a:r>
              <a:rPr lang="ru-RU" dirty="0" err="1"/>
              <a:t>написання</a:t>
            </a:r>
            <a:r>
              <a:rPr lang="ru-RU" dirty="0"/>
              <a:t>, </a:t>
            </a:r>
            <a:r>
              <a:rPr lang="ru-RU" dirty="0" err="1"/>
              <a:t>компіляції</a:t>
            </a:r>
            <a:r>
              <a:rPr lang="ru-RU" dirty="0"/>
              <a:t>, </a:t>
            </a:r>
            <a:r>
              <a:rPr lang="ru-RU" dirty="0" err="1"/>
              <a:t>тестування</a:t>
            </a:r>
            <a:r>
              <a:rPr lang="ru-RU" dirty="0"/>
              <a:t> та </a:t>
            </a:r>
            <a:r>
              <a:rPr lang="ru-RU" dirty="0" err="1"/>
              <a:t>накладання</a:t>
            </a:r>
            <a:r>
              <a:rPr lang="ru-RU" dirty="0"/>
              <a:t> коду. Вони </a:t>
            </a:r>
            <a:r>
              <a:rPr lang="ru-RU" dirty="0" err="1"/>
              <a:t>включають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редактор коду, </a:t>
            </a:r>
            <a:r>
              <a:rPr lang="ru-RU" dirty="0" err="1"/>
              <a:t>відладчик</a:t>
            </a:r>
            <a:r>
              <a:rPr lang="ru-RU" dirty="0"/>
              <a:t>, </a:t>
            </a:r>
            <a:r>
              <a:rPr lang="ru-RU" dirty="0" err="1"/>
              <a:t>компілятор</a:t>
            </a:r>
            <a:r>
              <a:rPr lang="ru-RU" dirty="0"/>
              <a:t> і </a:t>
            </a:r>
            <a:r>
              <a:rPr lang="ru-RU" dirty="0" err="1"/>
              <a:t>можливості</a:t>
            </a:r>
            <a:r>
              <a:rPr lang="ru-RU" dirty="0"/>
              <a:t> </a:t>
            </a:r>
            <a:r>
              <a:rPr lang="ru-RU" dirty="0" err="1"/>
              <a:t>інтеграції</a:t>
            </a:r>
            <a:r>
              <a:rPr lang="ru-RU" dirty="0"/>
              <a:t> з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інструментами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3. </a:t>
            </a:r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автоматизації</a:t>
            </a:r>
            <a:r>
              <a:rPr lang="ru-RU" b="1" dirty="0"/>
              <a:t> </a:t>
            </a:r>
            <a:r>
              <a:rPr lang="ru-RU" b="1" dirty="0" err="1"/>
              <a:t>процесів</a:t>
            </a:r>
            <a:endParaRPr lang="ru-RU" b="1" dirty="0"/>
          </a:p>
          <a:p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безперервної</a:t>
            </a:r>
            <a:r>
              <a:rPr lang="ru-RU" b="1" dirty="0"/>
              <a:t> </a:t>
            </a:r>
            <a:r>
              <a:rPr lang="ru-RU" b="1" dirty="0" err="1"/>
              <a:t>інтеграції</a:t>
            </a:r>
            <a:r>
              <a:rPr lang="ru-RU" b="1" dirty="0"/>
              <a:t> та доставки (</a:t>
            </a:r>
            <a:r>
              <a:rPr lang="en-US" b="1" dirty="0"/>
              <a:t>CI/CD)</a:t>
            </a:r>
          </a:p>
          <a:p>
            <a:pPr marL="0" indent="0">
              <a:buNone/>
            </a:pPr>
            <a:r>
              <a:rPr lang="en-US" dirty="0"/>
              <a:t>CI/CD — </a:t>
            </a:r>
            <a:r>
              <a:rPr lang="ru-RU" dirty="0" err="1"/>
              <a:t>це</a:t>
            </a:r>
            <a:r>
              <a:rPr lang="ru-RU" dirty="0"/>
              <a:t> практика, яка </a:t>
            </a:r>
            <a:r>
              <a:rPr lang="ru-RU" dirty="0" err="1"/>
              <a:t>дозволяє</a:t>
            </a:r>
            <a:r>
              <a:rPr lang="ru-RU" dirty="0"/>
              <a:t> автоматично </a:t>
            </a:r>
            <a:r>
              <a:rPr lang="ru-RU" dirty="0" err="1"/>
              <a:t>інтегрувати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до </a:t>
            </a:r>
            <a:r>
              <a:rPr lang="ru-RU" dirty="0" err="1"/>
              <a:t>основної</a:t>
            </a:r>
            <a:r>
              <a:rPr lang="ru-RU" dirty="0"/>
              <a:t> </a:t>
            </a:r>
            <a:r>
              <a:rPr lang="ru-RU" dirty="0" err="1"/>
              <a:t>гілки</a:t>
            </a:r>
            <a:r>
              <a:rPr lang="ru-RU" dirty="0"/>
              <a:t> коду та автоматично </a:t>
            </a:r>
            <a:r>
              <a:rPr lang="ru-RU" dirty="0" err="1"/>
              <a:t>розгортати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версії</a:t>
            </a:r>
            <a:r>
              <a:rPr lang="ru-RU" dirty="0"/>
              <a:t> ПЗ.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інструменти</a:t>
            </a:r>
            <a:r>
              <a:rPr lang="ru-RU" dirty="0"/>
              <a:t> </a:t>
            </a:r>
            <a:r>
              <a:rPr lang="ru-RU" dirty="0" err="1"/>
              <a:t>автоматизують</a:t>
            </a:r>
            <a:r>
              <a:rPr lang="ru-RU" dirty="0"/>
              <a:t> </a:t>
            </a:r>
            <a:r>
              <a:rPr lang="ru-RU" dirty="0" err="1"/>
              <a:t>процеси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, </a:t>
            </a:r>
            <a:r>
              <a:rPr lang="ru-RU" dirty="0" err="1"/>
              <a:t>збірки</a:t>
            </a:r>
            <a:r>
              <a:rPr lang="ru-RU" dirty="0"/>
              <a:t> та </a:t>
            </a:r>
            <a:r>
              <a:rPr lang="ru-RU" dirty="0" err="1"/>
              <a:t>розгортання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прискорює</a:t>
            </a:r>
            <a:r>
              <a:rPr lang="ru-RU" dirty="0"/>
              <a:t> доставку продукту </a:t>
            </a:r>
            <a:r>
              <a:rPr lang="ru-RU" dirty="0" err="1"/>
              <a:t>кінцевому</a:t>
            </a:r>
            <a:r>
              <a:rPr lang="ru-RU" dirty="0"/>
              <a:t> </a:t>
            </a:r>
            <a:r>
              <a:rPr lang="ru-RU" dirty="0" err="1"/>
              <a:t>користувачеві</a:t>
            </a:r>
            <a:r>
              <a:rPr lang="ru-RU" dirty="0"/>
              <a:t>. </a:t>
            </a:r>
            <a:r>
              <a:rPr lang="en-US" b="1" dirty="0"/>
              <a:t>CI (</a:t>
            </a:r>
            <a:r>
              <a:rPr lang="ru-RU" b="1" dirty="0" err="1"/>
              <a:t>безперервна</a:t>
            </a:r>
            <a:r>
              <a:rPr lang="ru-RU" b="1" dirty="0"/>
              <a:t> </a:t>
            </a:r>
            <a:r>
              <a:rPr lang="ru-RU" b="1" dirty="0" err="1"/>
              <a:t>інтеграція</a:t>
            </a:r>
            <a:r>
              <a:rPr lang="ru-RU" b="1" dirty="0"/>
              <a:t>)</a:t>
            </a:r>
            <a:r>
              <a:rPr lang="ru-RU" dirty="0"/>
              <a:t> та </a:t>
            </a:r>
            <a:r>
              <a:rPr lang="en-US" b="1" dirty="0"/>
              <a:t>CD (</a:t>
            </a:r>
            <a:r>
              <a:rPr lang="ru-RU" b="1" dirty="0" err="1"/>
              <a:t>безперервна</a:t>
            </a:r>
            <a:r>
              <a:rPr lang="ru-RU" b="1" dirty="0"/>
              <a:t> доставка/</a:t>
            </a:r>
            <a:r>
              <a:rPr lang="ru-RU" b="1" dirty="0" err="1"/>
              <a:t>розгортання</a:t>
            </a:r>
            <a:r>
              <a:rPr lang="ru-RU" b="1" dirty="0"/>
              <a:t>)</a:t>
            </a:r>
            <a:endParaRPr lang="ru-RU" dirty="0"/>
          </a:p>
          <a:p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автоматизації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endParaRPr lang="ru-RU" b="1" dirty="0"/>
          </a:p>
          <a:p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конфігураціями</a:t>
            </a:r>
            <a:endParaRPr lang="ru-RU" b="1" dirty="0"/>
          </a:p>
          <a:p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інфраструктурою</a:t>
            </a:r>
            <a:r>
              <a:rPr lang="ru-RU" b="1" dirty="0"/>
              <a:t> (</a:t>
            </a:r>
            <a:r>
              <a:rPr lang="en-US" b="1" dirty="0" err="1"/>
              <a:t>IaaC</a:t>
            </a:r>
            <a:r>
              <a:rPr lang="en-US" b="1" dirty="0"/>
              <a:t> - Infrastructure as Code)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6589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1470" y="400050"/>
            <a:ext cx="8355330" cy="572611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uk-UA" b="1" dirty="0"/>
          </a:p>
          <a:p>
            <a:pPr marL="0" indent="0">
              <a:buNone/>
            </a:pPr>
            <a:r>
              <a:rPr lang="ru-RU" b="1" dirty="0"/>
              <a:t>4. </a:t>
            </a:r>
            <a:r>
              <a:rPr lang="ru-RU" b="1" dirty="0" err="1"/>
              <a:t>Інструменти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  </a:t>
            </a:r>
          </a:p>
          <a:p>
            <a:pPr marL="0" indent="0">
              <a:buNone/>
            </a:pPr>
            <a:r>
              <a:rPr lang="ru-RU" b="1" dirty="0"/>
              <a:t> 1. </a:t>
            </a:r>
            <a:r>
              <a:rPr lang="ru-RU" b="1" dirty="0" err="1"/>
              <a:t>Інструменти</a:t>
            </a:r>
            <a:r>
              <a:rPr lang="ru-RU" b="1" dirty="0"/>
              <a:t> для модульного </a:t>
            </a:r>
            <a:r>
              <a:rPr lang="ru-RU" b="1" dirty="0" err="1"/>
              <a:t>тестування</a:t>
            </a:r>
            <a:endParaRPr lang="ru-RU" b="1" dirty="0"/>
          </a:p>
          <a:p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інструменти</a:t>
            </a:r>
            <a:r>
              <a:rPr lang="ru-RU" dirty="0"/>
              <a:t> </a:t>
            </a:r>
            <a:r>
              <a:rPr lang="ru-RU" dirty="0" err="1"/>
              <a:t>призначені</a:t>
            </a:r>
            <a:r>
              <a:rPr lang="ru-RU" dirty="0"/>
              <a:t> для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окремих</a:t>
            </a:r>
            <a:r>
              <a:rPr lang="ru-RU" dirty="0"/>
              <a:t> </a:t>
            </a:r>
            <a:r>
              <a:rPr lang="ru-RU" dirty="0" err="1"/>
              <a:t>модулів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на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. </a:t>
            </a:r>
            <a:r>
              <a:rPr lang="ru-RU" dirty="0" err="1"/>
              <a:t>Модульне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перевірити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кожна</a:t>
            </a:r>
            <a:r>
              <a:rPr lang="ru-RU" dirty="0"/>
              <a:t> </a:t>
            </a:r>
            <a:r>
              <a:rPr lang="ru-RU" dirty="0" err="1"/>
              <a:t>окрема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 коду</a:t>
            </a:r>
          </a:p>
          <a:p>
            <a:pPr marL="0" indent="0">
              <a:buNone/>
            </a:pPr>
            <a:r>
              <a:rPr lang="ru-RU" b="1" dirty="0"/>
              <a:t>2. </a:t>
            </a:r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функціонального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endParaRPr lang="ru-RU" b="1" dirty="0"/>
          </a:p>
          <a:p>
            <a:r>
              <a:rPr lang="ru-RU" dirty="0" err="1"/>
              <a:t>Функціональне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перевіряє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</a:t>
            </a:r>
            <a:r>
              <a:rPr lang="ru-RU" dirty="0" err="1"/>
              <a:t>вимогам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</a:t>
            </a:r>
            <a:r>
              <a:rPr lang="ru-RU" dirty="0" err="1"/>
              <a:t>тестуючи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функціональні</a:t>
            </a:r>
            <a:r>
              <a:rPr lang="ru-RU" dirty="0"/>
              <a:t> </a:t>
            </a:r>
            <a:r>
              <a:rPr lang="ru-RU" dirty="0" err="1"/>
              <a:t>можливості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реальних</a:t>
            </a:r>
            <a:r>
              <a:rPr lang="ru-RU" dirty="0"/>
              <a:t> </a:t>
            </a:r>
            <a:r>
              <a:rPr lang="ru-RU" dirty="0" err="1"/>
              <a:t>сценаріїв</a:t>
            </a:r>
            <a:r>
              <a:rPr lang="ru-RU" dirty="0"/>
              <a:t>.</a:t>
            </a:r>
          </a:p>
          <a:p>
            <a:r>
              <a:rPr lang="ru-RU" b="1" dirty="0"/>
              <a:t>3. </a:t>
            </a:r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тестування</a:t>
            </a:r>
            <a:r>
              <a:rPr lang="ru-RU" b="1" dirty="0"/>
              <a:t> </a:t>
            </a:r>
            <a:r>
              <a:rPr lang="ru-RU" b="1" dirty="0" err="1"/>
              <a:t>продуктивності</a:t>
            </a:r>
            <a:endParaRPr lang="ru-RU" b="1" dirty="0"/>
          </a:p>
          <a:p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продуктивності</a:t>
            </a:r>
            <a:r>
              <a:rPr lang="ru-RU" dirty="0"/>
              <a:t> </a:t>
            </a:r>
            <a:r>
              <a:rPr lang="ru-RU" dirty="0" err="1"/>
              <a:t>перевірити</a:t>
            </a:r>
            <a:r>
              <a:rPr lang="ru-RU" dirty="0"/>
              <a:t>, як </a:t>
            </a:r>
            <a:r>
              <a:rPr lang="ru-RU" dirty="0" err="1"/>
              <a:t>програмне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завантаженням</a:t>
            </a:r>
            <a:r>
              <a:rPr lang="ru-RU" dirty="0"/>
              <a:t>, як </a:t>
            </a:r>
            <a:r>
              <a:rPr lang="ru-RU" dirty="0" err="1"/>
              <a:t>воно</a:t>
            </a:r>
            <a:r>
              <a:rPr lang="ru-RU" dirty="0"/>
              <a:t> </a:t>
            </a:r>
            <a:r>
              <a:rPr lang="ru-RU" dirty="0" err="1"/>
              <a:t>реагує</a:t>
            </a:r>
            <a:r>
              <a:rPr lang="ru-RU" dirty="0"/>
              <a:t> на </a:t>
            </a:r>
            <a:r>
              <a:rPr lang="ru-RU" dirty="0" err="1"/>
              <a:t>стресові</a:t>
            </a:r>
            <a:r>
              <a:rPr lang="ru-RU" dirty="0"/>
              <a:t> </a:t>
            </a:r>
            <a:r>
              <a:rPr lang="ru-RU" dirty="0" err="1"/>
              <a:t>ситуації</a:t>
            </a:r>
            <a:r>
              <a:rPr lang="ru-RU" dirty="0"/>
              <a:t> та </a:t>
            </a:r>
            <a:r>
              <a:rPr lang="ru-RU" dirty="0" err="1"/>
              <a:t>скільки</a:t>
            </a:r>
            <a:r>
              <a:rPr lang="ru-RU" dirty="0"/>
              <a:t> часу </a:t>
            </a:r>
            <a:r>
              <a:rPr lang="ru-RU" dirty="0" err="1"/>
              <a:t>виконують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uk-UA" dirty="0"/>
              <a:t>Та інші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5. </a:t>
            </a:r>
            <a:r>
              <a:rPr lang="ru-RU" b="1" dirty="0" err="1"/>
              <a:t>Засоби</a:t>
            </a:r>
            <a:r>
              <a:rPr lang="ru-RU" b="1" dirty="0"/>
              <a:t> </a:t>
            </a:r>
            <a:r>
              <a:rPr lang="ru-RU" b="1" dirty="0" err="1"/>
              <a:t>проектування</a:t>
            </a:r>
            <a:r>
              <a:rPr lang="ru-RU" b="1" dirty="0"/>
              <a:t> та </a:t>
            </a:r>
            <a:r>
              <a:rPr lang="ru-RU" b="1" dirty="0" err="1"/>
              <a:t>моделювання</a:t>
            </a:r>
            <a:endParaRPr lang="ru-RU" b="1" dirty="0"/>
          </a:p>
          <a:p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інструменти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діаграм</a:t>
            </a:r>
            <a:r>
              <a:rPr lang="ru-RU" dirty="0"/>
              <a:t>, схем і моделей </a:t>
            </a:r>
            <a:r>
              <a:rPr lang="ru-RU" dirty="0" err="1"/>
              <a:t>програмних</a:t>
            </a:r>
            <a:r>
              <a:rPr lang="ru-RU" dirty="0"/>
              <a:t> систем,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розробникам</a:t>
            </a:r>
            <a:r>
              <a:rPr lang="ru-RU" dirty="0"/>
              <a:t> </a:t>
            </a:r>
            <a:r>
              <a:rPr lang="ru-RU" dirty="0" err="1"/>
              <a:t>кращих</a:t>
            </a:r>
            <a:r>
              <a:rPr lang="ru-RU" dirty="0"/>
              <a:t> </a:t>
            </a:r>
            <a:r>
              <a:rPr lang="ru-RU" dirty="0" err="1"/>
              <a:t>зразків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108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8640" y="262890"/>
            <a:ext cx="8138160" cy="63436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6. </a:t>
            </a:r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вимогами</a:t>
            </a:r>
            <a:r>
              <a:rPr lang="ru-RU" b="1" dirty="0"/>
              <a:t> та проектами</a:t>
            </a:r>
          </a:p>
          <a:p>
            <a:pPr algn="just"/>
            <a:r>
              <a:rPr lang="ru-RU" dirty="0" err="1"/>
              <a:t>Засоби</a:t>
            </a:r>
            <a:r>
              <a:rPr lang="ru-RU" dirty="0"/>
              <a:t> для </a:t>
            </a:r>
            <a:r>
              <a:rPr lang="ru-RU" dirty="0" err="1"/>
              <a:t>відстеження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завданнями</a:t>
            </a:r>
            <a:r>
              <a:rPr lang="ru-RU" dirty="0"/>
              <a:t>,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документації</a:t>
            </a:r>
            <a:r>
              <a:rPr lang="ru-RU" dirty="0"/>
              <a:t> та </a:t>
            </a:r>
            <a:r>
              <a:rPr lang="ru-RU" dirty="0" err="1"/>
              <a:t>координації</a:t>
            </a:r>
            <a:r>
              <a:rPr lang="ru-RU" dirty="0"/>
              <a:t> </a:t>
            </a:r>
            <a:r>
              <a:rPr lang="ru-RU" dirty="0" err="1"/>
              <a:t>робочих</a:t>
            </a:r>
            <a:r>
              <a:rPr lang="ru-RU" dirty="0"/>
              <a:t> </a:t>
            </a:r>
            <a:r>
              <a:rPr lang="ru-RU" dirty="0" err="1"/>
              <a:t>процесів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командами </a:t>
            </a:r>
            <a:r>
              <a:rPr lang="ru-RU" dirty="0" err="1"/>
              <a:t>розробників</a:t>
            </a:r>
            <a:r>
              <a:rPr lang="ru-RU" dirty="0"/>
              <a:t>, тестувальників та </a:t>
            </a:r>
            <a:r>
              <a:rPr lang="ru-RU" dirty="0" err="1"/>
              <a:t>менеджерів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b="1" dirty="0"/>
              <a:t>7. </a:t>
            </a:r>
            <a:r>
              <a:rPr lang="ru-RU" b="1" dirty="0" err="1"/>
              <a:t>Засоби</a:t>
            </a:r>
            <a:r>
              <a:rPr lang="ru-RU" b="1" dirty="0"/>
              <a:t> для контролю </a:t>
            </a:r>
            <a:r>
              <a:rPr lang="ru-RU" b="1" dirty="0" err="1"/>
              <a:t>якості</a:t>
            </a:r>
            <a:r>
              <a:rPr lang="ru-RU" b="1" dirty="0"/>
              <a:t> та статичного </a:t>
            </a:r>
            <a:r>
              <a:rPr lang="ru-RU" b="1" dirty="0" err="1"/>
              <a:t>аналізу</a:t>
            </a:r>
            <a:r>
              <a:rPr lang="ru-RU" b="1" dirty="0"/>
              <a:t> коду</a:t>
            </a:r>
          </a:p>
          <a:p>
            <a:pPr algn="just"/>
            <a:r>
              <a:rPr lang="ru-RU" dirty="0" err="1"/>
              <a:t>Інструменти</a:t>
            </a:r>
            <a:r>
              <a:rPr lang="ru-RU" dirty="0"/>
              <a:t> для статичного </a:t>
            </a:r>
            <a:r>
              <a:rPr lang="ru-RU" dirty="0" err="1"/>
              <a:t>аналізу</a:t>
            </a:r>
            <a:r>
              <a:rPr lang="ru-RU" dirty="0"/>
              <a:t> </a:t>
            </a:r>
            <a:r>
              <a:rPr lang="ru-RU" dirty="0" err="1"/>
              <a:t>перевіряють</a:t>
            </a:r>
            <a:r>
              <a:rPr lang="ru-RU" dirty="0"/>
              <a:t> код при </a:t>
            </a:r>
            <a:r>
              <a:rPr lang="ru-RU" dirty="0" err="1"/>
              <a:t>наявності</a:t>
            </a:r>
            <a:r>
              <a:rPr lang="ru-RU" dirty="0"/>
              <a:t> </a:t>
            </a:r>
            <a:r>
              <a:rPr lang="ru-RU" dirty="0" err="1"/>
              <a:t>помилок</a:t>
            </a:r>
            <a:r>
              <a:rPr lang="ru-RU" dirty="0"/>
              <a:t>, </a:t>
            </a:r>
            <a:r>
              <a:rPr lang="ru-RU" dirty="0" err="1"/>
              <a:t>вразливостей</a:t>
            </a:r>
            <a:r>
              <a:rPr lang="ru-RU" dirty="0"/>
              <a:t> і </a:t>
            </a:r>
            <a:r>
              <a:rPr lang="ru-RU" dirty="0" err="1"/>
              <a:t>невідповідностей</a:t>
            </a:r>
            <a:r>
              <a:rPr lang="ru-RU" dirty="0"/>
              <a:t> стандартам без </a:t>
            </a:r>
            <a:r>
              <a:rPr lang="ru-RU" dirty="0" err="1"/>
              <a:t>виконання</a:t>
            </a:r>
            <a:r>
              <a:rPr lang="ru-RU" dirty="0"/>
              <a:t> коду. Вони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підтримувати</a:t>
            </a:r>
            <a:r>
              <a:rPr lang="ru-RU" dirty="0"/>
              <a:t> </a:t>
            </a:r>
            <a:r>
              <a:rPr lang="ru-RU" dirty="0" err="1"/>
              <a:t>високий</a:t>
            </a:r>
            <a:r>
              <a:rPr lang="ru-RU" dirty="0"/>
              <a:t> </a:t>
            </a:r>
            <a:r>
              <a:rPr lang="ru-RU" dirty="0" err="1"/>
              <a:t>рівень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та </a:t>
            </a:r>
            <a:r>
              <a:rPr lang="ru-RU" dirty="0" err="1"/>
              <a:t>безпеки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b="1" dirty="0"/>
              <a:t>8. </a:t>
            </a:r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DevOps</a:t>
            </a:r>
            <a:r>
              <a:rPr lang="ru-RU" b="1" dirty="0"/>
              <a:t> та </a:t>
            </a:r>
            <a:r>
              <a:rPr lang="ru-RU" b="1" dirty="0" err="1"/>
              <a:t>хмарної</a:t>
            </a:r>
            <a:r>
              <a:rPr lang="ru-RU" b="1" dirty="0"/>
              <a:t> </a:t>
            </a:r>
            <a:r>
              <a:rPr lang="ru-RU" b="1" dirty="0" err="1"/>
              <a:t>інфраструктури</a:t>
            </a:r>
            <a:endParaRPr lang="ru-RU" b="1" dirty="0"/>
          </a:p>
          <a:p>
            <a:pPr algn="just"/>
            <a:r>
              <a:rPr lang="ru-RU" dirty="0" err="1"/>
              <a:t>Засоби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забезпечують</a:t>
            </a:r>
            <a:r>
              <a:rPr lang="ru-RU" dirty="0"/>
              <a:t> </a:t>
            </a:r>
            <a:r>
              <a:rPr lang="ru-RU" dirty="0" err="1"/>
              <a:t>автоматизацію</a:t>
            </a:r>
            <a:r>
              <a:rPr lang="ru-RU" dirty="0"/>
              <a:t> </a:t>
            </a:r>
            <a:r>
              <a:rPr lang="ru-RU" dirty="0" err="1"/>
              <a:t>розгортання</a:t>
            </a:r>
            <a:r>
              <a:rPr lang="ru-RU" dirty="0"/>
              <a:t>, </a:t>
            </a:r>
            <a:r>
              <a:rPr lang="ru-RU" dirty="0" err="1"/>
              <a:t>масштабування</a:t>
            </a:r>
            <a:r>
              <a:rPr lang="ru-RU" dirty="0"/>
              <a:t> та </a:t>
            </a:r>
            <a:r>
              <a:rPr lang="ru-RU" dirty="0" err="1"/>
              <a:t>підтримку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в </a:t>
            </a:r>
            <a:r>
              <a:rPr lang="ru-RU" dirty="0" err="1"/>
              <a:t>хмарі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на </a:t>
            </a:r>
            <a:r>
              <a:rPr lang="ru-RU" dirty="0" err="1"/>
              <a:t>локальних</a:t>
            </a:r>
            <a:r>
              <a:rPr lang="ru-RU" dirty="0"/>
              <a:t> серверах. Вони </a:t>
            </a:r>
            <a:r>
              <a:rPr lang="ru-RU" dirty="0" err="1"/>
              <a:t>втратили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легко </a:t>
            </a:r>
            <a:r>
              <a:rPr lang="ru-RU" dirty="0" err="1"/>
              <a:t>керувати</a:t>
            </a:r>
            <a:r>
              <a:rPr lang="ru-RU" dirty="0"/>
              <a:t> </a:t>
            </a:r>
            <a:r>
              <a:rPr lang="ru-RU" dirty="0" err="1"/>
              <a:t>контейнеризацією</a:t>
            </a:r>
            <a:r>
              <a:rPr lang="ru-RU" dirty="0"/>
              <a:t>, </a:t>
            </a:r>
            <a:r>
              <a:rPr lang="ru-RU" dirty="0" err="1"/>
              <a:t>хмарними</a:t>
            </a:r>
            <a:r>
              <a:rPr lang="ru-RU" dirty="0"/>
              <a:t> </a:t>
            </a:r>
            <a:r>
              <a:rPr lang="ru-RU" dirty="0" err="1"/>
              <a:t>обчисленнями</a:t>
            </a:r>
            <a:r>
              <a:rPr lang="ru-RU" dirty="0"/>
              <a:t> та </a:t>
            </a:r>
            <a:r>
              <a:rPr lang="ru-RU" dirty="0" err="1"/>
              <a:t>інфраструктурою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4744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9. </a:t>
            </a:r>
            <a:r>
              <a:rPr lang="ru-RU" b="1" dirty="0" err="1"/>
              <a:t>Інструменти</a:t>
            </a:r>
            <a:r>
              <a:rPr lang="ru-RU" b="1" dirty="0"/>
              <a:t> для </a:t>
            </a:r>
            <a:r>
              <a:rPr lang="ru-RU" b="1" dirty="0" err="1"/>
              <a:t>моніторингу</a:t>
            </a:r>
            <a:r>
              <a:rPr lang="ru-RU" b="1" dirty="0"/>
              <a:t> та </a:t>
            </a:r>
            <a:r>
              <a:rPr lang="ru-RU" b="1" dirty="0" err="1"/>
              <a:t>аналітики</a:t>
            </a:r>
            <a:endParaRPr lang="ru-RU" b="1" dirty="0"/>
          </a:p>
          <a:p>
            <a:r>
              <a:rPr lang="ru-RU" dirty="0" err="1"/>
              <a:t>Використовуються</a:t>
            </a:r>
            <a:r>
              <a:rPr lang="ru-RU" dirty="0"/>
              <a:t> для </a:t>
            </a:r>
            <a:r>
              <a:rPr lang="ru-RU" dirty="0" err="1"/>
              <a:t>відстеження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в реальному </a:t>
            </a:r>
            <a:r>
              <a:rPr lang="ru-RU" dirty="0" err="1"/>
              <a:t>часі</a:t>
            </a:r>
            <a:r>
              <a:rPr lang="ru-RU" dirty="0"/>
              <a:t>, </a:t>
            </a:r>
            <a:r>
              <a:rPr lang="ru-RU" dirty="0" err="1"/>
              <a:t>збору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про </a:t>
            </a:r>
            <a:r>
              <a:rPr lang="ru-RU" dirty="0" err="1"/>
              <a:t>продуктивність</a:t>
            </a:r>
            <a:r>
              <a:rPr lang="ru-RU" dirty="0"/>
              <a:t> і </a:t>
            </a:r>
            <a:r>
              <a:rPr lang="ru-RU" dirty="0" err="1"/>
              <a:t>вивід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10. </a:t>
            </a:r>
            <a:r>
              <a:rPr lang="ru-RU" b="1" dirty="0" err="1"/>
              <a:t>Інструменти</a:t>
            </a:r>
            <a:r>
              <a:rPr lang="ru-RU" b="1" dirty="0"/>
              <a:t> </a:t>
            </a:r>
            <a:r>
              <a:rPr lang="ru-RU" b="1" dirty="0" err="1"/>
              <a:t>безпеки</a:t>
            </a:r>
            <a:endParaRPr lang="ru-RU" b="1" dirty="0"/>
          </a:p>
          <a:p>
            <a:pPr algn="just"/>
            <a:r>
              <a:rPr lang="ru-RU" dirty="0" err="1"/>
              <a:t>Засоби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безпеки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шляхом </a:t>
            </a:r>
            <a:r>
              <a:rPr lang="ru-RU" dirty="0" err="1"/>
              <a:t>виявлення</a:t>
            </a:r>
            <a:r>
              <a:rPr lang="ru-RU" dirty="0"/>
              <a:t> </a:t>
            </a:r>
            <a:r>
              <a:rPr lang="ru-RU" dirty="0" err="1"/>
              <a:t>вразливостей</a:t>
            </a:r>
            <a:r>
              <a:rPr lang="ru-RU" dirty="0"/>
              <a:t> та </a:t>
            </a:r>
            <a:r>
              <a:rPr lang="ru-RU" dirty="0" err="1"/>
              <a:t>захисту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кібератаків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923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Інструменти управління версіями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Git</a:t>
            </a:r>
            <a:r>
              <a:rPr dirty="0"/>
              <a:t>, SVN.</a:t>
            </a:r>
          </a:p>
          <a:p>
            <a:r>
              <a:rPr dirty="0" err="1"/>
              <a:t>Інструменти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спільної</a:t>
            </a:r>
            <a:r>
              <a:rPr dirty="0"/>
              <a:t> </a:t>
            </a:r>
            <a:r>
              <a:rPr dirty="0" err="1"/>
              <a:t>розробки</a:t>
            </a:r>
            <a:r>
              <a:rPr dirty="0"/>
              <a:t> (GitHub, </a:t>
            </a:r>
            <a:r>
              <a:rPr dirty="0" err="1"/>
              <a:t>GitLab</a:t>
            </a:r>
            <a:r>
              <a:rPr dirty="0"/>
              <a:t>, </a:t>
            </a:r>
            <a:r>
              <a:rPr dirty="0" err="1"/>
              <a:t>Bitbucket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Інтегровані середовища розробки (IDE)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Visual Studio, </a:t>
            </a:r>
            <a:r>
              <a:rPr dirty="0" err="1"/>
              <a:t>IntelliJ</a:t>
            </a:r>
            <a:r>
              <a:rPr dirty="0"/>
              <a:t> IDEA, Eclipse.</a:t>
            </a:r>
            <a:endParaRPr lang="uk-UA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Переваги</a:t>
            </a:r>
            <a:r>
              <a:rPr dirty="0"/>
              <a:t> </a:t>
            </a:r>
            <a:r>
              <a:rPr dirty="0" err="1"/>
              <a:t>використання</a:t>
            </a:r>
            <a:r>
              <a:rPr dirty="0"/>
              <a:t> 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Інструменти для автоматизації процесів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Системи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CI/CD (Jenkins, </a:t>
            </a:r>
            <a:r>
              <a:rPr dirty="0" err="1"/>
              <a:t>GitLab</a:t>
            </a:r>
            <a:r>
              <a:rPr dirty="0"/>
              <a:t> CI, </a:t>
            </a:r>
            <a:r>
              <a:rPr dirty="0" err="1"/>
              <a:t>CircleCI</a:t>
            </a:r>
            <a:r>
              <a:rPr dirty="0"/>
              <a:t>).</a:t>
            </a:r>
          </a:p>
          <a:p>
            <a:r>
              <a:rPr dirty="0" err="1"/>
              <a:t>Автоматизація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(Selenium, </a:t>
            </a:r>
            <a:r>
              <a:rPr dirty="0" err="1"/>
              <a:t>TestNG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Засоби проектування та моделювання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UML </a:t>
            </a:r>
            <a:r>
              <a:rPr dirty="0" err="1"/>
              <a:t>інструменти</a:t>
            </a:r>
            <a:r>
              <a:rPr dirty="0"/>
              <a:t> (</a:t>
            </a:r>
            <a:r>
              <a:rPr dirty="0" err="1"/>
              <a:t>StarUML</a:t>
            </a:r>
            <a:r>
              <a:rPr dirty="0"/>
              <a:t>, Enterprise Architect).</a:t>
            </a:r>
          </a:p>
          <a:p>
            <a:r>
              <a:rPr dirty="0" err="1"/>
              <a:t>Інструменти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створення</a:t>
            </a:r>
            <a:r>
              <a:rPr dirty="0"/>
              <a:t> </a:t>
            </a:r>
            <a:r>
              <a:rPr dirty="0" err="1"/>
              <a:t>архітектури</a:t>
            </a:r>
            <a:r>
              <a:rPr dirty="0"/>
              <a:t> (Draw.io, </a:t>
            </a:r>
            <a:r>
              <a:rPr dirty="0" err="1"/>
              <a:t>Lucidchart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Інструменти управління вимогами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Jira, Confluence.</a:t>
            </a:r>
          </a:p>
          <a:p>
            <a:r>
              <a:rPr dirty="0" err="1"/>
              <a:t>Інструменти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документування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управління</a:t>
            </a:r>
            <a:r>
              <a:rPr dirty="0"/>
              <a:t> </a:t>
            </a:r>
            <a:r>
              <a:rPr dirty="0" err="1"/>
              <a:t>процесами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Засоби для контролю якості та тестування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Системи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(</a:t>
            </a:r>
            <a:r>
              <a:rPr dirty="0" err="1"/>
              <a:t>JUnit</a:t>
            </a:r>
            <a:r>
              <a:rPr dirty="0"/>
              <a:t>, </a:t>
            </a:r>
            <a:r>
              <a:rPr dirty="0" err="1"/>
              <a:t>NUnit</a:t>
            </a:r>
            <a:r>
              <a:rPr dirty="0"/>
              <a:t>).</a:t>
            </a:r>
          </a:p>
          <a:p>
            <a:r>
              <a:rPr dirty="0" err="1"/>
              <a:t>Інструменти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статичного</a:t>
            </a:r>
            <a:r>
              <a:rPr dirty="0"/>
              <a:t> </a:t>
            </a:r>
            <a:r>
              <a:rPr dirty="0" err="1"/>
              <a:t>аналізу</a:t>
            </a:r>
            <a:r>
              <a:rPr dirty="0"/>
              <a:t> </a:t>
            </a:r>
            <a:r>
              <a:rPr dirty="0" err="1"/>
              <a:t>коду</a:t>
            </a:r>
            <a:r>
              <a:rPr dirty="0"/>
              <a:t> (</a:t>
            </a:r>
            <a:r>
              <a:rPr dirty="0" err="1"/>
              <a:t>SonarQube</a:t>
            </a:r>
            <a:r>
              <a:rPr dirty="0"/>
              <a:t>, </a:t>
            </a:r>
            <a:r>
              <a:rPr dirty="0" err="1"/>
              <a:t>ESLint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Інструменти для DevOps та хмарних рішень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Docker</a:t>
            </a:r>
            <a:r>
              <a:rPr dirty="0"/>
              <a:t>, </a:t>
            </a:r>
            <a:r>
              <a:rPr dirty="0" err="1"/>
              <a:t>Kubernetes</a:t>
            </a:r>
            <a:r>
              <a:rPr dirty="0"/>
              <a:t>.</a:t>
            </a:r>
          </a:p>
          <a:p>
            <a:r>
              <a:rPr dirty="0"/>
              <a:t>AWS, Microsoft Azure, Google Cloud Platform.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Важливість</a:t>
            </a:r>
            <a:r>
              <a:rPr dirty="0"/>
              <a:t> </a:t>
            </a:r>
            <a:r>
              <a:rPr dirty="0" err="1"/>
              <a:t>вибору</a:t>
            </a:r>
            <a:r>
              <a:rPr dirty="0"/>
              <a:t> </a:t>
            </a:r>
            <a:r>
              <a:rPr dirty="0" err="1"/>
              <a:t>правильних</a:t>
            </a:r>
            <a:r>
              <a:rPr dirty="0"/>
              <a:t> </a:t>
            </a:r>
            <a:r>
              <a:rPr dirty="0" err="1"/>
              <a:t>інструментів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ефективної</a:t>
            </a:r>
            <a:r>
              <a:rPr dirty="0"/>
              <a:t> </a:t>
            </a:r>
            <a:r>
              <a:rPr dirty="0" err="1"/>
              <a:t>розробки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творення нового документа." ma:contentTypeScope="" ma:versionID="423ed9f862b53b3723e0c68c59744d48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f3c64bf9194440085859e081236cc0aa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зображень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2CA47E-236C-4677-93AC-87D40A4D0368}">
  <ds:schemaRefs>
    <ds:schemaRef ds:uri="http://schemas.microsoft.com/office/2006/metadata/properties"/>
    <ds:schemaRef ds:uri="http://schemas.microsoft.com/office/infopath/2007/PartnerControls"/>
    <ds:schemaRef ds:uri="df0bf197-73fd-41e1-ba51-8f8de062c38b"/>
    <ds:schemaRef ds:uri="e5e6fc73-9031-450c-9de5-7bc5986304f3"/>
  </ds:schemaRefs>
</ds:datastoreItem>
</file>

<file path=customXml/itemProps2.xml><?xml version="1.0" encoding="utf-8"?>
<ds:datastoreItem xmlns:ds="http://schemas.openxmlformats.org/officeDocument/2006/customXml" ds:itemID="{7ECF303C-AF98-4771-99C7-1532635B7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5BC63D-E867-4F38-BB3E-CDAD76465D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6fc73-9031-450c-9de5-7bc5986304f3"/>
    <ds:schemaRef ds:uri="df0bf197-73fd-41e1-ba51-8f8de062c3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803</Words>
  <Application>Microsoft Office PowerPoint</Application>
  <PresentationFormat>Экран (4:3)</PresentationFormat>
  <Paragraphs>77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Office Theme</vt:lpstr>
      <vt:lpstr>Засоби та інструменти розробки ПЗ</vt:lpstr>
      <vt:lpstr>Вступ: Роль інструментів у розробці ПЗ</vt:lpstr>
      <vt:lpstr>Важливість засобів та інструментів для ефективного процесу розробки</vt:lpstr>
      <vt:lpstr>Ключові причини створення ПЗ</vt:lpstr>
      <vt:lpstr>Презентация PowerPoint</vt:lpstr>
      <vt:lpstr>Основні категорії інструментів створення ПЗ</vt:lpstr>
      <vt:lpstr>Презентация PowerPoint</vt:lpstr>
      <vt:lpstr>Презентация PowerPoint</vt:lpstr>
      <vt:lpstr>Презентация PowerPoint</vt:lpstr>
      <vt:lpstr>Інструменти управління версіями</vt:lpstr>
      <vt:lpstr>Інтегровані середовища розробки (IDE)</vt:lpstr>
      <vt:lpstr>Інструменти для автоматизації процесів</vt:lpstr>
      <vt:lpstr>Засоби проектування та моделювання</vt:lpstr>
      <vt:lpstr>Інструменти управління вимогами</vt:lpstr>
      <vt:lpstr>Засоби для контролю якості та тестування</vt:lpstr>
      <vt:lpstr>Інструменти для DevOps та хмарних рішень</vt:lpstr>
      <vt:lpstr>Заключення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Засоби та інструменти розробки ПЗ</dc:title>
  <dc:subject/>
  <dc:creator/>
  <cp:keywords/>
  <dc:description>generated using python-pptx</dc:description>
  <cp:lastModifiedBy>admin</cp:lastModifiedBy>
  <cp:revision>7</cp:revision>
  <dcterms:created xsi:type="dcterms:W3CDTF">2013-01-27T09:14:16Z</dcterms:created>
  <dcterms:modified xsi:type="dcterms:W3CDTF">2024-11-17T14:12:46Z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  <property fmtid="{D5CDD505-2E9C-101B-9397-08002B2CF9AE}" pid="3" name="MediaServiceImageTags">
    <vt:lpwstr/>
  </property>
</Properties>
</file>