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56" r:id="rId5"/>
    <p:sldId id="257" r:id="rId6"/>
    <p:sldId id="258" r:id="rId7"/>
    <p:sldId id="259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60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61" r:id="rId38"/>
    <p:sldId id="293" r:id="rId39"/>
    <p:sldId id="294" r:id="rId40"/>
    <p:sldId id="295" r:id="rId41"/>
    <p:sldId id="296" r:id="rId42"/>
    <p:sldId id="297" r:id="rId43"/>
    <p:sldId id="298" r:id="rId44"/>
    <p:sldId id="262" r:id="rId45"/>
    <p:sldId id="263" r:id="rId46"/>
    <p:sldId id="264" r:id="rId4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0" d="100"/>
          <a:sy n="50" d="100"/>
        </p:scale>
        <p:origin x="1644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‹№›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 err="1"/>
              <a:t>Проектування</a:t>
            </a:r>
            <a:r>
              <a:rPr dirty="0"/>
              <a:t> </a:t>
            </a:r>
            <a:r>
              <a:rPr dirty="0" err="1"/>
              <a:t>програмних</a:t>
            </a:r>
            <a:r>
              <a:rPr dirty="0"/>
              <a:t> </a:t>
            </a:r>
            <a:r>
              <a:rPr dirty="0" err="1"/>
              <a:t>систем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 err="1"/>
              <a:t>Автор</a:t>
            </a:r>
            <a:r>
              <a:rPr dirty="0"/>
              <a:t>:</a:t>
            </a:r>
            <a:r>
              <a:rPr lang="uk-UA" dirty="0"/>
              <a:t> </a:t>
            </a:r>
            <a:r>
              <a:rPr lang="uk-UA" dirty="0" err="1"/>
              <a:t>к.т.н</a:t>
            </a:r>
            <a:r>
              <a:rPr lang="uk-UA" dirty="0"/>
              <a:t>., доцент Ольга КРАВЧЕНКО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Вступ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err="1"/>
              <a:t>Що</a:t>
            </a:r>
            <a:r>
              <a:rPr dirty="0"/>
              <a:t> </a:t>
            </a:r>
            <a:r>
              <a:rPr dirty="0" err="1"/>
              <a:t>таке</a:t>
            </a:r>
            <a:r>
              <a:rPr dirty="0"/>
              <a:t> </a:t>
            </a:r>
            <a:r>
              <a:rPr dirty="0" err="1"/>
              <a:t>проектування</a:t>
            </a:r>
            <a:r>
              <a:rPr dirty="0"/>
              <a:t> </a:t>
            </a:r>
            <a:r>
              <a:rPr dirty="0" err="1"/>
              <a:t>програмних</a:t>
            </a:r>
            <a:r>
              <a:rPr dirty="0"/>
              <a:t> </a:t>
            </a:r>
            <a:r>
              <a:rPr dirty="0" err="1"/>
              <a:t>систем</a:t>
            </a:r>
            <a:r>
              <a:rPr dirty="0"/>
              <a:t>?</a:t>
            </a:r>
          </a:p>
          <a:p>
            <a:pPr algn="just"/>
            <a:r>
              <a:rPr dirty="0" err="1"/>
              <a:t>Це</a:t>
            </a:r>
            <a:r>
              <a:rPr dirty="0"/>
              <a:t> </a:t>
            </a:r>
            <a:r>
              <a:rPr dirty="0" err="1"/>
              <a:t>процес</a:t>
            </a:r>
            <a:r>
              <a:rPr dirty="0"/>
              <a:t> </a:t>
            </a:r>
            <a:r>
              <a:rPr dirty="0" err="1"/>
              <a:t>створення</a:t>
            </a:r>
            <a:r>
              <a:rPr dirty="0"/>
              <a:t> </a:t>
            </a:r>
            <a:r>
              <a:rPr dirty="0" err="1"/>
              <a:t>структури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архітектури</a:t>
            </a:r>
            <a:r>
              <a:rPr dirty="0"/>
              <a:t> ПЗ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забезпечення</a:t>
            </a:r>
            <a:r>
              <a:rPr dirty="0"/>
              <a:t> </a:t>
            </a:r>
            <a:r>
              <a:rPr dirty="0" err="1"/>
              <a:t>надійності</a:t>
            </a:r>
            <a:r>
              <a:rPr dirty="0"/>
              <a:t>, </a:t>
            </a:r>
            <a:r>
              <a:rPr dirty="0" err="1"/>
              <a:t>ефективності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масштабованості</a:t>
            </a:r>
            <a:r>
              <a:rPr dirty="0"/>
              <a:t>.</a:t>
            </a:r>
          </a:p>
          <a:p>
            <a:pPr algn="just"/>
            <a:r>
              <a:rPr dirty="0" err="1"/>
              <a:t>Важливість</a:t>
            </a:r>
            <a:r>
              <a:rPr dirty="0"/>
              <a:t> </a:t>
            </a:r>
            <a:r>
              <a:rPr dirty="0" err="1"/>
              <a:t>проектування</a:t>
            </a:r>
            <a:r>
              <a:rPr dirty="0"/>
              <a:t>: </a:t>
            </a:r>
            <a:r>
              <a:rPr dirty="0" err="1"/>
              <a:t>Добре</a:t>
            </a:r>
            <a:r>
              <a:rPr dirty="0"/>
              <a:t> </a:t>
            </a:r>
            <a:r>
              <a:rPr dirty="0" err="1"/>
              <a:t>спроектована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допомагає</a:t>
            </a:r>
            <a:r>
              <a:rPr dirty="0"/>
              <a:t> </a:t>
            </a:r>
            <a:r>
              <a:rPr dirty="0" err="1"/>
              <a:t>уникнути</a:t>
            </a:r>
            <a:r>
              <a:rPr dirty="0"/>
              <a:t> </a:t>
            </a:r>
            <a:r>
              <a:rPr dirty="0" err="1"/>
              <a:t>проблем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етапах</a:t>
            </a:r>
            <a:r>
              <a:rPr dirty="0"/>
              <a:t> </a:t>
            </a:r>
            <a:r>
              <a:rPr dirty="0" err="1"/>
              <a:t>розробки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підтримки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Основні етапи проектування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Збір вимог: Визначення потреб користувачів та бізнес-вимог.</a:t>
            </a:r>
          </a:p>
          <a:p>
            <a:r>
              <a:t>• Аналіз вимог: Оцінка, наскільки вимоги реалізовані технічно.</a:t>
            </a:r>
          </a:p>
          <a:p>
            <a:r>
              <a:t>• Архітектурний підхід: Вибір архітектурного стилю.</a:t>
            </a:r>
          </a:p>
          <a:p>
            <a:r>
              <a:t>• Деталізація компонентів: Специфікація окремих модулів системи.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Архітектурні підходи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• </a:t>
            </a:r>
            <a:r>
              <a:rPr dirty="0" err="1"/>
              <a:t>Монолітна</a:t>
            </a:r>
            <a:r>
              <a:rPr dirty="0"/>
              <a:t> </a:t>
            </a:r>
            <a:r>
              <a:rPr dirty="0" err="1"/>
              <a:t>архітектура</a:t>
            </a:r>
            <a:r>
              <a:rPr dirty="0"/>
              <a:t>: </a:t>
            </a:r>
            <a:r>
              <a:rPr dirty="0" err="1"/>
              <a:t>Єдина</a:t>
            </a:r>
            <a:r>
              <a:rPr dirty="0"/>
              <a:t> </a:t>
            </a:r>
            <a:r>
              <a:rPr dirty="0" err="1"/>
              <a:t>велика</a:t>
            </a:r>
            <a:r>
              <a:rPr dirty="0"/>
              <a:t> </a:t>
            </a:r>
            <a:r>
              <a:rPr dirty="0" err="1"/>
              <a:t>програма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Мікросервіси</a:t>
            </a:r>
            <a:r>
              <a:rPr dirty="0"/>
              <a:t>: </a:t>
            </a:r>
            <a:r>
              <a:rPr dirty="0" err="1"/>
              <a:t>Набір</a:t>
            </a:r>
            <a:r>
              <a:rPr dirty="0"/>
              <a:t> </a:t>
            </a:r>
            <a:r>
              <a:rPr dirty="0" err="1"/>
              <a:t>незалежних</a:t>
            </a:r>
            <a:r>
              <a:rPr dirty="0"/>
              <a:t> </a:t>
            </a:r>
            <a:r>
              <a:rPr dirty="0" err="1"/>
              <a:t>сервісів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Сервіс-орієнтована</a:t>
            </a:r>
            <a:r>
              <a:rPr dirty="0"/>
              <a:t> </a:t>
            </a:r>
            <a:r>
              <a:rPr dirty="0" err="1"/>
              <a:t>архітектура</a:t>
            </a:r>
            <a:r>
              <a:rPr dirty="0"/>
              <a:t> (SOA): </a:t>
            </a:r>
            <a:r>
              <a:rPr dirty="0" err="1"/>
              <a:t>Використання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інтеграції</a:t>
            </a:r>
            <a:r>
              <a:rPr dirty="0"/>
              <a:t>.</a:t>
            </a:r>
          </a:p>
          <a:p>
            <a:r>
              <a:rPr dirty="0"/>
              <a:t>• </a:t>
            </a:r>
            <a:r>
              <a:rPr dirty="0" err="1"/>
              <a:t>Подієво-орієнтована</a:t>
            </a:r>
            <a:r>
              <a:rPr dirty="0"/>
              <a:t> </a:t>
            </a:r>
            <a:r>
              <a:rPr dirty="0" err="1"/>
              <a:t>архітектура</a:t>
            </a:r>
            <a:r>
              <a:rPr dirty="0"/>
              <a:t> (EDA): </a:t>
            </a:r>
            <a:r>
              <a:rPr dirty="0" err="1"/>
              <a:t>Реакція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події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Монолітна архітектура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b="1" dirty="0" err="1"/>
              <a:t>Монолітна</a:t>
            </a:r>
            <a:r>
              <a:rPr lang="ru-RU" b="1" dirty="0"/>
              <a:t> </a:t>
            </a:r>
            <a:r>
              <a:rPr lang="ru-RU" b="1" dirty="0" err="1"/>
              <a:t>архітектура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архітектурний</a:t>
            </a:r>
            <a:r>
              <a:rPr lang="ru-RU" dirty="0"/>
              <a:t> стиль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при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 (</a:t>
            </a:r>
            <a:r>
              <a:rPr lang="ru-RU" dirty="0" err="1"/>
              <a:t>користувацький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, </a:t>
            </a:r>
            <a:r>
              <a:rPr lang="ru-RU" dirty="0" err="1"/>
              <a:t>логіка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, доступ до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) </a:t>
            </a:r>
            <a:r>
              <a:rPr lang="ru-RU" dirty="0" err="1"/>
              <a:t>розташовані</a:t>
            </a:r>
            <a:r>
              <a:rPr lang="ru-RU" dirty="0"/>
              <a:t> в </a:t>
            </a:r>
            <a:r>
              <a:rPr lang="ru-RU" dirty="0" err="1"/>
              <a:t>єдиному</a:t>
            </a:r>
            <a:r>
              <a:rPr lang="ru-RU" dirty="0"/>
              <a:t> великому </a:t>
            </a:r>
            <a:r>
              <a:rPr lang="ru-RU" dirty="0" err="1"/>
              <a:t>додатку</a:t>
            </a:r>
            <a:r>
              <a:rPr lang="ru-RU" dirty="0"/>
              <a:t>. У </a:t>
            </a:r>
            <a:r>
              <a:rPr lang="ru-RU" dirty="0" err="1"/>
              <a:t>такій</a:t>
            </a:r>
            <a:r>
              <a:rPr lang="ru-RU" dirty="0"/>
              <a:t> </a:t>
            </a:r>
            <a:r>
              <a:rPr lang="ru-RU" dirty="0" err="1"/>
              <a:t>архітектурі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тісно</a:t>
            </a:r>
            <a:r>
              <a:rPr lang="ru-RU" dirty="0"/>
              <a:t> </a:t>
            </a:r>
            <a:r>
              <a:rPr lang="ru-RU" dirty="0" err="1"/>
              <a:t>взаємодіють</a:t>
            </a:r>
            <a:r>
              <a:rPr lang="ru-RU" dirty="0"/>
              <a:t> і </a:t>
            </a:r>
            <a:r>
              <a:rPr lang="ru-RU" dirty="0" err="1"/>
              <a:t>працюють</a:t>
            </a:r>
            <a:r>
              <a:rPr lang="ru-RU" dirty="0"/>
              <a:t> в межах одного </a:t>
            </a:r>
            <a:r>
              <a:rPr lang="ru-RU" dirty="0" err="1"/>
              <a:t>процесу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22608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Особливості</a:t>
            </a:r>
            <a:r>
              <a:rPr lang="ru-RU" b="1" dirty="0"/>
              <a:t> </a:t>
            </a:r>
            <a:r>
              <a:rPr lang="ru-RU" b="1" dirty="0" err="1"/>
              <a:t>монолітної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Цілісний</a:t>
            </a:r>
            <a:r>
              <a:rPr lang="ru-RU" b="1" dirty="0"/>
              <a:t> код</a:t>
            </a:r>
            <a:r>
              <a:rPr lang="ru-RU" dirty="0"/>
              <a:t>: Весь код </a:t>
            </a:r>
            <a:r>
              <a:rPr lang="ru-RU" dirty="0" err="1"/>
              <a:t>програми</a:t>
            </a:r>
            <a:r>
              <a:rPr lang="ru-RU" dirty="0"/>
              <a:t> </a:t>
            </a:r>
            <a:r>
              <a:rPr lang="ru-RU" dirty="0" err="1"/>
              <a:t>зібраний</a:t>
            </a:r>
            <a:r>
              <a:rPr lang="ru-RU" dirty="0"/>
              <a:t> в одному великому </a:t>
            </a:r>
            <a:r>
              <a:rPr lang="ru-RU" dirty="0" err="1"/>
              <a:t>проєкті</a:t>
            </a:r>
            <a:r>
              <a:rPr lang="ru-RU" dirty="0"/>
              <a:t>.</a:t>
            </a:r>
          </a:p>
          <a:p>
            <a:r>
              <a:rPr lang="ru-RU" b="1" dirty="0" err="1"/>
              <a:t>Єдиний</a:t>
            </a:r>
            <a:r>
              <a:rPr lang="ru-RU" b="1" dirty="0"/>
              <a:t> </a:t>
            </a:r>
            <a:r>
              <a:rPr lang="ru-RU" b="1" dirty="0" err="1"/>
              <a:t>процес</a:t>
            </a:r>
            <a:r>
              <a:rPr lang="ru-RU" dirty="0"/>
              <a:t>: </a:t>
            </a:r>
            <a:r>
              <a:rPr lang="ru-RU" dirty="0" err="1"/>
              <a:t>Програма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як </a:t>
            </a:r>
            <a:r>
              <a:rPr lang="ru-RU" dirty="0" err="1"/>
              <a:t>єдиний</a:t>
            </a:r>
            <a:r>
              <a:rPr lang="ru-RU" dirty="0"/>
              <a:t> </a:t>
            </a:r>
            <a:r>
              <a:rPr lang="ru-RU" dirty="0" err="1"/>
              <a:t>процес</a:t>
            </a:r>
            <a:r>
              <a:rPr lang="ru-RU" dirty="0"/>
              <a:t> на </a:t>
            </a:r>
            <a:r>
              <a:rPr lang="ru-RU" dirty="0" err="1"/>
              <a:t>сервері</a:t>
            </a:r>
            <a:r>
              <a:rPr lang="ru-RU" dirty="0"/>
              <a:t>.</a:t>
            </a:r>
          </a:p>
          <a:p>
            <a:r>
              <a:rPr lang="ru-RU" b="1" dirty="0" err="1"/>
              <a:t>Спрощений</a:t>
            </a:r>
            <a:r>
              <a:rPr lang="ru-RU" b="1" dirty="0"/>
              <a:t> </a:t>
            </a:r>
            <a:r>
              <a:rPr lang="ru-RU" b="1" dirty="0" err="1"/>
              <a:t>процес</a:t>
            </a:r>
            <a:r>
              <a:rPr lang="ru-RU" b="1" dirty="0"/>
              <a:t> </a:t>
            </a:r>
            <a:r>
              <a:rPr lang="ru-RU" b="1" dirty="0" err="1"/>
              <a:t>розгортання</a:t>
            </a:r>
            <a:r>
              <a:rPr lang="ru-RU" dirty="0"/>
              <a:t>: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розгорнути</a:t>
            </a:r>
            <a:r>
              <a:rPr lang="ru-RU" dirty="0"/>
              <a:t> систему,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єдине</a:t>
            </a:r>
            <a:r>
              <a:rPr lang="ru-RU" dirty="0"/>
              <a:t> </a:t>
            </a:r>
            <a:r>
              <a:rPr lang="ru-RU" dirty="0" err="1"/>
              <a:t>середовище</a:t>
            </a:r>
            <a:r>
              <a:rPr lang="ru-RU" dirty="0"/>
              <a:t> </a:t>
            </a:r>
            <a:r>
              <a:rPr lang="ru-RU" dirty="0" err="1"/>
              <a:t>виконується</a:t>
            </a:r>
            <a:r>
              <a:rPr lang="ru-RU" dirty="0"/>
              <a:t> разом.</a:t>
            </a:r>
          </a:p>
          <a:p>
            <a:r>
              <a:rPr lang="ru-RU" b="1" dirty="0" err="1"/>
              <a:t>Складність</a:t>
            </a:r>
            <a:r>
              <a:rPr lang="ru-RU" b="1" dirty="0"/>
              <a:t> </a:t>
            </a:r>
            <a:r>
              <a:rPr lang="ru-RU" b="1" dirty="0" err="1"/>
              <a:t>масштабування</a:t>
            </a:r>
            <a:r>
              <a:rPr lang="ru-RU" dirty="0"/>
              <a:t>: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потрібна</a:t>
            </a:r>
            <a:r>
              <a:rPr lang="ru-RU" dirty="0"/>
              <a:t> </a:t>
            </a:r>
            <a:r>
              <a:rPr lang="ru-RU" dirty="0" err="1"/>
              <a:t>оптимізація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, </a:t>
            </a:r>
            <a:r>
              <a:rPr lang="ru-RU" dirty="0" err="1"/>
              <a:t>масштабування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важким</a:t>
            </a:r>
            <a:r>
              <a:rPr lang="ru-RU" dirty="0"/>
              <a:t> через </a:t>
            </a:r>
            <a:r>
              <a:rPr lang="ru-RU" dirty="0" err="1"/>
              <a:t>щільну</a:t>
            </a:r>
            <a:r>
              <a:rPr lang="ru-RU" dirty="0"/>
              <a:t> </a:t>
            </a:r>
            <a:r>
              <a:rPr lang="ru-RU" dirty="0" err="1"/>
              <a:t>інтеграцію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r>
              <a:rPr lang="ru-RU" b="1" dirty="0" err="1"/>
              <a:t>Тісна</a:t>
            </a:r>
            <a:r>
              <a:rPr lang="ru-RU" b="1" dirty="0"/>
              <a:t> </a:t>
            </a:r>
            <a:r>
              <a:rPr lang="ru-RU" b="1" dirty="0" err="1"/>
              <a:t>зв'язність</a:t>
            </a:r>
            <a:r>
              <a:rPr lang="ru-RU" dirty="0"/>
              <a:t>: </a:t>
            </a:r>
            <a:r>
              <a:rPr lang="ru-RU" dirty="0" err="1"/>
              <a:t>Зміна</a:t>
            </a:r>
            <a:r>
              <a:rPr lang="ru-RU" dirty="0"/>
              <a:t> в одному </a:t>
            </a:r>
            <a:r>
              <a:rPr lang="ru-RU" dirty="0" err="1"/>
              <a:t>модулі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вплинути</a:t>
            </a:r>
            <a:r>
              <a:rPr lang="ru-RU" dirty="0"/>
              <a:t> на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модулі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</a:t>
            </a:r>
            <a:r>
              <a:rPr lang="ru-RU" dirty="0" err="1"/>
              <a:t>частини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взаємозалежні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86167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Переваги та недоліки монолітної архітектури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:</a:t>
            </a:r>
          </a:p>
          <a:p>
            <a:r>
              <a:rPr lang="ru-RU" dirty="0"/>
              <a:t>Простота </a:t>
            </a:r>
            <a:r>
              <a:rPr lang="ru-RU" dirty="0" err="1"/>
              <a:t>розробки</a:t>
            </a:r>
            <a:r>
              <a:rPr lang="ru-RU" dirty="0"/>
              <a:t> на </a:t>
            </a:r>
            <a:r>
              <a:rPr lang="ru-RU" dirty="0" err="1"/>
              <a:t>ранніх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.</a:t>
            </a:r>
          </a:p>
          <a:p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контролювати</a:t>
            </a:r>
            <a:r>
              <a:rPr lang="ru-RU" dirty="0"/>
              <a:t> систему, </a:t>
            </a:r>
            <a:r>
              <a:rPr lang="ru-RU" dirty="0" err="1"/>
              <a:t>оскільки</a:t>
            </a:r>
            <a:r>
              <a:rPr lang="ru-RU" dirty="0"/>
              <a:t> вона є </a:t>
            </a:r>
            <a:r>
              <a:rPr lang="ru-RU" dirty="0" err="1"/>
              <a:t>єдиною</a:t>
            </a:r>
            <a:r>
              <a:rPr lang="ru-RU" dirty="0"/>
              <a:t> </a:t>
            </a:r>
            <a:r>
              <a:rPr lang="ru-RU" dirty="0" err="1"/>
              <a:t>програмою</a:t>
            </a:r>
            <a:r>
              <a:rPr lang="ru-RU" dirty="0"/>
              <a:t>.</a:t>
            </a:r>
          </a:p>
          <a:p>
            <a:r>
              <a:rPr lang="ru-RU" dirty="0" err="1"/>
              <a:t>Простіше</a:t>
            </a:r>
            <a:r>
              <a:rPr lang="ru-RU" dirty="0"/>
              <a:t> </a:t>
            </a:r>
            <a:r>
              <a:rPr lang="ru-RU" dirty="0" err="1"/>
              <a:t>тестувати</a:t>
            </a:r>
            <a:r>
              <a:rPr lang="ru-RU" dirty="0"/>
              <a:t> на </a:t>
            </a:r>
            <a:r>
              <a:rPr lang="ru-RU" dirty="0" err="1"/>
              <a:t>етапі</a:t>
            </a:r>
            <a:r>
              <a:rPr lang="ru-RU" dirty="0"/>
              <a:t> </a:t>
            </a:r>
            <a:r>
              <a:rPr lang="ru-RU" dirty="0" err="1"/>
              <a:t>прототипування</a:t>
            </a:r>
            <a:r>
              <a:rPr lang="ru-RU" dirty="0"/>
              <a:t>.</a:t>
            </a:r>
          </a:p>
          <a:p>
            <a:r>
              <a:rPr lang="ru-RU" b="1" dirty="0" err="1"/>
              <a:t>Недоліки</a:t>
            </a:r>
            <a:r>
              <a:rPr lang="ru-RU" b="1" dirty="0"/>
              <a:t>:</a:t>
            </a:r>
          </a:p>
          <a:p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масштабувати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(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ресурсів</a:t>
            </a:r>
            <a:r>
              <a:rPr lang="ru-RU" dirty="0"/>
              <a:t> для одного модуля,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виділити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для </a:t>
            </a:r>
            <a:r>
              <a:rPr lang="ru-RU" dirty="0" err="1"/>
              <a:t>нього</a:t>
            </a:r>
            <a:r>
              <a:rPr lang="ru-RU" dirty="0"/>
              <a:t>).</a:t>
            </a:r>
          </a:p>
          <a:p>
            <a:r>
              <a:rPr lang="ru-RU" dirty="0" err="1"/>
              <a:t>Зростання</a:t>
            </a:r>
            <a:r>
              <a:rPr lang="ru-RU" dirty="0"/>
              <a:t> </a:t>
            </a:r>
            <a:r>
              <a:rPr lang="ru-RU" dirty="0" err="1"/>
              <a:t>складності</a:t>
            </a:r>
            <a:r>
              <a:rPr lang="ru-RU" dirty="0"/>
              <a:t> з часом: </a:t>
            </a:r>
            <a:r>
              <a:rPr lang="ru-RU" dirty="0" err="1"/>
              <a:t>кожна</a:t>
            </a:r>
            <a:r>
              <a:rPr lang="ru-RU" dirty="0"/>
              <a:t>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ретельного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інтегрувати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технології</a:t>
            </a:r>
            <a:r>
              <a:rPr lang="ru-RU" dirty="0"/>
              <a:t> без </a:t>
            </a:r>
            <a:r>
              <a:rPr lang="ru-RU" dirty="0" err="1"/>
              <a:t>переробки</a:t>
            </a:r>
            <a:r>
              <a:rPr lang="ru-RU" dirty="0"/>
              <a:t>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935072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Приклади</a:t>
            </a:r>
            <a:r>
              <a:rPr lang="ru-RU" dirty="0"/>
              <a:t> </a:t>
            </a:r>
            <a:r>
              <a:rPr lang="ru-RU" dirty="0" err="1"/>
              <a:t>монолітних</a:t>
            </a:r>
            <a:r>
              <a:rPr lang="ru-RU" dirty="0"/>
              <a:t> систем: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72955" y="1091822"/>
            <a:ext cx="8413845" cy="5034342"/>
          </a:xfrm>
        </p:spPr>
        <p:txBody>
          <a:bodyPr>
            <a:normAutofit fontScale="85000" lnSpcReduction="20000"/>
          </a:bodyPr>
          <a:lstStyle/>
          <a:p>
            <a:r>
              <a:rPr lang="ru-RU" dirty="0" err="1"/>
              <a:t>Інтернет</a:t>
            </a:r>
            <a:r>
              <a:rPr lang="ru-RU" dirty="0"/>
              <a:t>-магазин (на </a:t>
            </a:r>
            <a:r>
              <a:rPr lang="ru-RU" dirty="0" err="1"/>
              <a:t>ранніх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): </a:t>
            </a:r>
            <a:r>
              <a:rPr lang="ru-RU" dirty="0" err="1"/>
              <a:t>Усі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(корзина покупок, оплати, каталог </a:t>
            </a:r>
            <a:r>
              <a:rPr lang="ru-RU" dirty="0" err="1"/>
              <a:t>товарів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користувачами</a:t>
            </a:r>
            <a:r>
              <a:rPr lang="ru-RU" dirty="0"/>
              <a:t>) </a:t>
            </a:r>
            <a:r>
              <a:rPr lang="ru-RU" dirty="0" err="1"/>
              <a:t>об'єднані</a:t>
            </a:r>
            <a:r>
              <a:rPr lang="ru-RU" dirty="0"/>
              <a:t> в одну </a:t>
            </a:r>
            <a:r>
              <a:rPr lang="ru-RU" dirty="0" err="1"/>
              <a:t>велику</a:t>
            </a:r>
            <a:r>
              <a:rPr lang="ru-RU" dirty="0"/>
              <a:t> систему.</a:t>
            </a:r>
          </a:p>
          <a:p>
            <a:r>
              <a:rPr lang="en-US" dirty="0"/>
              <a:t>ERP-</a:t>
            </a:r>
            <a:r>
              <a:rPr lang="ru-RU" dirty="0" err="1"/>
              <a:t>системи</a:t>
            </a:r>
            <a:r>
              <a:rPr lang="ru-RU" dirty="0"/>
              <a:t>: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старих</a:t>
            </a:r>
            <a:r>
              <a:rPr lang="ru-RU" dirty="0"/>
              <a:t> </a:t>
            </a:r>
            <a:r>
              <a:rPr lang="en-US" dirty="0"/>
              <a:t>ERP (Enterprise Resource Planning) </a:t>
            </a:r>
            <a:r>
              <a:rPr lang="ru-RU" dirty="0"/>
              <a:t>систем </a:t>
            </a:r>
            <a:r>
              <a:rPr lang="ru-RU" dirty="0" err="1"/>
              <a:t>будувалися</a:t>
            </a:r>
            <a:r>
              <a:rPr lang="ru-RU" dirty="0"/>
              <a:t> на </a:t>
            </a:r>
            <a:r>
              <a:rPr lang="ru-RU" dirty="0" err="1"/>
              <a:t>основі</a:t>
            </a:r>
            <a:r>
              <a:rPr lang="ru-RU" dirty="0"/>
              <a:t> </a:t>
            </a:r>
            <a:r>
              <a:rPr lang="ru-RU" dirty="0" err="1"/>
              <a:t>монолітної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, де </a:t>
            </a:r>
            <a:r>
              <a:rPr lang="ru-RU" dirty="0" err="1"/>
              <a:t>управління</a:t>
            </a:r>
            <a:r>
              <a:rPr lang="ru-RU" dirty="0"/>
              <a:t> ресурсами </a:t>
            </a:r>
            <a:r>
              <a:rPr lang="ru-RU" dirty="0" err="1"/>
              <a:t>компанії</a:t>
            </a:r>
            <a:r>
              <a:rPr lang="ru-RU" dirty="0"/>
              <a:t> </a:t>
            </a:r>
            <a:r>
              <a:rPr lang="ru-RU" dirty="0" err="1"/>
              <a:t>об'єднано</a:t>
            </a:r>
            <a:r>
              <a:rPr lang="ru-RU" dirty="0"/>
              <a:t> в одну платформу.</a:t>
            </a:r>
          </a:p>
          <a:p>
            <a:r>
              <a:rPr lang="en-US" dirty="0"/>
              <a:t>WordPress (</a:t>
            </a:r>
            <a:r>
              <a:rPr lang="ru-RU" dirty="0"/>
              <a:t>на </a:t>
            </a:r>
            <a:r>
              <a:rPr lang="ru-RU" dirty="0" err="1"/>
              <a:t>ранніх</a:t>
            </a:r>
            <a:r>
              <a:rPr lang="ru-RU" dirty="0"/>
              <a:t> </a:t>
            </a:r>
            <a:r>
              <a:rPr lang="ru-RU" dirty="0" err="1"/>
              <a:t>етапах</a:t>
            </a:r>
            <a:r>
              <a:rPr lang="ru-RU" dirty="0"/>
              <a:t>): </a:t>
            </a:r>
            <a:r>
              <a:rPr lang="ru-RU" dirty="0" err="1"/>
              <a:t>Спочатку</a:t>
            </a:r>
            <a:r>
              <a:rPr lang="ru-RU" dirty="0"/>
              <a:t> </a:t>
            </a:r>
            <a:r>
              <a:rPr lang="ru-RU" dirty="0" err="1"/>
              <a:t>був</a:t>
            </a:r>
            <a:r>
              <a:rPr lang="ru-RU" dirty="0"/>
              <a:t> </a:t>
            </a:r>
            <a:r>
              <a:rPr lang="ru-RU" dirty="0" err="1"/>
              <a:t>розроблений</a:t>
            </a:r>
            <a:r>
              <a:rPr lang="ru-RU" dirty="0"/>
              <a:t> як </a:t>
            </a:r>
            <a:r>
              <a:rPr lang="ru-RU" dirty="0" err="1"/>
              <a:t>монолітна</a:t>
            </a:r>
            <a:r>
              <a:rPr lang="ru-RU" dirty="0"/>
              <a:t> платформа для </a:t>
            </a:r>
            <a:r>
              <a:rPr lang="ru-RU" dirty="0" err="1"/>
              <a:t>управління</a:t>
            </a:r>
            <a:r>
              <a:rPr lang="ru-RU" dirty="0"/>
              <a:t> контентом.</a:t>
            </a:r>
          </a:p>
          <a:p>
            <a:pPr marL="0" indent="0" algn="just">
              <a:buNone/>
            </a:pPr>
            <a:r>
              <a:rPr lang="ru-RU" dirty="0"/>
              <a:t>З часом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компаній</a:t>
            </a:r>
            <a:r>
              <a:rPr lang="ru-RU" dirty="0"/>
              <a:t> </a:t>
            </a:r>
            <a:r>
              <a:rPr lang="ru-RU" dirty="0" err="1"/>
              <a:t>переходять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монолітної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до </a:t>
            </a:r>
            <a:r>
              <a:rPr lang="ru-RU" dirty="0" err="1"/>
              <a:t>мікросервісів</a:t>
            </a:r>
            <a:r>
              <a:rPr lang="ru-RU" dirty="0"/>
              <a:t> для </a:t>
            </a:r>
            <a:r>
              <a:rPr lang="ru-RU" dirty="0" err="1"/>
              <a:t>кращого</a:t>
            </a:r>
            <a:r>
              <a:rPr lang="ru-RU" dirty="0"/>
              <a:t> </a:t>
            </a:r>
            <a:r>
              <a:rPr lang="ru-RU" dirty="0" err="1"/>
              <a:t>масштабування</a:t>
            </a:r>
            <a:r>
              <a:rPr lang="ru-RU" dirty="0"/>
              <a:t> і </a:t>
            </a:r>
            <a:r>
              <a:rPr lang="ru-RU" dirty="0" err="1"/>
              <a:t>підтримки</a:t>
            </a:r>
            <a:r>
              <a:rPr lang="ru-RU" dirty="0"/>
              <a:t> систем.</a:t>
            </a:r>
          </a:p>
        </p:txBody>
      </p:sp>
    </p:spTree>
    <p:extLst>
      <p:ext uri="{BB962C8B-B14F-4D97-AF65-F5344CB8AC3E}">
        <p14:creationId xmlns:p14="http://schemas.microsoft.com/office/powerpoint/2010/main" val="39131047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Зображення монолітної та </a:t>
            </a:r>
            <a:r>
              <a:rPr lang="uk-UA" dirty="0" err="1"/>
              <a:t>мікросервісної</a:t>
            </a:r>
            <a:r>
              <a:rPr lang="uk-UA" dirty="0"/>
              <a:t> архітектури</a:t>
            </a:r>
            <a:endParaRPr lang="ru-RU" dirty="0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05781"/>
            <a:ext cx="8229600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7892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 err="1"/>
              <a:t>Мікросервісна</a:t>
            </a:r>
            <a:r>
              <a:rPr lang="uk-UA" dirty="0"/>
              <a:t> архітектура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ru-RU" b="1" dirty="0" err="1"/>
              <a:t>Мікросервісна</a:t>
            </a:r>
            <a:r>
              <a:rPr lang="ru-RU" b="1" dirty="0"/>
              <a:t> </a:t>
            </a:r>
            <a:r>
              <a:rPr lang="ru-RU" b="1" dirty="0" err="1"/>
              <a:t>архітектура</a:t>
            </a:r>
            <a:r>
              <a:rPr lang="ru-RU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архітектурний</a:t>
            </a:r>
            <a:r>
              <a:rPr lang="ru-RU" dirty="0"/>
              <a:t> стиль </a:t>
            </a:r>
            <a:r>
              <a:rPr lang="ru-RU" dirty="0" err="1"/>
              <a:t>розробки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при </a:t>
            </a:r>
            <a:r>
              <a:rPr lang="ru-RU" dirty="0" err="1"/>
              <a:t>якому</a:t>
            </a:r>
            <a:r>
              <a:rPr lang="ru-RU" dirty="0"/>
              <a:t> система </a:t>
            </a:r>
            <a:r>
              <a:rPr lang="ru-RU" dirty="0" err="1"/>
              <a:t>розбивається</a:t>
            </a:r>
            <a:r>
              <a:rPr lang="ru-RU" dirty="0"/>
              <a:t> на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незалежних</a:t>
            </a:r>
            <a:r>
              <a:rPr lang="ru-RU" dirty="0"/>
              <a:t> </a:t>
            </a:r>
            <a:r>
              <a:rPr lang="ru-RU" dirty="0" err="1"/>
              <a:t>сервісів</a:t>
            </a:r>
            <a:r>
              <a:rPr lang="ru-RU" dirty="0"/>
              <a:t>,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конкретну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взаємодіють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 через добре </a:t>
            </a:r>
            <a:r>
              <a:rPr lang="ru-RU" dirty="0" err="1"/>
              <a:t>визначені</a:t>
            </a:r>
            <a:r>
              <a:rPr lang="ru-RU" dirty="0"/>
              <a:t> </a:t>
            </a:r>
            <a:r>
              <a:rPr lang="en-US" dirty="0"/>
              <a:t>API,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використовуючи</a:t>
            </a:r>
            <a:r>
              <a:rPr lang="ru-RU" dirty="0"/>
              <a:t> </a:t>
            </a:r>
            <a:r>
              <a:rPr lang="ru-RU" dirty="0" err="1"/>
              <a:t>мережеві</a:t>
            </a:r>
            <a:r>
              <a:rPr lang="ru-RU" dirty="0"/>
              <a:t> </a:t>
            </a:r>
            <a:r>
              <a:rPr lang="ru-RU" dirty="0" err="1"/>
              <a:t>протоколи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221796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Особливості</a:t>
            </a:r>
            <a:r>
              <a:rPr lang="ru-RU" b="1" dirty="0"/>
              <a:t> </a:t>
            </a:r>
            <a:r>
              <a:rPr lang="ru-RU" b="1" dirty="0" err="1"/>
              <a:t>мікросервісної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417638"/>
            <a:ext cx="8521700" cy="4927600"/>
          </a:xfrm>
        </p:spPr>
        <p:txBody>
          <a:bodyPr>
            <a:noAutofit/>
          </a:bodyPr>
          <a:lstStyle/>
          <a:p>
            <a:pPr algn="just"/>
            <a:r>
              <a:rPr lang="ru-RU" sz="2200" b="1" dirty="0" err="1"/>
              <a:t>Незалежність</a:t>
            </a:r>
            <a:r>
              <a:rPr lang="ru-RU" sz="2200" b="1" dirty="0"/>
              <a:t> </a:t>
            </a:r>
            <a:r>
              <a:rPr lang="ru-RU" sz="2200" b="1" dirty="0" err="1"/>
              <a:t>компонентів</a:t>
            </a:r>
            <a:r>
              <a:rPr lang="ru-RU" sz="2200" dirty="0"/>
              <a:t>: </a:t>
            </a:r>
            <a:r>
              <a:rPr lang="ru-RU" sz="2200" dirty="0" err="1"/>
              <a:t>Кожен</a:t>
            </a:r>
            <a:r>
              <a:rPr lang="ru-RU" sz="2200" dirty="0"/>
              <a:t> </a:t>
            </a:r>
            <a:r>
              <a:rPr lang="ru-RU" sz="2200" dirty="0" err="1"/>
              <a:t>сервіс</a:t>
            </a:r>
            <a:r>
              <a:rPr lang="ru-RU" sz="2200" dirty="0"/>
              <a:t> </a:t>
            </a:r>
            <a:r>
              <a:rPr lang="ru-RU" sz="2200" dirty="0" err="1"/>
              <a:t>розробляється</a:t>
            </a:r>
            <a:r>
              <a:rPr lang="ru-RU" sz="2200" dirty="0"/>
              <a:t>, </a:t>
            </a:r>
            <a:r>
              <a:rPr lang="ru-RU" sz="2200" dirty="0" err="1"/>
              <a:t>тестується</a:t>
            </a:r>
            <a:r>
              <a:rPr lang="ru-RU" sz="2200" dirty="0"/>
              <a:t>, </a:t>
            </a:r>
            <a:r>
              <a:rPr lang="ru-RU" sz="2200" dirty="0" err="1"/>
              <a:t>розгортається</a:t>
            </a:r>
            <a:r>
              <a:rPr lang="ru-RU" sz="2200" dirty="0"/>
              <a:t> та </a:t>
            </a:r>
            <a:r>
              <a:rPr lang="ru-RU" sz="2200" dirty="0" err="1"/>
              <a:t>масштабується</a:t>
            </a:r>
            <a:r>
              <a:rPr lang="ru-RU" sz="2200" dirty="0"/>
              <a:t> </a:t>
            </a:r>
            <a:r>
              <a:rPr lang="ru-RU" sz="2200" dirty="0" err="1"/>
              <a:t>незалежно</a:t>
            </a:r>
            <a:r>
              <a:rPr lang="ru-RU" sz="2200" dirty="0"/>
              <a:t>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інших</a:t>
            </a:r>
            <a:r>
              <a:rPr lang="ru-RU" sz="2200" dirty="0"/>
              <a:t>.</a:t>
            </a:r>
          </a:p>
          <a:p>
            <a:pPr algn="just"/>
            <a:r>
              <a:rPr lang="ru-RU" sz="2200" b="1" dirty="0" err="1"/>
              <a:t>Чітко</a:t>
            </a:r>
            <a:r>
              <a:rPr lang="ru-RU" sz="2200" b="1" dirty="0"/>
              <a:t> </a:t>
            </a:r>
            <a:r>
              <a:rPr lang="ru-RU" sz="2200" b="1" dirty="0" err="1"/>
              <a:t>визначені</a:t>
            </a:r>
            <a:r>
              <a:rPr lang="ru-RU" sz="2200" b="1" dirty="0"/>
              <a:t> </a:t>
            </a:r>
            <a:r>
              <a:rPr lang="ru-RU" sz="2200" b="1" dirty="0" err="1"/>
              <a:t>інтерфейси</a:t>
            </a:r>
            <a:r>
              <a:rPr lang="ru-RU" sz="2200" dirty="0"/>
              <a:t>: </a:t>
            </a:r>
            <a:r>
              <a:rPr lang="ru-RU" sz="2200" dirty="0" err="1"/>
              <a:t>Сервіси</a:t>
            </a:r>
            <a:r>
              <a:rPr lang="ru-RU" sz="2200" dirty="0"/>
              <a:t> </a:t>
            </a:r>
            <a:r>
              <a:rPr lang="ru-RU" sz="2200" dirty="0" err="1"/>
              <a:t>спілкуються</a:t>
            </a:r>
            <a:r>
              <a:rPr lang="ru-RU" sz="2200" dirty="0"/>
              <a:t> через </a:t>
            </a:r>
            <a:r>
              <a:rPr lang="en-US" sz="2200" dirty="0"/>
              <a:t>API, </a:t>
            </a:r>
            <a:r>
              <a:rPr lang="ru-RU" sz="2200" dirty="0" err="1"/>
              <a:t>наприклад</a:t>
            </a:r>
            <a:r>
              <a:rPr lang="ru-RU" sz="2200" dirty="0"/>
              <a:t>, </a:t>
            </a:r>
            <a:r>
              <a:rPr lang="en-US" sz="2200" dirty="0"/>
              <a:t>REST, </a:t>
            </a:r>
            <a:r>
              <a:rPr lang="en-US" sz="2200" dirty="0" err="1"/>
              <a:t>gRPC</a:t>
            </a:r>
            <a:r>
              <a:rPr lang="en-US" sz="2200" dirty="0"/>
              <a:t> </a:t>
            </a:r>
            <a:r>
              <a:rPr lang="ru-RU" sz="2200" dirty="0" err="1"/>
              <a:t>або</a:t>
            </a:r>
            <a:r>
              <a:rPr lang="ru-RU" sz="2200" dirty="0"/>
              <a:t> </a:t>
            </a:r>
            <a:r>
              <a:rPr lang="ru-RU" sz="2200" dirty="0" err="1"/>
              <a:t>повідомлення</a:t>
            </a:r>
            <a:r>
              <a:rPr lang="ru-RU" sz="2200" dirty="0"/>
              <a:t>, </a:t>
            </a:r>
            <a:r>
              <a:rPr lang="ru-RU" sz="2200" dirty="0" err="1"/>
              <a:t>передані</a:t>
            </a:r>
            <a:r>
              <a:rPr lang="ru-RU" sz="2200" dirty="0"/>
              <a:t> через </a:t>
            </a:r>
            <a:r>
              <a:rPr lang="ru-RU" sz="2200" dirty="0" err="1"/>
              <a:t>черги</a:t>
            </a:r>
            <a:r>
              <a:rPr lang="ru-RU" sz="2200" dirty="0"/>
              <a:t>.</a:t>
            </a:r>
          </a:p>
          <a:p>
            <a:pPr algn="just"/>
            <a:r>
              <a:rPr lang="ru-RU" sz="2200" b="1" dirty="0" err="1"/>
              <a:t>Розподілена</a:t>
            </a:r>
            <a:r>
              <a:rPr lang="ru-RU" sz="2200" b="1" dirty="0"/>
              <a:t> система</a:t>
            </a:r>
            <a:r>
              <a:rPr lang="ru-RU" sz="2200" dirty="0"/>
              <a:t>: </a:t>
            </a:r>
            <a:r>
              <a:rPr lang="ru-RU" sz="2200" dirty="0" err="1"/>
              <a:t>Компоненти</a:t>
            </a:r>
            <a:r>
              <a:rPr lang="ru-RU" sz="2200" dirty="0"/>
              <a:t> </a:t>
            </a:r>
            <a:r>
              <a:rPr lang="ru-RU" sz="2200" dirty="0" err="1"/>
              <a:t>можуть</a:t>
            </a:r>
            <a:r>
              <a:rPr lang="ru-RU" sz="2200" dirty="0"/>
              <a:t> </a:t>
            </a:r>
            <a:r>
              <a:rPr lang="ru-RU" sz="2200" dirty="0" err="1"/>
              <a:t>розміщуватися</a:t>
            </a:r>
            <a:r>
              <a:rPr lang="ru-RU" sz="2200" dirty="0"/>
              <a:t> на </a:t>
            </a:r>
            <a:r>
              <a:rPr lang="ru-RU" sz="2200" dirty="0" err="1"/>
              <a:t>різних</a:t>
            </a:r>
            <a:r>
              <a:rPr lang="ru-RU" sz="2200" dirty="0"/>
              <a:t> серверах </a:t>
            </a:r>
            <a:r>
              <a:rPr lang="ru-RU" sz="2200" dirty="0" err="1"/>
              <a:t>або</a:t>
            </a:r>
            <a:r>
              <a:rPr lang="ru-RU" sz="2200" dirty="0"/>
              <a:t> </a:t>
            </a:r>
            <a:r>
              <a:rPr lang="ru-RU" sz="2200" dirty="0" err="1"/>
              <a:t>навіть</a:t>
            </a:r>
            <a:r>
              <a:rPr lang="ru-RU" sz="2200" dirty="0"/>
              <a:t> у </a:t>
            </a:r>
            <a:r>
              <a:rPr lang="ru-RU" sz="2200" dirty="0" err="1"/>
              <a:t>різних</a:t>
            </a:r>
            <a:r>
              <a:rPr lang="ru-RU" sz="2200" dirty="0"/>
              <a:t> дата-центрах, </a:t>
            </a:r>
            <a:r>
              <a:rPr lang="ru-RU" sz="2200" dirty="0" err="1"/>
              <a:t>що</a:t>
            </a:r>
            <a:r>
              <a:rPr lang="ru-RU" sz="2200" dirty="0"/>
              <a:t> </a:t>
            </a:r>
            <a:r>
              <a:rPr lang="ru-RU" sz="2200" dirty="0" err="1"/>
              <a:t>дозволяє</a:t>
            </a:r>
            <a:r>
              <a:rPr lang="ru-RU" sz="2200" dirty="0"/>
              <a:t> </a:t>
            </a:r>
            <a:r>
              <a:rPr lang="ru-RU" sz="2200" dirty="0" err="1"/>
              <a:t>легше</a:t>
            </a:r>
            <a:r>
              <a:rPr lang="ru-RU" sz="2200" dirty="0"/>
              <a:t> </a:t>
            </a:r>
            <a:r>
              <a:rPr lang="ru-RU" sz="2200" dirty="0" err="1"/>
              <a:t>масштабувати</a:t>
            </a:r>
            <a:r>
              <a:rPr lang="ru-RU" sz="2200" dirty="0"/>
              <a:t> систему.</a:t>
            </a:r>
          </a:p>
          <a:p>
            <a:pPr algn="just"/>
            <a:r>
              <a:rPr lang="ru-RU" sz="2200" b="1" dirty="0" err="1"/>
              <a:t>Масштабованість</a:t>
            </a:r>
            <a:r>
              <a:rPr lang="ru-RU" sz="2200" dirty="0"/>
              <a:t>: Легко </a:t>
            </a:r>
            <a:r>
              <a:rPr lang="ru-RU" sz="2200" dirty="0" err="1"/>
              <a:t>масштабувати</a:t>
            </a:r>
            <a:r>
              <a:rPr lang="ru-RU" sz="2200" dirty="0"/>
              <a:t> </a:t>
            </a:r>
            <a:r>
              <a:rPr lang="ru-RU" sz="2200" dirty="0" err="1"/>
              <a:t>окремі</a:t>
            </a:r>
            <a:r>
              <a:rPr lang="ru-RU" sz="2200" dirty="0"/>
              <a:t> </a:t>
            </a:r>
            <a:r>
              <a:rPr lang="ru-RU" sz="2200" dirty="0" err="1"/>
              <a:t>сервіси</a:t>
            </a:r>
            <a:r>
              <a:rPr lang="ru-RU" sz="2200" dirty="0"/>
              <a:t> в </a:t>
            </a:r>
            <a:r>
              <a:rPr lang="ru-RU" sz="2200" dirty="0" err="1"/>
              <a:t>залежності</a:t>
            </a:r>
            <a:r>
              <a:rPr lang="ru-RU" sz="2200" dirty="0"/>
              <a:t>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навантаження</a:t>
            </a:r>
            <a:r>
              <a:rPr lang="ru-RU" sz="2200" dirty="0"/>
              <a:t> (</a:t>
            </a:r>
            <a:r>
              <a:rPr lang="ru-RU" sz="2200" dirty="0" err="1"/>
              <a:t>наприклад</a:t>
            </a:r>
            <a:r>
              <a:rPr lang="ru-RU" sz="2200" dirty="0"/>
              <a:t>, </a:t>
            </a:r>
            <a:r>
              <a:rPr lang="ru-RU" sz="2200" dirty="0" err="1"/>
              <a:t>окремо</a:t>
            </a:r>
            <a:r>
              <a:rPr lang="ru-RU" sz="2200" dirty="0"/>
              <a:t> для </a:t>
            </a:r>
            <a:r>
              <a:rPr lang="ru-RU" sz="2200" dirty="0" err="1"/>
              <a:t>обробки</a:t>
            </a:r>
            <a:r>
              <a:rPr lang="ru-RU" sz="2200" dirty="0"/>
              <a:t> </a:t>
            </a:r>
            <a:r>
              <a:rPr lang="ru-RU" sz="2200" dirty="0" err="1"/>
              <a:t>замовлень</a:t>
            </a:r>
            <a:r>
              <a:rPr lang="ru-RU" sz="2200" dirty="0"/>
              <a:t>, оплати </a:t>
            </a:r>
            <a:r>
              <a:rPr lang="ru-RU" sz="2200" dirty="0" err="1"/>
              <a:t>чи</a:t>
            </a:r>
            <a:r>
              <a:rPr lang="ru-RU" sz="2200" dirty="0"/>
              <a:t> </a:t>
            </a:r>
            <a:r>
              <a:rPr lang="ru-RU" sz="2200" dirty="0" err="1"/>
              <a:t>рекомендацій</a:t>
            </a:r>
            <a:r>
              <a:rPr lang="ru-RU" sz="2200" dirty="0"/>
              <a:t>).</a:t>
            </a:r>
          </a:p>
          <a:p>
            <a:pPr algn="just"/>
            <a:r>
              <a:rPr lang="ru-RU" sz="2200" b="1" dirty="0" err="1"/>
              <a:t>Вибір</a:t>
            </a:r>
            <a:r>
              <a:rPr lang="ru-RU" sz="2200" b="1" dirty="0"/>
              <a:t> </a:t>
            </a:r>
            <a:r>
              <a:rPr lang="ru-RU" sz="2200" b="1" dirty="0" err="1"/>
              <a:t>технологій</a:t>
            </a:r>
            <a:r>
              <a:rPr lang="ru-RU" sz="2200" dirty="0"/>
              <a:t>: </a:t>
            </a:r>
            <a:r>
              <a:rPr lang="ru-RU" sz="2200" dirty="0" err="1"/>
              <a:t>Різні</a:t>
            </a:r>
            <a:r>
              <a:rPr lang="ru-RU" sz="2200" dirty="0"/>
              <a:t> </a:t>
            </a:r>
            <a:r>
              <a:rPr lang="ru-RU" sz="2200" dirty="0" err="1"/>
              <a:t>сервіси</a:t>
            </a:r>
            <a:r>
              <a:rPr lang="ru-RU" sz="2200" dirty="0"/>
              <a:t> </a:t>
            </a:r>
            <a:r>
              <a:rPr lang="ru-RU" sz="2200" dirty="0" err="1"/>
              <a:t>можуть</a:t>
            </a:r>
            <a:r>
              <a:rPr lang="ru-RU" sz="2200" dirty="0"/>
              <a:t> </a:t>
            </a:r>
            <a:r>
              <a:rPr lang="ru-RU" sz="2200" dirty="0" err="1"/>
              <a:t>використовувати</a:t>
            </a:r>
            <a:r>
              <a:rPr lang="ru-RU" sz="2200" dirty="0"/>
              <a:t> </a:t>
            </a:r>
            <a:r>
              <a:rPr lang="ru-RU" sz="2200" dirty="0" err="1"/>
              <a:t>різні</a:t>
            </a:r>
            <a:r>
              <a:rPr lang="ru-RU" sz="2200" dirty="0"/>
              <a:t> </a:t>
            </a:r>
            <a:r>
              <a:rPr lang="ru-RU" sz="2200" dirty="0" err="1"/>
              <a:t>технології</a:t>
            </a:r>
            <a:r>
              <a:rPr lang="ru-RU" sz="2200" dirty="0"/>
              <a:t>, </a:t>
            </a:r>
            <a:r>
              <a:rPr lang="ru-RU" sz="2200" dirty="0" err="1"/>
              <a:t>мови</a:t>
            </a:r>
            <a:r>
              <a:rPr lang="ru-RU" sz="2200" dirty="0"/>
              <a:t> </a:t>
            </a:r>
            <a:r>
              <a:rPr lang="ru-RU" sz="2200" dirty="0" err="1"/>
              <a:t>програмування</a:t>
            </a:r>
            <a:r>
              <a:rPr lang="ru-RU" sz="2200" dirty="0"/>
              <a:t>, </a:t>
            </a:r>
            <a:r>
              <a:rPr lang="ru-RU" sz="2200" dirty="0" err="1"/>
              <a:t>бази</a:t>
            </a:r>
            <a:r>
              <a:rPr lang="ru-RU" sz="2200" dirty="0"/>
              <a:t> </a:t>
            </a:r>
            <a:r>
              <a:rPr lang="ru-RU" sz="2200" dirty="0" err="1"/>
              <a:t>даних</a:t>
            </a:r>
            <a:r>
              <a:rPr lang="ru-RU" sz="2200" dirty="0"/>
              <a:t>, </a:t>
            </a:r>
            <a:r>
              <a:rPr lang="ru-RU" sz="2200" dirty="0" err="1"/>
              <a:t>що</a:t>
            </a:r>
            <a:r>
              <a:rPr lang="ru-RU" sz="2200" dirty="0"/>
              <a:t> </a:t>
            </a:r>
            <a:r>
              <a:rPr lang="ru-RU" sz="2200" dirty="0" err="1"/>
              <a:t>дозволяє</a:t>
            </a:r>
            <a:r>
              <a:rPr lang="ru-RU" sz="2200" dirty="0"/>
              <a:t> </a:t>
            </a:r>
            <a:r>
              <a:rPr lang="ru-RU" sz="2200" dirty="0" err="1"/>
              <a:t>підбирати</a:t>
            </a:r>
            <a:r>
              <a:rPr lang="ru-RU" sz="2200" dirty="0"/>
              <a:t> </a:t>
            </a:r>
            <a:r>
              <a:rPr lang="ru-RU" sz="2200" dirty="0" err="1"/>
              <a:t>найефективніші</a:t>
            </a:r>
            <a:r>
              <a:rPr lang="ru-RU" sz="2200" dirty="0"/>
              <a:t> </a:t>
            </a:r>
            <a:r>
              <a:rPr lang="ru-RU" sz="2200" dirty="0" err="1"/>
              <a:t>інструменти</a:t>
            </a:r>
            <a:r>
              <a:rPr lang="ru-RU" sz="2200" dirty="0"/>
              <a:t> для </a:t>
            </a:r>
            <a:r>
              <a:rPr lang="ru-RU" sz="2200" dirty="0" err="1"/>
              <a:t>кожної</a:t>
            </a:r>
            <a:r>
              <a:rPr lang="ru-RU" sz="2200" dirty="0"/>
              <a:t> </a:t>
            </a:r>
            <a:r>
              <a:rPr lang="ru-RU" sz="2200" dirty="0" err="1"/>
              <a:t>задачі</a:t>
            </a:r>
            <a:r>
              <a:rPr lang="ru-RU" sz="2200" dirty="0"/>
              <a:t>.</a:t>
            </a:r>
          </a:p>
          <a:p>
            <a:pPr algn="just"/>
            <a:r>
              <a:rPr lang="ru-RU" sz="2200" b="1" dirty="0" err="1"/>
              <a:t>Автономність</a:t>
            </a:r>
            <a:r>
              <a:rPr lang="ru-RU" sz="2200" b="1" dirty="0"/>
              <a:t> команд</a:t>
            </a:r>
            <a:r>
              <a:rPr lang="ru-RU" sz="2200" dirty="0"/>
              <a:t>: </a:t>
            </a:r>
            <a:r>
              <a:rPr lang="ru-RU" sz="2200" dirty="0" err="1"/>
              <a:t>Команди</a:t>
            </a:r>
            <a:r>
              <a:rPr lang="ru-RU" sz="2200" dirty="0"/>
              <a:t> </a:t>
            </a:r>
            <a:r>
              <a:rPr lang="ru-RU" sz="2200" dirty="0" err="1"/>
              <a:t>можуть</a:t>
            </a:r>
            <a:r>
              <a:rPr lang="ru-RU" sz="2200" dirty="0"/>
              <a:t> </a:t>
            </a:r>
            <a:r>
              <a:rPr lang="ru-RU" sz="2200" dirty="0" err="1"/>
              <a:t>розробляти</a:t>
            </a:r>
            <a:r>
              <a:rPr lang="ru-RU" sz="2200" dirty="0"/>
              <a:t> </a:t>
            </a:r>
            <a:r>
              <a:rPr lang="ru-RU" sz="2200" dirty="0" err="1"/>
              <a:t>сервіси</a:t>
            </a:r>
            <a:r>
              <a:rPr lang="ru-RU" sz="2200" dirty="0"/>
              <a:t> </a:t>
            </a:r>
            <a:r>
              <a:rPr lang="ru-RU" sz="2200" dirty="0" err="1"/>
              <a:t>незалежно</a:t>
            </a:r>
            <a:r>
              <a:rPr lang="ru-RU" sz="2200" dirty="0"/>
              <a:t> одна </a:t>
            </a:r>
            <a:r>
              <a:rPr lang="ru-RU" sz="2200" dirty="0" err="1"/>
              <a:t>від</a:t>
            </a:r>
            <a:r>
              <a:rPr lang="ru-RU" sz="2200" dirty="0"/>
              <a:t> </a:t>
            </a:r>
            <a:r>
              <a:rPr lang="ru-RU" sz="2200" dirty="0" err="1"/>
              <a:t>одної</a:t>
            </a:r>
            <a:r>
              <a:rPr lang="ru-RU" sz="2200" dirty="0"/>
              <a:t>, </a:t>
            </a:r>
            <a:r>
              <a:rPr lang="ru-RU" sz="2200" dirty="0" err="1"/>
              <a:t>що</a:t>
            </a:r>
            <a:r>
              <a:rPr lang="ru-RU" sz="2200" dirty="0"/>
              <a:t> </a:t>
            </a:r>
            <a:r>
              <a:rPr lang="ru-RU" sz="2200" dirty="0" err="1"/>
              <a:t>прискорює</a:t>
            </a:r>
            <a:r>
              <a:rPr lang="ru-RU" sz="2200" dirty="0"/>
              <a:t> </a:t>
            </a:r>
            <a:r>
              <a:rPr lang="ru-RU" sz="2200" dirty="0" err="1"/>
              <a:t>процес</a:t>
            </a:r>
            <a:r>
              <a:rPr lang="ru-RU" sz="2200" dirty="0"/>
              <a:t> </a:t>
            </a:r>
            <a:r>
              <a:rPr lang="ru-RU" sz="2200" dirty="0" err="1"/>
              <a:t>розробки</a:t>
            </a:r>
            <a:r>
              <a:rPr lang="ru-RU" sz="2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3205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Переваги та недоліки </a:t>
            </a:r>
            <a:r>
              <a:rPr lang="uk-UA" dirty="0" err="1"/>
              <a:t>мікросервісної</a:t>
            </a:r>
            <a:r>
              <a:rPr lang="uk-UA" dirty="0"/>
              <a:t> архітектури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:</a:t>
            </a:r>
          </a:p>
          <a:p>
            <a:r>
              <a:rPr lang="ru-RU" b="1" dirty="0" err="1"/>
              <a:t>Масштабованість</a:t>
            </a:r>
            <a:r>
              <a:rPr lang="ru-RU" dirty="0"/>
              <a:t>: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масштабувати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ефективніше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ресурси</a:t>
            </a:r>
            <a:r>
              <a:rPr lang="ru-RU" dirty="0"/>
              <a:t>.</a:t>
            </a:r>
          </a:p>
          <a:p>
            <a:r>
              <a:rPr lang="ru-RU" b="1" dirty="0" err="1"/>
              <a:t>Надійність</a:t>
            </a:r>
            <a:r>
              <a:rPr lang="ru-RU" dirty="0"/>
              <a:t>: </a:t>
            </a:r>
            <a:r>
              <a:rPr lang="ru-RU" dirty="0" err="1"/>
              <a:t>Збої</a:t>
            </a:r>
            <a:r>
              <a:rPr lang="ru-RU" dirty="0"/>
              <a:t> в одному </a:t>
            </a:r>
            <a:r>
              <a:rPr lang="ru-RU" dirty="0" err="1"/>
              <a:t>сервісі</a:t>
            </a:r>
            <a:r>
              <a:rPr lang="ru-RU" dirty="0"/>
              <a:t> не </a:t>
            </a:r>
            <a:r>
              <a:rPr lang="ru-RU" dirty="0" err="1"/>
              <a:t>впливають</a:t>
            </a:r>
            <a:r>
              <a:rPr lang="ru-RU" dirty="0"/>
              <a:t> на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,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чому</a:t>
            </a:r>
            <a:r>
              <a:rPr lang="ru-RU" dirty="0"/>
              <a:t> система </a:t>
            </a:r>
            <a:r>
              <a:rPr lang="ru-RU" dirty="0" err="1"/>
              <a:t>загалом</a:t>
            </a:r>
            <a:r>
              <a:rPr lang="ru-RU" dirty="0"/>
              <a:t> </a:t>
            </a:r>
            <a:r>
              <a:rPr lang="ru-RU" dirty="0" err="1"/>
              <a:t>працює</a:t>
            </a:r>
            <a:r>
              <a:rPr lang="ru-RU" dirty="0"/>
              <a:t> </a:t>
            </a:r>
            <a:r>
              <a:rPr lang="ru-RU" dirty="0" err="1"/>
              <a:t>стабільніше</a:t>
            </a:r>
            <a:r>
              <a:rPr lang="ru-RU" dirty="0"/>
              <a:t>.</a:t>
            </a:r>
          </a:p>
          <a:p>
            <a:r>
              <a:rPr lang="ru-RU" b="1" dirty="0" err="1"/>
              <a:t>Гнучкість</a:t>
            </a:r>
            <a:r>
              <a:rPr lang="ru-RU" b="1" dirty="0"/>
              <a:t> в </a:t>
            </a:r>
            <a:r>
              <a:rPr lang="ru-RU" b="1" dirty="0" err="1"/>
              <a:t>розробці</a:t>
            </a:r>
            <a:r>
              <a:rPr lang="ru-RU" dirty="0"/>
              <a:t>: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реалізований</a:t>
            </a:r>
            <a:r>
              <a:rPr lang="ru-RU" dirty="0"/>
              <a:t> на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мовах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на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технологіях</a:t>
            </a:r>
            <a:r>
              <a:rPr lang="ru-RU" dirty="0"/>
              <a:t>.</a:t>
            </a:r>
          </a:p>
          <a:p>
            <a:r>
              <a:rPr lang="ru-RU" b="1" dirty="0"/>
              <a:t>Простота </a:t>
            </a:r>
            <a:r>
              <a:rPr lang="ru-RU" b="1" dirty="0" err="1"/>
              <a:t>оновлення</a:t>
            </a:r>
            <a:r>
              <a:rPr lang="ru-RU" dirty="0"/>
              <a:t>: </a:t>
            </a:r>
            <a:r>
              <a:rPr lang="ru-RU" dirty="0" err="1"/>
              <a:t>Мікросервіси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оновлювати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, без </a:t>
            </a:r>
            <a:r>
              <a:rPr lang="ru-RU" dirty="0" err="1"/>
              <a:t>необхідності</a:t>
            </a:r>
            <a:r>
              <a:rPr lang="ru-RU" dirty="0"/>
              <a:t> </a:t>
            </a:r>
            <a:r>
              <a:rPr lang="ru-RU" dirty="0" err="1"/>
              <a:t>зупинки</a:t>
            </a:r>
            <a:r>
              <a:rPr lang="ru-RU" dirty="0"/>
              <a:t>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Підвищена</a:t>
            </a:r>
            <a:r>
              <a:rPr lang="ru-RU" b="1" dirty="0"/>
              <a:t> </a:t>
            </a:r>
            <a:r>
              <a:rPr lang="ru-RU" b="1" dirty="0" err="1"/>
              <a:t>продуктивність</a:t>
            </a:r>
            <a:r>
              <a:rPr lang="ru-RU" b="1" dirty="0"/>
              <a:t> команд</a:t>
            </a:r>
            <a:r>
              <a:rPr lang="ru-RU" dirty="0"/>
              <a:t>: </a:t>
            </a:r>
            <a:r>
              <a:rPr lang="ru-RU" dirty="0" err="1"/>
              <a:t>Кожна</a:t>
            </a:r>
            <a:r>
              <a:rPr lang="ru-RU" dirty="0"/>
              <a:t> команда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автономно над </a:t>
            </a:r>
            <a:r>
              <a:rPr lang="ru-RU" dirty="0" err="1"/>
              <a:t>своїм</a:t>
            </a:r>
            <a:r>
              <a:rPr lang="ru-RU" dirty="0"/>
              <a:t> </a:t>
            </a:r>
            <a:r>
              <a:rPr lang="ru-RU" dirty="0" err="1"/>
              <a:t>сервісом</a:t>
            </a:r>
            <a:r>
              <a:rPr lang="ru-RU" dirty="0"/>
              <a:t>, не </a:t>
            </a:r>
            <a:r>
              <a:rPr lang="ru-RU" dirty="0" err="1"/>
              <a:t>заважаючи</a:t>
            </a:r>
            <a:r>
              <a:rPr lang="ru-RU" dirty="0"/>
              <a:t> </a:t>
            </a:r>
            <a:r>
              <a:rPr lang="ru-RU" dirty="0" err="1"/>
              <a:t>іншим</a:t>
            </a:r>
            <a:r>
              <a:rPr lang="ru-RU" dirty="0"/>
              <a:t> командам.</a:t>
            </a:r>
          </a:p>
          <a:p>
            <a:r>
              <a:rPr lang="ru-RU" b="1" dirty="0" err="1"/>
              <a:t>Недоліки</a:t>
            </a:r>
            <a:r>
              <a:rPr lang="ru-RU" b="1" dirty="0"/>
              <a:t>:</a:t>
            </a:r>
          </a:p>
          <a:p>
            <a:r>
              <a:rPr lang="ru-RU" b="1" dirty="0" err="1"/>
              <a:t>Складність</a:t>
            </a:r>
            <a:r>
              <a:rPr lang="ru-RU" b="1" dirty="0"/>
              <a:t> у </a:t>
            </a:r>
            <a:r>
              <a:rPr lang="ru-RU" b="1" dirty="0" err="1"/>
              <a:t>координації</a:t>
            </a:r>
            <a:r>
              <a:rPr lang="ru-RU" dirty="0"/>
              <a:t>: </a:t>
            </a:r>
            <a:r>
              <a:rPr lang="ru-RU" dirty="0" err="1"/>
              <a:t>Мікросервіси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складнощі</a:t>
            </a:r>
            <a:r>
              <a:rPr lang="ru-RU" dirty="0"/>
              <a:t> з </a:t>
            </a:r>
            <a:r>
              <a:rPr lang="ru-RU" dirty="0" err="1"/>
              <a:t>управлінням</a:t>
            </a:r>
            <a:r>
              <a:rPr lang="ru-RU" dirty="0"/>
              <a:t> </a:t>
            </a:r>
            <a:r>
              <a:rPr lang="ru-RU" dirty="0" err="1"/>
              <a:t>залежностями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.</a:t>
            </a:r>
          </a:p>
          <a:p>
            <a:r>
              <a:rPr lang="ru-RU" b="1" dirty="0" err="1"/>
              <a:t>Розподіленість</a:t>
            </a:r>
            <a:r>
              <a:rPr lang="ru-RU" dirty="0"/>
              <a:t>: Система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належного</a:t>
            </a:r>
            <a:r>
              <a:rPr lang="ru-RU" dirty="0"/>
              <a:t>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розподіленими</a:t>
            </a:r>
            <a:r>
              <a:rPr lang="ru-RU" dirty="0"/>
              <a:t> </a:t>
            </a:r>
            <a:r>
              <a:rPr lang="ru-RU" dirty="0" err="1"/>
              <a:t>транзакціями</a:t>
            </a:r>
            <a:r>
              <a:rPr lang="ru-RU" dirty="0"/>
              <a:t> та </a:t>
            </a:r>
            <a:r>
              <a:rPr lang="ru-RU" dirty="0" err="1"/>
              <a:t>викликами</a:t>
            </a:r>
            <a:r>
              <a:rPr lang="ru-RU" dirty="0"/>
              <a:t>.</a:t>
            </a:r>
          </a:p>
          <a:p>
            <a:r>
              <a:rPr lang="ru-RU" b="1" dirty="0" err="1"/>
              <a:t>Ускладнене</a:t>
            </a:r>
            <a:r>
              <a:rPr lang="ru-RU" b="1" dirty="0"/>
              <a:t> </a:t>
            </a:r>
            <a:r>
              <a:rPr lang="ru-RU" b="1" dirty="0" err="1"/>
              <a:t>тестування</a:t>
            </a:r>
            <a:r>
              <a:rPr lang="ru-RU" dirty="0"/>
              <a:t>: </a:t>
            </a:r>
            <a:r>
              <a:rPr lang="ru-RU" dirty="0" err="1"/>
              <a:t>Тестування</a:t>
            </a:r>
            <a:r>
              <a:rPr lang="ru-RU" dirty="0"/>
              <a:t>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мікросервісами</a:t>
            </a:r>
            <a:r>
              <a:rPr lang="ru-RU" dirty="0"/>
              <a:t>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значно</a:t>
            </a:r>
            <a:r>
              <a:rPr lang="ru-RU" dirty="0"/>
              <a:t> </a:t>
            </a:r>
            <a:r>
              <a:rPr lang="ru-RU" dirty="0" err="1"/>
              <a:t>більше</a:t>
            </a:r>
            <a:r>
              <a:rPr lang="ru-RU" dirty="0"/>
              <a:t> </a:t>
            </a:r>
            <a:r>
              <a:rPr lang="ru-RU" dirty="0" err="1"/>
              <a:t>зусиль</a:t>
            </a:r>
            <a:r>
              <a:rPr lang="ru-RU" dirty="0"/>
              <a:t> </a:t>
            </a:r>
            <a:r>
              <a:rPr lang="ru-RU" dirty="0" err="1"/>
              <a:t>порівняно</a:t>
            </a:r>
            <a:r>
              <a:rPr lang="ru-RU" dirty="0"/>
              <a:t> з </a:t>
            </a:r>
            <a:r>
              <a:rPr lang="ru-RU" dirty="0" err="1"/>
              <a:t>монолітною</a:t>
            </a:r>
            <a:r>
              <a:rPr lang="ru-RU" dirty="0"/>
              <a:t> </a:t>
            </a:r>
            <a:r>
              <a:rPr lang="ru-RU" dirty="0" err="1"/>
              <a:t>архітектурою</a:t>
            </a:r>
            <a:r>
              <a:rPr lang="ru-RU" dirty="0"/>
              <a:t>.</a:t>
            </a:r>
          </a:p>
          <a:p>
            <a:r>
              <a:rPr lang="ru-RU" b="1" dirty="0" err="1"/>
              <a:t>Мережеві</a:t>
            </a:r>
            <a:r>
              <a:rPr lang="ru-RU" b="1" dirty="0"/>
              <a:t> </a:t>
            </a:r>
            <a:r>
              <a:rPr lang="ru-RU" b="1" dirty="0" err="1"/>
              <a:t>витрати</a:t>
            </a:r>
            <a:r>
              <a:rPr lang="ru-RU" dirty="0"/>
              <a:t>: </a:t>
            </a:r>
            <a:r>
              <a:rPr lang="ru-RU" dirty="0" err="1"/>
              <a:t>Часті</a:t>
            </a:r>
            <a:r>
              <a:rPr lang="ru-RU" dirty="0"/>
              <a:t> </a:t>
            </a:r>
            <a:r>
              <a:rPr lang="ru-RU" dirty="0" err="1"/>
              <a:t>запити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додаткове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 на мережу.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73817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Приклади</a:t>
            </a:r>
            <a:r>
              <a:rPr lang="ru-RU" b="1" dirty="0"/>
              <a:t> систем з </a:t>
            </a:r>
            <a:r>
              <a:rPr lang="ru-RU" b="1" dirty="0" err="1"/>
              <a:t>мікросервісною</a:t>
            </a:r>
            <a:r>
              <a:rPr lang="ru-RU" b="1" dirty="0"/>
              <a:t> </a:t>
            </a:r>
            <a:r>
              <a:rPr lang="ru-RU" b="1" dirty="0" err="1"/>
              <a:t>архітектурою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65700"/>
          </a:xfrm>
        </p:spPr>
        <p:txBody>
          <a:bodyPr>
            <a:noAutofit/>
          </a:bodyPr>
          <a:lstStyle/>
          <a:p>
            <a:r>
              <a:rPr lang="en-US" sz="2300" b="1" dirty="0"/>
              <a:t>Netflix</a:t>
            </a:r>
            <a:r>
              <a:rPr lang="en-US" sz="2300" dirty="0"/>
              <a:t>: </a:t>
            </a:r>
            <a:r>
              <a:rPr lang="ru-RU" sz="2300" dirty="0"/>
              <a:t>Система потокового </a:t>
            </a:r>
            <a:r>
              <a:rPr lang="ru-RU" sz="2300" dirty="0" err="1"/>
              <a:t>відео</a:t>
            </a:r>
            <a:r>
              <a:rPr lang="ru-RU" sz="2300" dirty="0"/>
              <a:t>, де </a:t>
            </a:r>
            <a:r>
              <a:rPr lang="ru-RU" sz="2300" dirty="0" err="1"/>
              <a:t>різні</a:t>
            </a:r>
            <a:r>
              <a:rPr lang="ru-RU" sz="2300" dirty="0"/>
              <a:t> </a:t>
            </a:r>
            <a:r>
              <a:rPr lang="ru-RU" sz="2300" dirty="0" err="1"/>
              <a:t>мікросервіси</a:t>
            </a:r>
            <a:r>
              <a:rPr lang="ru-RU" sz="2300" dirty="0"/>
              <a:t> </a:t>
            </a:r>
            <a:r>
              <a:rPr lang="ru-RU" sz="2300" dirty="0" err="1"/>
              <a:t>відповідають</a:t>
            </a:r>
            <a:r>
              <a:rPr lang="ru-RU" sz="2300" dirty="0"/>
              <a:t> за </a:t>
            </a:r>
            <a:r>
              <a:rPr lang="ru-RU" sz="2300" dirty="0" err="1"/>
              <a:t>відтворення</a:t>
            </a:r>
            <a:r>
              <a:rPr lang="ru-RU" sz="2300" dirty="0"/>
              <a:t> </a:t>
            </a:r>
            <a:r>
              <a:rPr lang="ru-RU" sz="2300" dirty="0" err="1"/>
              <a:t>відео</a:t>
            </a:r>
            <a:r>
              <a:rPr lang="ru-RU" sz="2300" dirty="0"/>
              <a:t>, </a:t>
            </a:r>
            <a:r>
              <a:rPr lang="ru-RU" sz="2300" dirty="0" err="1"/>
              <a:t>обробку</a:t>
            </a:r>
            <a:r>
              <a:rPr lang="ru-RU" sz="2300" dirty="0"/>
              <a:t> </a:t>
            </a:r>
            <a:r>
              <a:rPr lang="ru-RU" sz="2300" dirty="0" err="1"/>
              <a:t>підписок</a:t>
            </a:r>
            <a:r>
              <a:rPr lang="ru-RU" sz="2300" dirty="0"/>
              <a:t>, </a:t>
            </a:r>
            <a:r>
              <a:rPr lang="ru-RU" sz="2300" dirty="0" err="1"/>
              <a:t>рекомендації</a:t>
            </a:r>
            <a:r>
              <a:rPr lang="ru-RU" sz="2300" dirty="0"/>
              <a:t> та </a:t>
            </a:r>
            <a:r>
              <a:rPr lang="ru-RU" sz="2300" dirty="0" err="1"/>
              <a:t>персоналізацію</a:t>
            </a:r>
            <a:r>
              <a:rPr lang="ru-RU" sz="2300" dirty="0"/>
              <a:t>.</a:t>
            </a:r>
          </a:p>
          <a:p>
            <a:r>
              <a:rPr lang="en-US" sz="2300" b="1" dirty="0"/>
              <a:t>Amazon</a:t>
            </a:r>
            <a:r>
              <a:rPr lang="en-US" sz="2300" dirty="0"/>
              <a:t>: </a:t>
            </a:r>
            <a:r>
              <a:rPr lang="ru-RU" sz="2300" dirty="0" err="1"/>
              <a:t>Величезна</a:t>
            </a:r>
            <a:r>
              <a:rPr lang="ru-RU" sz="2300" dirty="0"/>
              <a:t> платформа </a:t>
            </a:r>
            <a:r>
              <a:rPr lang="ru-RU" sz="2300" dirty="0" err="1"/>
              <a:t>електронної</a:t>
            </a:r>
            <a:r>
              <a:rPr lang="ru-RU" sz="2300" dirty="0"/>
              <a:t> </a:t>
            </a:r>
            <a:r>
              <a:rPr lang="ru-RU" sz="2300" dirty="0" err="1"/>
              <a:t>комерції</a:t>
            </a:r>
            <a:r>
              <a:rPr lang="ru-RU" sz="2300" dirty="0"/>
              <a:t> з </a:t>
            </a:r>
            <a:r>
              <a:rPr lang="ru-RU" sz="2300" dirty="0" err="1"/>
              <a:t>мікросервісною</a:t>
            </a:r>
            <a:r>
              <a:rPr lang="ru-RU" sz="2300" dirty="0"/>
              <a:t> </a:t>
            </a:r>
            <a:r>
              <a:rPr lang="ru-RU" sz="2300" dirty="0" err="1"/>
              <a:t>архітектурою</a:t>
            </a:r>
            <a:r>
              <a:rPr lang="ru-RU" sz="2300" dirty="0"/>
              <a:t>, яка </a:t>
            </a:r>
            <a:r>
              <a:rPr lang="ru-RU" sz="2300" dirty="0" err="1"/>
              <a:t>дозволяє</a:t>
            </a:r>
            <a:r>
              <a:rPr lang="ru-RU" sz="2300" dirty="0"/>
              <a:t> </a:t>
            </a:r>
            <a:r>
              <a:rPr lang="ru-RU" sz="2300" dirty="0" err="1"/>
              <a:t>обробляти</a:t>
            </a:r>
            <a:r>
              <a:rPr lang="ru-RU" sz="2300" dirty="0"/>
              <a:t> </a:t>
            </a:r>
            <a:r>
              <a:rPr lang="ru-RU" sz="2300" dirty="0" err="1"/>
              <a:t>різні</a:t>
            </a:r>
            <a:r>
              <a:rPr lang="ru-RU" sz="2300" dirty="0"/>
              <a:t> </a:t>
            </a:r>
            <a:r>
              <a:rPr lang="ru-RU" sz="2300" dirty="0" err="1"/>
              <a:t>частини</a:t>
            </a:r>
            <a:r>
              <a:rPr lang="ru-RU" sz="2300" dirty="0"/>
              <a:t> </a:t>
            </a:r>
            <a:r>
              <a:rPr lang="ru-RU" sz="2300" dirty="0" err="1"/>
              <a:t>системи</a:t>
            </a:r>
            <a:r>
              <a:rPr lang="ru-RU" sz="2300" dirty="0"/>
              <a:t> (</a:t>
            </a:r>
            <a:r>
              <a:rPr lang="ru-RU" sz="2300" dirty="0" err="1"/>
              <a:t>замовлення</a:t>
            </a:r>
            <a:r>
              <a:rPr lang="ru-RU" sz="2300" dirty="0"/>
              <a:t>, оплати, </a:t>
            </a:r>
            <a:r>
              <a:rPr lang="ru-RU" sz="2300" dirty="0" err="1"/>
              <a:t>управління</a:t>
            </a:r>
            <a:r>
              <a:rPr lang="ru-RU" sz="2300" dirty="0"/>
              <a:t> запасами) </a:t>
            </a:r>
            <a:r>
              <a:rPr lang="ru-RU" sz="2300" dirty="0" err="1"/>
              <a:t>незалежно</a:t>
            </a:r>
            <a:r>
              <a:rPr lang="ru-RU" sz="2300" dirty="0"/>
              <a:t>.</a:t>
            </a:r>
          </a:p>
          <a:p>
            <a:r>
              <a:rPr lang="en-US" sz="2300" b="1" dirty="0" err="1"/>
              <a:t>Uber</a:t>
            </a:r>
            <a:r>
              <a:rPr lang="en-US" sz="2300" dirty="0"/>
              <a:t>: </a:t>
            </a:r>
            <a:r>
              <a:rPr lang="ru-RU" sz="2300" dirty="0"/>
              <a:t>Платформа для </a:t>
            </a:r>
            <a:r>
              <a:rPr lang="ru-RU" sz="2300" dirty="0" err="1"/>
              <a:t>таксі</a:t>
            </a:r>
            <a:r>
              <a:rPr lang="ru-RU" sz="2300" dirty="0"/>
              <a:t>, де </a:t>
            </a:r>
            <a:r>
              <a:rPr lang="ru-RU" sz="2300" dirty="0" err="1"/>
              <a:t>кожен</a:t>
            </a:r>
            <a:r>
              <a:rPr lang="ru-RU" sz="2300" dirty="0"/>
              <a:t> </a:t>
            </a:r>
            <a:r>
              <a:rPr lang="ru-RU" sz="2300" dirty="0" err="1"/>
              <a:t>сервіс</a:t>
            </a:r>
            <a:r>
              <a:rPr lang="ru-RU" sz="2300" dirty="0"/>
              <a:t> </a:t>
            </a:r>
            <a:r>
              <a:rPr lang="ru-RU" sz="2300" dirty="0" err="1"/>
              <a:t>відповідає</a:t>
            </a:r>
            <a:r>
              <a:rPr lang="ru-RU" sz="2300" dirty="0"/>
              <a:t> за </a:t>
            </a:r>
            <a:r>
              <a:rPr lang="ru-RU" sz="2300" dirty="0" err="1"/>
              <a:t>окрему</a:t>
            </a:r>
            <a:r>
              <a:rPr lang="ru-RU" sz="2300" dirty="0"/>
              <a:t> </a:t>
            </a:r>
            <a:r>
              <a:rPr lang="ru-RU" sz="2300" dirty="0" err="1"/>
              <a:t>функцію</a:t>
            </a:r>
            <a:r>
              <a:rPr lang="ru-RU" sz="2300" dirty="0"/>
              <a:t> — </a:t>
            </a:r>
            <a:r>
              <a:rPr lang="ru-RU" sz="2300" dirty="0" err="1"/>
              <a:t>замовлення</a:t>
            </a:r>
            <a:r>
              <a:rPr lang="ru-RU" sz="2300" dirty="0"/>
              <a:t> </a:t>
            </a:r>
            <a:r>
              <a:rPr lang="ru-RU" sz="2300" dirty="0" err="1"/>
              <a:t>автомобіля</a:t>
            </a:r>
            <a:r>
              <a:rPr lang="ru-RU" sz="2300" dirty="0"/>
              <a:t>, </a:t>
            </a:r>
            <a:r>
              <a:rPr lang="ru-RU" sz="2300" dirty="0" err="1"/>
              <a:t>розрахунок</a:t>
            </a:r>
            <a:r>
              <a:rPr lang="ru-RU" sz="2300" dirty="0"/>
              <a:t> </a:t>
            </a:r>
            <a:r>
              <a:rPr lang="ru-RU" sz="2300" dirty="0" err="1"/>
              <a:t>вартості</a:t>
            </a:r>
            <a:r>
              <a:rPr lang="ru-RU" sz="2300" dirty="0"/>
              <a:t>, </a:t>
            </a:r>
            <a:r>
              <a:rPr lang="ru-RU" sz="2300" dirty="0" err="1"/>
              <a:t>маршрутизація</a:t>
            </a:r>
            <a:r>
              <a:rPr lang="ru-RU" sz="2300" dirty="0"/>
              <a:t>, </a:t>
            </a:r>
            <a:r>
              <a:rPr lang="ru-RU" sz="2300" dirty="0" err="1"/>
              <a:t>повідомлення</a:t>
            </a:r>
            <a:r>
              <a:rPr lang="ru-RU" sz="2300" dirty="0"/>
              <a:t> </a:t>
            </a:r>
            <a:r>
              <a:rPr lang="ru-RU" sz="2300" dirty="0" err="1"/>
              <a:t>водіїв</a:t>
            </a:r>
            <a:r>
              <a:rPr lang="ru-RU" sz="2300" dirty="0"/>
              <a:t> і т.д.</a:t>
            </a:r>
          </a:p>
          <a:p>
            <a:pPr marL="0" indent="0">
              <a:buNone/>
            </a:pPr>
            <a:r>
              <a:rPr lang="ru-RU" sz="2300" dirty="0" err="1"/>
              <a:t>Мікросервісна</a:t>
            </a:r>
            <a:r>
              <a:rPr lang="ru-RU" sz="2300" dirty="0"/>
              <a:t> </a:t>
            </a:r>
            <a:r>
              <a:rPr lang="ru-RU" sz="2300" dirty="0" err="1"/>
              <a:t>архітектура</a:t>
            </a:r>
            <a:r>
              <a:rPr lang="ru-RU" sz="2300" dirty="0"/>
              <a:t> </a:t>
            </a:r>
            <a:r>
              <a:rPr lang="ru-RU" sz="2300" dirty="0" err="1"/>
              <a:t>ідеально</a:t>
            </a:r>
            <a:r>
              <a:rPr lang="ru-RU" sz="2300" dirty="0"/>
              <a:t> </a:t>
            </a:r>
            <a:r>
              <a:rPr lang="ru-RU" sz="2300" dirty="0" err="1"/>
              <a:t>підходить</a:t>
            </a:r>
            <a:r>
              <a:rPr lang="ru-RU" sz="2300" dirty="0"/>
              <a:t> для великих і </a:t>
            </a:r>
            <a:r>
              <a:rPr lang="ru-RU" sz="2300" dirty="0" err="1"/>
              <a:t>складних</a:t>
            </a:r>
            <a:r>
              <a:rPr lang="ru-RU" sz="2300" dirty="0"/>
              <a:t> систем, де </a:t>
            </a:r>
            <a:r>
              <a:rPr lang="ru-RU" sz="2300" dirty="0" err="1"/>
              <a:t>потрібна</a:t>
            </a:r>
            <a:r>
              <a:rPr lang="ru-RU" sz="2300" dirty="0"/>
              <a:t> </a:t>
            </a:r>
            <a:r>
              <a:rPr lang="ru-RU" sz="2300" dirty="0" err="1"/>
              <a:t>висока</a:t>
            </a:r>
            <a:r>
              <a:rPr lang="ru-RU" sz="2300" dirty="0"/>
              <a:t> </a:t>
            </a:r>
            <a:r>
              <a:rPr lang="ru-RU" sz="2300" dirty="0" err="1"/>
              <a:t>гнучкість</a:t>
            </a:r>
            <a:r>
              <a:rPr lang="ru-RU" sz="2300" dirty="0"/>
              <a:t> і </a:t>
            </a:r>
            <a:r>
              <a:rPr lang="ru-RU" sz="2300" dirty="0" err="1"/>
              <a:t>масштабованість</a:t>
            </a:r>
            <a:r>
              <a:rPr lang="ru-RU" sz="23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90703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Сервіс-орієнтована</a:t>
            </a:r>
            <a:r>
              <a:rPr lang="ru-RU" b="1" dirty="0"/>
              <a:t> </a:t>
            </a:r>
            <a:r>
              <a:rPr lang="ru-RU" b="1" dirty="0" err="1"/>
              <a:t>архітектура</a:t>
            </a:r>
            <a:r>
              <a:rPr lang="ru-RU" b="1" dirty="0"/>
              <a:t> (</a:t>
            </a:r>
            <a:r>
              <a:rPr lang="en-US" b="1" dirty="0"/>
              <a:t>SOA)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архітектурний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до </a:t>
            </a:r>
            <a:r>
              <a:rPr lang="ru-RU" dirty="0" err="1"/>
              <a:t>побудови</a:t>
            </a:r>
            <a:r>
              <a:rPr lang="ru-RU" dirty="0"/>
              <a:t> </a:t>
            </a:r>
            <a:r>
              <a:rPr lang="ru-RU" dirty="0" err="1"/>
              <a:t>програмних</a:t>
            </a:r>
            <a:r>
              <a:rPr lang="ru-RU" dirty="0"/>
              <a:t> систем, у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надають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у </a:t>
            </a:r>
            <a:r>
              <a:rPr lang="ru-RU" dirty="0" err="1"/>
              <a:t>вигляді</a:t>
            </a:r>
            <a:r>
              <a:rPr lang="ru-RU" dirty="0"/>
              <a:t> </a:t>
            </a:r>
            <a:r>
              <a:rPr lang="ru-RU" dirty="0" err="1"/>
              <a:t>незалежних</a:t>
            </a:r>
            <a:r>
              <a:rPr lang="ru-RU" dirty="0"/>
              <a:t> </a:t>
            </a:r>
            <a:r>
              <a:rPr lang="ru-RU" dirty="0" err="1"/>
              <a:t>сервісів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взаємодіють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 через </a:t>
            </a:r>
            <a:r>
              <a:rPr lang="ru-RU" dirty="0" err="1"/>
              <a:t>стандартизовані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та </a:t>
            </a:r>
            <a:r>
              <a:rPr lang="ru-RU" dirty="0" err="1"/>
              <a:t>протоколи</a:t>
            </a:r>
            <a:r>
              <a:rPr lang="ru-RU" dirty="0"/>
              <a:t>, </a:t>
            </a:r>
            <a:r>
              <a:rPr lang="ru-RU" dirty="0" err="1"/>
              <a:t>зазвичай</a:t>
            </a:r>
            <a:r>
              <a:rPr lang="ru-RU" dirty="0"/>
              <a:t> через мережу.</a:t>
            </a:r>
          </a:p>
          <a:p>
            <a:r>
              <a:rPr lang="ru-RU" dirty="0" err="1"/>
              <a:t>Основна</a:t>
            </a:r>
            <a:r>
              <a:rPr lang="ru-RU" dirty="0"/>
              <a:t> </a:t>
            </a:r>
            <a:r>
              <a:rPr lang="ru-RU" dirty="0" err="1"/>
              <a:t>ідея</a:t>
            </a:r>
            <a:r>
              <a:rPr lang="ru-RU" dirty="0"/>
              <a:t> </a:t>
            </a:r>
            <a:r>
              <a:rPr lang="en-US" dirty="0"/>
              <a:t>SOA —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сервісів</a:t>
            </a:r>
            <a:r>
              <a:rPr lang="ru-RU" dirty="0"/>
              <a:t>, </a:t>
            </a:r>
            <a:r>
              <a:rPr lang="ru-RU" dirty="0" err="1"/>
              <a:t>кожен</a:t>
            </a:r>
            <a:r>
              <a:rPr lang="ru-RU" dirty="0"/>
              <a:t> з </a:t>
            </a:r>
            <a:r>
              <a:rPr lang="ru-RU" dirty="0" err="1"/>
              <a:t>яких</a:t>
            </a:r>
            <a:r>
              <a:rPr lang="ru-RU" dirty="0"/>
              <a:t> </a:t>
            </a:r>
            <a:r>
              <a:rPr lang="ru-RU" dirty="0" err="1"/>
              <a:t>виконує</a:t>
            </a:r>
            <a:r>
              <a:rPr lang="ru-RU" dirty="0"/>
              <a:t> </a:t>
            </a:r>
            <a:r>
              <a:rPr lang="ru-RU" dirty="0" err="1"/>
              <a:t>окрему</a:t>
            </a:r>
            <a:r>
              <a:rPr lang="ru-RU" dirty="0"/>
              <a:t> </a:t>
            </a:r>
            <a:r>
              <a:rPr lang="ru-RU" dirty="0" err="1"/>
              <a:t>бізнес-функцію</a:t>
            </a:r>
            <a:r>
              <a:rPr lang="ru-RU" dirty="0"/>
              <a:t>, і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повторно </a:t>
            </a:r>
            <a:r>
              <a:rPr lang="ru-RU" dirty="0" err="1"/>
              <a:t>використовуватися</a:t>
            </a:r>
            <a:r>
              <a:rPr lang="ru-RU" dirty="0"/>
              <a:t> у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додатках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модулях.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989798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Объект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30300" y="639764"/>
            <a:ext cx="7315199" cy="5486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2496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Основні</a:t>
            </a:r>
            <a:r>
              <a:rPr lang="ru-RU" b="1" dirty="0"/>
              <a:t> характеристики </a:t>
            </a:r>
            <a:r>
              <a:rPr lang="ru-RU" b="1" dirty="0" err="1"/>
              <a:t>сервіс-орієнтованої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err="1"/>
              <a:t>Сервіси</a:t>
            </a:r>
            <a:r>
              <a:rPr lang="ru-RU" b="1" dirty="0"/>
              <a:t> як </a:t>
            </a:r>
            <a:r>
              <a:rPr lang="ru-RU" b="1" dirty="0" err="1"/>
              <a:t>самостійні</a:t>
            </a:r>
            <a:r>
              <a:rPr lang="ru-RU" b="1" dirty="0"/>
              <a:t> </a:t>
            </a:r>
            <a:r>
              <a:rPr lang="ru-RU" b="1" dirty="0" err="1"/>
              <a:t>компоненти</a:t>
            </a:r>
            <a:r>
              <a:rPr lang="ru-RU" dirty="0"/>
              <a:t>: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виконує</a:t>
            </a:r>
            <a:r>
              <a:rPr lang="ru-RU" dirty="0"/>
              <a:t> </a:t>
            </a:r>
            <a:r>
              <a:rPr lang="ru-RU" dirty="0" err="1"/>
              <a:t>певну</a:t>
            </a:r>
            <a:r>
              <a:rPr lang="ru-RU" dirty="0"/>
              <a:t> </a:t>
            </a:r>
            <a:r>
              <a:rPr lang="ru-RU" dirty="0" err="1"/>
              <a:t>бізнес-функцію</a:t>
            </a:r>
            <a:r>
              <a:rPr lang="ru-RU" dirty="0"/>
              <a:t> і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викликаний</a:t>
            </a:r>
            <a:r>
              <a:rPr lang="ru-RU" dirty="0"/>
              <a:t> </a:t>
            </a:r>
            <a:r>
              <a:rPr lang="ru-RU" dirty="0" err="1"/>
              <a:t>іншими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програмами</a:t>
            </a:r>
            <a:r>
              <a:rPr lang="ru-RU" dirty="0"/>
              <a:t> через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визначені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через </a:t>
            </a:r>
            <a:r>
              <a:rPr lang="ru-RU" dirty="0" err="1"/>
              <a:t>протоколи</a:t>
            </a:r>
            <a:r>
              <a:rPr lang="ru-RU" dirty="0"/>
              <a:t> </a:t>
            </a:r>
            <a:r>
              <a:rPr lang="en-US" dirty="0"/>
              <a:t>SOAP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en-US" dirty="0"/>
              <a:t>REST).</a:t>
            </a:r>
          </a:p>
          <a:p>
            <a:r>
              <a:rPr lang="ru-RU" b="1" dirty="0" err="1"/>
              <a:t>Інтероперабельність</a:t>
            </a:r>
            <a:r>
              <a:rPr lang="ru-RU" dirty="0"/>
              <a:t>: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розроблені</a:t>
            </a:r>
            <a:r>
              <a:rPr lang="ru-RU" dirty="0"/>
              <a:t> на </a:t>
            </a:r>
            <a:r>
              <a:rPr lang="ru-RU" dirty="0" err="1"/>
              <a:t>різних</a:t>
            </a:r>
            <a:r>
              <a:rPr lang="ru-RU" dirty="0"/>
              <a:t> платформах і </a:t>
            </a:r>
            <a:r>
              <a:rPr lang="ru-RU" dirty="0" err="1"/>
              <a:t>мовах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, але </a:t>
            </a:r>
            <a:r>
              <a:rPr lang="ru-RU" dirty="0" err="1"/>
              <a:t>взаємодіють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стандартизованих</a:t>
            </a:r>
            <a:r>
              <a:rPr lang="ru-RU" dirty="0"/>
              <a:t> </a:t>
            </a:r>
            <a:r>
              <a:rPr lang="ru-RU" dirty="0" err="1"/>
              <a:t>протоколів</a:t>
            </a:r>
            <a:r>
              <a:rPr lang="ru-RU" dirty="0"/>
              <a:t>.</a:t>
            </a:r>
          </a:p>
          <a:p>
            <a:r>
              <a:rPr lang="ru-RU" b="1" dirty="0" err="1"/>
              <a:t>Повторне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ru-RU" b="1" dirty="0" err="1"/>
              <a:t>сервісів</a:t>
            </a:r>
            <a:r>
              <a:rPr lang="ru-RU" dirty="0"/>
              <a:t>: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використовуватися</a:t>
            </a:r>
            <a:r>
              <a:rPr lang="ru-RU" dirty="0"/>
              <a:t> не </a:t>
            </a:r>
            <a:r>
              <a:rPr lang="ru-RU" dirty="0" err="1"/>
              <a:t>тільки</a:t>
            </a:r>
            <a:r>
              <a:rPr lang="ru-RU" dirty="0"/>
              <a:t> в одному </a:t>
            </a:r>
            <a:r>
              <a:rPr lang="ru-RU" dirty="0" err="1"/>
              <a:t>додатку</a:t>
            </a:r>
            <a:r>
              <a:rPr lang="ru-RU" dirty="0"/>
              <a:t>, а й у </a:t>
            </a:r>
            <a:r>
              <a:rPr lang="ru-RU" dirty="0" err="1"/>
              <a:t>багатьох</a:t>
            </a:r>
            <a:r>
              <a:rPr lang="ru-RU" dirty="0"/>
              <a:t> </a:t>
            </a:r>
            <a:r>
              <a:rPr lang="ru-RU" dirty="0" err="1"/>
              <a:t>інших</a:t>
            </a:r>
            <a:r>
              <a:rPr lang="ru-RU" dirty="0"/>
              <a:t>.</a:t>
            </a:r>
          </a:p>
          <a:p>
            <a:r>
              <a:rPr lang="ru-RU" b="1" dirty="0" err="1"/>
              <a:t>Чітка</a:t>
            </a:r>
            <a:r>
              <a:rPr lang="ru-RU" b="1" dirty="0"/>
              <a:t> </a:t>
            </a:r>
            <a:r>
              <a:rPr lang="ru-RU" b="1" dirty="0" err="1"/>
              <a:t>відокремленість</a:t>
            </a:r>
            <a:r>
              <a:rPr lang="ru-RU" b="1" dirty="0"/>
              <a:t> </a:t>
            </a:r>
            <a:r>
              <a:rPr lang="ru-RU" b="1" dirty="0" err="1"/>
              <a:t>логіки</a:t>
            </a:r>
            <a:r>
              <a:rPr lang="ru-RU" dirty="0"/>
              <a:t>: </a:t>
            </a:r>
            <a:r>
              <a:rPr lang="ru-RU" dirty="0" err="1"/>
              <a:t>Логіка</a:t>
            </a:r>
            <a:r>
              <a:rPr lang="ru-RU" dirty="0"/>
              <a:t> кожного </a:t>
            </a:r>
            <a:r>
              <a:rPr lang="ru-RU" dirty="0" err="1"/>
              <a:t>сервісу</a:t>
            </a:r>
            <a:r>
              <a:rPr lang="ru-RU" dirty="0"/>
              <a:t>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ізольована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полегшує</a:t>
            </a:r>
            <a:r>
              <a:rPr lang="ru-RU" dirty="0"/>
              <a:t> </a:t>
            </a:r>
            <a:r>
              <a:rPr lang="ru-RU" dirty="0" err="1"/>
              <a:t>підтримку</a:t>
            </a:r>
            <a:r>
              <a:rPr lang="ru-RU" dirty="0"/>
              <a:t>, </a:t>
            </a:r>
            <a:r>
              <a:rPr lang="ru-RU" dirty="0" err="1"/>
              <a:t>оновлення</a:t>
            </a:r>
            <a:r>
              <a:rPr lang="ru-RU" dirty="0"/>
              <a:t> та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.</a:t>
            </a:r>
          </a:p>
          <a:p>
            <a:r>
              <a:rPr lang="ru-RU" b="1" dirty="0" err="1"/>
              <a:t>Стандартизація</a:t>
            </a:r>
            <a:r>
              <a:rPr lang="ru-RU" dirty="0"/>
              <a:t>: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стандартних</a:t>
            </a:r>
            <a:r>
              <a:rPr lang="ru-RU" dirty="0"/>
              <a:t> </a:t>
            </a:r>
            <a:r>
              <a:rPr lang="ru-RU" dirty="0" err="1"/>
              <a:t>протоколів</a:t>
            </a:r>
            <a:r>
              <a:rPr lang="ru-RU" dirty="0"/>
              <a:t> для </a:t>
            </a:r>
            <a:r>
              <a:rPr lang="ru-RU" dirty="0" err="1"/>
              <a:t>комунікації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en-US" dirty="0"/>
              <a:t>XML, WSDL, SOAP, REST.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5287806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uk-UA" dirty="0"/>
              <a:t>Переваги та недоліки сервіс-орієнтованої архітектури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83600" cy="50038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 err="1"/>
              <a:t>Переваги</a:t>
            </a:r>
            <a:r>
              <a:rPr lang="ru-RU" b="1" dirty="0"/>
              <a:t> </a:t>
            </a:r>
            <a:r>
              <a:rPr lang="en-US" b="1" dirty="0"/>
              <a:t>SOA:</a:t>
            </a:r>
          </a:p>
          <a:p>
            <a:r>
              <a:rPr lang="ru-RU" b="1" dirty="0" err="1"/>
              <a:t>Повторне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dirty="0"/>
              <a:t>: </a:t>
            </a:r>
            <a:r>
              <a:rPr lang="ru-RU" dirty="0" err="1"/>
              <a:t>Сервіси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використані</a:t>
            </a:r>
            <a:r>
              <a:rPr lang="ru-RU" dirty="0"/>
              <a:t> в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додатках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зменшує</a:t>
            </a:r>
            <a:r>
              <a:rPr lang="ru-RU" dirty="0"/>
              <a:t> </a:t>
            </a:r>
            <a:r>
              <a:rPr lang="ru-RU" dirty="0" err="1"/>
              <a:t>дублювання</a:t>
            </a:r>
            <a:r>
              <a:rPr lang="ru-RU" dirty="0"/>
              <a:t> коду і </a:t>
            </a:r>
            <a:r>
              <a:rPr lang="ru-RU" dirty="0" err="1"/>
              <a:t>скорочує</a:t>
            </a:r>
            <a:r>
              <a:rPr lang="ru-RU" dirty="0"/>
              <a:t> </a:t>
            </a:r>
            <a:r>
              <a:rPr lang="ru-RU" dirty="0" err="1"/>
              <a:t>витрати</a:t>
            </a:r>
            <a:r>
              <a:rPr lang="ru-RU" dirty="0"/>
              <a:t> на </a:t>
            </a:r>
            <a:r>
              <a:rPr lang="ru-RU" dirty="0" err="1"/>
              <a:t>розробку</a:t>
            </a:r>
            <a:r>
              <a:rPr lang="ru-RU" dirty="0"/>
              <a:t>.</a:t>
            </a:r>
          </a:p>
          <a:p>
            <a:r>
              <a:rPr lang="ru-RU" b="1" dirty="0" err="1"/>
              <a:t>Модульність</a:t>
            </a:r>
            <a:r>
              <a:rPr lang="ru-RU" dirty="0"/>
              <a:t>: Система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модульною,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полегшує</a:t>
            </a:r>
            <a:r>
              <a:rPr lang="ru-RU" dirty="0"/>
              <a:t> </a:t>
            </a:r>
            <a:r>
              <a:rPr lang="ru-RU" dirty="0" err="1"/>
              <a:t>масштабування</a:t>
            </a:r>
            <a:r>
              <a:rPr lang="ru-RU" dirty="0"/>
              <a:t> та </a:t>
            </a:r>
            <a:r>
              <a:rPr lang="ru-RU" dirty="0" err="1"/>
              <a:t>підтримку</a:t>
            </a:r>
            <a:r>
              <a:rPr lang="ru-RU" dirty="0"/>
              <a:t>.</a:t>
            </a:r>
          </a:p>
          <a:p>
            <a:r>
              <a:rPr lang="ru-RU" b="1" dirty="0" err="1"/>
              <a:t>Гнучкість</a:t>
            </a:r>
            <a:r>
              <a:rPr lang="ru-RU" dirty="0"/>
              <a:t>: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оновлювати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без </a:t>
            </a:r>
            <a:r>
              <a:rPr lang="ru-RU" dirty="0" err="1"/>
              <a:t>значного</a:t>
            </a:r>
            <a:r>
              <a:rPr lang="ru-RU" dirty="0"/>
              <a:t> </a:t>
            </a:r>
            <a:r>
              <a:rPr lang="ru-RU" dirty="0" err="1"/>
              <a:t>впливу</a:t>
            </a:r>
            <a:r>
              <a:rPr lang="ru-RU" dirty="0"/>
              <a:t> на всю систему.</a:t>
            </a:r>
          </a:p>
          <a:p>
            <a:r>
              <a:rPr lang="ru-RU" b="1" dirty="0" err="1"/>
              <a:t>Масштабованість</a:t>
            </a:r>
            <a:r>
              <a:rPr lang="ru-RU" dirty="0"/>
              <a:t>: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масштабований</a:t>
            </a:r>
            <a:r>
              <a:rPr lang="ru-RU" dirty="0"/>
              <a:t> </a:t>
            </a:r>
            <a:r>
              <a:rPr lang="ru-RU" dirty="0" err="1"/>
              <a:t>окремо</a:t>
            </a:r>
            <a:r>
              <a:rPr lang="ru-RU" dirty="0"/>
              <a:t> </a:t>
            </a:r>
            <a:r>
              <a:rPr lang="ru-RU" dirty="0" err="1"/>
              <a:t>залежно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вимог</a:t>
            </a:r>
            <a:r>
              <a:rPr lang="ru-RU" dirty="0"/>
              <a:t> до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err="1"/>
              <a:t>Недоліки</a:t>
            </a:r>
            <a:r>
              <a:rPr lang="ru-RU" b="1" dirty="0"/>
              <a:t> </a:t>
            </a:r>
            <a:r>
              <a:rPr lang="en-US" b="1" dirty="0"/>
              <a:t>SOA:</a:t>
            </a:r>
          </a:p>
          <a:p>
            <a:r>
              <a:rPr lang="ru-RU" b="1" dirty="0" err="1"/>
              <a:t>Складність</a:t>
            </a:r>
            <a:r>
              <a:rPr lang="ru-RU" dirty="0"/>
              <a:t>: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en-US" dirty="0"/>
              <a:t>SOA </a:t>
            </a:r>
            <a:r>
              <a:rPr lang="ru-RU" dirty="0" err="1"/>
              <a:t>вимагає</a:t>
            </a:r>
            <a:r>
              <a:rPr lang="ru-RU" dirty="0"/>
              <a:t>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інфраструктури</a:t>
            </a:r>
            <a:r>
              <a:rPr lang="ru-RU" dirty="0"/>
              <a:t>, особливо для </a:t>
            </a:r>
            <a:r>
              <a:rPr lang="ru-RU" dirty="0" err="1"/>
              <a:t>керування</a:t>
            </a:r>
            <a:r>
              <a:rPr lang="ru-RU" dirty="0"/>
              <a:t> </a:t>
            </a:r>
            <a:r>
              <a:rPr lang="ru-RU" dirty="0" err="1"/>
              <a:t>взаємодією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.</a:t>
            </a:r>
          </a:p>
          <a:p>
            <a:r>
              <a:rPr lang="ru-RU" b="1" dirty="0" err="1"/>
              <a:t>Продуктивність</a:t>
            </a:r>
            <a:r>
              <a:rPr lang="ru-RU" dirty="0"/>
              <a:t>: </a:t>
            </a:r>
            <a:r>
              <a:rPr lang="ru-RU" dirty="0" err="1"/>
              <a:t>Комунікація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 через мережу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повільнішою</a:t>
            </a:r>
            <a:r>
              <a:rPr lang="ru-RU" dirty="0"/>
              <a:t> </a:t>
            </a:r>
            <a:r>
              <a:rPr lang="ru-RU" dirty="0" err="1"/>
              <a:t>порівняно</a:t>
            </a:r>
            <a:r>
              <a:rPr lang="ru-RU" dirty="0"/>
              <a:t> з </a:t>
            </a:r>
            <a:r>
              <a:rPr lang="ru-RU" dirty="0" err="1"/>
              <a:t>викликами</a:t>
            </a:r>
            <a:r>
              <a:rPr lang="ru-RU" dirty="0"/>
              <a:t> </a:t>
            </a:r>
            <a:r>
              <a:rPr lang="ru-RU" dirty="0" err="1"/>
              <a:t>функцій</a:t>
            </a:r>
            <a:r>
              <a:rPr lang="ru-RU" dirty="0"/>
              <a:t> у </a:t>
            </a:r>
            <a:r>
              <a:rPr lang="ru-RU" dirty="0" err="1"/>
              <a:t>монолітних</a:t>
            </a:r>
            <a:r>
              <a:rPr lang="ru-RU" dirty="0"/>
              <a:t> </a:t>
            </a:r>
            <a:r>
              <a:rPr lang="ru-RU" dirty="0" err="1"/>
              <a:t>додатках</a:t>
            </a:r>
            <a:r>
              <a:rPr lang="ru-RU" dirty="0"/>
              <a:t>.</a:t>
            </a:r>
          </a:p>
          <a:p>
            <a:r>
              <a:rPr lang="ru-RU" b="1" dirty="0" err="1"/>
              <a:t>Витрати</a:t>
            </a:r>
            <a:r>
              <a:rPr lang="ru-RU" b="1" dirty="0"/>
              <a:t> на </a:t>
            </a:r>
            <a:r>
              <a:rPr lang="ru-RU" b="1" dirty="0" err="1"/>
              <a:t>інтеграцію</a:t>
            </a:r>
            <a:r>
              <a:rPr lang="ru-RU" dirty="0"/>
              <a:t>: </a:t>
            </a:r>
            <a:r>
              <a:rPr lang="ru-RU" dirty="0" err="1"/>
              <a:t>Впровадження</a:t>
            </a:r>
            <a:r>
              <a:rPr lang="ru-RU" dirty="0"/>
              <a:t> </a:t>
            </a:r>
            <a:r>
              <a:rPr lang="en-US" dirty="0"/>
              <a:t>SOA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потребувати</a:t>
            </a:r>
            <a:r>
              <a:rPr lang="ru-RU" dirty="0"/>
              <a:t> </a:t>
            </a:r>
            <a:r>
              <a:rPr lang="ru-RU" dirty="0" err="1"/>
              <a:t>значних</a:t>
            </a:r>
            <a:r>
              <a:rPr lang="ru-RU" dirty="0"/>
              <a:t> </a:t>
            </a:r>
            <a:r>
              <a:rPr lang="ru-RU" dirty="0" err="1"/>
              <a:t>початкових</a:t>
            </a:r>
            <a:r>
              <a:rPr lang="ru-RU" dirty="0"/>
              <a:t> </a:t>
            </a:r>
            <a:r>
              <a:rPr lang="ru-RU" dirty="0" err="1"/>
              <a:t>інвестицій</a:t>
            </a:r>
            <a:r>
              <a:rPr lang="ru-RU" dirty="0"/>
              <a:t>, особливо для </a:t>
            </a:r>
            <a:r>
              <a:rPr lang="ru-RU" dirty="0" err="1"/>
              <a:t>адаптації</a:t>
            </a:r>
            <a:r>
              <a:rPr lang="ru-RU" dirty="0"/>
              <a:t> </a:t>
            </a:r>
            <a:r>
              <a:rPr lang="ru-RU" dirty="0" err="1"/>
              <a:t>старих</a:t>
            </a:r>
            <a:r>
              <a:rPr lang="ru-RU" dirty="0"/>
              <a:t> систем.</a:t>
            </a:r>
          </a:p>
          <a:p>
            <a:r>
              <a:rPr lang="ru-RU" b="1" dirty="0" err="1"/>
              <a:t>Безпека</a:t>
            </a:r>
            <a:r>
              <a:rPr lang="ru-RU" dirty="0"/>
              <a:t>: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належно</a:t>
            </a:r>
            <a:r>
              <a:rPr lang="ru-RU" dirty="0"/>
              <a:t> </a:t>
            </a:r>
            <a:r>
              <a:rPr lang="ru-RU" dirty="0" err="1"/>
              <a:t>захищати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вони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мережеві</a:t>
            </a:r>
            <a:r>
              <a:rPr lang="ru-RU" dirty="0"/>
              <a:t> </a:t>
            </a:r>
            <a:r>
              <a:rPr lang="ru-RU" dirty="0" err="1"/>
              <a:t>виклики</a:t>
            </a:r>
            <a:r>
              <a:rPr lang="ru-RU" dirty="0"/>
              <a:t> </a:t>
            </a:r>
            <a:r>
              <a:rPr lang="ru-RU" dirty="0" err="1"/>
              <a:t>ззовні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954749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 err="1"/>
              <a:t>Приклади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en-US" b="1" dirty="0"/>
              <a:t>SOA: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Банківські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r>
              <a:rPr lang="ru-RU" dirty="0"/>
              <a:t>: </a:t>
            </a:r>
            <a:r>
              <a:rPr lang="ru-RU" dirty="0" err="1"/>
              <a:t>Багато</a:t>
            </a:r>
            <a:r>
              <a:rPr lang="ru-RU" dirty="0"/>
              <a:t> </a:t>
            </a:r>
            <a:r>
              <a:rPr lang="ru-RU" dirty="0" err="1"/>
              <a:t>банків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</a:t>
            </a:r>
            <a:r>
              <a:rPr lang="en-US" dirty="0"/>
              <a:t>SOA </a:t>
            </a:r>
            <a:r>
              <a:rPr lang="ru-RU" dirty="0"/>
              <a:t>для </a:t>
            </a:r>
            <a:r>
              <a:rPr lang="ru-RU" dirty="0" err="1"/>
              <a:t>інтеграції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служб, таких як </a:t>
            </a:r>
            <a:r>
              <a:rPr lang="ru-RU" dirty="0" err="1"/>
              <a:t>обробка</a:t>
            </a:r>
            <a:r>
              <a:rPr lang="ru-RU" dirty="0"/>
              <a:t> </a:t>
            </a:r>
            <a:r>
              <a:rPr lang="ru-RU" dirty="0" err="1"/>
              <a:t>платежів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рахунками</a:t>
            </a:r>
            <a:r>
              <a:rPr lang="ru-RU" dirty="0"/>
              <a:t> </a:t>
            </a:r>
            <a:r>
              <a:rPr lang="ru-RU" dirty="0" err="1"/>
              <a:t>клієнтів</a:t>
            </a:r>
            <a:r>
              <a:rPr lang="ru-RU" dirty="0"/>
              <a:t> та </a:t>
            </a:r>
            <a:r>
              <a:rPr lang="ru-RU" dirty="0" err="1"/>
              <a:t>зв'язок</a:t>
            </a:r>
            <a:r>
              <a:rPr lang="ru-RU" dirty="0"/>
              <a:t> </a:t>
            </a:r>
            <a:r>
              <a:rPr lang="ru-RU" dirty="0" err="1"/>
              <a:t>із</a:t>
            </a:r>
            <a:r>
              <a:rPr lang="ru-RU" dirty="0"/>
              <a:t> </a:t>
            </a:r>
            <a:r>
              <a:rPr lang="ru-RU" dirty="0" err="1"/>
              <a:t>зовнішніми</a:t>
            </a:r>
            <a:r>
              <a:rPr lang="ru-RU" dirty="0"/>
              <a:t> партнерами (</a:t>
            </a:r>
            <a:r>
              <a:rPr lang="ru-RU" dirty="0" err="1"/>
              <a:t>наприклад</a:t>
            </a:r>
            <a:r>
              <a:rPr lang="ru-RU" dirty="0"/>
              <a:t>, для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кредитних</a:t>
            </a:r>
            <a:r>
              <a:rPr lang="ru-RU" dirty="0"/>
              <a:t> </a:t>
            </a:r>
            <a:r>
              <a:rPr lang="ru-RU" dirty="0" err="1"/>
              <a:t>карток</a:t>
            </a:r>
            <a:r>
              <a:rPr lang="ru-RU" dirty="0"/>
              <a:t>).</a:t>
            </a:r>
          </a:p>
          <a:p>
            <a:r>
              <a:rPr lang="ru-RU" b="1" dirty="0" err="1"/>
              <a:t>Платформи</a:t>
            </a:r>
            <a:r>
              <a:rPr lang="ru-RU" b="1" dirty="0"/>
              <a:t> </a:t>
            </a:r>
            <a:r>
              <a:rPr lang="ru-RU" b="1" dirty="0" err="1"/>
              <a:t>електронної</a:t>
            </a:r>
            <a:r>
              <a:rPr lang="ru-RU" b="1" dirty="0"/>
              <a:t> </a:t>
            </a:r>
            <a:r>
              <a:rPr lang="ru-RU" b="1" dirty="0" err="1"/>
              <a:t>комерції</a:t>
            </a:r>
            <a:r>
              <a:rPr lang="ru-RU" dirty="0"/>
              <a:t>: У великих </a:t>
            </a:r>
            <a:r>
              <a:rPr lang="ru-RU" dirty="0" err="1"/>
              <a:t>інтернет</a:t>
            </a:r>
            <a:r>
              <a:rPr lang="ru-RU" dirty="0"/>
              <a:t>-магазинах </a:t>
            </a:r>
            <a:r>
              <a:rPr lang="ru-RU" dirty="0" err="1"/>
              <a:t>використовуються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 для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запасами, оплат та доставки.</a:t>
            </a:r>
          </a:p>
          <a:p>
            <a:r>
              <a:rPr lang="ru-RU" b="1" dirty="0" err="1"/>
              <a:t>Корпоративні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r>
              <a:rPr lang="ru-RU" dirty="0"/>
              <a:t>: </a:t>
            </a:r>
            <a:r>
              <a:rPr lang="en-US" dirty="0"/>
              <a:t>SOA </a:t>
            </a:r>
            <a:r>
              <a:rPr lang="ru-RU" dirty="0"/>
              <a:t>часто використовується для </a:t>
            </a:r>
            <a:r>
              <a:rPr lang="ru-RU" dirty="0" err="1"/>
              <a:t>об'єднання</a:t>
            </a:r>
            <a:r>
              <a:rPr lang="ru-RU" dirty="0"/>
              <a:t> </a:t>
            </a:r>
            <a:r>
              <a:rPr lang="ru-RU" dirty="0" err="1"/>
              <a:t>декількох</a:t>
            </a:r>
            <a:r>
              <a:rPr lang="ru-RU" dirty="0"/>
              <a:t> систем </a:t>
            </a:r>
            <a:r>
              <a:rPr lang="ru-RU" dirty="0" err="1"/>
              <a:t>компанії</a:t>
            </a:r>
            <a:r>
              <a:rPr lang="ru-RU" dirty="0"/>
              <a:t> (</a:t>
            </a:r>
            <a:r>
              <a:rPr lang="en-US" dirty="0"/>
              <a:t>HR, </a:t>
            </a:r>
            <a:r>
              <a:rPr lang="ru-RU" dirty="0" err="1"/>
              <a:t>бухгалтерія</a:t>
            </a:r>
            <a:r>
              <a:rPr lang="ru-RU" dirty="0"/>
              <a:t>,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ланцюгами</a:t>
            </a:r>
            <a:r>
              <a:rPr lang="ru-RU" dirty="0"/>
              <a:t> поставок) в </a:t>
            </a:r>
            <a:r>
              <a:rPr lang="ru-RU" dirty="0" err="1"/>
              <a:t>єдину</a:t>
            </a:r>
            <a:r>
              <a:rPr lang="ru-RU" dirty="0"/>
              <a:t> </a:t>
            </a:r>
            <a:r>
              <a:rPr lang="ru-RU" dirty="0" err="1"/>
              <a:t>інтегровану</a:t>
            </a:r>
            <a:r>
              <a:rPr lang="ru-RU" dirty="0"/>
              <a:t> платформу.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951447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Відмінність</a:t>
            </a:r>
            <a:r>
              <a:rPr lang="ru-RU" b="1" dirty="0"/>
              <a:t> </a:t>
            </a:r>
            <a:r>
              <a:rPr lang="ru-RU" b="1" dirty="0" err="1"/>
              <a:t>від</a:t>
            </a:r>
            <a:r>
              <a:rPr lang="ru-RU" b="1" dirty="0"/>
              <a:t> </a:t>
            </a:r>
            <a:r>
              <a:rPr lang="ru-RU" b="1" dirty="0" err="1"/>
              <a:t>мікросервісної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 err="1"/>
              <a:t>Хоча</a:t>
            </a:r>
            <a:r>
              <a:rPr lang="ru-RU" dirty="0"/>
              <a:t> </a:t>
            </a:r>
            <a:r>
              <a:rPr lang="en-US" dirty="0"/>
              <a:t>SOA </a:t>
            </a:r>
            <a:r>
              <a:rPr lang="ru-RU" dirty="0"/>
              <a:t>і </a:t>
            </a:r>
            <a:r>
              <a:rPr lang="ru-RU" dirty="0" err="1"/>
              <a:t>мікросервіси</a:t>
            </a:r>
            <a:r>
              <a:rPr lang="ru-RU" dirty="0"/>
              <a:t> </a:t>
            </a:r>
            <a:r>
              <a:rPr lang="ru-RU" dirty="0" err="1"/>
              <a:t>схожі</a:t>
            </a:r>
            <a:r>
              <a:rPr lang="ru-RU" dirty="0"/>
              <a:t>, </a:t>
            </a:r>
            <a:r>
              <a:rPr lang="ru-RU" dirty="0" err="1"/>
              <a:t>мікросервісна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є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дрібнозернистою</a:t>
            </a:r>
            <a:r>
              <a:rPr lang="ru-RU" dirty="0"/>
              <a:t>, де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мікросервіс</a:t>
            </a:r>
            <a:r>
              <a:rPr lang="ru-RU" dirty="0"/>
              <a:t> </a:t>
            </a:r>
            <a:r>
              <a:rPr lang="ru-RU" dirty="0" err="1"/>
              <a:t>зазвичай</a:t>
            </a:r>
            <a:r>
              <a:rPr lang="ru-RU" dirty="0"/>
              <a:t> </a:t>
            </a:r>
            <a:r>
              <a:rPr lang="ru-RU" dirty="0" err="1"/>
              <a:t>менший</a:t>
            </a:r>
            <a:r>
              <a:rPr lang="ru-RU" dirty="0"/>
              <a:t> і легший за </a:t>
            </a:r>
            <a:r>
              <a:rPr lang="ru-RU" dirty="0" err="1"/>
              <a:t>сервіс</a:t>
            </a:r>
            <a:r>
              <a:rPr lang="ru-RU" dirty="0"/>
              <a:t> у </a:t>
            </a:r>
            <a:r>
              <a:rPr lang="en-US" dirty="0"/>
              <a:t>SOA. </a:t>
            </a:r>
            <a:r>
              <a:rPr lang="ru-RU" dirty="0" err="1"/>
              <a:t>Крім</a:t>
            </a:r>
            <a:r>
              <a:rPr lang="ru-RU" dirty="0"/>
              <a:t> того, у </a:t>
            </a:r>
            <a:r>
              <a:rPr lang="en-US" dirty="0"/>
              <a:t>SOA </a:t>
            </a:r>
            <a:r>
              <a:rPr lang="ru-RU" dirty="0"/>
              <a:t>використовується </a:t>
            </a:r>
            <a:r>
              <a:rPr lang="ru-RU" dirty="0" err="1"/>
              <a:t>централізований</a:t>
            </a:r>
            <a:r>
              <a:rPr lang="ru-RU" dirty="0"/>
              <a:t> </a:t>
            </a:r>
            <a:r>
              <a:rPr lang="ru-RU" dirty="0" err="1"/>
              <a:t>підхід</a:t>
            </a:r>
            <a:r>
              <a:rPr lang="ru-RU" dirty="0"/>
              <a:t> до </a:t>
            </a:r>
            <a:r>
              <a:rPr lang="ru-RU" dirty="0" err="1"/>
              <a:t>управління</a:t>
            </a:r>
            <a:r>
              <a:rPr lang="ru-RU" dirty="0"/>
              <a:t> </a:t>
            </a:r>
            <a:r>
              <a:rPr lang="ru-RU" dirty="0" err="1"/>
              <a:t>сервісами</a:t>
            </a:r>
            <a:r>
              <a:rPr lang="ru-RU" dirty="0"/>
              <a:t> (</a:t>
            </a:r>
            <a:r>
              <a:rPr lang="en-US" dirty="0"/>
              <a:t>Enterprise Service Bus - ESB), </a:t>
            </a:r>
            <a:r>
              <a:rPr lang="ru-RU" dirty="0" err="1"/>
              <a:t>тоді</a:t>
            </a:r>
            <a:r>
              <a:rPr lang="ru-RU" dirty="0"/>
              <a:t> як </a:t>
            </a:r>
            <a:r>
              <a:rPr lang="ru-RU" dirty="0" err="1"/>
              <a:t>мікросервіси</a:t>
            </a:r>
            <a:r>
              <a:rPr lang="ru-RU" dirty="0"/>
              <a:t>, як правило, </a:t>
            </a:r>
            <a:r>
              <a:rPr lang="ru-RU" dirty="0" err="1"/>
              <a:t>децентралізовані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72687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Подієво-орієнтована</a:t>
            </a:r>
            <a:r>
              <a:rPr lang="ru-RU" b="1" dirty="0"/>
              <a:t> </a:t>
            </a:r>
            <a:r>
              <a:rPr lang="ru-RU" b="1" dirty="0" err="1"/>
              <a:t>архітектура</a:t>
            </a:r>
            <a:r>
              <a:rPr lang="ru-RU" b="1" dirty="0"/>
              <a:t> (</a:t>
            </a:r>
            <a:r>
              <a:rPr lang="en-US" b="1" dirty="0"/>
              <a:t>Event-Driven Architecture, EDA)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165100" y="1539081"/>
            <a:ext cx="4038600" cy="4525963"/>
          </a:xfrm>
        </p:spPr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архітектурний</a:t>
            </a:r>
            <a:r>
              <a:rPr lang="ru-RU" dirty="0"/>
              <a:t> стиль, при </a:t>
            </a:r>
            <a:r>
              <a:rPr lang="ru-RU" dirty="0" err="1"/>
              <a:t>якому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взаємодіють</a:t>
            </a:r>
            <a:r>
              <a:rPr lang="ru-RU" dirty="0"/>
              <a:t> один з одним через </a:t>
            </a:r>
            <a:r>
              <a:rPr lang="ru-RU" dirty="0" err="1"/>
              <a:t>обмін</a:t>
            </a:r>
            <a:r>
              <a:rPr lang="ru-RU" dirty="0"/>
              <a:t> </a:t>
            </a:r>
            <a:r>
              <a:rPr lang="ru-RU" dirty="0" err="1"/>
              <a:t>подіями</a:t>
            </a:r>
            <a:r>
              <a:rPr lang="ru-RU" dirty="0"/>
              <a:t>. У </a:t>
            </a:r>
            <a:r>
              <a:rPr lang="en-US" dirty="0"/>
              <a:t>EDA </a:t>
            </a:r>
            <a:r>
              <a:rPr lang="ru-RU" dirty="0" err="1"/>
              <a:t>подія</a:t>
            </a:r>
            <a:r>
              <a:rPr lang="ru-RU" dirty="0"/>
              <a:t> є </a:t>
            </a:r>
            <a:r>
              <a:rPr lang="ru-RU" dirty="0" err="1"/>
              <a:t>ключовим</a:t>
            </a:r>
            <a:r>
              <a:rPr lang="ru-RU" dirty="0"/>
              <a:t> </a:t>
            </a:r>
            <a:r>
              <a:rPr lang="ru-RU" dirty="0" err="1"/>
              <a:t>елементом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сигналізує</a:t>
            </a:r>
            <a:r>
              <a:rPr lang="ru-RU" dirty="0"/>
              <a:t> про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відбулася</a:t>
            </a:r>
            <a:r>
              <a:rPr lang="ru-RU" dirty="0"/>
              <a:t> </a:t>
            </a:r>
            <a:r>
              <a:rPr lang="ru-RU" dirty="0" err="1"/>
              <a:t>певна</a:t>
            </a:r>
            <a:r>
              <a:rPr lang="ru-RU" dirty="0"/>
              <a:t> </a:t>
            </a:r>
            <a:r>
              <a:rPr lang="ru-RU" dirty="0" err="1"/>
              <a:t>дія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зміна</a:t>
            </a:r>
            <a:r>
              <a:rPr lang="ru-RU" dirty="0"/>
              <a:t> стану в </a:t>
            </a:r>
            <a:r>
              <a:rPr lang="ru-RU" dirty="0" err="1"/>
              <a:t>системі</a:t>
            </a:r>
            <a:r>
              <a:rPr lang="ru-RU" dirty="0"/>
              <a:t>.</a:t>
            </a:r>
          </a:p>
        </p:txBody>
      </p:sp>
      <p:pic>
        <p:nvPicPr>
          <p:cNvPr id="5" name="Объект 4"/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343400" y="1539081"/>
            <a:ext cx="43434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683876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Основні</a:t>
            </a:r>
            <a:r>
              <a:rPr lang="ru-RU" b="1" dirty="0"/>
              <a:t> характеристики </a:t>
            </a:r>
            <a:r>
              <a:rPr lang="ru-RU" b="1" dirty="0" err="1"/>
              <a:t>подієво-орієнтованої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382000" cy="4991100"/>
          </a:xfrm>
        </p:spPr>
        <p:txBody>
          <a:bodyPr>
            <a:normAutofit fontScale="70000" lnSpcReduction="20000"/>
          </a:bodyPr>
          <a:lstStyle/>
          <a:p>
            <a:r>
              <a:rPr lang="ru-RU" b="1" dirty="0" err="1"/>
              <a:t>Події</a:t>
            </a:r>
            <a:r>
              <a:rPr lang="ru-RU" b="1" dirty="0"/>
              <a:t> як основа </a:t>
            </a:r>
            <a:r>
              <a:rPr lang="ru-RU" b="1" dirty="0" err="1"/>
              <a:t>взаємодії</a:t>
            </a:r>
            <a:r>
              <a:rPr lang="ru-RU" dirty="0"/>
              <a:t>: Система </a:t>
            </a:r>
            <a:r>
              <a:rPr lang="ru-RU" dirty="0" err="1"/>
              <a:t>реагує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виникають</a:t>
            </a:r>
            <a:r>
              <a:rPr lang="ru-RU" dirty="0"/>
              <a:t> у </a:t>
            </a:r>
            <a:r>
              <a:rPr lang="ru-RU" dirty="0" err="1"/>
              <a:t>процесі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бізнес-події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замовлення</a:t>
            </a:r>
            <a:r>
              <a:rPr lang="ru-RU" dirty="0"/>
              <a:t> створено)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технічні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(</a:t>
            </a:r>
            <a:r>
              <a:rPr lang="ru-RU" dirty="0" err="1"/>
              <a:t>помилка</a:t>
            </a:r>
            <a:r>
              <a:rPr lang="ru-RU" dirty="0"/>
              <a:t> в </a:t>
            </a:r>
            <a:r>
              <a:rPr lang="ru-RU" dirty="0" err="1"/>
              <a:t>системі</a:t>
            </a:r>
            <a:r>
              <a:rPr lang="ru-RU" dirty="0"/>
              <a:t>).</a:t>
            </a:r>
          </a:p>
          <a:p>
            <a:r>
              <a:rPr lang="ru-RU" b="1" dirty="0" err="1"/>
              <a:t>Асинхронність</a:t>
            </a:r>
            <a:r>
              <a:rPr lang="ru-RU" dirty="0"/>
              <a:t>: </a:t>
            </a:r>
            <a:r>
              <a:rPr lang="ru-RU" dirty="0" err="1"/>
              <a:t>Взаємодія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 </a:t>
            </a:r>
            <a:r>
              <a:rPr lang="ru-RU" dirty="0" err="1"/>
              <a:t>відбувається</a:t>
            </a:r>
            <a:r>
              <a:rPr lang="ru-RU" dirty="0"/>
              <a:t> асинхронно. Коли одна </a:t>
            </a:r>
            <a:r>
              <a:rPr lang="ru-RU" dirty="0" err="1"/>
              <a:t>частина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генерує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,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неї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в </a:t>
            </a:r>
            <a:r>
              <a:rPr lang="ru-RU" dirty="0" err="1"/>
              <a:t>майбутньому</a:t>
            </a:r>
            <a:r>
              <a:rPr lang="ru-RU" dirty="0"/>
              <a:t>.</a:t>
            </a:r>
          </a:p>
          <a:p>
            <a:r>
              <a:rPr lang="ru-RU" b="1" dirty="0" err="1"/>
              <a:t>Відокремленість</a:t>
            </a:r>
            <a:r>
              <a:rPr lang="ru-RU" dirty="0"/>
              <a:t>: </a:t>
            </a:r>
            <a:r>
              <a:rPr lang="ru-RU" dirty="0" err="1"/>
              <a:t>Відправник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не </a:t>
            </a:r>
            <a:r>
              <a:rPr lang="ru-RU" dirty="0" err="1"/>
              <a:t>має</a:t>
            </a:r>
            <a:r>
              <a:rPr lang="ru-RU" dirty="0"/>
              <a:t> знати, </a:t>
            </a:r>
            <a:r>
              <a:rPr lang="ru-RU" dirty="0" err="1"/>
              <a:t>хто</a:t>
            </a:r>
            <a:r>
              <a:rPr lang="ru-RU" dirty="0"/>
              <a:t> </a:t>
            </a:r>
            <a:r>
              <a:rPr lang="ru-RU" dirty="0" err="1"/>
              <a:t>отримує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як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обробляють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робить</a:t>
            </a:r>
            <a:r>
              <a:rPr lang="ru-RU" dirty="0"/>
              <a:t> систему </a:t>
            </a:r>
            <a:r>
              <a:rPr lang="ru-RU" dirty="0" err="1"/>
              <a:t>дуже</a:t>
            </a:r>
            <a:r>
              <a:rPr lang="ru-RU" dirty="0"/>
              <a:t> </a:t>
            </a:r>
            <a:r>
              <a:rPr lang="ru-RU" dirty="0" err="1"/>
              <a:t>гнучкою</a:t>
            </a:r>
            <a:r>
              <a:rPr lang="ru-RU" dirty="0"/>
              <a:t> та </a:t>
            </a:r>
            <a:r>
              <a:rPr lang="ru-RU" dirty="0" err="1"/>
              <a:t>масштабованою</a:t>
            </a:r>
            <a:r>
              <a:rPr lang="ru-RU" dirty="0"/>
              <a:t>.</a:t>
            </a:r>
          </a:p>
          <a:p>
            <a:r>
              <a:rPr lang="ru-RU" b="1" dirty="0" err="1"/>
              <a:t>Обробка</a:t>
            </a:r>
            <a:r>
              <a:rPr lang="ru-RU" b="1" dirty="0"/>
              <a:t> </a:t>
            </a:r>
            <a:r>
              <a:rPr lang="ru-RU" b="1" dirty="0" err="1"/>
              <a:t>подій</a:t>
            </a:r>
            <a:r>
              <a:rPr lang="ru-RU" b="1" dirty="0"/>
              <a:t> у реальному </a:t>
            </a:r>
            <a:r>
              <a:rPr lang="ru-RU" b="1" dirty="0" err="1"/>
              <a:t>часі</a:t>
            </a:r>
            <a:r>
              <a:rPr lang="ru-RU" dirty="0"/>
              <a:t>: </a:t>
            </a:r>
            <a:r>
              <a:rPr lang="en-US" dirty="0"/>
              <a:t>EDA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швидко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 та </a:t>
            </a:r>
            <a:r>
              <a:rPr lang="ru-RU" dirty="0" err="1"/>
              <a:t>обробляти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у реальному </a:t>
            </a:r>
            <a:r>
              <a:rPr lang="ru-RU" dirty="0" err="1"/>
              <a:t>часі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робить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ідеальною</a:t>
            </a:r>
            <a:r>
              <a:rPr lang="ru-RU" dirty="0"/>
              <a:t> для систем з </a:t>
            </a:r>
            <a:r>
              <a:rPr lang="ru-RU" dirty="0" err="1"/>
              <a:t>високими</a:t>
            </a:r>
            <a:r>
              <a:rPr lang="ru-RU" dirty="0"/>
              <a:t> </a:t>
            </a:r>
            <a:r>
              <a:rPr lang="ru-RU" dirty="0" err="1"/>
              <a:t>вимогами</a:t>
            </a:r>
            <a:r>
              <a:rPr lang="ru-RU" dirty="0"/>
              <a:t> до часу </a:t>
            </a:r>
            <a:r>
              <a:rPr lang="ru-RU" dirty="0" err="1"/>
              <a:t>відгуку</a:t>
            </a:r>
            <a:r>
              <a:rPr lang="ru-RU" dirty="0"/>
              <a:t>.</a:t>
            </a:r>
          </a:p>
          <a:p>
            <a:r>
              <a:rPr lang="ru-RU" b="1" dirty="0" err="1"/>
              <a:t>Подієві</a:t>
            </a:r>
            <a:r>
              <a:rPr lang="ru-RU" b="1" dirty="0"/>
              <a:t> </a:t>
            </a:r>
            <a:r>
              <a:rPr lang="ru-RU" b="1" dirty="0" err="1"/>
              <a:t>повідомлення</a:t>
            </a:r>
            <a:r>
              <a:rPr lang="ru-RU" dirty="0"/>
              <a:t>: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</a:t>
            </a:r>
            <a:r>
              <a:rPr lang="ru-RU" dirty="0" err="1"/>
              <a:t>черги</a:t>
            </a:r>
            <a:r>
              <a:rPr lang="ru-RU" dirty="0"/>
              <a:t> </a:t>
            </a:r>
            <a:r>
              <a:rPr lang="ru-RU" dirty="0" err="1"/>
              <a:t>повідомлень</a:t>
            </a:r>
            <a:r>
              <a:rPr lang="ru-RU" dirty="0"/>
              <a:t>,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обміну</a:t>
            </a:r>
            <a:r>
              <a:rPr lang="ru-RU" dirty="0"/>
              <a:t> </a:t>
            </a:r>
            <a:r>
              <a:rPr lang="ru-RU" dirty="0" err="1"/>
              <a:t>повідомленнями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брокери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en-US" dirty="0"/>
              <a:t>Apache Kafka, </a:t>
            </a:r>
            <a:r>
              <a:rPr lang="en-US" dirty="0" err="1"/>
              <a:t>RabbitMQ</a:t>
            </a:r>
            <a:r>
              <a:rPr lang="en-US" dirty="0"/>
              <a:t>) </a:t>
            </a:r>
            <a:r>
              <a:rPr lang="ru-RU" dirty="0"/>
              <a:t>для </a:t>
            </a:r>
            <a:r>
              <a:rPr lang="ru-RU" dirty="0" err="1"/>
              <a:t>пересилання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075060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Основні</a:t>
            </a:r>
            <a:r>
              <a:rPr lang="ru-RU" b="1" dirty="0"/>
              <a:t> </a:t>
            </a:r>
            <a:r>
              <a:rPr lang="ru-RU" b="1" dirty="0" err="1"/>
              <a:t>компоненти</a:t>
            </a:r>
            <a:r>
              <a:rPr lang="ru-RU" b="1" dirty="0"/>
              <a:t> </a:t>
            </a:r>
            <a:r>
              <a:rPr lang="en-US" b="1" dirty="0"/>
              <a:t>EDA: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ru-RU" b="1" dirty="0" err="1"/>
              <a:t>Видавець</a:t>
            </a:r>
            <a:r>
              <a:rPr lang="ru-RU" b="1" dirty="0"/>
              <a:t> </a:t>
            </a:r>
            <a:r>
              <a:rPr lang="ru-RU" b="1" dirty="0" err="1"/>
              <a:t>подій</a:t>
            </a:r>
            <a:r>
              <a:rPr lang="ru-RU" b="1" dirty="0"/>
              <a:t> (</a:t>
            </a:r>
            <a:r>
              <a:rPr lang="en-US" b="1" dirty="0"/>
              <a:t>Event Producer)</a:t>
            </a:r>
            <a:r>
              <a:rPr lang="en-US" dirty="0"/>
              <a:t>: </a:t>
            </a:r>
            <a:r>
              <a:rPr lang="ru-RU" dirty="0"/>
              <a:t>Компонент,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генерує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коли </a:t>
            </a:r>
            <a:r>
              <a:rPr lang="ru-RU" dirty="0" err="1"/>
              <a:t>щось</a:t>
            </a:r>
            <a:r>
              <a:rPr lang="ru-RU" dirty="0"/>
              <a:t> </a:t>
            </a:r>
            <a:r>
              <a:rPr lang="ru-RU" dirty="0" err="1"/>
              <a:t>відбувається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сервіс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користувач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ініціює</a:t>
            </a:r>
            <a:r>
              <a:rPr lang="ru-RU" dirty="0"/>
              <a:t> </a:t>
            </a:r>
            <a:r>
              <a:rPr lang="ru-RU" dirty="0" err="1"/>
              <a:t>дію</a:t>
            </a:r>
            <a:r>
              <a:rPr lang="ru-RU" dirty="0"/>
              <a:t>.</a:t>
            </a:r>
          </a:p>
          <a:p>
            <a:pPr algn="just"/>
            <a:r>
              <a:rPr lang="ru-RU" b="1" dirty="0" err="1"/>
              <a:t>Підписники</a:t>
            </a:r>
            <a:r>
              <a:rPr lang="ru-RU" b="1" dirty="0"/>
              <a:t> </a:t>
            </a:r>
            <a:r>
              <a:rPr lang="ru-RU" b="1" dirty="0" err="1"/>
              <a:t>подій</a:t>
            </a:r>
            <a:r>
              <a:rPr lang="ru-RU" b="1" dirty="0"/>
              <a:t> (</a:t>
            </a:r>
            <a:r>
              <a:rPr lang="en-US" b="1" dirty="0"/>
              <a:t>Event Consumers)</a:t>
            </a:r>
            <a:r>
              <a:rPr lang="en-US" dirty="0"/>
              <a:t>: </a:t>
            </a:r>
            <a:r>
              <a:rPr lang="ru-RU" dirty="0" err="1"/>
              <a:t>Компоненти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підписуються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 і </a:t>
            </a:r>
            <a:r>
              <a:rPr lang="ru-RU" dirty="0" err="1"/>
              <a:t>реагують</a:t>
            </a:r>
            <a:r>
              <a:rPr lang="ru-RU" dirty="0"/>
              <a:t> на них. Вони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обробляти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різними</a:t>
            </a:r>
            <a:r>
              <a:rPr lang="ru-RU" dirty="0"/>
              <a:t> способами: </a:t>
            </a:r>
            <a:r>
              <a:rPr lang="ru-RU" dirty="0" err="1"/>
              <a:t>викликати</a:t>
            </a:r>
            <a:r>
              <a:rPr lang="ru-RU" dirty="0"/>
              <a:t> </a:t>
            </a:r>
            <a:r>
              <a:rPr lang="ru-RU" dirty="0" err="1"/>
              <a:t>інші</a:t>
            </a:r>
            <a:r>
              <a:rPr lang="ru-RU" dirty="0"/>
              <a:t> </a:t>
            </a:r>
            <a:r>
              <a:rPr lang="ru-RU" dirty="0" err="1"/>
              <a:t>сервіси</a:t>
            </a:r>
            <a:r>
              <a:rPr lang="ru-RU" dirty="0"/>
              <a:t>,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.</a:t>
            </a:r>
          </a:p>
          <a:p>
            <a:pPr algn="just"/>
            <a:r>
              <a:rPr lang="ru-RU" b="1" dirty="0"/>
              <a:t>Брокер </a:t>
            </a:r>
            <a:r>
              <a:rPr lang="ru-RU" b="1" dirty="0" err="1"/>
              <a:t>подій</a:t>
            </a:r>
            <a:r>
              <a:rPr lang="ru-RU" dirty="0"/>
              <a:t>: Система, яка </a:t>
            </a:r>
            <a:r>
              <a:rPr lang="ru-RU" dirty="0" err="1"/>
              <a:t>приймає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видавців</a:t>
            </a:r>
            <a:r>
              <a:rPr lang="ru-RU" dirty="0"/>
              <a:t> та </a:t>
            </a:r>
            <a:r>
              <a:rPr lang="ru-RU" dirty="0" err="1"/>
              <a:t>передає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підписникам</a:t>
            </a:r>
            <a:r>
              <a:rPr lang="ru-RU" dirty="0"/>
              <a:t>. </a:t>
            </a:r>
            <a:r>
              <a:rPr lang="ru-RU" dirty="0" err="1"/>
              <a:t>Брокери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</a:t>
            </a:r>
            <a:r>
              <a:rPr lang="ru-RU" dirty="0" err="1"/>
              <a:t>черги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журнали</a:t>
            </a:r>
            <a:r>
              <a:rPr lang="ru-RU" dirty="0"/>
              <a:t> для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, </a:t>
            </a:r>
            <a:r>
              <a:rPr lang="ru-RU" dirty="0" err="1"/>
              <a:t>поки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не </a:t>
            </a:r>
            <a:r>
              <a:rPr lang="ru-RU" dirty="0" err="1"/>
              <a:t>оброблять</a:t>
            </a:r>
            <a:r>
              <a:rPr lang="ru-RU" dirty="0"/>
              <a:t> </a:t>
            </a:r>
            <a:r>
              <a:rPr lang="ru-RU" dirty="0" err="1"/>
              <a:t>підписники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795706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 та </a:t>
            </a:r>
            <a:r>
              <a:rPr lang="ru-RU" b="1" dirty="0" err="1"/>
              <a:t>недоліки</a:t>
            </a:r>
            <a:r>
              <a:rPr lang="ru-RU" b="1" dirty="0"/>
              <a:t> </a:t>
            </a:r>
            <a:r>
              <a:rPr lang="ru-RU" b="1" dirty="0" err="1"/>
              <a:t>подієво-орієнтованої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83600" cy="4927600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ru-RU" b="1" dirty="0" err="1"/>
              <a:t>Переваги</a:t>
            </a:r>
            <a:r>
              <a:rPr lang="ru-RU" b="1" dirty="0"/>
              <a:t> </a:t>
            </a:r>
            <a:r>
              <a:rPr lang="ru-RU" b="1" dirty="0" err="1"/>
              <a:t>подієво-орієнтованої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</a:p>
          <a:p>
            <a:r>
              <a:rPr lang="ru-RU" b="1" dirty="0" err="1"/>
              <a:t>Висока</a:t>
            </a:r>
            <a:r>
              <a:rPr lang="ru-RU" b="1" dirty="0"/>
              <a:t> </a:t>
            </a:r>
            <a:r>
              <a:rPr lang="ru-RU" b="1" dirty="0" err="1"/>
              <a:t>масштабованість</a:t>
            </a:r>
            <a:r>
              <a:rPr lang="ru-RU" dirty="0"/>
              <a:t>: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працюють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і </a:t>
            </a:r>
            <a:r>
              <a:rPr lang="ru-RU" dirty="0" err="1"/>
              <a:t>можуть</a:t>
            </a:r>
            <a:r>
              <a:rPr lang="ru-RU" dirty="0"/>
              <a:t> легко </a:t>
            </a:r>
            <a:r>
              <a:rPr lang="ru-RU" dirty="0" err="1"/>
              <a:t>масштабуватися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</a:t>
            </a:r>
            <a:r>
              <a:rPr lang="ru-RU" dirty="0" err="1"/>
              <a:t>навантаження</a:t>
            </a:r>
            <a:r>
              <a:rPr lang="ru-RU" dirty="0"/>
              <a:t>.</a:t>
            </a:r>
          </a:p>
          <a:p>
            <a:r>
              <a:rPr lang="ru-RU" b="1" dirty="0" err="1"/>
              <a:t>Гнучкість</a:t>
            </a:r>
            <a:r>
              <a:rPr lang="ru-RU" dirty="0"/>
              <a:t>: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змінити</a:t>
            </a:r>
            <a:r>
              <a:rPr lang="ru-RU" dirty="0"/>
              <a:t> без </a:t>
            </a:r>
            <a:r>
              <a:rPr lang="ru-RU" dirty="0" err="1"/>
              <a:t>порушення</a:t>
            </a:r>
            <a:r>
              <a:rPr lang="ru-RU" dirty="0"/>
              <a:t> </a:t>
            </a:r>
            <a:r>
              <a:rPr lang="ru-RU" dirty="0" err="1"/>
              <a:t>роботи</a:t>
            </a:r>
            <a:r>
              <a:rPr lang="ru-RU" dirty="0"/>
              <a:t> </a:t>
            </a:r>
            <a:r>
              <a:rPr lang="ru-RU" dirty="0" err="1"/>
              <a:t>всієї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Асинхронність</a:t>
            </a:r>
            <a:r>
              <a:rPr lang="ru-RU" b="1" dirty="0"/>
              <a:t> і </a:t>
            </a:r>
            <a:r>
              <a:rPr lang="ru-RU" b="1" dirty="0" err="1"/>
              <a:t>швидкість</a:t>
            </a:r>
            <a:r>
              <a:rPr lang="ru-RU" dirty="0"/>
              <a:t>: Система не </a:t>
            </a:r>
            <a:r>
              <a:rPr lang="ru-RU" dirty="0" err="1"/>
              <a:t>потребує</a:t>
            </a:r>
            <a:r>
              <a:rPr lang="ru-RU" dirty="0"/>
              <a:t> </a:t>
            </a:r>
            <a:r>
              <a:rPr lang="ru-RU" dirty="0" err="1"/>
              <a:t>синхронної</a:t>
            </a:r>
            <a:r>
              <a:rPr lang="ru-RU" dirty="0"/>
              <a:t>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затримки</a:t>
            </a:r>
            <a:r>
              <a:rPr lang="ru-RU" dirty="0"/>
              <a:t> та </a:t>
            </a:r>
            <a:r>
              <a:rPr lang="ru-RU" dirty="0" err="1"/>
              <a:t>покращити</a:t>
            </a:r>
            <a:r>
              <a:rPr lang="ru-RU" dirty="0"/>
              <a:t> </a:t>
            </a:r>
            <a:r>
              <a:rPr lang="ru-RU" dirty="0" err="1"/>
              <a:t>продуктивність</a:t>
            </a:r>
            <a:r>
              <a:rPr lang="ru-RU" dirty="0"/>
              <a:t>.</a:t>
            </a:r>
          </a:p>
          <a:p>
            <a:r>
              <a:rPr lang="ru-RU" b="1" dirty="0" err="1"/>
              <a:t>Адаптивність</a:t>
            </a:r>
            <a:r>
              <a:rPr lang="ru-RU" b="1" dirty="0"/>
              <a:t> до </a:t>
            </a:r>
            <a:r>
              <a:rPr lang="ru-RU" b="1" dirty="0" err="1"/>
              <a:t>змін</a:t>
            </a:r>
            <a:r>
              <a:rPr lang="ru-RU" dirty="0"/>
              <a:t>: Легко </a:t>
            </a:r>
            <a:r>
              <a:rPr lang="ru-RU" dirty="0" err="1"/>
              <a:t>реагує</a:t>
            </a:r>
            <a:r>
              <a:rPr lang="ru-RU" dirty="0"/>
              <a:t> на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робить</a:t>
            </a:r>
            <a:r>
              <a:rPr lang="ru-RU" dirty="0"/>
              <a:t>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ефективною</a:t>
            </a:r>
            <a:r>
              <a:rPr lang="ru-RU" dirty="0"/>
              <a:t> для </a:t>
            </a:r>
            <a:r>
              <a:rPr lang="ru-RU" dirty="0" err="1"/>
              <a:t>динамічних</a:t>
            </a:r>
            <a:r>
              <a:rPr lang="ru-RU" dirty="0"/>
              <a:t> </a:t>
            </a:r>
            <a:r>
              <a:rPr lang="ru-RU" dirty="0" err="1"/>
              <a:t>бізнес-сценаріїв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b="1" dirty="0" err="1"/>
              <a:t>Недоліки</a:t>
            </a:r>
            <a:r>
              <a:rPr lang="ru-RU" b="1" dirty="0"/>
              <a:t> </a:t>
            </a:r>
            <a:r>
              <a:rPr lang="ru-RU" b="1" dirty="0" err="1"/>
              <a:t>подієво-орієнтованої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</a:p>
          <a:p>
            <a:r>
              <a:rPr lang="ru-RU" b="1" dirty="0" err="1"/>
              <a:t>Складність</a:t>
            </a:r>
            <a:r>
              <a:rPr lang="ru-RU" b="1" dirty="0"/>
              <a:t> відлагодження</a:t>
            </a:r>
            <a:r>
              <a:rPr lang="ru-RU" dirty="0"/>
              <a:t>: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взаємодія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компонентами </a:t>
            </a:r>
            <a:r>
              <a:rPr lang="ru-RU" dirty="0" err="1"/>
              <a:t>відбувається</a:t>
            </a:r>
            <a:r>
              <a:rPr lang="ru-RU" dirty="0"/>
              <a:t> через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виникати</a:t>
            </a:r>
            <a:r>
              <a:rPr lang="ru-RU" dirty="0"/>
              <a:t> асинхронно,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ускладнює</a:t>
            </a:r>
            <a:r>
              <a:rPr lang="ru-RU" dirty="0"/>
              <a:t> </a:t>
            </a:r>
            <a:r>
              <a:rPr lang="ru-RU" dirty="0" err="1"/>
              <a:t>виявлення</a:t>
            </a:r>
            <a:r>
              <a:rPr lang="ru-RU" dirty="0"/>
              <a:t> проблем та </a:t>
            </a:r>
            <a:r>
              <a:rPr lang="ru-RU" dirty="0" err="1"/>
              <a:t>налагодження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r>
              <a:rPr lang="ru-RU" b="1" dirty="0" err="1"/>
              <a:t>Управління</a:t>
            </a:r>
            <a:r>
              <a:rPr lang="ru-RU" b="1" dirty="0"/>
              <a:t> </a:t>
            </a:r>
            <a:r>
              <a:rPr lang="ru-RU" b="1" dirty="0" err="1"/>
              <a:t>послідовністю</a:t>
            </a:r>
            <a:r>
              <a:rPr lang="ru-RU" b="1" dirty="0"/>
              <a:t> </a:t>
            </a:r>
            <a:r>
              <a:rPr lang="ru-RU" b="1" dirty="0" err="1"/>
              <a:t>подій</a:t>
            </a:r>
            <a:r>
              <a:rPr lang="ru-RU" dirty="0"/>
              <a:t>: </a:t>
            </a:r>
            <a:r>
              <a:rPr lang="ru-RU" dirty="0" err="1"/>
              <a:t>Забезпечення</a:t>
            </a:r>
            <a:r>
              <a:rPr lang="ru-RU" dirty="0"/>
              <a:t> </a:t>
            </a:r>
            <a:r>
              <a:rPr lang="ru-RU" dirty="0" err="1"/>
              <a:t>правильної</a:t>
            </a:r>
            <a:r>
              <a:rPr lang="ru-RU" dirty="0"/>
              <a:t>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у правильному порядку </a:t>
            </a:r>
            <a:r>
              <a:rPr lang="ru-RU" dirty="0" err="1"/>
              <a:t>може</a:t>
            </a:r>
            <a:r>
              <a:rPr lang="ru-RU" dirty="0"/>
              <a:t> бути </a:t>
            </a:r>
            <a:r>
              <a:rPr lang="ru-RU" dirty="0" err="1"/>
              <a:t>складним</a:t>
            </a:r>
            <a:r>
              <a:rPr lang="ru-RU" dirty="0"/>
              <a:t> </a:t>
            </a:r>
            <a:r>
              <a:rPr lang="ru-RU" dirty="0" err="1"/>
              <a:t>завданням</a:t>
            </a:r>
            <a:r>
              <a:rPr lang="ru-RU" dirty="0"/>
              <a:t>, особливо коли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виникають</a:t>
            </a:r>
            <a:r>
              <a:rPr lang="ru-RU" dirty="0"/>
              <a:t> </a:t>
            </a:r>
            <a:r>
              <a:rPr lang="ru-RU" dirty="0" err="1"/>
              <a:t>паралельно</a:t>
            </a:r>
            <a:r>
              <a:rPr lang="ru-RU" dirty="0"/>
              <a:t>.</a:t>
            </a:r>
          </a:p>
          <a:p>
            <a:r>
              <a:rPr lang="ru-RU" b="1" dirty="0" err="1"/>
              <a:t>Складність</a:t>
            </a:r>
            <a:r>
              <a:rPr lang="ru-RU" b="1" dirty="0"/>
              <a:t> у </a:t>
            </a:r>
            <a:r>
              <a:rPr lang="ru-RU" b="1" dirty="0" err="1"/>
              <a:t>тестуванні</a:t>
            </a:r>
            <a:r>
              <a:rPr lang="ru-RU" dirty="0"/>
              <a:t>: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різними</a:t>
            </a:r>
            <a:r>
              <a:rPr lang="ru-RU" dirty="0"/>
              <a:t> компонентами через </a:t>
            </a:r>
            <a:r>
              <a:rPr lang="ru-RU" dirty="0" err="1"/>
              <a:t>події</a:t>
            </a:r>
            <a:r>
              <a:rPr lang="ru-RU" dirty="0"/>
              <a:t> </a:t>
            </a:r>
            <a:r>
              <a:rPr lang="ru-RU" dirty="0" err="1"/>
              <a:t>важко</a:t>
            </a:r>
            <a:r>
              <a:rPr lang="ru-RU" dirty="0"/>
              <a:t> </a:t>
            </a:r>
            <a:r>
              <a:rPr lang="ru-RU" dirty="0" err="1"/>
              <a:t>передбачити</a:t>
            </a:r>
            <a:r>
              <a:rPr lang="ru-RU" dirty="0"/>
              <a:t> і </a:t>
            </a:r>
            <a:r>
              <a:rPr lang="ru-RU" dirty="0" err="1"/>
              <a:t>протестувати</a:t>
            </a:r>
            <a:r>
              <a:rPr lang="ru-RU" dirty="0"/>
              <a:t>, </a:t>
            </a:r>
            <a:r>
              <a:rPr lang="ru-RU" dirty="0" err="1"/>
              <a:t>оскільки</a:t>
            </a:r>
            <a:r>
              <a:rPr lang="ru-RU" dirty="0"/>
              <a:t> </a:t>
            </a:r>
            <a:r>
              <a:rPr lang="ru-RU" dirty="0" err="1"/>
              <a:t>поведінка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залежить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послідовності</a:t>
            </a:r>
            <a:r>
              <a:rPr lang="ru-RU" dirty="0"/>
              <a:t> та часу </a:t>
            </a:r>
            <a:r>
              <a:rPr lang="ru-RU" dirty="0" err="1"/>
              <a:t>подій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903636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Приклади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 </a:t>
            </a:r>
            <a:r>
              <a:rPr lang="ru-RU" b="1" dirty="0" err="1"/>
              <a:t>подієво-орієнтованої</a:t>
            </a:r>
            <a:r>
              <a:rPr lang="ru-RU" b="1" dirty="0"/>
              <a:t> </a:t>
            </a:r>
            <a:r>
              <a:rPr lang="ru-RU" b="1" dirty="0" err="1"/>
              <a:t>архітектури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Фінансові</a:t>
            </a:r>
            <a:r>
              <a:rPr lang="ru-RU" b="1" dirty="0"/>
              <a:t> </a:t>
            </a:r>
            <a:r>
              <a:rPr lang="ru-RU" b="1" dirty="0" err="1"/>
              <a:t>транзакції</a:t>
            </a:r>
            <a:r>
              <a:rPr lang="ru-RU" dirty="0"/>
              <a:t>: </a:t>
            </a:r>
            <a:r>
              <a:rPr lang="ru-RU" dirty="0" err="1"/>
              <a:t>Системи</a:t>
            </a:r>
            <a:r>
              <a:rPr lang="ru-RU" dirty="0"/>
              <a:t> для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платежів</a:t>
            </a:r>
            <a:r>
              <a:rPr lang="ru-RU" dirty="0"/>
              <a:t> та </a:t>
            </a:r>
            <a:r>
              <a:rPr lang="ru-RU" dirty="0" err="1"/>
              <a:t>моніторингу</a:t>
            </a:r>
            <a:r>
              <a:rPr lang="ru-RU" dirty="0"/>
              <a:t> </a:t>
            </a:r>
            <a:r>
              <a:rPr lang="ru-RU" dirty="0" err="1"/>
              <a:t>транзакцій</a:t>
            </a:r>
            <a:r>
              <a:rPr lang="ru-RU" dirty="0"/>
              <a:t> </a:t>
            </a:r>
            <a:r>
              <a:rPr lang="ru-RU" dirty="0" err="1"/>
              <a:t>використовують</a:t>
            </a:r>
            <a:r>
              <a:rPr lang="ru-RU" dirty="0"/>
              <a:t> </a:t>
            </a:r>
            <a:r>
              <a:rPr lang="ru-RU" dirty="0" err="1"/>
              <a:t>подієву</a:t>
            </a:r>
            <a:r>
              <a:rPr lang="ru-RU" dirty="0"/>
              <a:t> </a:t>
            </a:r>
            <a:r>
              <a:rPr lang="ru-RU" dirty="0" err="1"/>
              <a:t>архітектуру</a:t>
            </a:r>
            <a:r>
              <a:rPr lang="ru-RU" dirty="0"/>
              <a:t> для </a:t>
            </a:r>
            <a:r>
              <a:rPr lang="ru-RU" dirty="0" err="1"/>
              <a:t>миттєвої</a:t>
            </a:r>
            <a:r>
              <a:rPr lang="ru-RU" dirty="0"/>
              <a:t> </a:t>
            </a:r>
            <a:r>
              <a:rPr lang="ru-RU" dirty="0" err="1"/>
              <a:t>реакції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такі</a:t>
            </a:r>
            <a:r>
              <a:rPr lang="ru-RU" dirty="0"/>
              <a:t> як </a:t>
            </a:r>
            <a:r>
              <a:rPr lang="ru-RU" dirty="0" err="1"/>
              <a:t>авторизація</a:t>
            </a:r>
            <a:r>
              <a:rPr lang="ru-RU" dirty="0"/>
              <a:t> </a:t>
            </a:r>
            <a:r>
              <a:rPr lang="ru-RU" dirty="0" err="1"/>
              <a:t>платежів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виявлення</a:t>
            </a:r>
            <a:r>
              <a:rPr lang="ru-RU" dirty="0"/>
              <a:t> </a:t>
            </a:r>
            <a:r>
              <a:rPr lang="ru-RU" dirty="0" err="1"/>
              <a:t>шахрайства</a:t>
            </a:r>
            <a:r>
              <a:rPr lang="ru-RU" dirty="0"/>
              <a:t>.</a:t>
            </a:r>
          </a:p>
          <a:p>
            <a:r>
              <a:rPr lang="ru-RU" b="1" dirty="0" err="1"/>
              <a:t>Інтернет</a:t>
            </a:r>
            <a:r>
              <a:rPr lang="ru-RU" b="1" dirty="0"/>
              <a:t> речей (</a:t>
            </a:r>
            <a:r>
              <a:rPr lang="en-US" b="1" dirty="0" err="1"/>
              <a:t>IoT</a:t>
            </a:r>
            <a:r>
              <a:rPr lang="en-US" b="1" dirty="0"/>
              <a:t>)</a:t>
            </a:r>
            <a:r>
              <a:rPr lang="en-US" dirty="0"/>
              <a:t>: </a:t>
            </a:r>
            <a:r>
              <a:rPr lang="ru-RU" dirty="0" err="1"/>
              <a:t>Пристрої</a:t>
            </a:r>
            <a:r>
              <a:rPr lang="ru-RU" dirty="0"/>
              <a:t> </a:t>
            </a:r>
            <a:r>
              <a:rPr lang="en-US" dirty="0" err="1"/>
              <a:t>IoT</a:t>
            </a:r>
            <a:r>
              <a:rPr lang="en-US" dirty="0"/>
              <a:t> </a:t>
            </a:r>
            <a:r>
              <a:rPr lang="ru-RU" dirty="0" err="1"/>
              <a:t>постійно</a:t>
            </a:r>
            <a:r>
              <a:rPr lang="ru-RU" dirty="0"/>
              <a:t> </a:t>
            </a:r>
            <a:r>
              <a:rPr lang="ru-RU" dirty="0" err="1"/>
              <a:t>генерують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, </a:t>
            </a:r>
            <a:r>
              <a:rPr lang="ru-RU" dirty="0" err="1"/>
              <a:t>такі</a:t>
            </a:r>
            <a:r>
              <a:rPr lang="ru-RU" dirty="0"/>
              <a:t> як </a:t>
            </a:r>
            <a:r>
              <a:rPr lang="ru-RU" dirty="0" err="1"/>
              <a:t>зчитування</a:t>
            </a:r>
            <a:r>
              <a:rPr lang="ru-RU" dirty="0"/>
              <a:t> </a:t>
            </a:r>
            <a:r>
              <a:rPr lang="ru-RU" dirty="0" err="1"/>
              <a:t>датчиків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дії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. </a:t>
            </a:r>
            <a:r>
              <a:rPr lang="ru-RU" dirty="0" err="1"/>
              <a:t>Подієва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ефективно</a:t>
            </a:r>
            <a:r>
              <a:rPr lang="ru-RU" dirty="0"/>
              <a:t> </a:t>
            </a:r>
            <a:r>
              <a:rPr lang="ru-RU" dirty="0" err="1"/>
              <a:t>реагувати</a:t>
            </a:r>
            <a:r>
              <a:rPr lang="ru-RU" dirty="0"/>
              <a:t> на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події</a:t>
            </a:r>
            <a:r>
              <a:rPr lang="ru-RU" dirty="0"/>
              <a:t> у реальному </a:t>
            </a:r>
            <a:r>
              <a:rPr lang="ru-RU" dirty="0" err="1"/>
              <a:t>часі</a:t>
            </a:r>
            <a:r>
              <a:rPr lang="ru-RU" dirty="0"/>
              <a:t>.</a:t>
            </a:r>
          </a:p>
          <a:p>
            <a:r>
              <a:rPr lang="ru-RU" b="1" dirty="0" err="1"/>
              <a:t>Електронна</a:t>
            </a:r>
            <a:r>
              <a:rPr lang="ru-RU" b="1" dirty="0"/>
              <a:t> </a:t>
            </a:r>
            <a:r>
              <a:rPr lang="ru-RU" b="1" dirty="0" err="1"/>
              <a:t>комерція</a:t>
            </a:r>
            <a:r>
              <a:rPr lang="ru-RU" dirty="0"/>
              <a:t>: Наприклад, коли </a:t>
            </a:r>
            <a:r>
              <a:rPr lang="ru-RU" dirty="0" err="1"/>
              <a:t>клієнт</a:t>
            </a:r>
            <a:r>
              <a:rPr lang="ru-RU" dirty="0"/>
              <a:t> </a:t>
            </a:r>
            <a:r>
              <a:rPr lang="ru-RU" dirty="0" err="1"/>
              <a:t>робить</a:t>
            </a:r>
            <a:r>
              <a:rPr lang="ru-RU" dirty="0"/>
              <a:t> покупку,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генерує</a:t>
            </a:r>
            <a:r>
              <a:rPr lang="ru-RU" dirty="0"/>
              <a:t> </a:t>
            </a:r>
            <a:r>
              <a:rPr lang="ru-RU" dirty="0" err="1"/>
              <a:t>подію</a:t>
            </a:r>
            <a:r>
              <a:rPr lang="ru-RU" dirty="0"/>
              <a:t>, яка </a:t>
            </a:r>
            <a:r>
              <a:rPr lang="ru-RU" dirty="0" err="1"/>
              <a:t>активує</a:t>
            </a:r>
            <a:r>
              <a:rPr lang="ru-RU" dirty="0"/>
              <a:t> </a:t>
            </a:r>
            <a:r>
              <a:rPr lang="ru-RU" dirty="0" err="1"/>
              <a:t>ланцюжок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: </a:t>
            </a:r>
            <a:r>
              <a:rPr lang="ru-RU" dirty="0" err="1"/>
              <a:t>оновлення</a:t>
            </a:r>
            <a:r>
              <a:rPr lang="ru-RU" dirty="0"/>
              <a:t> статусу </a:t>
            </a:r>
            <a:r>
              <a:rPr lang="ru-RU" dirty="0" err="1"/>
              <a:t>замовлення</a:t>
            </a:r>
            <a:r>
              <a:rPr lang="ru-RU" dirty="0"/>
              <a:t>, </a:t>
            </a:r>
            <a:r>
              <a:rPr lang="ru-RU" dirty="0" err="1"/>
              <a:t>надсилання</a:t>
            </a:r>
            <a:r>
              <a:rPr lang="ru-RU" dirty="0"/>
              <a:t> </a:t>
            </a:r>
            <a:r>
              <a:rPr lang="ru-RU" dirty="0" err="1"/>
              <a:t>повідомлення</a:t>
            </a:r>
            <a:r>
              <a:rPr lang="ru-RU" dirty="0"/>
              <a:t> </a:t>
            </a:r>
            <a:r>
              <a:rPr lang="ru-RU" dirty="0" err="1"/>
              <a:t>клієнту</a:t>
            </a:r>
            <a:r>
              <a:rPr lang="ru-RU" dirty="0"/>
              <a:t>, </a:t>
            </a:r>
            <a:r>
              <a:rPr lang="ru-RU" dirty="0" err="1"/>
              <a:t>оновлення</a:t>
            </a:r>
            <a:r>
              <a:rPr lang="ru-RU" dirty="0"/>
              <a:t> </a:t>
            </a:r>
            <a:r>
              <a:rPr lang="ru-RU" dirty="0" err="1"/>
              <a:t>залишків</a:t>
            </a:r>
            <a:r>
              <a:rPr lang="ru-RU" dirty="0"/>
              <a:t> </a:t>
            </a:r>
            <a:r>
              <a:rPr lang="ru-RU" dirty="0" err="1"/>
              <a:t>товарів</a:t>
            </a:r>
            <a:r>
              <a:rPr lang="ru-RU" dirty="0"/>
              <a:t> на </a:t>
            </a:r>
            <a:r>
              <a:rPr lang="ru-RU" dirty="0" err="1"/>
              <a:t>складі</a:t>
            </a:r>
            <a:r>
              <a:rPr lang="ru-RU" dirty="0"/>
              <a:t> </a:t>
            </a:r>
            <a:r>
              <a:rPr lang="ru-RU" dirty="0" err="1"/>
              <a:t>тощо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81632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Приклади</a:t>
            </a:r>
            <a:r>
              <a:rPr lang="ru-RU" b="1" dirty="0"/>
              <a:t> систем: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/>
              <a:t>Netflix</a:t>
            </a:r>
            <a:r>
              <a:rPr lang="en-US" dirty="0"/>
              <a:t>: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en-US" dirty="0"/>
              <a:t>EDA </a:t>
            </a:r>
            <a:r>
              <a:rPr lang="ru-RU" dirty="0"/>
              <a:t>для </a:t>
            </a:r>
            <a:r>
              <a:rPr lang="ru-RU" dirty="0" err="1"/>
              <a:t>обробки</a:t>
            </a:r>
            <a:r>
              <a:rPr lang="ru-RU" dirty="0"/>
              <a:t> </a:t>
            </a:r>
            <a:r>
              <a:rPr lang="ru-RU" dirty="0" err="1"/>
              <a:t>подій</a:t>
            </a:r>
            <a:r>
              <a:rPr lang="ru-RU" dirty="0"/>
              <a:t> </a:t>
            </a:r>
            <a:r>
              <a:rPr lang="ru-RU" dirty="0" err="1"/>
              <a:t>під</a:t>
            </a:r>
            <a:r>
              <a:rPr lang="ru-RU" dirty="0"/>
              <a:t> час перегляду </a:t>
            </a:r>
            <a:r>
              <a:rPr lang="ru-RU" dirty="0" err="1"/>
              <a:t>відео</a:t>
            </a:r>
            <a:r>
              <a:rPr lang="ru-RU" dirty="0"/>
              <a:t>, таких як </a:t>
            </a:r>
            <a:r>
              <a:rPr lang="ru-RU" dirty="0" err="1"/>
              <a:t>зміна</a:t>
            </a:r>
            <a:r>
              <a:rPr lang="ru-RU" dirty="0"/>
              <a:t> </a:t>
            </a:r>
            <a:r>
              <a:rPr lang="ru-RU" dirty="0" err="1"/>
              <a:t>якості</a:t>
            </a:r>
            <a:r>
              <a:rPr lang="ru-RU" dirty="0"/>
              <a:t> </a:t>
            </a:r>
            <a:r>
              <a:rPr lang="ru-RU" dirty="0" err="1"/>
              <a:t>стріму</a:t>
            </a:r>
            <a:r>
              <a:rPr lang="ru-RU" dirty="0"/>
              <a:t>, стан </a:t>
            </a:r>
            <a:r>
              <a:rPr lang="ru-RU" dirty="0" err="1"/>
              <a:t>буферизації</a:t>
            </a:r>
            <a:r>
              <a:rPr lang="ru-RU" dirty="0"/>
              <a:t> та </a:t>
            </a:r>
            <a:r>
              <a:rPr lang="ru-RU" dirty="0" err="1"/>
              <a:t>реакція</a:t>
            </a:r>
            <a:r>
              <a:rPr lang="ru-RU" dirty="0"/>
              <a:t> на неполадки в реальному </a:t>
            </a:r>
            <a:r>
              <a:rPr lang="ru-RU" dirty="0" err="1"/>
              <a:t>часі</a:t>
            </a:r>
            <a:r>
              <a:rPr lang="ru-RU" dirty="0"/>
              <a:t>.</a:t>
            </a:r>
          </a:p>
          <a:p>
            <a:r>
              <a:rPr lang="en-US" b="1" dirty="0" err="1"/>
              <a:t>Uber</a:t>
            </a:r>
            <a:r>
              <a:rPr lang="en-US" dirty="0"/>
              <a:t>: </a:t>
            </a:r>
            <a:r>
              <a:rPr lang="ru-RU" dirty="0"/>
              <a:t>Система </a:t>
            </a:r>
            <a:r>
              <a:rPr lang="ru-RU" dirty="0" err="1"/>
              <a:t>реагує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 в реальному </a:t>
            </a:r>
            <a:r>
              <a:rPr lang="ru-RU" dirty="0" err="1"/>
              <a:t>часі</a:t>
            </a:r>
            <a:r>
              <a:rPr lang="ru-RU" dirty="0"/>
              <a:t>, 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надходження</a:t>
            </a:r>
            <a:r>
              <a:rPr lang="ru-RU" dirty="0"/>
              <a:t> </a:t>
            </a:r>
            <a:r>
              <a:rPr lang="ru-RU" dirty="0" err="1"/>
              <a:t>нових</a:t>
            </a:r>
            <a:r>
              <a:rPr lang="ru-RU" dirty="0"/>
              <a:t> </a:t>
            </a:r>
            <a:r>
              <a:rPr lang="ru-RU" dirty="0" err="1"/>
              <a:t>замовлень</a:t>
            </a:r>
            <a:r>
              <a:rPr lang="ru-RU" dirty="0"/>
              <a:t>,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місця</a:t>
            </a:r>
            <a:r>
              <a:rPr lang="ru-RU" dirty="0"/>
              <a:t> </a:t>
            </a:r>
            <a:r>
              <a:rPr lang="ru-RU" dirty="0" err="1"/>
              <a:t>водія</a:t>
            </a:r>
            <a:r>
              <a:rPr lang="ru-RU" dirty="0"/>
              <a:t> </a:t>
            </a:r>
            <a:r>
              <a:rPr lang="ru-RU" dirty="0" err="1"/>
              <a:t>чи</a:t>
            </a:r>
            <a:r>
              <a:rPr lang="ru-RU" dirty="0"/>
              <a:t> </a:t>
            </a:r>
            <a:r>
              <a:rPr lang="ru-RU" dirty="0" err="1"/>
              <a:t>пасажира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 err="1"/>
              <a:t>Подієво-орієнтована</a:t>
            </a:r>
            <a:r>
              <a:rPr lang="ru-RU" dirty="0"/>
              <a:t> </a:t>
            </a:r>
            <a:r>
              <a:rPr lang="ru-RU" dirty="0" err="1"/>
              <a:t>архітектура</a:t>
            </a:r>
            <a:r>
              <a:rPr lang="ru-RU" dirty="0"/>
              <a:t> </a:t>
            </a:r>
            <a:r>
              <a:rPr lang="ru-RU" dirty="0" err="1"/>
              <a:t>найкраще</a:t>
            </a:r>
            <a:r>
              <a:rPr lang="ru-RU" dirty="0"/>
              <a:t> </a:t>
            </a:r>
            <a:r>
              <a:rPr lang="ru-RU" dirty="0" err="1"/>
              <a:t>підходить</a:t>
            </a:r>
            <a:r>
              <a:rPr lang="ru-RU" dirty="0"/>
              <a:t> для систем, де </a:t>
            </a:r>
            <a:r>
              <a:rPr lang="ru-RU" dirty="0" err="1"/>
              <a:t>важлива</a:t>
            </a:r>
            <a:r>
              <a:rPr lang="ru-RU" dirty="0"/>
              <a:t> </a:t>
            </a:r>
            <a:r>
              <a:rPr lang="ru-RU" dirty="0" err="1"/>
              <a:t>швидка</a:t>
            </a:r>
            <a:r>
              <a:rPr lang="ru-RU" dirty="0"/>
              <a:t> </a:t>
            </a:r>
            <a:r>
              <a:rPr lang="ru-RU" dirty="0" err="1"/>
              <a:t>реакція</a:t>
            </a:r>
            <a:r>
              <a:rPr lang="ru-RU" dirty="0"/>
              <a:t> на </a:t>
            </a:r>
            <a:r>
              <a:rPr lang="ru-RU" dirty="0" err="1"/>
              <a:t>події</a:t>
            </a:r>
            <a:r>
              <a:rPr lang="ru-RU" dirty="0"/>
              <a:t> і де </a:t>
            </a:r>
            <a:r>
              <a:rPr lang="ru-RU" dirty="0" err="1"/>
              <a:t>потрібна</a:t>
            </a:r>
            <a:r>
              <a:rPr lang="ru-RU" dirty="0"/>
              <a:t> </a:t>
            </a:r>
            <a:r>
              <a:rPr lang="ru-RU" dirty="0" err="1"/>
              <a:t>можливість</a:t>
            </a:r>
            <a:r>
              <a:rPr lang="ru-RU" dirty="0"/>
              <a:t> легко </a:t>
            </a:r>
            <a:r>
              <a:rPr lang="ru-RU" dirty="0" err="1"/>
              <a:t>розширювати</a:t>
            </a:r>
            <a:r>
              <a:rPr lang="ru-RU" dirty="0"/>
              <a:t> і </a:t>
            </a:r>
            <a:r>
              <a:rPr lang="ru-RU" dirty="0" err="1"/>
              <a:t>адаптувати</a:t>
            </a:r>
            <a:r>
              <a:rPr lang="ru-RU" dirty="0"/>
              <a:t>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914576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Шаблони проектування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Структурні: MVC, Layered Architecture.</a:t>
            </a:r>
          </a:p>
          <a:p>
            <a:r>
              <a:t>• Поведінкові: Observer, Strategy.</a:t>
            </a:r>
          </a:p>
          <a:p>
            <a:r>
              <a:t>• Створюючі: Singleton, Factory.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Структурні</a:t>
            </a:r>
            <a:r>
              <a:rPr lang="ru-RU" b="1" dirty="0"/>
              <a:t> </a:t>
            </a:r>
            <a:r>
              <a:rPr lang="ru-RU" b="1" dirty="0" err="1"/>
              <a:t>шаблони</a:t>
            </a:r>
            <a:r>
              <a:rPr lang="ru-RU" b="1" dirty="0"/>
              <a:t> </a:t>
            </a:r>
            <a:r>
              <a:rPr lang="ru-RU" b="1" dirty="0" err="1"/>
              <a:t>проектування</a:t>
            </a:r>
            <a:r>
              <a:rPr lang="ru-RU" b="1" dirty="0"/>
              <a:t> </a:t>
            </a:r>
            <a:r>
              <a:rPr lang="ru-RU" dirty="0"/>
              <a:t>(</a:t>
            </a:r>
            <a:r>
              <a:rPr lang="en-US" dirty="0"/>
              <a:t>Structural Design Patterns)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en-US" dirty="0"/>
              <a:t>— </a:t>
            </a:r>
            <a:r>
              <a:rPr lang="ru-RU" dirty="0" err="1"/>
              <a:t>це</a:t>
            </a:r>
            <a:r>
              <a:rPr lang="ru-RU" dirty="0"/>
              <a:t> тип </a:t>
            </a:r>
            <a:r>
              <a:rPr lang="ru-RU" dirty="0" err="1"/>
              <a:t>шаблонів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організувати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та </a:t>
            </a:r>
            <a:r>
              <a:rPr lang="ru-RU" dirty="0" err="1"/>
              <a:t>об'єкти</a:t>
            </a:r>
            <a:r>
              <a:rPr lang="ru-RU" dirty="0"/>
              <a:t> у </a:t>
            </a:r>
            <a:r>
              <a:rPr lang="ru-RU" dirty="0" err="1"/>
              <a:t>великі</a:t>
            </a:r>
            <a:r>
              <a:rPr lang="ru-RU" dirty="0"/>
              <a:t> </a:t>
            </a:r>
            <a:r>
              <a:rPr lang="ru-RU" dirty="0" err="1"/>
              <a:t>структури</a:t>
            </a:r>
            <a:r>
              <a:rPr lang="ru-RU" dirty="0"/>
              <a:t>, </a:t>
            </a:r>
            <a:r>
              <a:rPr lang="ru-RU" dirty="0" err="1"/>
              <a:t>забезпечуючи</a:t>
            </a:r>
            <a:r>
              <a:rPr lang="ru-RU" dirty="0"/>
              <a:t> простоту </a:t>
            </a:r>
            <a:r>
              <a:rPr lang="ru-RU" dirty="0" err="1"/>
              <a:t>взаємодії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 та </a:t>
            </a:r>
            <a:r>
              <a:rPr lang="ru-RU" dirty="0" err="1"/>
              <a:t>покращуючи</a:t>
            </a:r>
            <a:r>
              <a:rPr lang="ru-RU" dirty="0"/>
              <a:t> </a:t>
            </a:r>
            <a:r>
              <a:rPr lang="ru-RU" dirty="0" err="1"/>
              <a:t>розширюваність</a:t>
            </a:r>
            <a:r>
              <a:rPr lang="ru-RU" dirty="0"/>
              <a:t> і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коду. Вони </a:t>
            </a:r>
            <a:r>
              <a:rPr lang="ru-RU" dirty="0" err="1"/>
              <a:t>визначають</a:t>
            </a:r>
            <a:r>
              <a:rPr lang="ru-RU" dirty="0"/>
              <a:t>, як </a:t>
            </a:r>
            <a:r>
              <a:rPr lang="ru-RU" dirty="0" err="1"/>
              <a:t>компоненти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об'єднані</a:t>
            </a:r>
            <a:r>
              <a:rPr lang="ru-RU" dirty="0"/>
              <a:t> та </a:t>
            </a:r>
            <a:r>
              <a:rPr lang="ru-RU" dirty="0" err="1"/>
              <a:t>взаємодіяти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собою, при </a:t>
            </a:r>
            <a:r>
              <a:rPr lang="ru-RU" dirty="0" err="1"/>
              <a:t>цьому</a:t>
            </a:r>
            <a:r>
              <a:rPr lang="ru-RU" dirty="0"/>
              <a:t> </a:t>
            </a:r>
            <a:r>
              <a:rPr lang="ru-RU" dirty="0" err="1"/>
              <a:t>зберігаючи</a:t>
            </a:r>
            <a:r>
              <a:rPr lang="ru-RU" dirty="0"/>
              <a:t> </a:t>
            </a:r>
            <a:r>
              <a:rPr lang="ru-RU" dirty="0" err="1"/>
              <a:t>привабливу</a:t>
            </a:r>
            <a:r>
              <a:rPr lang="ru-RU" dirty="0"/>
              <a:t> </a:t>
            </a:r>
            <a:r>
              <a:rPr lang="ru-RU" dirty="0" err="1"/>
              <a:t>архітектуру</a:t>
            </a:r>
            <a:r>
              <a:rPr lang="ru-RU" dirty="0"/>
              <a:t> та </a:t>
            </a:r>
            <a:r>
              <a:rPr lang="ru-RU" dirty="0" err="1"/>
              <a:t>зручність</a:t>
            </a:r>
            <a:r>
              <a:rPr lang="ru-RU" dirty="0"/>
              <a:t> у </a:t>
            </a:r>
            <a:r>
              <a:rPr lang="ru-RU" dirty="0" err="1"/>
              <a:t>підтримці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6037111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Основні</a:t>
            </a:r>
            <a:r>
              <a:rPr lang="ru-RU" dirty="0"/>
              <a:t> </a:t>
            </a:r>
            <a:r>
              <a:rPr lang="ru-RU" dirty="0" err="1"/>
              <a:t>структурні</a:t>
            </a:r>
            <a:r>
              <a:rPr lang="ru-RU" dirty="0"/>
              <a:t> </a:t>
            </a:r>
            <a:r>
              <a:rPr lang="ru-RU" dirty="0" err="1"/>
              <a:t>шаблони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: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Adapter (</a:t>
            </a:r>
            <a:r>
              <a:rPr lang="ru-RU" dirty="0"/>
              <a:t>Адаптер):</a:t>
            </a:r>
          </a:p>
        </p:txBody>
      </p:sp>
      <p:sp>
        <p:nvSpPr>
          <p:cNvPr id="5" name="Объект 4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8102600" cy="3951288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ru-RU" b="1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об'єктам</a:t>
            </a:r>
            <a:r>
              <a:rPr lang="ru-RU" dirty="0"/>
              <a:t> з </a:t>
            </a:r>
            <a:r>
              <a:rPr lang="ru-RU" dirty="0" err="1"/>
              <a:t>несумісними</a:t>
            </a:r>
            <a:r>
              <a:rPr lang="ru-RU" dirty="0"/>
              <a:t> </a:t>
            </a:r>
            <a:r>
              <a:rPr lang="ru-RU" dirty="0" err="1"/>
              <a:t>інтерфейсами</a:t>
            </a:r>
            <a:r>
              <a:rPr lang="ru-RU" dirty="0"/>
              <a:t> </a:t>
            </a:r>
            <a:r>
              <a:rPr lang="ru-RU" dirty="0" err="1"/>
              <a:t>працювати</a:t>
            </a:r>
            <a:r>
              <a:rPr lang="ru-RU" dirty="0"/>
              <a:t> разом, </a:t>
            </a:r>
            <a:r>
              <a:rPr lang="ru-RU" dirty="0" err="1"/>
              <a:t>створюючи</a:t>
            </a:r>
            <a:r>
              <a:rPr lang="ru-RU" dirty="0"/>
              <a:t> </a:t>
            </a:r>
            <a:r>
              <a:rPr lang="ru-RU" dirty="0" err="1"/>
              <a:t>проміжний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(адаптер),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перетворює</a:t>
            </a:r>
            <a:r>
              <a:rPr lang="ru-RU" dirty="0"/>
              <a:t> один </a:t>
            </a:r>
            <a:r>
              <a:rPr lang="ru-RU" dirty="0" err="1"/>
              <a:t>інтерфейс</a:t>
            </a:r>
            <a:r>
              <a:rPr lang="ru-RU" dirty="0"/>
              <a:t> на </a:t>
            </a:r>
            <a:r>
              <a:rPr lang="ru-RU" dirty="0" err="1"/>
              <a:t>інший</a:t>
            </a:r>
            <a:r>
              <a:rPr lang="ru-RU" dirty="0"/>
              <a:t>.</a:t>
            </a:r>
          </a:p>
          <a:p>
            <a:pPr marL="0" indent="0" algn="just">
              <a:buNone/>
            </a:pPr>
            <a:r>
              <a:rPr lang="ru-RU" b="1" dirty="0"/>
              <a:t>Приклад</a:t>
            </a:r>
            <a:r>
              <a:rPr lang="ru-RU" dirty="0"/>
              <a:t>: </a:t>
            </a:r>
            <a:r>
              <a:rPr lang="ru-RU" dirty="0" err="1"/>
              <a:t>Уявіть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у вас є система, яка </a:t>
            </a:r>
            <a:r>
              <a:rPr lang="ru-RU" dirty="0" err="1"/>
              <a:t>використовує</a:t>
            </a:r>
            <a:r>
              <a:rPr lang="ru-RU" dirty="0"/>
              <a:t> </a:t>
            </a:r>
            <a:r>
              <a:rPr lang="ru-RU" dirty="0" err="1"/>
              <a:t>старий</a:t>
            </a:r>
            <a:r>
              <a:rPr lang="ru-RU" dirty="0"/>
              <a:t> </a:t>
            </a:r>
            <a:r>
              <a:rPr lang="en-US" dirty="0"/>
              <a:t>API </a:t>
            </a:r>
            <a:r>
              <a:rPr lang="ru-RU" dirty="0"/>
              <a:t>для </a:t>
            </a:r>
            <a:r>
              <a:rPr lang="ru-RU" dirty="0" err="1"/>
              <a:t>роботи</a:t>
            </a:r>
            <a:r>
              <a:rPr lang="ru-RU" dirty="0"/>
              <a:t> з базою </a:t>
            </a:r>
            <a:r>
              <a:rPr lang="ru-RU" dirty="0" err="1"/>
              <a:t>даних</a:t>
            </a:r>
            <a:r>
              <a:rPr lang="ru-RU" dirty="0"/>
              <a:t>, але </a:t>
            </a:r>
            <a:r>
              <a:rPr lang="ru-RU" dirty="0" err="1"/>
              <a:t>тепер</a:t>
            </a:r>
            <a:r>
              <a:rPr lang="ru-RU" dirty="0"/>
              <a:t>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en-US" dirty="0"/>
              <a:t>API. </a:t>
            </a:r>
            <a:r>
              <a:rPr lang="ru-RU" dirty="0"/>
              <a:t>Адаптер дозволить </a:t>
            </a:r>
            <a:r>
              <a:rPr lang="ru-RU" dirty="0" err="1"/>
              <a:t>зберегти</a:t>
            </a:r>
            <a:r>
              <a:rPr lang="ru-RU" dirty="0"/>
              <a:t> </a:t>
            </a:r>
            <a:r>
              <a:rPr lang="ru-RU" dirty="0" err="1"/>
              <a:t>існуючий</a:t>
            </a:r>
            <a:r>
              <a:rPr lang="ru-RU" dirty="0"/>
              <a:t> код, просто обернувши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en-US" dirty="0"/>
              <a:t>API </a:t>
            </a:r>
            <a:r>
              <a:rPr lang="ru-RU" dirty="0"/>
              <a:t>в адаптер,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старому </a:t>
            </a:r>
            <a:r>
              <a:rPr lang="ru-RU" dirty="0" err="1"/>
              <a:t>інтерфейсу</a:t>
            </a:r>
            <a:r>
              <a:rPr lang="ru-RU" dirty="0"/>
              <a:t>.</a:t>
            </a:r>
          </a:p>
          <a:p>
            <a:endParaRPr lang="ru-RU" dirty="0"/>
          </a:p>
        </p:txBody>
      </p:sp>
      <p:sp>
        <p:nvSpPr>
          <p:cNvPr id="6" name="Текст 5"/>
          <p:cNvSpPr>
            <a:spLocks noGrp="1"/>
          </p:cNvSpPr>
          <p:nvPr>
            <p:ph type="body" sz="quarter" idx="3"/>
          </p:nvPr>
        </p:nvSpPr>
        <p:spPr>
          <a:xfrm>
            <a:off x="1617662" y="5162551"/>
            <a:ext cx="4041775" cy="639762"/>
          </a:xfrm>
        </p:spPr>
        <p:txBody>
          <a:bodyPr/>
          <a:lstStyle/>
          <a:p>
            <a:r>
              <a:rPr lang="uk-UA" dirty="0"/>
              <a:t>Посилання на статтю</a:t>
            </a:r>
            <a:endParaRPr lang="ru-RU" dirty="0"/>
          </a:p>
        </p:txBody>
      </p:sp>
      <p:sp>
        <p:nvSpPr>
          <p:cNvPr id="7" name="Объект 6"/>
          <p:cNvSpPr>
            <a:spLocks noGrp="1"/>
          </p:cNvSpPr>
          <p:nvPr>
            <p:ph sz="quarter" idx="4"/>
          </p:nvPr>
        </p:nvSpPr>
        <p:spPr>
          <a:xfrm>
            <a:off x="1739901" y="5791200"/>
            <a:ext cx="6946900" cy="8763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https://itvdn.com/ua/blog/article/what-are-design-patterns-in-programming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016805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Bridge&amp; Composite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Bridge (</a:t>
            </a:r>
            <a:r>
              <a:rPr lang="ru-RU" dirty="0" err="1"/>
              <a:t>Міст</a:t>
            </a:r>
            <a:r>
              <a:rPr lang="ru-RU" dirty="0"/>
              <a:t>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Розділяє</a:t>
            </a:r>
            <a:r>
              <a:rPr lang="ru-RU" dirty="0"/>
              <a:t> </a:t>
            </a:r>
            <a:r>
              <a:rPr lang="ru-RU" dirty="0" err="1"/>
              <a:t>абстракцію</a:t>
            </a:r>
            <a:r>
              <a:rPr lang="ru-RU" dirty="0"/>
              <a:t> (</a:t>
            </a:r>
            <a:r>
              <a:rPr lang="ru-RU" dirty="0" err="1"/>
              <a:t>логіку</a:t>
            </a:r>
            <a:r>
              <a:rPr lang="ru-RU" dirty="0"/>
              <a:t>) та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реалізацію</a:t>
            </a:r>
            <a:r>
              <a:rPr lang="ru-RU" dirty="0"/>
              <a:t> так, </a:t>
            </a:r>
            <a:r>
              <a:rPr lang="ru-RU" dirty="0" err="1"/>
              <a:t>щоб</a:t>
            </a:r>
            <a:r>
              <a:rPr lang="ru-RU" dirty="0"/>
              <a:t> вони могли </a:t>
            </a:r>
            <a:r>
              <a:rPr lang="ru-RU" dirty="0" err="1"/>
              <a:t>змінюватися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одна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одної</a:t>
            </a:r>
            <a:r>
              <a:rPr lang="ru-RU" dirty="0"/>
              <a:t>.</a:t>
            </a:r>
          </a:p>
          <a:p>
            <a:r>
              <a:rPr lang="ru-RU" dirty="0"/>
              <a:t>Приклад: У </a:t>
            </a:r>
            <a:r>
              <a:rPr lang="ru-RU" dirty="0" err="1"/>
              <a:t>графічних</a:t>
            </a:r>
            <a:r>
              <a:rPr lang="ru-RU" dirty="0"/>
              <a:t> редакторах </a:t>
            </a:r>
            <a:r>
              <a:rPr lang="ru-RU" dirty="0" err="1"/>
              <a:t>можуть</a:t>
            </a:r>
            <a:r>
              <a:rPr lang="ru-RU" dirty="0"/>
              <a:t> бути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для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типів</a:t>
            </a:r>
            <a:r>
              <a:rPr lang="ru-RU" dirty="0"/>
              <a:t> </a:t>
            </a:r>
            <a:r>
              <a:rPr lang="ru-RU" dirty="0" err="1"/>
              <a:t>фігур</a:t>
            </a:r>
            <a:r>
              <a:rPr lang="ru-RU" dirty="0"/>
              <a:t> (кола, </a:t>
            </a:r>
            <a:r>
              <a:rPr lang="ru-RU" dirty="0" err="1"/>
              <a:t>квадрати</a:t>
            </a:r>
            <a:r>
              <a:rPr lang="ru-RU" dirty="0"/>
              <a:t>) і </a:t>
            </a:r>
            <a:r>
              <a:rPr lang="ru-RU" dirty="0" err="1"/>
              <a:t>різні</a:t>
            </a:r>
            <a:r>
              <a:rPr lang="ru-RU" dirty="0"/>
              <a:t> </a:t>
            </a:r>
            <a:r>
              <a:rPr lang="ru-RU" dirty="0" err="1"/>
              <a:t>стилі</a:t>
            </a:r>
            <a:r>
              <a:rPr lang="ru-RU" dirty="0"/>
              <a:t> </a:t>
            </a:r>
            <a:r>
              <a:rPr lang="ru-RU" dirty="0" err="1"/>
              <a:t>відображення</a:t>
            </a:r>
            <a:r>
              <a:rPr lang="ru-RU" dirty="0"/>
              <a:t> (</a:t>
            </a:r>
            <a:r>
              <a:rPr lang="ru-RU" dirty="0" err="1"/>
              <a:t>чорне-біле</a:t>
            </a:r>
            <a:r>
              <a:rPr lang="ru-RU" dirty="0"/>
              <a:t>, </a:t>
            </a:r>
            <a:r>
              <a:rPr lang="ru-RU" dirty="0" err="1"/>
              <a:t>кольорове</a:t>
            </a:r>
            <a:r>
              <a:rPr lang="ru-RU" dirty="0"/>
              <a:t>). </a:t>
            </a:r>
            <a:r>
              <a:rPr lang="ru-RU" dirty="0" err="1"/>
              <a:t>Міст</a:t>
            </a:r>
            <a:r>
              <a:rPr lang="ru-RU" dirty="0"/>
              <a:t>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як </a:t>
            </a:r>
            <a:r>
              <a:rPr lang="ru-RU" dirty="0" err="1"/>
              <a:t>фігуру</a:t>
            </a:r>
            <a:r>
              <a:rPr lang="ru-RU" dirty="0"/>
              <a:t>, так і </a:t>
            </a:r>
            <a:r>
              <a:rPr lang="ru-RU" dirty="0" err="1"/>
              <a:t>її</a:t>
            </a:r>
            <a:r>
              <a:rPr lang="ru-RU" dirty="0"/>
              <a:t> </a:t>
            </a:r>
            <a:r>
              <a:rPr lang="ru-RU" dirty="0" err="1"/>
              <a:t>відображення</a:t>
            </a:r>
            <a:r>
              <a:rPr lang="ru-RU" dirty="0"/>
              <a:t> </a:t>
            </a:r>
            <a:r>
              <a:rPr lang="ru-RU" dirty="0" err="1"/>
              <a:t>незалежно</a:t>
            </a:r>
            <a:r>
              <a:rPr lang="ru-RU" dirty="0"/>
              <a:t> один </a:t>
            </a:r>
            <a:r>
              <a:rPr lang="ru-RU" dirty="0" err="1"/>
              <a:t>від</a:t>
            </a:r>
            <a:r>
              <a:rPr lang="ru-RU" dirty="0"/>
              <a:t> одного.</a:t>
            </a:r>
          </a:p>
          <a:p>
            <a:r>
              <a:rPr lang="en-US" dirty="0"/>
              <a:t>Composite (</a:t>
            </a:r>
            <a:r>
              <a:rPr lang="ru-RU" dirty="0" err="1"/>
              <a:t>Компонувальник</a:t>
            </a:r>
            <a:r>
              <a:rPr lang="ru-RU" dirty="0"/>
              <a:t>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дерева </a:t>
            </a:r>
            <a:r>
              <a:rPr lang="ru-RU" dirty="0" err="1"/>
              <a:t>об'єктів</a:t>
            </a:r>
            <a:r>
              <a:rPr lang="ru-RU" dirty="0"/>
              <a:t>, де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і </a:t>
            </a:r>
            <a:r>
              <a:rPr lang="ru-RU" dirty="0" err="1"/>
              <a:t>групи</a:t>
            </a:r>
            <a:r>
              <a:rPr lang="ru-RU" dirty="0"/>
              <a:t> </a:t>
            </a:r>
            <a:r>
              <a:rPr lang="ru-RU" dirty="0" err="1"/>
              <a:t>об'єктів</a:t>
            </a:r>
            <a:r>
              <a:rPr lang="ru-RU" dirty="0"/>
              <a:t> </a:t>
            </a:r>
            <a:r>
              <a:rPr lang="ru-RU" dirty="0" err="1"/>
              <a:t>обробляються</a:t>
            </a:r>
            <a:r>
              <a:rPr lang="ru-RU" dirty="0"/>
              <a:t> </a:t>
            </a:r>
            <a:r>
              <a:rPr lang="ru-RU" dirty="0" err="1"/>
              <a:t>однаково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корисно</a:t>
            </a:r>
            <a:r>
              <a:rPr lang="ru-RU" dirty="0"/>
              <a:t> для </a:t>
            </a:r>
            <a:r>
              <a:rPr lang="ru-RU" dirty="0" err="1"/>
              <a:t>реалізації</a:t>
            </a:r>
            <a:r>
              <a:rPr lang="ru-RU" dirty="0"/>
              <a:t> </a:t>
            </a:r>
            <a:r>
              <a:rPr lang="ru-RU" dirty="0" err="1"/>
              <a:t>ієрархічних</a:t>
            </a:r>
            <a:r>
              <a:rPr lang="ru-RU" dirty="0"/>
              <a:t> структур.</a:t>
            </a:r>
          </a:p>
          <a:p>
            <a:r>
              <a:rPr lang="ru-RU" dirty="0"/>
              <a:t>Приклад: Структура </a:t>
            </a:r>
            <a:r>
              <a:rPr lang="en-US" dirty="0"/>
              <a:t>GUI, </a:t>
            </a:r>
            <a:r>
              <a:rPr lang="ru-RU" dirty="0"/>
              <a:t>де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 (кнопки, </a:t>
            </a:r>
            <a:r>
              <a:rPr lang="ru-RU" dirty="0" err="1"/>
              <a:t>текстові</a:t>
            </a:r>
            <a:r>
              <a:rPr lang="ru-RU" dirty="0"/>
              <a:t> поля) і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групи</a:t>
            </a:r>
            <a:r>
              <a:rPr lang="ru-RU" dirty="0"/>
              <a:t> (</a:t>
            </a:r>
            <a:r>
              <a:rPr lang="ru-RU" dirty="0" err="1"/>
              <a:t>панелі</a:t>
            </a:r>
            <a:r>
              <a:rPr lang="ru-RU" dirty="0"/>
              <a:t>)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оброблятися</a:t>
            </a:r>
            <a:r>
              <a:rPr lang="ru-RU" dirty="0"/>
              <a:t> </a:t>
            </a:r>
            <a:r>
              <a:rPr lang="ru-RU" dirty="0" err="1"/>
              <a:t>однаково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5191363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Decorator&amp; Facade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68300" y="1219200"/>
            <a:ext cx="8597900" cy="54102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/>
              <a:t>Decorator (</a:t>
            </a:r>
            <a:r>
              <a:rPr lang="ru-RU" b="1" dirty="0"/>
              <a:t>Декоратор):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динамічно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 </a:t>
            </a:r>
            <a:r>
              <a:rPr lang="ru-RU" dirty="0" err="1"/>
              <a:t>об'єкту</a:t>
            </a:r>
            <a:r>
              <a:rPr lang="ru-RU" dirty="0"/>
              <a:t>, не 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Приклад: Наприклад, </a:t>
            </a:r>
            <a:r>
              <a:rPr lang="ru-RU" dirty="0" err="1"/>
              <a:t>ви</a:t>
            </a:r>
            <a:r>
              <a:rPr lang="ru-RU" dirty="0"/>
              <a:t> </a:t>
            </a:r>
            <a:r>
              <a:rPr lang="ru-RU" dirty="0" err="1"/>
              <a:t>маєте</a:t>
            </a:r>
            <a:r>
              <a:rPr lang="ru-RU" dirty="0"/>
              <a:t>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"</a:t>
            </a:r>
            <a:r>
              <a:rPr lang="ru-RU" dirty="0" err="1"/>
              <a:t>Напій</a:t>
            </a:r>
            <a:r>
              <a:rPr lang="ru-RU" dirty="0"/>
              <a:t>", а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класи-декоратори</a:t>
            </a:r>
            <a:r>
              <a:rPr lang="ru-RU" dirty="0"/>
              <a:t> для </a:t>
            </a:r>
            <a:r>
              <a:rPr lang="ru-RU" dirty="0" err="1"/>
              <a:t>додавання</a:t>
            </a:r>
            <a:r>
              <a:rPr lang="ru-RU" dirty="0"/>
              <a:t> </a:t>
            </a:r>
            <a:r>
              <a:rPr lang="ru-RU" dirty="0" err="1"/>
              <a:t>різних</a:t>
            </a:r>
            <a:r>
              <a:rPr lang="ru-RU" dirty="0"/>
              <a:t> </a:t>
            </a:r>
            <a:r>
              <a:rPr lang="ru-RU" dirty="0" err="1"/>
              <a:t>інгредієнтів</a:t>
            </a:r>
            <a:r>
              <a:rPr lang="ru-RU" dirty="0"/>
              <a:t> (молоко, шоколад). </a:t>
            </a:r>
            <a:r>
              <a:rPr lang="ru-RU" dirty="0" err="1"/>
              <a:t>Кожен</a:t>
            </a:r>
            <a:r>
              <a:rPr lang="ru-RU" dirty="0"/>
              <a:t> декоратор </a:t>
            </a:r>
            <a:r>
              <a:rPr lang="ru-RU" dirty="0" err="1"/>
              <a:t>обертає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 "</a:t>
            </a:r>
            <a:r>
              <a:rPr lang="ru-RU" dirty="0" err="1"/>
              <a:t>Напій</a:t>
            </a:r>
            <a:r>
              <a:rPr lang="ru-RU" dirty="0"/>
              <a:t>", </a:t>
            </a:r>
            <a:r>
              <a:rPr lang="ru-RU" dirty="0" err="1"/>
              <a:t>додаючи</a:t>
            </a:r>
            <a:r>
              <a:rPr lang="ru-RU" dirty="0"/>
              <a:t> до </a:t>
            </a:r>
            <a:r>
              <a:rPr lang="ru-RU" dirty="0" err="1"/>
              <a:t>нього</a:t>
            </a:r>
            <a:r>
              <a:rPr lang="ru-RU" dirty="0"/>
              <a:t> </a:t>
            </a:r>
            <a:r>
              <a:rPr lang="ru-RU" dirty="0" err="1"/>
              <a:t>нову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(</a:t>
            </a:r>
            <a:r>
              <a:rPr lang="ru-RU" dirty="0" err="1"/>
              <a:t>змінюючи</a:t>
            </a:r>
            <a:r>
              <a:rPr lang="ru-RU" dirty="0"/>
              <a:t> </a:t>
            </a:r>
            <a:r>
              <a:rPr lang="ru-RU" dirty="0" err="1"/>
              <a:t>ціну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склад).</a:t>
            </a:r>
            <a:endParaRPr lang="en-US" dirty="0"/>
          </a:p>
          <a:p>
            <a:r>
              <a:rPr lang="en-US" b="1" dirty="0"/>
              <a:t>Facade (</a:t>
            </a:r>
            <a:r>
              <a:rPr lang="ru-RU" b="1" dirty="0"/>
              <a:t>Фасад):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Надає</a:t>
            </a:r>
            <a:r>
              <a:rPr lang="ru-RU" dirty="0"/>
              <a:t> </a:t>
            </a:r>
            <a:r>
              <a:rPr lang="ru-RU" dirty="0" err="1"/>
              <a:t>спрощений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до </a:t>
            </a:r>
            <a:r>
              <a:rPr lang="ru-RU" dirty="0" err="1"/>
              <a:t>складної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набору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приховуючи</a:t>
            </a:r>
            <a:r>
              <a:rPr lang="ru-RU" dirty="0"/>
              <a:t> </a:t>
            </a:r>
            <a:r>
              <a:rPr lang="ru-RU" dirty="0" err="1"/>
              <a:t>внутрішню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 за простим </a:t>
            </a:r>
            <a:r>
              <a:rPr lang="ru-RU" dirty="0" err="1"/>
              <a:t>інтерфейсом</a:t>
            </a:r>
            <a:r>
              <a:rPr lang="ru-RU" dirty="0"/>
              <a:t>.</a:t>
            </a:r>
            <a:endParaRPr lang="en-US" dirty="0"/>
          </a:p>
          <a:p>
            <a:r>
              <a:rPr lang="ru-RU" dirty="0"/>
              <a:t>Приклад: Фасад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в </a:t>
            </a:r>
            <a:r>
              <a:rPr lang="ru-RU" dirty="0" err="1"/>
              <a:t>банківській</a:t>
            </a:r>
            <a:r>
              <a:rPr lang="ru-RU" dirty="0"/>
              <a:t> </a:t>
            </a:r>
            <a:r>
              <a:rPr lang="ru-RU" dirty="0" err="1"/>
              <a:t>системі</a:t>
            </a:r>
            <a:r>
              <a:rPr lang="ru-RU" dirty="0"/>
              <a:t> для </a:t>
            </a:r>
            <a:r>
              <a:rPr lang="ru-RU" dirty="0" err="1"/>
              <a:t>приховування</a:t>
            </a:r>
            <a:r>
              <a:rPr lang="ru-RU" dirty="0"/>
              <a:t>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операцій</a:t>
            </a:r>
            <a:r>
              <a:rPr lang="ru-RU" dirty="0"/>
              <a:t> (</a:t>
            </a:r>
            <a:r>
              <a:rPr lang="ru-RU" dirty="0" err="1"/>
              <a:t>перевірка</a:t>
            </a:r>
            <a:r>
              <a:rPr lang="ru-RU" dirty="0"/>
              <a:t> </a:t>
            </a:r>
            <a:r>
              <a:rPr lang="ru-RU" dirty="0" err="1"/>
              <a:t>рахунку</a:t>
            </a:r>
            <a:r>
              <a:rPr lang="ru-RU" dirty="0"/>
              <a:t>, </a:t>
            </a:r>
            <a:r>
              <a:rPr lang="ru-RU" dirty="0" err="1"/>
              <a:t>авторизація</a:t>
            </a:r>
            <a:r>
              <a:rPr lang="ru-RU" dirty="0"/>
              <a:t> </a:t>
            </a:r>
            <a:r>
              <a:rPr lang="ru-RU" dirty="0" err="1"/>
              <a:t>транзакцій</a:t>
            </a:r>
            <a:r>
              <a:rPr lang="ru-RU" dirty="0"/>
              <a:t>) за простим методом,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викликає</a:t>
            </a:r>
            <a:r>
              <a:rPr lang="ru-RU" dirty="0"/>
              <a:t>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операції</a:t>
            </a:r>
            <a:r>
              <a:rPr lang="ru-RU" dirty="0"/>
              <a:t> у </a:t>
            </a:r>
            <a:r>
              <a:rPr lang="ru-RU" dirty="0" err="1"/>
              <a:t>потрібному</a:t>
            </a:r>
            <a:r>
              <a:rPr lang="ru-RU" dirty="0"/>
              <a:t> порядку.</a:t>
            </a:r>
          </a:p>
        </p:txBody>
      </p:sp>
    </p:spTree>
    <p:extLst>
      <p:ext uri="{BB962C8B-B14F-4D97-AF65-F5344CB8AC3E}">
        <p14:creationId xmlns:p14="http://schemas.microsoft.com/office/powerpoint/2010/main" val="236517781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Flyweight&amp; Proxy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7200" y="1600200"/>
            <a:ext cx="8496300" cy="491490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b="1" dirty="0"/>
              <a:t>Flyweight </a:t>
            </a:r>
            <a:r>
              <a:rPr lang="en-US" dirty="0"/>
              <a:t>(</a:t>
            </a:r>
            <a:r>
              <a:rPr lang="ru-RU" dirty="0" err="1"/>
              <a:t>Приспособленець</a:t>
            </a:r>
            <a:r>
              <a:rPr lang="ru-RU" dirty="0"/>
              <a:t>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Дозволяє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витрати</a:t>
            </a:r>
            <a:r>
              <a:rPr lang="ru-RU" dirty="0"/>
              <a:t> на </a:t>
            </a:r>
            <a:r>
              <a:rPr lang="ru-RU" dirty="0" err="1"/>
              <a:t>зберігання</a:t>
            </a:r>
            <a:r>
              <a:rPr lang="ru-RU" dirty="0"/>
              <a:t> </a:t>
            </a:r>
            <a:r>
              <a:rPr lang="ru-RU" dirty="0" err="1"/>
              <a:t>великої</a:t>
            </a:r>
            <a:r>
              <a:rPr lang="ru-RU" dirty="0"/>
              <a:t> </a:t>
            </a:r>
            <a:r>
              <a:rPr lang="ru-RU" dirty="0" err="1"/>
              <a:t>кількості</a:t>
            </a:r>
            <a:r>
              <a:rPr lang="ru-RU" dirty="0"/>
              <a:t> схожих </a:t>
            </a:r>
            <a:r>
              <a:rPr lang="ru-RU" dirty="0" err="1"/>
              <a:t>об'єктів</a:t>
            </a:r>
            <a:r>
              <a:rPr lang="ru-RU" dirty="0"/>
              <a:t>, </a:t>
            </a:r>
            <a:r>
              <a:rPr lang="ru-RU" dirty="0" err="1"/>
              <a:t>розділяючи</a:t>
            </a:r>
            <a:r>
              <a:rPr lang="ru-RU" dirty="0"/>
              <a:t> </a:t>
            </a:r>
            <a:r>
              <a:rPr lang="ru-RU" dirty="0" err="1"/>
              <a:t>загальні</a:t>
            </a:r>
            <a:r>
              <a:rPr lang="ru-RU" dirty="0"/>
              <a:t>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ними.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Приклад: Використовується в </a:t>
            </a:r>
            <a:r>
              <a:rPr lang="ru-RU" dirty="0" err="1"/>
              <a:t>графічних</a:t>
            </a:r>
            <a:r>
              <a:rPr lang="ru-RU" dirty="0"/>
              <a:t> системах для повторного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графічних</a:t>
            </a:r>
            <a:r>
              <a:rPr lang="ru-RU" dirty="0"/>
              <a:t> </a:t>
            </a:r>
            <a:r>
              <a:rPr lang="ru-RU" dirty="0" err="1"/>
              <a:t>елементів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літери</a:t>
            </a:r>
            <a:r>
              <a:rPr lang="ru-RU" dirty="0"/>
              <a:t> в </a:t>
            </a:r>
            <a:r>
              <a:rPr lang="ru-RU" dirty="0" err="1"/>
              <a:t>тексті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елементи</a:t>
            </a:r>
            <a:r>
              <a:rPr lang="ru-RU" dirty="0"/>
              <a:t> </a:t>
            </a:r>
            <a:r>
              <a:rPr lang="ru-RU" dirty="0" err="1"/>
              <a:t>візуалізації</a:t>
            </a:r>
            <a:r>
              <a:rPr lang="ru-RU" dirty="0"/>
              <a:t>),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пам'яті</a:t>
            </a:r>
            <a:r>
              <a:rPr lang="ru-RU" dirty="0"/>
              <a:t>.</a:t>
            </a:r>
            <a:endParaRPr lang="en-US" dirty="0"/>
          </a:p>
          <a:p>
            <a:pPr marL="0" indent="0">
              <a:buNone/>
            </a:pPr>
            <a:r>
              <a:rPr lang="en-US" b="1" dirty="0"/>
              <a:t>Proxy (</a:t>
            </a:r>
            <a:r>
              <a:rPr lang="ru-RU" b="1" dirty="0" err="1"/>
              <a:t>Проксі</a:t>
            </a:r>
            <a:r>
              <a:rPr lang="ru-RU" dirty="0"/>
              <a:t>):</a:t>
            </a:r>
            <a:r>
              <a:rPr lang="ru-RU" dirty="0" err="1"/>
              <a:t>Призначення</a:t>
            </a:r>
            <a:r>
              <a:rPr lang="ru-RU" dirty="0"/>
              <a:t>: </a:t>
            </a:r>
            <a:r>
              <a:rPr lang="ru-RU" dirty="0" err="1"/>
              <a:t>Забезпечує</a:t>
            </a:r>
            <a:r>
              <a:rPr lang="ru-RU" dirty="0"/>
              <a:t> </a:t>
            </a:r>
            <a:r>
              <a:rPr lang="ru-RU" dirty="0" err="1"/>
              <a:t>замісний</a:t>
            </a:r>
            <a:r>
              <a:rPr lang="ru-RU" dirty="0"/>
              <a:t> </a:t>
            </a:r>
            <a:r>
              <a:rPr lang="ru-RU" dirty="0" err="1"/>
              <a:t>об'єкт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контролює</a:t>
            </a:r>
            <a:r>
              <a:rPr lang="ru-RU" dirty="0"/>
              <a:t> доступ до </a:t>
            </a:r>
            <a:r>
              <a:rPr lang="ru-RU" dirty="0" err="1"/>
              <a:t>іншого</a:t>
            </a:r>
            <a:r>
              <a:rPr lang="ru-RU" dirty="0"/>
              <a:t> </a:t>
            </a:r>
            <a:r>
              <a:rPr lang="ru-RU" dirty="0" err="1"/>
              <a:t>об'єкта</a:t>
            </a:r>
            <a:r>
              <a:rPr lang="ru-RU" dirty="0"/>
              <a:t>. Використовується для </a:t>
            </a:r>
            <a:r>
              <a:rPr lang="ru-RU" dirty="0" err="1"/>
              <a:t>створення</a:t>
            </a:r>
            <a:r>
              <a:rPr lang="ru-RU" dirty="0"/>
              <a:t> "</a:t>
            </a:r>
            <a:r>
              <a:rPr lang="ru-RU" dirty="0" err="1"/>
              <a:t>посередника</a:t>
            </a:r>
            <a:r>
              <a:rPr lang="ru-RU" dirty="0"/>
              <a:t>",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додаткову</a:t>
            </a:r>
            <a:r>
              <a:rPr lang="ru-RU" dirty="0"/>
              <a:t> </a:t>
            </a:r>
            <a:r>
              <a:rPr lang="ru-RU" dirty="0" err="1"/>
              <a:t>функціональність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</a:t>
            </a:r>
            <a:r>
              <a:rPr lang="ru-RU" dirty="0" err="1"/>
              <a:t>кешування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контроль доступу).</a:t>
            </a:r>
            <a:endParaRPr lang="en-US" dirty="0"/>
          </a:p>
          <a:p>
            <a:pPr marL="0" indent="0">
              <a:buNone/>
            </a:pPr>
            <a:r>
              <a:rPr lang="ru-RU" dirty="0"/>
              <a:t>Приклад: </a:t>
            </a:r>
            <a:r>
              <a:rPr lang="ru-RU" dirty="0" err="1"/>
              <a:t>Проксі</a:t>
            </a:r>
            <a:r>
              <a:rPr lang="ru-RU" dirty="0"/>
              <a:t> для </a:t>
            </a:r>
            <a:r>
              <a:rPr lang="ru-RU" dirty="0" err="1"/>
              <a:t>підключення</a:t>
            </a:r>
            <a:r>
              <a:rPr lang="ru-RU" dirty="0"/>
              <a:t> до </a:t>
            </a:r>
            <a:r>
              <a:rPr lang="ru-RU" dirty="0" err="1"/>
              <a:t>бази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перевіряти</a:t>
            </a:r>
            <a:r>
              <a:rPr lang="ru-RU" dirty="0"/>
              <a:t> права доступу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кешувати</a:t>
            </a:r>
            <a:r>
              <a:rPr lang="ru-RU" dirty="0"/>
              <a:t> результат </a:t>
            </a:r>
            <a:r>
              <a:rPr lang="ru-RU" dirty="0" err="1"/>
              <a:t>запиту</a:t>
            </a:r>
            <a:r>
              <a:rPr lang="ru-RU" dirty="0"/>
              <a:t> для </a:t>
            </a:r>
            <a:r>
              <a:rPr lang="ru-RU" dirty="0" err="1"/>
              <a:t>підвищення</a:t>
            </a:r>
            <a:r>
              <a:rPr lang="ru-RU" dirty="0"/>
              <a:t> </a:t>
            </a:r>
            <a:r>
              <a:rPr lang="ru-RU" dirty="0" err="1"/>
              <a:t>продуктивності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12815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 err="1"/>
              <a:t>Переваги</a:t>
            </a:r>
            <a:r>
              <a:rPr lang="en-US" b="1" dirty="0"/>
              <a:t> </a:t>
            </a:r>
            <a:r>
              <a:rPr lang="uk-UA" b="1" dirty="0"/>
              <a:t>та недоліки</a:t>
            </a:r>
            <a:r>
              <a:rPr lang="ru-RU" b="1" dirty="0"/>
              <a:t> </a:t>
            </a:r>
            <a:r>
              <a:rPr lang="ru-RU" b="1" dirty="0" err="1"/>
              <a:t>структурних</a:t>
            </a:r>
            <a:r>
              <a:rPr lang="ru-RU" b="1" dirty="0"/>
              <a:t> </a:t>
            </a:r>
            <a:r>
              <a:rPr lang="ru-RU" b="1" dirty="0" err="1"/>
              <a:t>шаблонів</a:t>
            </a:r>
            <a:r>
              <a:rPr lang="ru-RU" b="1" dirty="0"/>
              <a:t>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4000" y="1193800"/>
            <a:ext cx="8737600" cy="5524500"/>
          </a:xfrm>
        </p:spPr>
        <p:txBody>
          <a:bodyPr>
            <a:normAutofit fontScale="70000" lnSpcReduction="20000"/>
          </a:bodyPr>
          <a:lstStyle/>
          <a:p>
            <a:endParaRPr lang="ru-RU" b="1" dirty="0"/>
          </a:p>
          <a:p>
            <a:r>
              <a:rPr lang="ru-RU" b="1" dirty="0" err="1"/>
              <a:t>Переваги</a:t>
            </a:r>
            <a:endParaRPr lang="ru-RU" b="1" dirty="0"/>
          </a:p>
          <a:p>
            <a:r>
              <a:rPr lang="ru-RU" b="1" dirty="0" err="1"/>
              <a:t>Зменшення</a:t>
            </a:r>
            <a:r>
              <a:rPr lang="ru-RU" b="1" dirty="0"/>
              <a:t> </a:t>
            </a:r>
            <a:r>
              <a:rPr lang="ru-RU" b="1" dirty="0" err="1"/>
              <a:t>складності</a:t>
            </a:r>
            <a:r>
              <a:rPr lang="ru-RU" b="1" dirty="0"/>
              <a:t> </a:t>
            </a:r>
            <a:r>
              <a:rPr lang="ru-RU" b="1" dirty="0" err="1"/>
              <a:t>системи</a:t>
            </a:r>
            <a:r>
              <a:rPr lang="ru-RU" dirty="0"/>
              <a:t>: Вони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, </a:t>
            </a:r>
            <a:r>
              <a:rPr lang="ru-RU" dirty="0" err="1"/>
              <a:t>забезпечуючи</a:t>
            </a:r>
            <a:r>
              <a:rPr lang="ru-RU" dirty="0"/>
              <a:t> </a:t>
            </a:r>
            <a:r>
              <a:rPr lang="ru-RU" dirty="0" err="1"/>
              <a:t>чітке</a:t>
            </a:r>
            <a:r>
              <a:rPr lang="ru-RU" dirty="0"/>
              <a:t> </a:t>
            </a:r>
            <a:r>
              <a:rPr lang="ru-RU" dirty="0" err="1"/>
              <a:t>розділення</a:t>
            </a:r>
            <a:r>
              <a:rPr lang="ru-RU" dirty="0"/>
              <a:t> </a:t>
            </a:r>
            <a:r>
              <a:rPr lang="ru-RU" dirty="0" err="1"/>
              <a:t>відповідальностей</a:t>
            </a:r>
            <a:r>
              <a:rPr lang="ru-RU" dirty="0"/>
              <a:t>.</a:t>
            </a:r>
          </a:p>
          <a:p>
            <a:r>
              <a:rPr lang="ru-RU" b="1" dirty="0" err="1"/>
              <a:t>Гнучкість</a:t>
            </a:r>
            <a:r>
              <a:rPr lang="ru-RU" dirty="0"/>
              <a:t>: </a:t>
            </a:r>
            <a:r>
              <a:rPr lang="ru-RU" dirty="0" err="1"/>
              <a:t>Легше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розширювати</a:t>
            </a:r>
            <a:r>
              <a:rPr lang="ru-RU" dirty="0"/>
              <a:t> систему </a:t>
            </a:r>
            <a:r>
              <a:rPr lang="ru-RU" dirty="0" err="1"/>
              <a:t>завдяки</a:t>
            </a:r>
            <a:r>
              <a:rPr lang="ru-RU" dirty="0"/>
              <a:t> </a:t>
            </a:r>
            <a:r>
              <a:rPr lang="ru-RU" dirty="0" err="1"/>
              <a:t>незалежності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r>
              <a:rPr lang="ru-RU" b="1" dirty="0" err="1"/>
              <a:t>Повторне</a:t>
            </a:r>
            <a:r>
              <a:rPr lang="ru-RU" b="1" dirty="0"/>
              <a:t> </a:t>
            </a:r>
            <a:r>
              <a:rPr lang="ru-RU" b="1" dirty="0" err="1"/>
              <a:t>використання</a:t>
            </a:r>
            <a:r>
              <a:rPr lang="ru-RU" b="1" dirty="0"/>
              <a:t> коду</a:t>
            </a:r>
            <a:r>
              <a:rPr lang="ru-RU" dirty="0"/>
              <a:t>: </a:t>
            </a:r>
            <a:r>
              <a:rPr lang="ru-RU" dirty="0" err="1"/>
              <a:t>Забезпечують</a:t>
            </a:r>
            <a:r>
              <a:rPr lang="ru-RU" dirty="0"/>
              <a:t>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коду та </a:t>
            </a:r>
            <a:r>
              <a:rPr lang="ru-RU" dirty="0" err="1"/>
              <a:t>логіки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знижує</a:t>
            </a:r>
            <a:r>
              <a:rPr lang="ru-RU" dirty="0"/>
              <a:t> </a:t>
            </a:r>
            <a:r>
              <a:rPr lang="ru-RU" dirty="0" err="1"/>
              <a:t>витрати</a:t>
            </a:r>
            <a:r>
              <a:rPr lang="ru-RU" dirty="0"/>
              <a:t> на </a:t>
            </a:r>
            <a:r>
              <a:rPr lang="ru-RU" dirty="0" err="1"/>
              <a:t>розробку</a:t>
            </a:r>
            <a:r>
              <a:rPr lang="ru-RU" dirty="0"/>
              <a:t> та </a:t>
            </a:r>
            <a:r>
              <a:rPr lang="ru-RU" dirty="0" err="1"/>
              <a:t>підтримку</a:t>
            </a:r>
            <a:r>
              <a:rPr lang="ru-RU" dirty="0"/>
              <a:t>.</a:t>
            </a:r>
          </a:p>
          <a:p>
            <a:r>
              <a:rPr lang="ru-RU" b="1" dirty="0" err="1"/>
              <a:t>Недоліки</a:t>
            </a:r>
            <a:r>
              <a:rPr lang="ru-RU" b="1" dirty="0"/>
              <a:t> </a:t>
            </a:r>
            <a:r>
              <a:rPr lang="ru-RU" b="1" dirty="0" err="1"/>
              <a:t>структурних</a:t>
            </a:r>
            <a:r>
              <a:rPr lang="ru-RU" b="1" dirty="0"/>
              <a:t> </a:t>
            </a:r>
            <a:r>
              <a:rPr lang="ru-RU" b="1" dirty="0" err="1"/>
              <a:t>шаблонів</a:t>
            </a:r>
            <a:r>
              <a:rPr lang="ru-RU" b="1" dirty="0"/>
              <a:t>:</a:t>
            </a:r>
          </a:p>
          <a:p>
            <a:r>
              <a:rPr lang="ru-RU" b="1" dirty="0" err="1"/>
              <a:t>Додаткова</a:t>
            </a:r>
            <a:r>
              <a:rPr lang="ru-RU" b="1" dirty="0"/>
              <a:t> </a:t>
            </a:r>
            <a:r>
              <a:rPr lang="ru-RU" b="1" dirty="0" err="1"/>
              <a:t>складність</a:t>
            </a:r>
            <a:r>
              <a:rPr lang="ru-RU" dirty="0"/>
              <a:t>: </a:t>
            </a:r>
            <a:r>
              <a:rPr lang="ru-RU" dirty="0" err="1"/>
              <a:t>Іноді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шаблону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зайву</a:t>
            </a:r>
            <a:r>
              <a:rPr lang="ru-RU" dirty="0"/>
              <a:t> </a:t>
            </a:r>
            <a:r>
              <a:rPr lang="ru-RU" dirty="0" err="1"/>
              <a:t>складність</a:t>
            </a:r>
            <a:r>
              <a:rPr lang="ru-RU" dirty="0"/>
              <a:t>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впровадження</a:t>
            </a:r>
            <a:r>
              <a:rPr lang="ru-RU" dirty="0"/>
              <a:t> не є </a:t>
            </a:r>
            <a:r>
              <a:rPr lang="ru-RU" dirty="0" err="1"/>
              <a:t>необхідним</a:t>
            </a:r>
            <a:r>
              <a:rPr lang="ru-RU" dirty="0"/>
              <a:t>.</a:t>
            </a:r>
          </a:p>
          <a:p>
            <a:r>
              <a:rPr lang="ru-RU" b="1" dirty="0" err="1"/>
              <a:t>Витрати</a:t>
            </a:r>
            <a:r>
              <a:rPr lang="ru-RU" b="1" dirty="0"/>
              <a:t> на </a:t>
            </a:r>
            <a:r>
              <a:rPr lang="ru-RU" b="1" dirty="0" err="1"/>
              <a:t>розуміння</a:t>
            </a:r>
            <a:r>
              <a:rPr lang="ru-RU" dirty="0"/>
              <a:t>: </a:t>
            </a:r>
            <a:r>
              <a:rPr lang="ru-RU" dirty="0" err="1"/>
              <a:t>Команди</a:t>
            </a:r>
            <a:r>
              <a:rPr lang="ru-RU" dirty="0"/>
              <a:t> </a:t>
            </a:r>
            <a:r>
              <a:rPr lang="ru-RU" dirty="0" err="1"/>
              <a:t>розробників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хороше</a:t>
            </a:r>
            <a:r>
              <a:rPr lang="ru-RU" dirty="0"/>
              <a:t> </a:t>
            </a:r>
            <a:r>
              <a:rPr lang="ru-RU" dirty="0" err="1"/>
              <a:t>розуміння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шаблонів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використовувати</a:t>
            </a:r>
            <a:r>
              <a:rPr lang="ru-RU" dirty="0"/>
              <a:t> </a:t>
            </a:r>
            <a:r>
              <a:rPr lang="ru-RU" dirty="0" err="1"/>
              <a:t>їх</a:t>
            </a:r>
            <a:r>
              <a:rPr lang="ru-RU" dirty="0"/>
              <a:t> </a:t>
            </a:r>
            <a:r>
              <a:rPr lang="ru-RU" dirty="0" err="1"/>
              <a:t>ефективно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9263435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 dirty="0"/>
              <a:t>резюме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lang="ru-RU" dirty="0" err="1"/>
              <a:t>Структурні</a:t>
            </a:r>
            <a:r>
              <a:rPr lang="ru-RU" dirty="0"/>
              <a:t> </a:t>
            </a:r>
            <a:r>
              <a:rPr lang="ru-RU" dirty="0" err="1"/>
              <a:t>шаблони</a:t>
            </a:r>
            <a:r>
              <a:rPr lang="ru-RU" dirty="0"/>
              <a:t> </a:t>
            </a:r>
            <a:r>
              <a:rPr lang="ru-RU" dirty="0" err="1"/>
              <a:t>проектування</a:t>
            </a:r>
            <a:r>
              <a:rPr lang="ru-RU" dirty="0"/>
              <a:t> </a:t>
            </a:r>
            <a:r>
              <a:rPr lang="ru-RU" dirty="0" err="1"/>
              <a:t>корисні</a:t>
            </a:r>
            <a:r>
              <a:rPr lang="ru-RU" dirty="0"/>
              <a:t>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масштабованих</a:t>
            </a:r>
            <a:r>
              <a:rPr lang="ru-RU" dirty="0"/>
              <a:t>, </a:t>
            </a:r>
            <a:r>
              <a:rPr lang="ru-RU" dirty="0" err="1"/>
              <a:t>підтримуваних</a:t>
            </a:r>
            <a:r>
              <a:rPr lang="ru-RU" dirty="0"/>
              <a:t> і добре </a:t>
            </a:r>
            <a:r>
              <a:rPr lang="ru-RU" dirty="0" err="1"/>
              <a:t>організованих</a:t>
            </a:r>
            <a:r>
              <a:rPr lang="ru-RU" dirty="0"/>
              <a:t> </a:t>
            </a:r>
            <a:r>
              <a:rPr lang="ru-RU" dirty="0" err="1"/>
              <a:t>програмних</a:t>
            </a:r>
            <a:r>
              <a:rPr lang="ru-RU" dirty="0"/>
              <a:t> систем, особливо коли </a:t>
            </a:r>
            <a:r>
              <a:rPr lang="ru-RU" dirty="0" err="1"/>
              <a:t>потрібно</a:t>
            </a:r>
            <a:r>
              <a:rPr lang="ru-RU" dirty="0"/>
              <a:t> </a:t>
            </a:r>
            <a:r>
              <a:rPr lang="ru-RU" dirty="0" err="1"/>
              <a:t>вирішувати</a:t>
            </a:r>
            <a:r>
              <a:rPr lang="ru-RU" dirty="0"/>
              <a:t> </a:t>
            </a:r>
            <a:r>
              <a:rPr lang="ru-RU" dirty="0" err="1"/>
              <a:t>складні</a:t>
            </a:r>
            <a:r>
              <a:rPr lang="ru-RU" dirty="0"/>
              <a:t> </a:t>
            </a:r>
            <a:r>
              <a:rPr lang="ru-RU" dirty="0" err="1"/>
              <a:t>завдання</a:t>
            </a:r>
            <a:r>
              <a:rPr lang="ru-RU" dirty="0"/>
              <a:t> з </a:t>
            </a:r>
            <a:r>
              <a:rPr lang="ru-RU" dirty="0" err="1"/>
              <a:t>побудови</a:t>
            </a:r>
            <a:r>
              <a:rPr lang="ru-RU" dirty="0"/>
              <a:t> </a:t>
            </a:r>
            <a:r>
              <a:rPr lang="ru-RU" dirty="0" err="1"/>
              <a:t>архітектури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оптимізувати</a:t>
            </a:r>
            <a:r>
              <a:rPr lang="ru-RU" dirty="0"/>
              <a:t> </a:t>
            </a:r>
            <a:r>
              <a:rPr lang="ru-RU" dirty="0" err="1"/>
              <a:t>взаємодію</a:t>
            </a:r>
            <a:r>
              <a:rPr lang="ru-RU" dirty="0"/>
              <a:t> </a:t>
            </a:r>
            <a:r>
              <a:rPr lang="ru-RU" dirty="0" err="1"/>
              <a:t>між</a:t>
            </a:r>
            <a:r>
              <a:rPr lang="ru-RU" dirty="0"/>
              <a:t> </a:t>
            </a:r>
            <a:r>
              <a:rPr lang="ru-RU" dirty="0" err="1"/>
              <a:t>класами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697871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Принципи SOLID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17638"/>
            <a:ext cx="8534400" cy="5110163"/>
          </a:xfrm>
        </p:spPr>
        <p:txBody>
          <a:bodyPr>
            <a:normAutofit fontScale="85000" lnSpcReduction="10000"/>
          </a:bodyPr>
          <a:lstStyle/>
          <a:p>
            <a:pPr marL="0" indent="107950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S</a:t>
            </a:r>
            <a:r>
              <a:rPr dirty="0"/>
              <a:t>: Single Responsibility Principle</a:t>
            </a:r>
          </a:p>
          <a:p>
            <a:pPr marL="0" indent="107950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O</a:t>
            </a:r>
            <a:r>
              <a:rPr dirty="0"/>
              <a:t>: Open-Closed Principle</a:t>
            </a:r>
          </a:p>
          <a:p>
            <a:pPr marL="0" indent="107950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L</a:t>
            </a:r>
            <a:r>
              <a:rPr dirty="0">
                <a:solidFill>
                  <a:srgbClr val="FF0000"/>
                </a:solidFill>
              </a:rPr>
              <a:t>:</a:t>
            </a:r>
            <a:r>
              <a:rPr dirty="0"/>
              <a:t> </a:t>
            </a:r>
            <a:r>
              <a:rPr dirty="0" err="1"/>
              <a:t>Liskov</a:t>
            </a:r>
            <a:r>
              <a:rPr dirty="0"/>
              <a:t> Substitution Principle</a:t>
            </a:r>
          </a:p>
          <a:p>
            <a:pPr marL="0" indent="1079500">
              <a:buNone/>
            </a:pPr>
            <a:r>
              <a:rPr dirty="0"/>
              <a:t>• </a:t>
            </a:r>
            <a:r>
              <a:rPr dirty="0">
                <a:solidFill>
                  <a:srgbClr val="FF0000"/>
                </a:solidFill>
              </a:rPr>
              <a:t>I</a:t>
            </a:r>
            <a:r>
              <a:rPr dirty="0"/>
              <a:t>: Interface Segregation Principle</a:t>
            </a:r>
          </a:p>
          <a:p>
            <a:pPr marL="0" indent="1079500">
              <a:buNone/>
            </a:pPr>
            <a:r>
              <a:rPr dirty="0"/>
              <a:t>• </a:t>
            </a:r>
            <a:r>
              <a:rPr b="1" dirty="0">
                <a:solidFill>
                  <a:srgbClr val="FF0000"/>
                </a:solidFill>
              </a:rPr>
              <a:t>D</a:t>
            </a:r>
            <a:r>
              <a:rPr dirty="0"/>
              <a:t>: Dependency Inversion Principle</a:t>
            </a:r>
            <a:endParaRPr lang="en-US" dirty="0"/>
          </a:p>
          <a:p>
            <a:pPr marL="0" indent="0" algn="just">
              <a:buNone/>
            </a:pPr>
            <a:r>
              <a:rPr lang="en-US" b="1" dirty="0"/>
              <a:t>SOLID</a:t>
            </a:r>
            <a:r>
              <a:rPr lang="en-US" dirty="0"/>
              <a:t> —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набір</a:t>
            </a:r>
            <a:r>
              <a:rPr lang="ru-RU" dirty="0"/>
              <a:t> </a:t>
            </a:r>
            <a:r>
              <a:rPr lang="ru-RU" dirty="0" err="1"/>
              <a:t>принципів</a:t>
            </a:r>
            <a:r>
              <a:rPr lang="ru-RU" dirty="0"/>
              <a:t> </a:t>
            </a:r>
            <a:r>
              <a:rPr lang="ru-RU" dirty="0" err="1"/>
              <a:t>об'єктно-орієнтованого</a:t>
            </a:r>
            <a:r>
              <a:rPr lang="ru-RU" dirty="0"/>
              <a:t> </a:t>
            </a:r>
            <a:r>
              <a:rPr lang="ru-RU" dirty="0" err="1"/>
              <a:t>програмування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допомагає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легкі</a:t>
            </a:r>
            <a:r>
              <a:rPr lang="ru-RU" dirty="0"/>
              <a:t> для </a:t>
            </a:r>
            <a:r>
              <a:rPr lang="ru-RU" dirty="0" err="1"/>
              <a:t>підтримки</a:t>
            </a:r>
            <a:r>
              <a:rPr lang="ru-RU" dirty="0"/>
              <a:t>, </a:t>
            </a:r>
            <a:r>
              <a:rPr lang="ru-RU" dirty="0" err="1"/>
              <a:t>розширення</a:t>
            </a:r>
            <a:r>
              <a:rPr lang="ru-RU" dirty="0"/>
              <a:t> та </a:t>
            </a:r>
            <a:r>
              <a:rPr lang="ru-RU" dirty="0" err="1"/>
              <a:t>масштабування</a:t>
            </a:r>
            <a:r>
              <a:rPr lang="ru-RU" dirty="0"/>
              <a:t> </a:t>
            </a:r>
            <a:r>
              <a:rPr lang="ru-RU" dirty="0" err="1"/>
              <a:t>програмні</a:t>
            </a:r>
            <a:r>
              <a:rPr lang="ru-RU" dirty="0"/>
              <a:t> </a:t>
            </a:r>
            <a:r>
              <a:rPr lang="ru-RU" dirty="0" err="1"/>
              <a:t>системи</a:t>
            </a:r>
            <a:r>
              <a:rPr lang="ru-RU" dirty="0"/>
              <a:t>. </a:t>
            </a:r>
            <a:r>
              <a:rPr lang="ru-RU" dirty="0" err="1"/>
              <a:t>Ці</a:t>
            </a:r>
            <a:r>
              <a:rPr lang="ru-RU" dirty="0"/>
              <a:t> </a:t>
            </a:r>
            <a:r>
              <a:rPr lang="ru-RU" dirty="0" err="1"/>
              <a:t>принципи</a:t>
            </a:r>
            <a:r>
              <a:rPr lang="ru-RU" dirty="0"/>
              <a:t> </a:t>
            </a:r>
            <a:r>
              <a:rPr lang="ru-RU" dirty="0" err="1"/>
              <a:t>спрямовані</a:t>
            </a:r>
            <a:r>
              <a:rPr lang="ru-RU" dirty="0"/>
              <a:t> на </a:t>
            </a:r>
            <a:r>
              <a:rPr lang="ru-RU" dirty="0" err="1"/>
              <a:t>покращення</a:t>
            </a:r>
            <a:r>
              <a:rPr lang="ru-RU" dirty="0"/>
              <a:t> дизайну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, </a:t>
            </a:r>
            <a:r>
              <a:rPr lang="ru-RU" dirty="0" err="1"/>
              <a:t>роблячи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гнучким</a:t>
            </a:r>
            <a:r>
              <a:rPr lang="ru-RU" dirty="0"/>
              <a:t> і </a:t>
            </a:r>
            <a:r>
              <a:rPr lang="ru-RU" dirty="0" err="1"/>
              <a:t>стабільним</a:t>
            </a:r>
            <a:r>
              <a:rPr lang="ru-RU" dirty="0"/>
              <a:t> у </a:t>
            </a:r>
            <a:r>
              <a:rPr lang="ru-RU" dirty="0" err="1"/>
              <a:t>довгостроковій</a:t>
            </a:r>
            <a:r>
              <a:rPr lang="ru-RU" dirty="0"/>
              <a:t> </a:t>
            </a:r>
            <a:r>
              <a:rPr lang="ru-RU" dirty="0" err="1"/>
              <a:t>перспективі</a:t>
            </a:r>
            <a:r>
              <a:rPr lang="ru-RU" dirty="0"/>
              <a:t>. </a:t>
            </a:r>
            <a:r>
              <a:rPr lang="en-US" dirty="0"/>
              <a:t>SOLID </a:t>
            </a:r>
            <a:r>
              <a:rPr lang="ru-RU" dirty="0" err="1"/>
              <a:t>включає</a:t>
            </a:r>
            <a:r>
              <a:rPr lang="ru-RU" dirty="0"/>
              <a:t> </a:t>
            </a:r>
            <a:r>
              <a:rPr lang="ru-RU" dirty="0" err="1"/>
              <a:t>п'ять</a:t>
            </a:r>
            <a:r>
              <a:rPr lang="ru-RU" dirty="0"/>
              <a:t> </a:t>
            </a:r>
            <a:r>
              <a:rPr lang="ru-RU" dirty="0" err="1"/>
              <a:t>принципів</a:t>
            </a:r>
            <a:r>
              <a:rPr lang="ru-RU" dirty="0"/>
              <a:t>:</a:t>
            </a:r>
            <a:endParaRPr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dirty="0"/>
              <a:t>1. S - </a:t>
            </a:r>
            <a:r>
              <a:rPr lang="ru-RU" sz="3200" b="1" dirty="0"/>
              <a:t>Принцип </a:t>
            </a:r>
            <a:r>
              <a:rPr lang="ru-RU" sz="3200" b="1" dirty="0" err="1"/>
              <a:t>єдиної</a:t>
            </a:r>
            <a:r>
              <a:rPr lang="ru-RU" sz="3200" b="1" dirty="0"/>
              <a:t> </a:t>
            </a:r>
            <a:r>
              <a:rPr lang="ru-RU" sz="3200" b="1" dirty="0" err="1"/>
              <a:t>відповідальності</a:t>
            </a:r>
            <a:r>
              <a:rPr lang="ru-RU" sz="3200" b="1" dirty="0"/>
              <a:t> (</a:t>
            </a:r>
            <a:r>
              <a:rPr lang="en-US" sz="3200" b="1" dirty="0"/>
              <a:t>Single Responsibility Principle, SRP)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Опис</a:t>
            </a:r>
            <a:r>
              <a:rPr lang="ru-RU" dirty="0"/>
              <a:t>: </a:t>
            </a:r>
            <a:r>
              <a:rPr lang="ru-RU" dirty="0" err="1"/>
              <a:t>Кожен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модуль повинен </a:t>
            </a:r>
            <a:r>
              <a:rPr lang="ru-RU" dirty="0" err="1"/>
              <a:t>мати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одну </a:t>
            </a:r>
            <a:r>
              <a:rPr lang="ru-RU" dirty="0" err="1"/>
              <a:t>відповідальність</a:t>
            </a:r>
            <a:r>
              <a:rPr lang="ru-RU" dirty="0"/>
              <a:t>, </a:t>
            </a:r>
            <a:r>
              <a:rPr lang="ru-RU" dirty="0" err="1"/>
              <a:t>тобто</a:t>
            </a:r>
            <a:r>
              <a:rPr lang="ru-RU" dirty="0"/>
              <a:t> </a:t>
            </a:r>
            <a:r>
              <a:rPr lang="ru-RU" dirty="0" err="1"/>
              <a:t>виконувати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одну </a:t>
            </a:r>
            <a:r>
              <a:rPr lang="ru-RU" dirty="0" err="1"/>
              <a:t>дію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вирішувати</a:t>
            </a:r>
            <a:r>
              <a:rPr lang="ru-RU" dirty="0"/>
              <a:t> </a:t>
            </a:r>
            <a:r>
              <a:rPr lang="ru-RU" dirty="0" err="1"/>
              <a:t>лише</a:t>
            </a:r>
            <a:r>
              <a:rPr lang="ru-RU" dirty="0"/>
              <a:t> одну задачу.</a:t>
            </a:r>
          </a:p>
          <a:p>
            <a:r>
              <a:rPr lang="ru-RU" b="1" dirty="0" err="1"/>
              <a:t>Пояснення</a:t>
            </a:r>
            <a:r>
              <a:rPr lang="ru-RU" dirty="0"/>
              <a:t>: </a:t>
            </a:r>
            <a:r>
              <a:rPr lang="ru-RU" dirty="0" err="1"/>
              <a:t>Клас</a:t>
            </a:r>
            <a:r>
              <a:rPr lang="ru-RU" dirty="0"/>
              <a:t> не повинен бути </a:t>
            </a:r>
            <a:r>
              <a:rPr lang="ru-RU" dirty="0" err="1"/>
              <a:t>перевантаженим</a:t>
            </a:r>
            <a:r>
              <a:rPr lang="ru-RU" dirty="0"/>
              <a:t> </a:t>
            </a:r>
            <a:r>
              <a:rPr lang="ru-RU" dirty="0" err="1"/>
              <a:t>різними</a:t>
            </a:r>
            <a:r>
              <a:rPr lang="ru-RU" dirty="0"/>
              <a:t> </a:t>
            </a:r>
            <a:r>
              <a:rPr lang="ru-RU" dirty="0" err="1"/>
              <a:t>функціями</a:t>
            </a:r>
            <a:r>
              <a:rPr lang="ru-RU" dirty="0"/>
              <a:t>. Наприклад,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</a:t>
            </a: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обробку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</a:t>
            </a:r>
            <a:r>
              <a:rPr lang="ru-RU" dirty="0" err="1"/>
              <a:t>користувачів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не повинен </a:t>
            </a:r>
            <a:r>
              <a:rPr lang="ru-RU" dirty="0" err="1"/>
              <a:t>також</a:t>
            </a:r>
            <a:r>
              <a:rPr lang="ru-RU" dirty="0"/>
              <a:t> </a:t>
            </a:r>
            <a:r>
              <a:rPr lang="ru-RU" dirty="0" err="1"/>
              <a:t>займатися</a:t>
            </a:r>
            <a:r>
              <a:rPr lang="ru-RU" dirty="0"/>
              <a:t> </a:t>
            </a:r>
            <a:r>
              <a:rPr lang="ru-RU" dirty="0" err="1"/>
              <a:t>відправкою</a:t>
            </a:r>
            <a:r>
              <a:rPr lang="ru-RU" dirty="0"/>
              <a:t> </a:t>
            </a:r>
            <a:r>
              <a:rPr lang="ru-RU" dirty="0" err="1"/>
              <a:t>повідомлень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збереженням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до </a:t>
            </a:r>
            <a:r>
              <a:rPr lang="ru-RU" dirty="0" err="1"/>
              <a:t>бази</a:t>
            </a:r>
            <a:r>
              <a:rPr lang="ru-RU" dirty="0"/>
              <a:t>.</a:t>
            </a:r>
          </a:p>
          <a:p>
            <a:r>
              <a:rPr lang="ru-RU" b="1" dirty="0"/>
              <a:t>Приклад</a:t>
            </a:r>
            <a:r>
              <a:rPr lang="ru-RU" dirty="0"/>
              <a:t>: </a:t>
            </a:r>
            <a:r>
              <a:rPr lang="ru-RU" dirty="0" err="1"/>
              <a:t>Клас</a:t>
            </a:r>
            <a:r>
              <a:rPr lang="ru-RU" dirty="0"/>
              <a:t> "</a:t>
            </a:r>
            <a:r>
              <a:rPr lang="ru-RU" dirty="0" err="1"/>
              <a:t>Користувач</a:t>
            </a:r>
            <a:r>
              <a:rPr lang="ru-RU" dirty="0"/>
              <a:t>" </a:t>
            </a: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дані</a:t>
            </a:r>
            <a:r>
              <a:rPr lang="ru-RU" dirty="0"/>
              <a:t> </a:t>
            </a:r>
            <a:r>
              <a:rPr lang="ru-RU" dirty="0" err="1"/>
              <a:t>користувача</a:t>
            </a:r>
            <a:r>
              <a:rPr lang="ru-RU" dirty="0"/>
              <a:t>, а </a:t>
            </a:r>
            <a:r>
              <a:rPr lang="ru-RU" dirty="0" err="1"/>
              <a:t>клас</a:t>
            </a:r>
            <a:r>
              <a:rPr lang="ru-RU" dirty="0"/>
              <a:t> "</a:t>
            </a:r>
            <a:r>
              <a:rPr lang="en-US" dirty="0" err="1"/>
              <a:t>EmailService</a:t>
            </a:r>
            <a:r>
              <a:rPr lang="en-US" dirty="0"/>
              <a:t>" </a:t>
            </a:r>
            <a:r>
              <a:rPr lang="ru-RU" dirty="0" err="1"/>
              <a:t>відповідає</a:t>
            </a:r>
            <a:r>
              <a:rPr lang="ru-RU" dirty="0"/>
              <a:t> за </a:t>
            </a:r>
            <a:r>
              <a:rPr lang="ru-RU" dirty="0" err="1"/>
              <a:t>відправку</a:t>
            </a:r>
            <a:r>
              <a:rPr lang="ru-RU" dirty="0"/>
              <a:t> </a:t>
            </a:r>
            <a:r>
              <a:rPr lang="ru-RU" dirty="0" err="1"/>
              <a:t>електронних</a:t>
            </a:r>
            <a:r>
              <a:rPr lang="ru-RU" dirty="0"/>
              <a:t> </a:t>
            </a:r>
            <a:r>
              <a:rPr lang="ru-RU" dirty="0" err="1"/>
              <a:t>листів</a:t>
            </a:r>
            <a:r>
              <a:rPr lang="ru-RU" dirty="0"/>
              <a:t>. Вони не </a:t>
            </a:r>
            <a:r>
              <a:rPr lang="ru-RU" dirty="0" err="1"/>
              <a:t>змішують</a:t>
            </a:r>
            <a:r>
              <a:rPr lang="ru-RU" dirty="0"/>
              <a:t> </a:t>
            </a:r>
            <a:r>
              <a:rPr lang="ru-RU" dirty="0" err="1"/>
              <a:t>свої</a:t>
            </a:r>
            <a:r>
              <a:rPr lang="ru-RU" dirty="0"/>
              <a:t> </a:t>
            </a:r>
            <a:r>
              <a:rPr lang="ru-RU" dirty="0" err="1"/>
              <a:t>відповідальності</a:t>
            </a:r>
            <a:r>
              <a:rPr lang="ru-RU" dirty="0"/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838955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2. O - </a:t>
            </a:r>
            <a:r>
              <a:rPr lang="ru-RU" sz="3200" b="1" dirty="0"/>
              <a:t>Принцип </a:t>
            </a:r>
            <a:r>
              <a:rPr lang="ru-RU" sz="3200" b="1" dirty="0" err="1"/>
              <a:t>відкритості</a:t>
            </a:r>
            <a:r>
              <a:rPr lang="ru-RU" sz="3200" b="1" dirty="0"/>
              <a:t>/</a:t>
            </a:r>
            <a:r>
              <a:rPr lang="ru-RU" sz="3200" b="1" dirty="0" err="1"/>
              <a:t>закритості</a:t>
            </a:r>
            <a:r>
              <a:rPr lang="ru-RU" sz="3200" b="1" dirty="0"/>
              <a:t> (</a:t>
            </a:r>
            <a:r>
              <a:rPr lang="en-US" sz="3200" b="1" dirty="0"/>
              <a:t>Open/Closed Principle, OCP)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b="1" dirty="0" err="1"/>
              <a:t>Опис</a:t>
            </a:r>
            <a:r>
              <a:rPr lang="ru-RU" dirty="0"/>
              <a:t>: </a:t>
            </a:r>
            <a:r>
              <a:rPr lang="ru-RU" dirty="0" err="1"/>
              <a:t>Програмні</a:t>
            </a:r>
            <a:r>
              <a:rPr lang="ru-RU" dirty="0"/>
              <a:t> </a:t>
            </a:r>
            <a:r>
              <a:rPr lang="ru-RU" dirty="0" err="1"/>
              <a:t>сутності</a:t>
            </a:r>
            <a:r>
              <a:rPr lang="ru-RU" dirty="0"/>
              <a:t> (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модулі</a:t>
            </a:r>
            <a:r>
              <a:rPr lang="ru-RU" dirty="0"/>
              <a:t>, </a:t>
            </a:r>
            <a:r>
              <a:rPr lang="ru-RU" dirty="0" err="1"/>
              <a:t>функції</a:t>
            </a:r>
            <a:r>
              <a:rPr lang="ru-RU" dirty="0"/>
              <a:t>) </a:t>
            </a:r>
            <a:r>
              <a:rPr lang="ru-RU" dirty="0" err="1"/>
              <a:t>повинні</a:t>
            </a:r>
            <a:r>
              <a:rPr lang="ru-RU" dirty="0"/>
              <a:t> бути </a:t>
            </a:r>
            <a:r>
              <a:rPr lang="ru-RU" dirty="0" err="1"/>
              <a:t>відкриті</a:t>
            </a:r>
            <a:r>
              <a:rPr lang="ru-RU" dirty="0"/>
              <a:t> для </a:t>
            </a:r>
            <a:r>
              <a:rPr lang="ru-RU" dirty="0" err="1"/>
              <a:t>розширення</a:t>
            </a:r>
            <a:r>
              <a:rPr lang="ru-RU" dirty="0"/>
              <a:t>, але </a:t>
            </a:r>
            <a:r>
              <a:rPr lang="ru-RU" dirty="0" err="1"/>
              <a:t>закриті</a:t>
            </a:r>
            <a:r>
              <a:rPr lang="ru-RU" dirty="0"/>
              <a:t> для </a:t>
            </a:r>
            <a:r>
              <a:rPr lang="ru-RU" dirty="0" err="1"/>
              <a:t>змін</a:t>
            </a:r>
            <a:r>
              <a:rPr lang="ru-RU" dirty="0"/>
              <a:t>.</a:t>
            </a:r>
          </a:p>
          <a:p>
            <a:r>
              <a:rPr lang="ru-RU" b="1" dirty="0" err="1"/>
              <a:t>Пояснення</a:t>
            </a:r>
            <a:r>
              <a:rPr lang="ru-RU" dirty="0"/>
              <a:t>: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додавати</a:t>
            </a:r>
            <a:r>
              <a:rPr lang="ru-RU" dirty="0"/>
              <a:t> </a:t>
            </a:r>
            <a:r>
              <a:rPr lang="ru-RU" dirty="0" err="1"/>
              <a:t>нові</a:t>
            </a:r>
            <a:r>
              <a:rPr lang="ru-RU" dirty="0"/>
              <a:t> </a:t>
            </a:r>
            <a:r>
              <a:rPr lang="ru-RU" dirty="0" err="1"/>
              <a:t>функції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без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існуючого</a:t>
            </a:r>
            <a:r>
              <a:rPr lang="ru-RU" dirty="0"/>
              <a:t> коду.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зменшує</a:t>
            </a:r>
            <a:r>
              <a:rPr lang="ru-RU" dirty="0"/>
              <a:t> </a:t>
            </a:r>
            <a:r>
              <a:rPr lang="ru-RU" dirty="0" err="1"/>
              <a:t>ризик</a:t>
            </a:r>
            <a:r>
              <a:rPr lang="ru-RU" dirty="0"/>
              <a:t> </a:t>
            </a:r>
            <a:r>
              <a:rPr lang="ru-RU" dirty="0" err="1"/>
              <a:t>внесення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 у </a:t>
            </a:r>
            <a:r>
              <a:rPr lang="ru-RU" dirty="0" err="1"/>
              <a:t>робочий</a:t>
            </a:r>
            <a:r>
              <a:rPr lang="ru-RU" dirty="0"/>
              <a:t> код </a:t>
            </a:r>
            <a:r>
              <a:rPr lang="ru-RU" dirty="0" err="1"/>
              <a:t>під</a:t>
            </a:r>
            <a:r>
              <a:rPr lang="ru-RU" dirty="0"/>
              <a:t> час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оновлення</a:t>
            </a:r>
            <a:r>
              <a:rPr lang="ru-RU" dirty="0"/>
              <a:t>.</a:t>
            </a:r>
          </a:p>
          <a:p>
            <a:r>
              <a:rPr lang="ru-RU" b="1" dirty="0"/>
              <a:t>Приклад</a:t>
            </a:r>
            <a:r>
              <a:rPr lang="ru-RU" dirty="0"/>
              <a:t>: Ви можете </a:t>
            </a:r>
            <a:r>
              <a:rPr lang="ru-RU" dirty="0" err="1"/>
              <a:t>додати</a:t>
            </a:r>
            <a:r>
              <a:rPr lang="ru-RU" dirty="0"/>
              <a:t> </a:t>
            </a:r>
            <a:r>
              <a:rPr lang="ru-RU" dirty="0" err="1"/>
              <a:t>новий</a:t>
            </a:r>
            <a:r>
              <a:rPr lang="ru-RU" dirty="0"/>
              <a:t> тип </a:t>
            </a:r>
            <a:r>
              <a:rPr lang="ru-RU" dirty="0" err="1"/>
              <a:t>обробки</a:t>
            </a:r>
            <a:r>
              <a:rPr lang="ru-RU" dirty="0"/>
              <a:t> в систему без </a:t>
            </a:r>
            <a:r>
              <a:rPr lang="ru-RU" dirty="0" err="1"/>
              <a:t>зміни</a:t>
            </a:r>
            <a:r>
              <a:rPr lang="ru-RU" dirty="0"/>
              <a:t> </a:t>
            </a:r>
            <a:r>
              <a:rPr lang="ru-RU" dirty="0" err="1"/>
              <a:t>існуючих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створивши </a:t>
            </a:r>
            <a:r>
              <a:rPr lang="ru-RU" dirty="0" err="1"/>
              <a:t>новий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той </a:t>
            </a:r>
            <a:r>
              <a:rPr lang="ru-RU" dirty="0" err="1"/>
              <a:t>самий</a:t>
            </a:r>
            <a:r>
              <a:rPr lang="ru-RU" dirty="0"/>
              <a:t> </a:t>
            </a:r>
            <a:r>
              <a:rPr lang="ru-RU" dirty="0" err="1"/>
              <a:t>інтерфейс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успадковує</a:t>
            </a:r>
            <a:r>
              <a:rPr lang="ru-RU" dirty="0"/>
              <a:t> </a:t>
            </a:r>
            <a:r>
              <a:rPr lang="ru-RU" dirty="0" err="1"/>
              <a:t>базовий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658262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3. L - </a:t>
            </a:r>
            <a:r>
              <a:rPr lang="ru-RU" sz="3200" b="1" dirty="0"/>
              <a:t>Принцип </a:t>
            </a:r>
            <a:r>
              <a:rPr lang="ru-RU" sz="3200" b="1" dirty="0" err="1"/>
              <a:t>підстановки</a:t>
            </a:r>
            <a:r>
              <a:rPr lang="ru-RU" sz="3200" b="1" dirty="0"/>
              <a:t> </a:t>
            </a:r>
            <a:r>
              <a:rPr lang="ru-RU" sz="3200" b="1" dirty="0" err="1"/>
              <a:t>Барбари</a:t>
            </a:r>
            <a:r>
              <a:rPr lang="ru-RU" sz="3200" b="1" dirty="0"/>
              <a:t> </a:t>
            </a:r>
            <a:r>
              <a:rPr lang="ru-RU" sz="3200" b="1" dirty="0" err="1"/>
              <a:t>Лісков</a:t>
            </a:r>
            <a:r>
              <a:rPr lang="ru-RU" sz="3200" b="1" dirty="0"/>
              <a:t> (</a:t>
            </a:r>
            <a:r>
              <a:rPr lang="en-US" sz="3200" b="1" dirty="0" err="1"/>
              <a:t>Liskov</a:t>
            </a:r>
            <a:r>
              <a:rPr lang="en-US" sz="3200" b="1" dirty="0"/>
              <a:t> Substitution Principle, LSP)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Опис</a:t>
            </a:r>
            <a:r>
              <a:rPr lang="ru-RU" dirty="0"/>
              <a:t>: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підкласів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бути </a:t>
            </a:r>
            <a:r>
              <a:rPr lang="ru-RU" dirty="0" err="1"/>
              <a:t>замінними</a:t>
            </a:r>
            <a:r>
              <a:rPr lang="ru-RU" dirty="0"/>
              <a:t> на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батьківського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без </a:t>
            </a:r>
            <a:r>
              <a:rPr lang="ru-RU" dirty="0" err="1"/>
              <a:t>порушення</a:t>
            </a:r>
            <a:r>
              <a:rPr lang="ru-RU" dirty="0"/>
              <a:t> </a:t>
            </a:r>
            <a:r>
              <a:rPr lang="ru-RU" dirty="0" err="1"/>
              <a:t>логіки</a:t>
            </a:r>
            <a:r>
              <a:rPr lang="ru-RU" dirty="0"/>
              <a:t> </a:t>
            </a:r>
            <a:r>
              <a:rPr lang="ru-RU" dirty="0" err="1"/>
              <a:t>програми</a:t>
            </a:r>
            <a:r>
              <a:rPr lang="ru-RU" dirty="0"/>
              <a:t>.</a:t>
            </a:r>
          </a:p>
          <a:p>
            <a:r>
              <a:rPr lang="ru-RU" b="1" dirty="0" err="1"/>
              <a:t>Пояснення</a:t>
            </a:r>
            <a:r>
              <a:rPr lang="ru-RU" dirty="0"/>
              <a:t>: </a:t>
            </a:r>
            <a:r>
              <a:rPr lang="ru-RU" dirty="0" err="1"/>
              <a:t>Якщо</a:t>
            </a:r>
            <a:r>
              <a:rPr lang="ru-RU" dirty="0"/>
              <a:t> </a:t>
            </a:r>
            <a:r>
              <a:rPr lang="ru-RU" dirty="0" err="1"/>
              <a:t>клас-нащадок</a:t>
            </a:r>
            <a:r>
              <a:rPr lang="ru-RU" dirty="0"/>
              <a:t> </a:t>
            </a:r>
            <a:r>
              <a:rPr lang="ru-RU" dirty="0" err="1"/>
              <a:t>успадковує</a:t>
            </a:r>
            <a:r>
              <a:rPr lang="ru-RU" dirty="0"/>
              <a:t> </a:t>
            </a:r>
            <a:r>
              <a:rPr lang="ru-RU" dirty="0" err="1"/>
              <a:t>функціонал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батьківського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, </a:t>
            </a:r>
            <a:r>
              <a:rPr lang="ru-RU" dirty="0" err="1"/>
              <a:t>він</a:t>
            </a:r>
            <a:r>
              <a:rPr lang="ru-RU" dirty="0"/>
              <a:t> не повинен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 базового </a:t>
            </a:r>
            <a:r>
              <a:rPr lang="ru-RU" dirty="0" err="1"/>
              <a:t>класу</a:t>
            </a:r>
            <a:r>
              <a:rPr lang="ru-RU" dirty="0"/>
              <a:t>. </a:t>
            </a:r>
            <a:r>
              <a:rPr lang="ru-RU" dirty="0" err="1"/>
              <a:t>Програма</a:t>
            </a:r>
            <a:r>
              <a:rPr lang="ru-RU" dirty="0"/>
              <a:t> повинна </a:t>
            </a:r>
            <a:r>
              <a:rPr lang="ru-RU" dirty="0" err="1"/>
              <a:t>працювати</a:t>
            </a:r>
            <a:r>
              <a:rPr lang="ru-RU" dirty="0"/>
              <a:t> з </a:t>
            </a:r>
            <a:r>
              <a:rPr lang="ru-RU" dirty="0" err="1"/>
              <a:t>об'єктами</a:t>
            </a:r>
            <a:r>
              <a:rPr lang="ru-RU" dirty="0"/>
              <a:t> як базового, так і </a:t>
            </a:r>
            <a:r>
              <a:rPr lang="ru-RU" dirty="0" err="1"/>
              <a:t>дочірнього</a:t>
            </a:r>
            <a:r>
              <a:rPr lang="ru-RU" dirty="0"/>
              <a:t> </a:t>
            </a:r>
            <a:r>
              <a:rPr lang="ru-RU" dirty="0" err="1"/>
              <a:t>класу</a:t>
            </a:r>
            <a:r>
              <a:rPr lang="ru-RU" dirty="0"/>
              <a:t> без </a:t>
            </a:r>
            <a:r>
              <a:rPr lang="ru-RU" dirty="0" err="1"/>
              <a:t>помітних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.</a:t>
            </a:r>
          </a:p>
          <a:p>
            <a:r>
              <a:rPr lang="ru-RU" b="1" dirty="0"/>
              <a:t>Приклад</a:t>
            </a:r>
            <a:r>
              <a:rPr lang="ru-RU" dirty="0"/>
              <a:t>: </a:t>
            </a:r>
            <a:r>
              <a:rPr lang="ru-RU" dirty="0" err="1"/>
              <a:t>Якщо</a:t>
            </a:r>
            <a:r>
              <a:rPr lang="ru-RU" dirty="0"/>
              <a:t> у вас є </a:t>
            </a:r>
            <a:r>
              <a:rPr lang="ru-RU" dirty="0" err="1"/>
              <a:t>клас</a:t>
            </a:r>
            <a:r>
              <a:rPr lang="ru-RU" dirty="0"/>
              <a:t> "Птах" з методом "</a:t>
            </a:r>
            <a:r>
              <a:rPr lang="ru-RU" dirty="0" err="1"/>
              <a:t>літати</a:t>
            </a:r>
            <a:r>
              <a:rPr lang="ru-RU" dirty="0"/>
              <a:t>()", </a:t>
            </a:r>
            <a:r>
              <a:rPr lang="ru-RU" dirty="0" err="1"/>
              <a:t>клас</a:t>
            </a:r>
            <a:r>
              <a:rPr lang="ru-RU" dirty="0"/>
              <a:t> "</a:t>
            </a:r>
            <a:r>
              <a:rPr lang="ru-RU" dirty="0" err="1"/>
              <a:t>Пінгвін</a:t>
            </a:r>
            <a:r>
              <a:rPr lang="ru-RU" dirty="0"/>
              <a:t>" (</a:t>
            </a:r>
            <a:r>
              <a:rPr lang="ru-RU" dirty="0" err="1"/>
              <a:t>який</a:t>
            </a:r>
            <a:r>
              <a:rPr lang="ru-RU" dirty="0"/>
              <a:t> не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літати</a:t>
            </a:r>
            <a:r>
              <a:rPr lang="ru-RU" dirty="0"/>
              <a:t>) не повинен </a:t>
            </a:r>
            <a:r>
              <a:rPr lang="ru-RU" dirty="0" err="1"/>
              <a:t>успадковувати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метод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змінювати</a:t>
            </a:r>
            <a:r>
              <a:rPr lang="ru-RU" dirty="0"/>
              <a:t> </a:t>
            </a:r>
            <a:r>
              <a:rPr lang="ru-RU" dirty="0" err="1"/>
              <a:t>його</a:t>
            </a:r>
            <a:r>
              <a:rPr lang="ru-RU" dirty="0"/>
              <a:t> </a:t>
            </a:r>
            <a:r>
              <a:rPr lang="ru-RU" dirty="0" err="1"/>
              <a:t>поведінку</a:t>
            </a:r>
            <a:r>
              <a:rPr lang="ru-RU" dirty="0"/>
              <a:t>. </a:t>
            </a:r>
            <a:r>
              <a:rPr lang="ru-RU" dirty="0" err="1"/>
              <a:t>Інакше</a:t>
            </a:r>
            <a:r>
              <a:rPr lang="ru-RU" dirty="0"/>
              <a:t> система, яка </a:t>
            </a:r>
            <a:r>
              <a:rPr lang="ru-RU" dirty="0" err="1"/>
              <a:t>розраховує</a:t>
            </a:r>
            <a:r>
              <a:rPr lang="ru-RU" dirty="0"/>
              <a:t> на те,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всі</a:t>
            </a:r>
            <a:r>
              <a:rPr lang="ru-RU" dirty="0"/>
              <a:t> "птахи" </a:t>
            </a:r>
            <a:r>
              <a:rPr lang="ru-RU" dirty="0" err="1"/>
              <a:t>можуть</a:t>
            </a:r>
            <a:r>
              <a:rPr lang="ru-RU" dirty="0"/>
              <a:t> </a:t>
            </a:r>
            <a:r>
              <a:rPr lang="ru-RU" dirty="0" err="1"/>
              <a:t>літати</a:t>
            </a:r>
            <a:r>
              <a:rPr lang="ru-RU" dirty="0"/>
              <a:t>, буде </a:t>
            </a:r>
            <a:r>
              <a:rPr lang="ru-RU" dirty="0" err="1"/>
              <a:t>працювати</a:t>
            </a:r>
            <a:r>
              <a:rPr lang="ru-RU" dirty="0"/>
              <a:t> </a:t>
            </a:r>
            <a:r>
              <a:rPr lang="ru-RU" dirty="0" err="1"/>
              <a:t>некоректно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6370952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3200" b="1" dirty="0"/>
              <a:t>4. I - </a:t>
            </a:r>
            <a:r>
              <a:rPr lang="ru-RU" sz="3200" b="1" dirty="0"/>
              <a:t>Принцип </a:t>
            </a:r>
            <a:r>
              <a:rPr lang="ru-RU" sz="3200" b="1" dirty="0" err="1"/>
              <a:t>розділення</a:t>
            </a:r>
            <a:r>
              <a:rPr lang="ru-RU" sz="3200" b="1" dirty="0"/>
              <a:t> </a:t>
            </a:r>
            <a:r>
              <a:rPr lang="ru-RU" sz="3200" b="1" dirty="0" err="1"/>
              <a:t>інтерфейсів</a:t>
            </a:r>
            <a:r>
              <a:rPr lang="ru-RU" sz="3200" b="1" dirty="0"/>
              <a:t> (</a:t>
            </a:r>
            <a:r>
              <a:rPr lang="en-US" sz="3200" b="1" dirty="0"/>
              <a:t>Interface Segregation Principle, ISP)</a:t>
            </a:r>
            <a:endParaRPr lang="ru-RU" sz="3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b="1" dirty="0" err="1"/>
              <a:t>Опис</a:t>
            </a:r>
            <a:r>
              <a:rPr lang="ru-RU" dirty="0"/>
              <a:t>: </a:t>
            </a:r>
            <a:r>
              <a:rPr lang="ru-RU" dirty="0" err="1"/>
              <a:t>Клієнти</a:t>
            </a:r>
            <a:r>
              <a:rPr lang="ru-RU" dirty="0"/>
              <a:t> не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вони не </a:t>
            </a:r>
            <a:r>
              <a:rPr lang="ru-RU" dirty="0" err="1"/>
              <a:t>використовують</a:t>
            </a:r>
            <a:r>
              <a:rPr lang="ru-RU" dirty="0"/>
              <a:t>.</a:t>
            </a:r>
          </a:p>
          <a:p>
            <a:r>
              <a:rPr lang="ru-RU" b="1" dirty="0" err="1"/>
              <a:t>Пояснення</a:t>
            </a:r>
            <a:r>
              <a:rPr lang="ru-RU" dirty="0"/>
              <a:t>: Не </a:t>
            </a:r>
            <a:r>
              <a:rPr lang="ru-RU" dirty="0" err="1"/>
              <a:t>слід</a:t>
            </a:r>
            <a:r>
              <a:rPr lang="ru-RU" dirty="0"/>
              <a:t> </a:t>
            </a:r>
            <a:r>
              <a:rPr lang="ru-RU" dirty="0" err="1"/>
              <a:t>змушувати</a:t>
            </a:r>
            <a:r>
              <a:rPr lang="ru-RU" dirty="0"/>
              <a:t> </a:t>
            </a:r>
            <a:r>
              <a:rPr lang="ru-RU" dirty="0" err="1"/>
              <a:t>об'єкти</a:t>
            </a:r>
            <a:r>
              <a:rPr lang="ru-RU" dirty="0"/>
              <a:t> </a:t>
            </a:r>
            <a:r>
              <a:rPr lang="ru-RU" dirty="0" err="1"/>
              <a:t>реалізовувати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з великою </a:t>
            </a:r>
            <a:r>
              <a:rPr lang="ru-RU" dirty="0" err="1"/>
              <a:t>кількістю</a:t>
            </a:r>
            <a:r>
              <a:rPr lang="ru-RU" dirty="0"/>
              <a:t> </a:t>
            </a:r>
            <a:r>
              <a:rPr lang="ru-RU" dirty="0" err="1"/>
              <a:t>методів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їм</a:t>
            </a:r>
            <a:r>
              <a:rPr lang="ru-RU" dirty="0"/>
              <a:t> не </a:t>
            </a:r>
            <a:r>
              <a:rPr lang="ru-RU" dirty="0" err="1"/>
              <a:t>потрібні</a:t>
            </a:r>
            <a:r>
              <a:rPr lang="ru-RU" dirty="0"/>
              <a:t>. </a:t>
            </a:r>
            <a:r>
              <a:rPr lang="ru-RU" dirty="0" err="1"/>
              <a:t>Краще</a:t>
            </a:r>
            <a:r>
              <a:rPr lang="ru-RU" dirty="0"/>
              <a:t> </a:t>
            </a:r>
            <a:r>
              <a:rPr lang="ru-RU" dirty="0" err="1"/>
              <a:t>створювати</a:t>
            </a:r>
            <a:r>
              <a:rPr lang="ru-RU" dirty="0"/>
              <a:t> </a:t>
            </a:r>
            <a:r>
              <a:rPr lang="ru-RU" dirty="0" err="1"/>
              <a:t>кілька</a:t>
            </a:r>
            <a:r>
              <a:rPr lang="ru-RU" dirty="0"/>
              <a:t> </a:t>
            </a:r>
            <a:r>
              <a:rPr lang="ru-RU" dirty="0" err="1"/>
              <a:t>вузьких</a:t>
            </a:r>
            <a:r>
              <a:rPr lang="ru-RU" dirty="0"/>
              <a:t>, </a:t>
            </a:r>
            <a:r>
              <a:rPr lang="ru-RU" dirty="0" err="1"/>
              <a:t>спеціалізованих</a:t>
            </a:r>
            <a:r>
              <a:rPr lang="ru-RU" dirty="0"/>
              <a:t> </a:t>
            </a:r>
            <a:r>
              <a:rPr lang="ru-RU" dirty="0" err="1"/>
              <a:t>інтерфейсів</a:t>
            </a:r>
            <a:r>
              <a:rPr lang="ru-RU" dirty="0"/>
              <a:t>.</a:t>
            </a:r>
          </a:p>
          <a:p>
            <a:r>
              <a:rPr lang="ru-RU" b="1" dirty="0"/>
              <a:t>Приклад</a:t>
            </a:r>
            <a:r>
              <a:rPr lang="ru-RU" dirty="0"/>
              <a:t>: </a:t>
            </a:r>
            <a:r>
              <a:rPr lang="ru-RU" dirty="0" err="1"/>
              <a:t>Замість</a:t>
            </a:r>
            <a:r>
              <a:rPr lang="ru-RU" dirty="0"/>
              <a:t> одного великого </a:t>
            </a:r>
            <a:r>
              <a:rPr lang="ru-RU" dirty="0" err="1"/>
              <a:t>інтерфейсу</a:t>
            </a:r>
            <a:r>
              <a:rPr lang="ru-RU" dirty="0"/>
              <a:t> "</a:t>
            </a:r>
            <a:r>
              <a:rPr lang="ru-RU" dirty="0" err="1"/>
              <a:t>КерованийОб'єкт</a:t>
            </a:r>
            <a:r>
              <a:rPr lang="ru-RU" dirty="0"/>
              <a:t>" з методами "</a:t>
            </a:r>
            <a:r>
              <a:rPr lang="ru-RU" dirty="0" err="1"/>
              <a:t>запустити</a:t>
            </a:r>
            <a:r>
              <a:rPr lang="ru-RU" dirty="0"/>
              <a:t>()", "</a:t>
            </a:r>
            <a:r>
              <a:rPr lang="ru-RU" dirty="0" err="1"/>
              <a:t>зупинити</a:t>
            </a:r>
            <a:r>
              <a:rPr lang="ru-RU" dirty="0"/>
              <a:t>()", "</a:t>
            </a:r>
            <a:r>
              <a:rPr lang="ru-RU" dirty="0" err="1"/>
              <a:t>перезавантажити</a:t>
            </a:r>
            <a:r>
              <a:rPr lang="ru-RU" dirty="0"/>
              <a:t>()", </a:t>
            </a:r>
            <a:r>
              <a:rPr lang="ru-RU" dirty="0" err="1"/>
              <a:t>можна</a:t>
            </a:r>
            <a:r>
              <a:rPr lang="ru-RU" dirty="0"/>
              <a:t> </a:t>
            </a:r>
            <a:r>
              <a:rPr lang="ru-RU" dirty="0" err="1"/>
              <a:t>створити</a:t>
            </a:r>
            <a:r>
              <a:rPr lang="ru-RU" dirty="0"/>
              <a:t> </a:t>
            </a:r>
            <a:r>
              <a:rPr lang="ru-RU" dirty="0" err="1"/>
              <a:t>окремі</a:t>
            </a:r>
            <a:r>
              <a:rPr lang="ru-RU" dirty="0"/>
              <a:t> </a:t>
            </a:r>
            <a:r>
              <a:rPr lang="ru-RU" dirty="0" err="1"/>
              <a:t>інтерфейси</a:t>
            </a:r>
            <a:r>
              <a:rPr lang="ru-RU" dirty="0"/>
              <a:t> для запуску, </a:t>
            </a:r>
            <a:r>
              <a:rPr lang="ru-RU" dirty="0" err="1"/>
              <a:t>зупинки</a:t>
            </a:r>
            <a:r>
              <a:rPr lang="ru-RU" dirty="0"/>
              <a:t> та </a:t>
            </a:r>
            <a:r>
              <a:rPr lang="ru-RU" dirty="0" err="1"/>
              <a:t>перезавантаження</a:t>
            </a:r>
            <a:r>
              <a:rPr lang="ru-RU" dirty="0"/>
              <a:t>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 </a:t>
            </a:r>
            <a:r>
              <a:rPr lang="ru-RU" dirty="0" err="1"/>
              <a:t>реалізовували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ті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їм</a:t>
            </a:r>
            <a:r>
              <a:rPr lang="ru-RU" dirty="0"/>
              <a:t> </a:t>
            </a:r>
            <a:r>
              <a:rPr lang="ru-RU" dirty="0" err="1"/>
              <a:t>потрібні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87803780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 - </a:t>
            </a:r>
            <a:r>
              <a:rPr lang="ru-RU" b="1" dirty="0"/>
              <a:t>Принцип </a:t>
            </a:r>
            <a:r>
              <a:rPr lang="ru-RU" b="1" dirty="0" err="1"/>
              <a:t>інверсії</a:t>
            </a:r>
            <a:r>
              <a:rPr lang="ru-RU" b="1" dirty="0"/>
              <a:t> </a:t>
            </a:r>
            <a:r>
              <a:rPr lang="ru-RU" b="1" dirty="0" err="1"/>
              <a:t>залежностей</a:t>
            </a:r>
            <a:r>
              <a:rPr lang="ru-RU" b="1" dirty="0"/>
              <a:t> (</a:t>
            </a:r>
            <a:r>
              <a:rPr lang="en-US" b="1" dirty="0"/>
              <a:t>Dependency Inversion Principle, DIP)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ru-RU" b="1" dirty="0" err="1"/>
              <a:t>Опис</a:t>
            </a:r>
            <a:r>
              <a:rPr lang="ru-RU" dirty="0"/>
              <a:t>: </a:t>
            </a:r>
            <a:r>
              <a:rPr lang="ru-RU" dirty="0" err="1"/>
              <a:t>Високо-рівневі</a:t>
            </a:r>
            <a:r>
              <a:rPr lang="ru-RU" dirty="0"/>
              <a:t> </a:t>
            </a:r>
            <a:r>
              <a:rPr lang="ru-RU" dirty="0" err="1"/>
              <a:t>модулі</a:t>
            </a:r>
            <a:r>
              <a:rPr lang="ru-RU" dirty="0"/>
              <a:t> не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низько-рівневих</a:t>
            </a:r>
            <a:r>
              <a:rPr lang="ru-RU" dirty="0"/>
              <a:t> </a:t>
            </a:r>
            <a:r>
              <a:rPr lang="ru-RU" dirty="0" err="1"/>
              <a:t>модулів</a:t>
            </a:r>
            <a:r>
              <a:rPr lang="ru-RU" dirty="0"/>
              <a:t>. </a:t>
            </a:r>
            <a:r>
              <a:rPr lang="ru-RU" dirty="0" err="1"/>
              <a:t>Обидва</a:t>
            </a:r>
            <a:r>
              <a:rPr lang="ru-RU" dirty="0"/>
              <a:t> </a:t>
            </a:r>
            <a:r>
              <a:rPr lang="ru-RU" dirty="0" err="1"/>
              <a:t>типи</a:t>
            </a:r>
            <a:r>
              <a:rPr lang="ru-RU" dirty="0"/>
              <a:t> </a:t>
            </a:r>
            <a:r>
              <a:rPr lang="ru-RU" dirty="0" err="1"/>
              <a:t>модулів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абстракцій</a:t>
            </a:r>
            <a:r>
              <a:rPr lang="ru-RU" dirty="0"/>
              <a:t>. </a:t>
            </a:r>
            <a:r>
              <a:rPr lang="ru-RU" dirty="0" err="1"/>
              <a:t>Абстракції</a:t>
            </a:r>
            <a:r>
              <a:rPr lang="ru-RU" dirty="0"/>
              <a:t> не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деталей; </a:t>
            </a:r>
            <a:r>
              <a:rPr lang="ru-RU" dirty="0" err="1"/>
              <a:t>деталі</a:t>
            </a:r>
            <a:r>
              <a:rPr lang="ru-RU" dirty="0"/>
              <a:t>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абстракцій</a:t>
            </a:r>
            <a:r>
              <a:rPr lang="ru-RU" dirty="0"/>
              <a:t>.</a:t>
            </a:r>
          </a:p>
          <a:p>
            <a:r>
              <a:rPr lang="ru-RU" b="1" dirty="0" err="1"/>
              <a:t>Пояснення</a:t>
            </a:r>
            <a:r>
              <a:rPr lang="ru-RU" dirty="0"/>
              <a:t>: </a:t>
            </a:r>
            <a:r>
              <a:rPr lang="ru-RU" dirty="0" err="1"/>
              <a:t>Високорівневі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, </a:t>
            </a:r>
            <a:r>
              <a:rPr lang="ru-RU" dirty="0" err="1"/>
              <a:t>які</a:t>
            </a:r>
            <a:r>
              <a:rPr lang="ru-RU" dirty="0"/>
              <a:t> </a:t>
            </a:r>
            <a:r>
              <a:rPr lang="ru-RU" dirty="0" err="1"/>
              <a:t>відповідають</a:t>
            </a:r>
            <a:r>
              <a:rPr lang="ru-RU" dirty="0"/>
              <a:t> за </a:t>
            </a:r>
            <a:r>
              <a:rPr lang="ru-RU" dirty="0" err="1"/>
              <a:t>основну</a:t>
            </a:r>
            <a:r>
              <a:rPr lang="ru-RU" dirty="0"/>
              <a:t> </a:t>
            </a:r>
            <a:r>
              <a:rPr lang="ru-RU" dirty="0" err="1"/>
              <a:t>логіку</a:t>
            </a:r>
            <a:r>
              <a:rPr lang="ru-RU" dirty="0"/>
              <a:t>, не </a:t>
            </a:r>
            <a:r>
              <a:rPr lang="ru-RU" dirty="0" err="1"/>
              <a:t>повинні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низькорівневих</a:t>
            </a:r>
            <a:r>
              <a:rPr lang="ru-RU" dirty="0"/>
              <a:t> </a:t>
            </a:r>
            <a:r>
              <a:rPr lang="ru-RU" dirty="0" err="1"/>
              <a:t>класів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реалізують</a:t>
            </a:r>
            <a:r>
              <a:rPr lang="ru-RU" dirty="0"/>
              <a:t> </a:t>
            </a:r>
            <a:r>
              <a:rPr lang="ru-RU" dirty="0" err="1"/>
              <a:t>деталі</a:t>
            </a:r>
            <a:r>
              <a:rPr lang="ru-RU" dirty="0"/>
              <a:t>. </a:t>
            </a:r>
            <a:r>
              <a:rPr lang="ru-RU" dirty="0" err="1"/>
              <a:t>Це</a:t>
            </a:r>
            <a:r>
              <a:rPr lang="ru-RU" dirty="0"/>
              <a:t> </a:t>
            </a:r>
            <a:r>
              <a:rPr lang="ru-RU" dirty="0" err="1"/>
              <a:t>забезпечується</a:t>
            </a:r>
            <a:r>
              <a:rPr lang="ru-RU" dirty="0"/>
              <a:t> за </a:t>
            </a:r>
            <a:r>
              <a:rPr lang="ru-RU" dirty="0" err="1"/>
              <a:t>допомогою</a:t>
            </a:r>
            <a:r>
              <a:rPr lang="ru-RU" dirty="0"/>
              <a:t> </a:t>
            </a:r>
            <a:r>
              <a:rPr lang="ru-RU" dirty="0" err="1"/>
              <a:t>абстракцій</a:t>
            </a:r>
            <a:r>
              <a:rPr lang="ru-RU" dirty="0"/>
              <a:t>, таких як </a:t>
            </a:r>
            <a:r>
              <a:rPr lang="ru-RU" dirty="0" err="1"/>
              <a:t>інтерфейси</a:t>
            </a:r>
            <a:r>
              <a:rPr lang="ru-RU" dirty="0"/>
              <a:t> </a:t>
            </a:r>
            <a:r>
              <a:rPr lang="ru-RU" dirty="0" err="1"/>
              <a:t>або</a:t>
            </a:r>
            <a:r>
              <a:rPr lang="ru-RU" dirty="0"/>
              <a:t> </a:t>
            </a:r>
            <a:r>
              <a:rPr lang="ru-RU" dirty="0" err="1"/>
              <a:t>абстрактні</a:t>
            </a:r>
            <a:r>
              <a:rPr lang="ru-RU" dirty="0"/>
              <a:t> </a:t>
            </a:r>
            <a:r>
              <a:rPr lang="ru-RU" dirty="0" err="1"/>
              <a:t>класи</a:t>
            </a:r>
            <a:r>
              <a:rPr lang="ru-RU" dirty="0"/>
              <a:t>.</a:t>
            </a:r>
          </a:p>
          <a:p>
            <a:r>
              <a:rPr lang="ru-RU" b="1" dirty="0"/>
              <a:t>Приклад</a:t>
            </a:r>
            <a:r>
              <a:rPr lang="ru-RU" dirty="0"/>
              <a:t>: </a:t>
            </a:r>
            <a:r>
              <a:rPr lang="ru-RU" dirty="0" err="1"/>
              <a:t>Замість</a:t>
            </a:r>
            <a:r>
              <a:rPr lang="ru-RU" dirty="0"/>
              <a:t> того, </a:t>
            </a:r>
            <a:r>
              <a:rPr lang="ru-RU" dirty="0" err="1"/>
              <a:t>щоб</a:t>
            </a:r>
            <a:r>
              <a:rPr lang="ru-RU" dirty="0"/>
              <a:t> </a:t>
            </a:r>
            <a:r>
              <a:rPr lang="ru-RU" dirty="0" err="1"/>
              <a:t>високорівневий</a:t>
            </a:r>
            <a:r>
              <a:rPr lang="ru-RU" dirty="0"/>
              <a:t> модуль </a:t>
            </a:r>
            <a:r>
              <a:rPr lang="ru-RU" dirty="0" err="1"/>
              <a:t>напряму</a:t>
            </a:r>
            <a:r>
              <a:rPr lang="ru-RU" dirty="0"/>
              <a:t> </a:t>
            </a:r>
            <a:r>
              <a:rPr lang="ru-RU" dirty="0" err="1"/>
              <a:t>використовував</a:t>
            </a:r>
            <a:r>
              <a:rPr lang="ru-RU" dirty="0"/>
              <a:t> </a:t>
            </a:r>
            <a:r>
              <a:rPr lang="ru-RU" dirty="0" err="1"/>
              <a:t>конкретний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 для </a:t>
            </a:r>
            <a:r>
              <a:rPr lang="ru-RU" dirty="0" err="1"/>
              <a:t>відправки</a:t>
            </a:r>
            <a:r>
              <a:rPr lang="ru-RU" dirty="0"/>
              <a:t> </a:t>
            </a:r>
            <a:r>
              <a:rPr lang="ru-RU" dirty="0" err="1"/>
              <a:t>даних</a:t>
            </a:r>
            <a:r>
              <a:rPr lang="ru-RU" dirty="0"/>
              <a:t> у базу, </a:t>
            </a:r>
            <a:r>
              <a:rPr lang="ru-RU" dirty="0" err="1"/>
              <a:t>він</a:t>
            </a:r>
            <a:r>
              <a:rPr lang="ru-RU" dirty="0"/>
              <a:t> </a:t>
            </a:r>
            <a:r>
              <a:rPr lang="ru-RU" dirty="0" err="1"/>
              <a:t>може</a:t>
            </a:r>
            <a:r>
              <a:rPr lang="ru-RU" dirty="0"/>
              <a:t> </a:t>
            </a:r>
            <a:r>
              <a:rPr lang="ru-RU" dirty="0" err="1"/>
              <a:t>залежати</a:t>
            </a:r>
            <a:r>
              <a:rPr lang="ru-RU" dirty="0"/>
              <a:t> </a:t>
            </a:r>
            <a:r>
              <a:rPr lang="ru-RU" dirty="0" err="1"/>
              <a:t>від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, </a:t>
            </a:r>
            <a:r>
              <a:rPr lang="ru-RU" dirty="0" err="1"/>
              <a:t>який</a:t>
            </a:r>
            <a:r>
              <a:rPr lang="ru-RU" dirty="0"/>
              <a:t> </a:t>
            </a:r>
            <a:r>
              <a:rPr lang="ru-RU" dirty="0" err="1"/>
              <a:t>реалізує</a:t>
            </a:r>
            <a:r>
              <a:rPr lang="ru-RU" dirty="0"/>
              <a:t> </a:t>
            </a:r>
            <a:r>
              <a:rPr lang="ru-RU" dirty="0" err="1"/>
              <a:t>цей</a:t>
            </a:r>
            <a:r>
              <a:rPr lang="ru-RU" dirty="0"/>
              <a:t> </a:t>
            </a:r>
            <a:r>
              <a:rPr lang="ru-RU" dirty="0" err="1"/>
              <a:t>клас</a:t>
            </a:r>
            <a:r>
              <a:rPr lang="ru-RU" dirty="0"/>
              <a:t>. Таким чином, при </a:t>
            </a:r>
            <a:r>
              <a:rPr lang="ru-RU" dirty="0" err="1"/>
              <a:t>зміні</a:t>
            </a:r>
            <a:r>
              <a:rPr lang="ru-RU" dirty="0"/>
              <a:t> способу </a:t>
            </a:r>
            <a:r>
              <a:rPr lang="ru-RU" dirty="0" err="1"/>
              <a:t>збереження</a:t>
            </a:r>
            <a:r>
              <a:rPr lang="ru-RU" dirty="0"/>
              <a:t> (</a:t>
            </a:r>
            <a:r>
              <a:rPr lang="ru-RU" dirty="0" err="1"/>
              <a:t>наприклад</a:t>
            </a:r>
            <a:r>
              <a:rPr lang="ru-RU" dirty="0"/>
              <a:t>, на </a:t>
            </a:r>
            <a:r>
              <a:rPr lang="ru-RU" dirty="0" err="1"/>
              <a:t>іншу</a:t>
            </a:r>
            <a:r>
              <a:rPr lang="ru-RU" dirty="0"/>
              <a:t> базу), вам </a:t>
            </a:r>
            <a:r>
              <a:rPr lang="ru-RU" dirty="0" err="1"/>
              <a:t>потрібно</a:t>
            </a:r>
            <a:r>
              <a:rPr lang="ru-RU" dirty="0"/>
              <a:t> буде </a:t>
            </a:r>
            <a:r>
              <a:rPr lang="ru-RU" dirty="0" err="1"/>
              <a:t>змінити</a:t>
            </a:r>
            <a:r>
              <a:rPr lang="ru-RU" dirty="0"/>
              <a:t> </a:t>
            </a:r>
            <a:r>
              <a:rPr lang="ru-RU" dirty="0" err="1"/>
              <a:t>тільки</a:t>
            </a:r>
            <a:r>
              <a:rPr lang="ru-RU" dirty="0"/>
              <a:t> </a:t>
            </a:r>
            <a:r>
              <a:rPr lang="ru-RU" dirty="0" err="1"/>
              <a:t>реалізацію</a:t>
            </a:r>
            <a:r>
              <a:rPr lang="ru-RU" dirty="0"/>
              <a:t> </a:t>
            </a:r>
            <a:r>
              <a:rPr lang="ru-RU" dirty="0" err="1"/>
              <a:t>інтерфейсу</a:t>
            </a:r>
            <a:r>
              <a:rPr lang="ru-RU" dirty="0"/>
              <a:t>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005253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 err="1"/>
              <a:t>Переваги</a:t>
            </a:r>
            <a:r>
              <a:rPr lang="ru-RU" b="1" dirty="0"/>
              <a:t> </a:t>
            </a:r>
            <a:r>
              <a:rPr lang="en-US" b="1" dirty="0"/>
              <a:t>SOLID: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ru-RU" b="1" dirty="0" err="1"/>
              <a:t>Покращує</a:t>
            </a:r>
            <a:r>
              <a:rPr lang="ru-RU" b="1" dirty="0"/>
              <a:t> </a:t>
            </a:r>
            <a:r>
              <a:rPr lang="ru-RU" b="1" dirty="0" err="1"/>
              <a:t>підтримку</a:t>
            </a:r>
            <a:r>
              <a:rPr lang="ru-RU" dirty="0"/>
              <a:t>: </a:t>
            </a:r>
            <a:r>
              <a:rPr lang="ru-RU" dirty="0" err="1"/>
              <a:t>Дотримання</a:t>
            </a:r>
            <a:r>
              <a:rPr lang="ru-RU" dirty="0"/>
              <a:t> </a:t>
            </a:r>
            <a:r>
              <a:rPr lang="ru-RU" dirty="0" err="1"/>
              <a:t>цих</a:t>
            </a:r>
            <a:r>
              <a:rPr lang="ru-RU" dirty="0"/>
              <a:t> </a:t>
            </a:r>
            <a:r>
              <a:rPr lang="ru-RU" dirty="0" err="1"/>
              <a:t>принципів</a:t>
            </a:r>
            <a:r>
              <a:rPr lang="ru-RU" dirty="0"/>
              <a:t> </a:t>
            </a:r>
            <a:r>
              <a:rPr lang="ru-RU" dirty="0" err="1"/>
              <a:t>спрощує</a:t>
            </a:r>
            <a:r>
              <a:rPr lang="ru-RU" dirty="0"/>
              <a:t> </a:t>
            </a:r>
            <a:r>
              <a:rPr lang="ru-RU" dirty="0" err="1"/>
              <a:t>оновлення</a:t>
            </a:r>
            <a:r>
              <a:rPr lang="ru-RU" dirty="0"/>
              <a:t> та </a:t>
            </a:r>
            <a:r>
              <a:rPr lang="ru-RU" dirty="0" err="1"/>
              <a:t>розширення</a:t>
            </a:r>
            <a:r>
              <a:rPr lang="ru-RU" dirty="0"/>
              <a:t> </a:t>
            </a:r>
            <a:r>
              <a:rPr lang="ru-RU" dirty="0" err="1"/>
              <a:t>програмного</a:t>
            </a:r>
            <a:r>
              <a:rPr lang="ru-RU" dirty="0"/>
              <a:t> </a:t>
            </a:r>
            <a:r>
              <a:rPr lang="ru-RU" dirty="0" err="1"/>
              <a:t>забезпечення</a:t>
            </a:r>
            <a:r>
              <a:rPr lang="ru-RU" dirty="0"/>
              <a:t>.</a:t>
            </a:r>
          </a:p>
          <a:p>
            <a:r>
              <a:rPr lang="ru-RU" b="1" dirty="0" err="1"/>
              <a:t>Мінімізує</a:t>
            </a:r>
            <a:r>
              <a:rPr lang="ru-RU" b="1" dirty="0"/>
              <a:t> </a:t>
            </a:r>
            <a:r>
              <a:rPr lang="ru-RU" b="1" dirty="0" err="1"/>
              <a:t>помилки</a:t>
            </a:r>
            <a:r>
              <a:rPr lang="ru-RU" dirty="0"/>
              <a:t>: </a:t>
            </a:r>
            <a:r>
              <a:rPr lang="ru-RU" dirty="0" err="1"/>
              <a:t>Принципи</a:t>
            </a:r>
            <a:r>
              <a:rPr lang="ru-RU" dirty="0"/>
              <a:t> </a:t>
            </a:r>
            <a:r>
              <a:rPr lang="ru-RU" dirty="0" err="1"/>
              <a:t>допомагають</a:t>
            </a:r>
            <a:r>
              <a:rPr lang="ru-RU" dirty="0"/>
              <a:t> </a:t>
            </a:r>
            <a:r>
              <a:rPr lang="ru-RU" dirty="0" err="1"/>
              <a:t>зменшити</a:t>
            </a:r>
            <a:r>
              <a:rPr lang="ru-RU" dirty="0"/>
              <a:t> </a:t>
            </a:r>
            <a:r>
              <a:rPr lang="ru-RU" dirty="0" err="1"/>
              <a:t>ризик</a:t>
            </a:r>
            <a:r>
              <a:rPr lang="ru-RU" dirty="0"/>
              <a:t> </a:t>
            </a:r>
            <a:r>
              <a:rPr lang="ru-RU" dirty="0" err="1"/>
              <a:t>внесення</a:t>
            </a:r>
            <a:r>
              <a:rPr lang="ru-RU" dirty="0"/>
              <a:t> </a:t>
            </a:r>
            <a:r>
              <a:rPr lang="ru-RU" dirty="0" err="1"/>
              <a:t>помилок</a:t>
            </a:r>
            <a:r>
              <a:rPr lang="ru-RU" dirty="0"/>
              <a:t> при </a:t>
            </a:r>
            <a:r>
              <a:rPr lang="ru-RU" dirty="0" err="1"/>
              <a:t>внесенні</a:t>
            </a:r>
            <a:r>
              <a:rPr lang="ru-RU" dirty="0"/>
              <a:t> </a:t>
            </a:r>
            <a:r>
              <a:rPr lang="ru-RU" dirty="0" err="1"/>
              <a:t>змін</a:t>
            </a:r>
            <a:r>
              <a:rPr lang="ru-RU" dirty="0"/>
              <a:t> у код.</a:t>
            </a:r>
          </a:p>
          <a:p>
            <a:r>
              <a:rPr lang="ru-RU" b="1" dirty="0" err="1"/>
              <a:t>Сприяє</a:t>
            </a:r>
            <a:r>
              <a:rPr lang="ru-RU" b="1" dirty="0"/>
              <a:t> повторному </a:t>
            </a:r>
            <a:r>
              <a:rPr lang="ru-RU" b="1" dirty="0" err="1"/>
              <a:t>використанню</a:t>
            </a:r>
            <a:r>
              <a:rPr lang="ru-RU" b="1" dirty="0"/>
              <a:t> коду</a:t>
            </a:r>
            <a:r>
              <a:rPr lang="ru-RU" dirty="0"/>
              <a:t>: </a:t>
            </a:r>
            <a:r>
              <a:rPr lang="ru-RU" dirty="0" err="1"/>
              <a:t>Чітко</a:t>
            </a:r>
            <a:r>
              <a:rPr lang="ru-RU" dirty="0"/>
              <a:t> </a:t>
            </a:r>
            <a:r>
              <a:rPr lang="ru-RU" dirty="0" err="1"/>
              <a:t>розділені</a:t>
            </a:r>
            <a:r>
              <a:rPr lang="ru-RU" dirty="0"/>
              <a:t> </a:t>
            </a:r>
            <a:r>
              <a:rPr lang="ru-RU" dirty="0" err="1"/>
              <a:t>відповідальності</a:t>
            </a:r>
            <a:r>
              <a:rPr lang="ru-RU" dirty="0"/>
              <a:t> </a:t>
            </a:r>
            <a:r>
              <a:rPr lang="ru-RU" dirty="0" err="1"/>
              <a:t>полегшують</a:t>
            </a:r>
            <a:r>
              <a:rPr lang="ru-RU" dirty="0"/>
              <a:t> </a:t>
            </a:r>
            <a:r>
              <a:rPr lang="ru-RU" dirty="0" err="1"/>
              <a:t>повторне</a:t>
            </a:r>
            <a:r>
              <a:rPr lang="ru-RU" dirty="0"/>
              <a:t> </a:t>
            </a:r>
            <a:r>
              <a:rPr lang="ru-RU" dirty="0" err="1"/>
              <a:t>використання</a:t>
            </a:r>
            <a:r>
              <a:rPr lang="ru-RU" dirty="0"/>
              <a:t> </a:t>
            </a:r>
            <a:r>
              <a:rPr lang="ru-RU" dirty="0" err="1"/>
              <a:t>компонентів</a:t>
            </a:r>
            <a:r>
              <a:rPr lang="ru-RU" dirty="0"/>
              <a:t>.</a:t>
            </a:r>
          </a:p>
          <a:p>
            <a:r>
              <a:rPr lang="ru-RU" b="1" dirty="0" err="1"/>
              <a:t>Зменшує</a:t>
            </a:r>
            <a:r>
              <a:rPr lang="ru-RU" b="1" dirty="0"/>
              <a:t> </a:t>
            </a:r>
            <a:r>
              <a:rPr lang="ru-RU" b="1" dirty="0" err="1"/>
              <a:t>залежності</a:t>
            </a:r>
            <a:r>
              <a:rPr lang="ru-RU" dirty="0"/>
              <a:t>: Код </a:t>
            </a:r>
            <a:r>
              <a:rPr lang="ru-RU" dirty="0" err="1"/>
              <a:t>стає</a:t>
            </a:r>
            <a:r>
              <a:rPr lang="ru-RU" dirty="0"/>
              <a:t> </a:t>
            </a:r>
            <a:r>
              <a:rPr lang="ru-RU" dirty="0" err="1"/>
              <a:t>більш</a:t>
            </a:r>
            <a:r>
              <a:rPr lang="ru-RU" dirty="0"/>
              <a:t> </a:t>
            </a:r>
            <a:r>
              <a:rPr lang="ru-RU" dirty="0" err="1"/>
              <a:t>модульним</a:t>
            </a:r>
            <a:r>
              <a:rPr lang="ru-RU" dirty="0"/>
              <a:t>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спрощує</a:t>
            </a:r>
            <a:r>
              <a:rPr lang="ru-RU" dirty="0"/>
              <a:t> </a:t>
            </a:r>
            <a:r>
              <a:rPr lang="ru-RU" dirty="0" err="1"/>
              <a:t>тестування</a:t>
            </a:r>
            <a:r>
              <a:rPr lang="ru-RU" dirty="0"/>
              <a:t> та </a:t>
            </a:r>
            <a:r>
              <a:rPr lang="ru-RU" dirty="0" err="1"/>
              <a:t>розгортання</a:t>
            </a:r>
            <a:r>
              <a:rPr lang="ru-RU" dirty="0"/>
              <a:t>.</a:t>
            </a:r>
          </a:p>
          <a:p>
            <a:pPr marL="0" indent="0">
              <a:buNone/>
            </a:pPr>
            <a:r>
              <a:rPr lang="ru-RU" dirty="0" err="1"/>
              <a:t>Принципи</a:t>
            </a:r>
            <a:r>
              <a:rPr lang="ru-RU" dirty="0"/>
              <a:t> </a:t>
            </a:r>
            <a:r>
              <a:rPr lang="en-US" b="1" dirty="0"/>
              <a:t>SOLID</a:t>
            </a:r>
            <a:r>
              <a:rPr lang="en-US" dirty="0"/>
              <a:t> </a:t>
            </a:r>
            <a:r>
              <a:rPr lang="ru-RU" dirty="0"/>
              <a:t>є основою для </a:t>
            </a:r>
            <a:r>
              <a:rPr lang="ru-RU" dirty="0" err="1"/>
              <a:t>створення</a:t>
            </a:r>
            <a:r>
              <a:rPr lang="ru-RU" dirty="0"/>
              <a:t> </a:t>
            </a:r>
            <a:r>
              <a:rPr lang="ru-RU" dirty="0" err="1"/>
              <a:t>надійного</a:t>
            </a:r>
            <a:r>
              <a:rPr lang="ru-RU" dirty="0"/>
              <a:t> </a:t>
            </a:r>
            <a:r>
              <a:rPr lang="ru-RU" dirty="0" err="1"/>
              <a:t>об'єктно-орієнтованого</a:t>
            </a:r>
            <a:r>
              <a:rPr lang="ru-RU" dirty="0"/>
              <a:t> дизайну, </a:t>
            </a:r>
            <a:r>
              <a:rPr lang="ru-RU" dirty="0" err="1"/>
              <a:t>що</a:t>
            </a:r>
            <a:r>
              <a:rPr lang="ru-RU" dirty="0"/>
              <a:t> </a:t>
            </a:r>
            <a:r>
              <a:rPr lang="ru-RU" dirty="0" err="1"/>
              <a:t>полегшує</a:t>
            </a:r>
            <a:r>
              <a:rPr lang="ru-RU" dirty="0"/>
              <a:t> </a:t>
            </a:r>
            <a:r>
              <a:rPr lang="ru-RU" dirty="0" err="1"/>
              <a:t>розробку</a:t>
            </a:r>
            <a:r>
              <a:rPr lang="ru-RU" dirty="0"/>
              <a:t> і </a:t>
            </a:r>
            <a:r>
              <a:rPr lang="ru-RU" dirty="0" err="1"/>
              <a:t>підтримку</a:t>
            </a:r>
            <a:r>
              <a:rPr lang="ru-RU" dirty="0"/>
              <a:t> великих та </a:t>
            </a:r>
            <a:r>
              <a:rPr lang="ru-RU" dirty="0" err="1"/>
              <a:t>складних</a:t>
            </a:r>
            <a:r>
              <a:rPr lang="ru-RU" dirty="0"/>
              <a:t> </a:t>
            </a:r>
            <a:r>
              <a:rPr lang="ru-RU" dirty="0" err="1"/>
              <a:t>програмних</a:t>
            </a:r>
            <a:r>
              <a:rPr lang="ru-RU" dirty="0"/>
              <a:t> систем.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3838888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Інструменти для проектування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UML </a:t>
            </a:r>
            <a:r>
              <a:rPr dirty="0" err="1"/>
              <a:t>діаграми</a:t>
            </a:r>
            <a:r>
              <a:rPr dirty="0"/>
              <a:t>: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візуалізації</a:t>
            </a:r>
            <a:r>
              <a:rPr dirty="0"/>
              <a:t> </a:t>
            </a:r>
            <a:r>
              <a:rPr dirty="0" err="1"/>
              <a:t>архітектури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</a:t>
            </a:r>
            <a:r>
              <a:rPr dirty="0" err="1"/>
              <a:t>Архітектурні</a:t>
            </a:r>
            <a:r>
              <a:rPr dirty="0"/>
              <a:t> </a:t>
            </a:r>
            <a:r>
              <a:rPr dirty="0" err="1"/>
              <a:t>фреймворки</a:t>
            </a:r>
            <a:r>
              <a:rPr dirty="0"/>
              <a:t>: TOGAF, </a:t>
            </a:r>
            <a:r>
              <a:rPr dirty="0" err="1"/>
              <a:t>Zachman</a:t>
            </a:r>
            <a:r>
              <a:rPr dirty="0"/>
              <a:t>.</a:t>
            </a:r>
          </a:p>
          <a:p>
            <a:pPr marL="0" indent="0">
              <a:buNone/>
            </a:pPr>
            <a:r>
              <a:rPr dirty="0"/>
              <a:t>• CASE-</a:t>
            </a:r>
            <a:r>
              <a:rPr dirty="0" err="1"/>
              <a:t>засоби</a:t>
            </a:r>
            <a:r>
              <a:rPr dirty="0"/>
              <a:t>: </a:t>
            </a:r>
            <a:r>
              <a:rPr dirty="0" err="1"/>
              <a:t>Підтримка</a:t>
            </a:r>
            <a:r>
              <a:rPr dirty="0"/>
              <a:t> </a:t>
            </a:r>
            <a:r>
              <a:rPr dirty="0" err="1"/>
              <a:t>автоматизації</a:t>
            </a:r>
            <a:r>
              <a:rPr dirty="0"/>
              <a:t> </a:t>
            </a:r>
            <a:r>
              <a:rPr dirty="0" err="1"/>
              <a:t>процесу</a:t>
            </a:r>
            <a:r>
              <a:rPr dirty="0"/>
              <a:t> </a:t>
            </a:r>
            <a:r>
              <a:rPr dirty="0" err="1"/>
              <a:t>проектування</a:t>
            </a:r>
            <a:r>
              <a:rPr dirty="0"/>
              <a:t>.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uk-UA" dirty="0">
                <a:solidFill>
                  <a:srgbClr val="FF0000"/>
                </a:solidFill>
              </a:rPr>
              <a:t>За даними темами пропоную підготувати презентації для виступу на лекції</a:t>
            </a:r>
            <a:endParaRPr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Приклади реальних систем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онлайн-банкінгу</a:t>
            </a:r>
            <a:r>
              <a:rPr dirty="0"/>
              <a:t>: </a:t>
            </a:r>
            <a:r>
              <a:rPr dirty="0" err="1"/>
              <a:t>Архітектура</a:t>
            </a:r>
            <a:r>
              <a:rPr dirty="0"/>
              <a:t> з </a:t>
            </a:r>
            <a:r>
              <a:rPr dirty="0" err="1"/>
              <a:t>розподіленими</a:t>
            </a:r>
            <a:r>
              <a:rPr dirty="0"/>
              <a:t> </a:t>
            </a:r>
            <a:r>
              <a:rPr dirty="0" err="1"/>
              <a:t>компонентами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безпековими</a:t>
            </a:r>
            <a:r>
              <a:rPr dirty="0"/>
              <a:t> </a:t>
            </a:r>
            <a:r>
              <a:rPr dirty="0" err="1"/>
              <a:t>модулями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dirty="0"/>
              <a:t>•</a:t>
            </a:r>
            <a:r>
              <a:rPr dirty="0" err="1"/>
              <a:t>Інтернет-магазин</a:t>
            </a:r>
            <a:r>
              <a:rPr dirty="0"/>
              <a:t>: </a:t>
            </a:r>
            <a:r>
              <a:rPr dirty="0" err="1"/>
              <a:t>Мікросервісна</a:t>
            </a:r>
            <a:r>
              <a:rPr dirty="0"/>
              <a:t> </a:t>
            </a:r>
            <a:r>
              <a:rPr dirty="0" err="1"/>
              <a:t>архітектура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обробки</a:t>
            </a:r>
            <a:r>
              <a:rPr dirty="0"/>
              <a:t> </a:t>
            </a:r>
            <a:r>
              <a:rPr dirty="0" err="1"/>
              <a:t>замовлень</a:t>
            </a:r>
            <a:r>
              <a:rPr dirty="0"/>
              <a:t>, </a:t>
            </a:r>
            <a:r>
              <a:rPr dirty="0" err="1"/>
              <a:t>платежів</a:t>
            </a:r>
            <a:r>
              <a:rPr dirty="0"/>
              <a:t>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доставки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Заключення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Проектування</a:t>
            </a:r>
            <a:r>
              <a:rPr dirty="0"/>
              <a:t> - </a:t>
            </a:r>
            <a:r>
              <a:rPr dirty="0" err="1"/>
              <a:t>основа</a:t>
            </a:r>
            <a:r>
              <a:rPr dirty="0"/>
              <a:t> </a:t>
            </a:r>
            <a:r>
              <a:rPr dirty="0" err="1"/>
              <a:t>успішного</a:t>
            </a:r>
            <a:r>
              <a:rPr dirty="0"/>
              <a:t> ПЗ.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Важливо</a:t>
            </a:r>
            <a:r>
              <a:rPr dirty="0"/>
              <a:t> </a:t>
            </a:r>
            <a:r>
              <a:rPr dirty="0" err="1"/>
              <a:t>правильно</a:t>
            </a:r>
            <a:r>
              <a:rPr dirty="0"/>
              <a:t> </a:t>
            </a:r>
            <a:r>
              <a:rPr dirty="0" err="1"/>
              <a:t>визначити</a:t>
            </a:r>
            <a:r>
              <a:rPr dirty="0"/>
              <a:t> </a:t>
            </a:r>
            <a:r>
              <a:rPr dirty="0" err="1"/>
              <a:t>вимоги</a:t>
            </a:r>
            <a:r>
              <a:rPr dirty="0"/>
              <a:t> і </a:t>
            </a:r>
            <a:r>
              <a:rPr dirty="0" err="1"/>
              <a:t>вибрати</a:t>
            </a:r>
            <a:r>
              <a:rPr dirty="0"/>
              <a:t> </a:t>
            </a:r>
            <a:r>
              <a:rPr dirty="0" err="1"/>
              <a:t>відповідні</a:t>
            </a:r>
            <a:r>
              <a:rPr dirty="0"/>
              <a:t> </a:t>
            </a:r>
            <a:r>
              <a:rPr dirty="0" err="1"/>
              <a:t>архітектурні</a:t>
            </a:r>
            <a:r>
              <a:rPr dirty="0"/>
              <a:t> </a:t>
            </a:r>
            <a:r>
              <a:rPr dirty="0" err="1"/>
              <a:t>рішення</a:t>
            </a:r>
            <a:r>
              <a:rPr dirty="0"/>
              <a:t>.</a:t>
            </a:r>
          </a:p>
          <a:p>
            <a:pPr marL="0" indent="0" algn="just">
              <a:buNone/>
            </a:pPr>
            <a:r>
              <a:rPr dirty="0"/>
              <a:t>• </a:t>
            </a:r>
            <a:r>
              <a:rPr dirty="0" err="1"/>
              <a:t>Майбутні</a:t>
            </a:r>
            <a:r>
              <a:rPr dirty="0"/>
              <a:t> </a:t>
            </a:r>
            <a:r>
              <a:rPr dirty="0" err="1"/>
              <a:t>тренди</a:t>
            </a:r>
            <a:r>
              <a:rPr dirty="0"/>
              <a:t>: </a:t>
            </a:r>
            <a:r>
              <a:rPr dirty="0" err="1"/>
              <a:t>Використання</a:t>
            </a:r>
            <a:r>
              <a:rPr dirty="0"/>
              <a:t> AI </a:t>
            </a:r>
            <a:r>
              <a:rPr dirty="0" err="1"/>
              <a:t>та</a:t>
            </a:r>
            <a:r>
              <a:rPr dirty="0"/>
              <a:t> </a:t>
            </a:r>
            <a:r>
              <a:rPr dirty="0" err="1"/>
              <a:t>автоматизованих</a:t>
            </a:r>
            <a:r>
              <a:rPr dirty="0"/>
              <a:t> </a:t>
            </a:r>
            <a:r>
              <a:rPr dirty="0" err="1"/>
              <a:t>інструментів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допомоги</a:t>
            </a:r>
            <a:r>
              <a:rPr dirty="0"/>
              <a:t> в </a:t>
            </a:r>
            <a:r>
              <a:rPr dirty="0" err="1"/>
              <a:t>проектуванні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D50F5A9156BD1D478258C645CBF5B6E4" ma:contentTypeVersion="12" ma:contentTypeDescription="Создание документа." ma:contentTypeScope="" ma:versionID="11858a2ebce4109694a2c45154aaadf1">
  <xsd:schema xmlns:xsd="http://www.w3.org/2001/XMLSchema" xmlns:xs="http://www.w3.org/2001/XMLSchema" xmlns:p="http://schemas.microsoft.com/office/2006/metadata/properties" xmlns:ns2="e5e6fc73-9031-450c-9de5-7bc5986304f3" xmlns:ns3="df0bf197-73fd-41e1-ba51-8f8de062c38b" targetNamespace="http://schemas.microsoft.com/office/2006/metadata/properties" ma:root="true" ma:fieldsID="b4601445fbed1be4719cec889fac3656" ns2:_="" ns3:_="">
    <xsd:import namespace="e5e6fc73-9031-450c-9de5-7bc5986304f3"/>
    <xsd:import namespace="df0bf197-73fd-41e1-ba51-8f8de062c38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e6fc73-9031-450c-9de5-7bc5986304f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Теги изображений" ma:readOnly="false" ma:fieldId="{5cf76f15-5ced-4ddc-b409-7134ff3c332f}" ma:taxonomyMulti="true" ma:sspId="ee9b83cc-1686-492f-80a3-07431345b16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f0bf197-73fd-41e1-ba51-8f8de062c38b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a7d9b0f9-d676-41f6-9742-644e7637553d}" ma:internalName="TaxCatchAll" ma:showField="CatchAllData" ma:web="df0bf197-73fd-41e1-ba51-8f8de062c38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f0bf197-73fd-41e1-ba51-8f8de062c38b" xsi:nil="true"/>
    <lcf76f155ced4ddcb4097134ff3c332f xmlns="e5e6fc73-9031-450c-9de5-7bc5986304f3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9F46588-C3C9-468D-8139-1D8EBDFE091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2E0ECC1-AD0E-4087-B202-30730BB15A5C}"/>
</file>

<file path=customXml/itemProps3.xml><?xml version="1.0" encoding="utf-8"?>
<ds:datastoreItem xmlns:ds="http://schemas.openxmlformats.org/officeDocument/2006/customXml" ds:itemID="{B5D41DA1-A027-496C-8E08-54B0D2767B07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3333</Words>
  <Application>Microsoft Office PowerPoint</Application>
  <PresentationFormat>Екран (4:3)</PresentationFormat>
  <Paragraphs>205</Paragraphs>
  <Slides>43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43</vt:i4>
      </vt:variant>
    </vt:vector>
  </HeadingPairs>
  <TitlesOfParts>
    <vt:vector size="44" baseType="lpstr">
      <vt:lpstr>Office Theme</vt:lpstr>
      <vt:lpstr>Проектування програмних систем</vt:lpstr>
      <vt:lpstr>Вступ</vt:lpstr>
      <vt:lpstr>Основні етапи проектування</vt:lpstr>
      <vt:lpstr>Архітектурні підходи</vt:lpstr>
      <vt:lpstr>Монолітна архітектура</vt:lpstr>
      <vt:lpstr>Особливості монолітної архітектури:</vt:lpstr>
      <vt:lpstr>Переваги та недоліки монолітної архітектури</vt:lpstr>
      <vt:lpstr>Приклади монолітних систем:</vt:lpstr>
      <vt:lpstr>Зображення монолітної та мікросервісної архітектури</vt:lpstr>
      <vt:lpstr>Мікросервісна архітектура</vt:lpstr>
      <vt:lpstr>Особливості мікросервісної архітектури:</vt:lpstr>
      <vt:lpstr>Переваги та недоліки мікросервісної архітектури</vt:lpstr>
      <vt:lpstr>Приклади систем з мікросервісною архітектурою:</vt:lpstr>
      <vt:lpstr>Сервіс-орієнтована архітектура (SOA)</vt:lpstr>
      <vt:lpstr>Презентація PowerPoint</vt:lpstr>
      <vt:lpstr>Основні характеристики сервіс-орієнтованої архітектури:</vt:lpstr>
      <vt:lpstr>Переваги та недоліки сервіс-орієнтованої архітектури</vt:lpstr>
      <vt:lpstr>Приклади використання SOA:</vt:lpstr>
      <vt:lpstr>Відмінність від мікросервісної архітектури:</vt:lpstr>
      <vt:lpstr>Подієво-орієнтована архітектура (Event-Driven Architecture, EDA)</vt:lpstr>
      <vt:lpstr>Основні характеристики подієво-орієнтованої архітектури:</vt:lpstr>
      <vt:lpstr>Основні компоненти EDA:</vt:lpstr>
      <vt:lpstr>Переваги та недоліки подієво-орієнтованої архітектури:</vt:lpstr>
      <vt:lpstr>Приклади використання подієво-орієнтованої архітектури:</vt:lpstr>
      <vt:lpstr>Приклади систем:</vt:lpstr>
      <vt:lpstr>Шаблони проектування</vt:lpstr>
      <vt:lpstr>Структурні шаблони проектування (Structural Design Patterns)</vt:lpstr>
      <vt:lpstr>Основні структурні шаблони проектування:</vt:lpstr>
      <vt:lpstr>Bridge&amp; Composite</vt:lpstr>
      <vt:lpstr>Decorator&amp; Facade</vt:lpstr>
      <vt:lpstr>Flyweight&amp; Proxy</vt:lpstr>
      <vt:lpstr>Переваги та недоліки структурних шаблонів:</vt:lpstr>
      <vt:lpstr>резюме</vt:lpstr>
      <vt:lpstr>Принципи SOLID</vt:lpstr>
      <vt:lpstr>1. S - Принцип єдиної відповідальності (Single Responsibility Principle, SRP)</vt:lpstr>
      <vt:lpstr>2. O - Принцип відкритості/закритості (Open/Closed Principle, OCP)</vt:lpstr>
      <vt:lpstr>3. L - Принцип підстановки Барбари Лісков (Liskov Substitution Principle, LSP)</vt:lpstr>
      <vt:lpstr>4. I - Принцип розділення інтерфейсів (Interface Segregation Principle, ISP)</vt:lpstr>
      <vt:lpstr>D - Принцип інверсії залежностей (Dependency Inversion Principle, DIP)</vt:lpstr>
      <vt:lpstr>Переваги SOLID:</vt:lpstr>
      <vt:lpstr>Інструменти для проектування</vt:lpstr>
      <vt:lpstr>Приклади реальних систем</vt:lpstr>
      <vt:lpstr>Заключення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Проектування програмних систем</dc:title>
  <dc:subject/>
  <dc:creator/>
  <cp:keywords/>
  <dc:description>generated using python-pptx</dc:description>
  <cp:lastModifiedBy>admin</cp:lastModifiedBy>
  <cp:revision>9</cp:revision>
  <dcterms:created xsi:type="dcterms:W3CDTF">2013-01-27T09:14:16Z</dcterms:created>
  <dcterms:modified xsi:type="dcterms:W3CDTF">2024-10-17T09:56:27Z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0x010100D50F5A9156BD1D478258C645CBF5B6E4</vt:lpwstr>
  </property>
</Properties>
</file>