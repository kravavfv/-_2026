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4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8"/>
  </p:notesMasterIdLst>
  <p:handoutMasterIdLst>
    <p:handoutMasterId r:id="rId49"/>
  </p:handout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3" r:id="rId10"/>
    <p:sldId id="325" r:id="rId11"/>
    <p:sldId id="326" r:id="rId12"/>
    <p:sldId id="327" r:id="rId13"/>
    <p:sldId id="328" r:id="rId14"/>
    <p:sldId id="329" r:id="rId15"/>
    <p:sldId id="330" r:id="rId16"/>
    <p:sldId id="304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269" r:id="rId46"/>
    <p:sldId id="270" r:id="rId47"/>
  </p:sldIdLst>
  <p:sldSz cx="9144000" cy="6858000" type="screen4x3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156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78574-9E36-4F3D-8B93-2AE43A6FBCC5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05FE9-10ED-4B06-8C07-BE761CEC8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483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6D1D0-08C6-40AA-AC41-BD6737B6C3C9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2149F-FF34-4997-BDAA-E585726FB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1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Концепція</a:t>
            </a:r>
            <a:r>
              <a:rPr lang="ru-RU" dirty="0" smtClean="0"/>
              <a:t> </a:t>
            </a:r>
            <a:r>
              <a:rPr lang="en-US" dirty="0" smtClean="0"/>
              <a:t>RUP (Rational Unified Process) </a:t>
            </a:r>
            <a:r>
              <a:rPr lang="ru-RU" dirty="0" smtClean="0"/>
              <a:t>є </a:t>
            </a:r>
            <a:r>
              <a:rPr lang="ru-RU" dirty="0" err="1" smtClean="0"/>
              <a:t>основними</a:t>
            </a:r>
            <a:r>
              <a:rPr lang="ru-RU" dirty="0" smtClean="0"/>
              <a:t> принципами, на </a:t>
            </a:r>
            <a:r>
              <a:rPr lang="ru-RU" dirty="0" err="1" smtClean="0"/>
              <a:t>яких</a:t>
            </a:r>
            <a:r>
              <a:rPr lang="ru-RU" dirty="0" smtClean="0"/>
              <a:t> </a:t>
            </a:r>
            <a:r>
              <a:rPr lang="ru-RU" dirty="0" err="1" smtClean="0"/>
              <a:t>будується</a:t>
            </a:r>
            <a:r>
              <a:rPr lang="ru-RU" dirty="0" smtClean="0"/>
              <a:t> </a:t>
            </a:r>
            <a:r>
              <a:rPr lang="ru-RU" dirty="0" err="1" smtClean="0"/>
              <a:t>ця</a:t>
            </a:r>
            <a:r>
              <a:rPr lang="ru-RU" dirty="0" smtClean="0"/>
              <a:t> </a:t>
            </a:r>
            <a:r>
              <a:rPr lang="ru-RU" dirty="0" err="1" smtClean="0"/>
              <a:t>методологія</a:t>
            </a:r>
            <a:r>
              <a:rPr lang="ru-RU" dirty="0" smtClean="0"/>
              <a:t>. Вони </a:t>
            </a:r>
            <a:r>
              <a:rPr lang="ru-RU" dirty="0" err="1" smtClean="0"/>
              <a:t>допомагають</a:t>
            </a:r>
            <a:r>
              <a:rPr lang="ru-RU" dirty="0" smtClean="0"/>
              <a:t> </a:t>
            </a:r>
            <a:r>
              <a:rPr lang="ru-RU" dirty="0" err="1" smtClean="0"/>
              <a:t>керувати</a:t>
            </a:r>
            <a:r>
              <a:rPr lang="ru-RU" dirty="0" smtClean="0"/>
              <a:t> </a:t>
            </a:r>
            <a:r>
              <a:rPr lang="ru-RU" dirty="0" err="1" smtClean="0"/>
              <a:t>розробкою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, </a:t>
            </a:r>
            <a:r>
              <a:rPr lang="ru-RU" dirty="0" err="1" smtClean="0"/>
              <a:t>забезпечують</a:t>
            </a:r>
            <a:r>
              <a:rPr lang="ru-RU" dirty="0" smtClean="0"/>
              <a:t> </a:t>
            </a:r>
            <a:r>
              <a:rPr lang="ru-RU" dirty="0" err="1" smtClean="0"/>
              <a:t>її</a:t>
            </a:r>
            <a:r>
              <a:rPr lang="ru-RU" dirty="0" smtClean="0"/>
              <a:t> </a:t>
            </a:r>
            <a:r>
              <a:rPr lang="ru-RU" dirty="0" err="1" smtClean="0"/>
              <a:t>структурованість</a:t>
            </a:r>
            <a:r>
              <a:rPr lang="ru-RU" dirty="0" smtClean="0"/>
              <a:t> та </a:t>
            </a:r>
            <a:r>
              <a:rPr lang="ru-RU" dirty="0" err="1" smtClean="0"/>
              <a:t>ефективність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2149F-FF34-4997-BDAA-E585726FBB7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25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3737-A9B0-4DDF-8992-0DBE5428EC1B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BFD2-51D3-48C1-A403-C7AEE4798DEF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319F4-9F9B-4038-A4F6-0FB40AD71525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C718-AC87-499C-8FF6-E2798925EAA8}" type="datetime1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5C1E-B7AE-4ABC-A5E9-10F15DE7FA17}" type="datetime1">
              <a:rPr lang="ru-RU" smtClean="0"/>
              <a:t>09.11.2024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C1C-5092-4273-BA89-40F1DD7FCC13}" type="datetime1">
              <a:rPr lang="ru-RU" smtClean="0"/>
              <a:t>09.11.2024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5BC4C-73DC-428C-8A1C-2B2A34C67364}" type="datetime1">
              <a:rPr lang="ru-RU" smtClean="0"/>
              <a:t>09.11.2024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DCCF-79A1-43B7-B292-FB670663F89D}" type="datetime1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6F-679B-4092-B593-361362E06AF7}" type="datetime1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87C8-15C8-4612-95C1-506006339E5A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A2EC-25DE-47F4-BCA5-0FEDF4AA7D48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F3D99317-F2E9-4991-BB81-FBBF0F48C72F}" type="datetime1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" Target="slide4.xml"/><Relationship Id="rId7" Type="http://schemas.openxmlformats.org/officeDocument/2006/relationships/slide" Target="slide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oleObject" Target="../embeddings/oleObject1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png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2780928"/>
            <a:ext cx="8058472" cy="2735560"/>
          </a:xfrm>
        </p:spPr>
        <p:txBody>
          <a:bodyPr/>
          <a:lstStyle/>
          <a:p>
            <a:pPr algn="ctr"/>
            <a:r>
              <a:rPr lang="uk-UA" sz="3600" dirty="0" smtClean="0"/>
              <a:t>Предмет: </a:t>
            </a:r>
            <a:r>
              <a:rPr lang="uk-UA" sz="3600" dirty="0" smtClean="0"/>
              <a:t>Технології створення програмних продуктів</a:t>
            </a:r>
            <a:r>
              <a:rPr lang="uk-UA" sz="3600" dirty="0" smtClean="0"/>
              <a:t/>
            </a:r>
            <a:br>
              <a:rPr lang="uk-UA" sz="3600" dirty="0" smtClean="0"/>
            </a:br>
            <a:r>
              <a:rPr lang="uk-UA" sz="3600" dirty="0" smtClean="0"/>
              <a:t>Лекція </a:t>
            </a:r>
            <a:r>
              <a:rPr lang="uk-UA" sz="3600" dirty="0" smtClean="0"/>
              <a:t>8. </a:t>
            </a:r>
            <a:r>
              <a:rPr lang="uk-UA" sz="3600" b="1" dirty="0" smtClean="0"/>
              <a:t>Моделювання документів. Технологія </a:t>
            </a:r>
            <a:r>
              <a:rPr lang="en-US" sz="3600" b="1" dirty="0" smtClean="0"/>
              <a:t>RUP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5517232"/>
            <a:ext cx="6858000" cy="990600"/>
          </a:xfrm>
        </p:spPr>
        <p:txBody>
          <a:bodyPr>
            <a:normAutofit fontScale="92500"/>
          </a:bodyPr>
          <a:lstStyle/>
          <a:p>
            <a:pPr algn="r"/>
            <a:r>
              <a:rPr lang="uk-UA" dirty="0" smtClean="0">
                <a:solidFill>
                  <a:schemeClr val="tx1"/>
                </a:solidFill>
              </a:rPr>
              <a:t>К.т.н, доцент Кравченко </a:t>
            </a:r>
            <a:r>
              <a:rPr lang="uk-UA" dirty="0">
                <a:solidFill>
                  <a:schemeClr val="tx1"/>
                </a:solidFill>
              </a:rPr>
              <a:t>Ольга Віталіївна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uk-UA" dirty="0" smtClean="0">
                <a:solidFill>
                  <a:schemeClr val="tx1"/>
                </a:solidFill>
              </a:rPr>
              <a:t>Кафедра інформаційних систем та технологій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771" y="620688"/>
            <a:ext cx="2592288" cy="2001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388424" y="116632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32 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383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956376" y="764704"/>
            <a:ext cx="762000" cy="365125"/>
          </a:xfrm>
        </p:spPr>
        <p:txBody>
          <a:bodyPr/>
          <a:lstStyle/>
          <a:p>
            <a:fld id="{86D06A4E-70C1-4765-82BC-011420C68E79}" type="slidenum">
              <a:rPr lang="ru-RU"/>
              <a:pPr/>
              <a:t>2</a:t>
            </a:fld>
            <a:endParaRPr lang="ru-RU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algn="ctr"/>
            <a:r>
              <a:rPr lang="ru-RU" sz="3200" dirty="0" err="1" smtClean="0"/>
              <a:t>Моделювання</a:t>
            </a:r>
            <a:r>
              <a:rPr lang="ru-RU" sz="3200" dirty="0" smtClean="0"/>
              <a:t> </a:t>
            </a:r>
            <a:r>
              <a:rPr lang="ru-RU" sz="3200" dirty="0" err="1" smtClean="0"/>
              <a:t>документів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(</a:t>
            </a:r>
            <a:r>
              <a:rPr lang="ru-RU" sz="3200" dirty="0" err="1" smtClean="0"/>
              <a:t>бізнес</a:t>
            </a:r>
            <a:r>
              <a:rPr lang="ru-RU" sz="3200" dirty="0" smtClean="0"/>
              <a:t>-об</a:t>
            </a:r>
            <a:r>
              <a:rPr lang="en-US" sz="3200" dirty="0" smtClean="0"/>
              <a:t>’</a:t>
            </a:r>
            <a:r>
              <a:rPr lang="ru-RU" sz="3200" dirty="0" err="1" smtClean="0"/>
              <a:t>ектів</a:t>
            </a:r>
            <a:r>
              <a:rPr lang="ru-RU" sz="3200" dirty="0"/>
              <a:t>)</a:t>
            </a:r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2190750" y="146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591706"/>
              </p:ext>
            </p:extLst>
          </p:nvPr>
        </p:nvGraphicFramePr>
        <p:xfrm>
          <a:off x="395536" y="1466850"/>
          <a:ext cx="8382000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Точечный рисунок" r:id="rId3" imgW="9628571" imgH="5504762" progId="Paint.Picture">
                  <p:embed/>
                </p:oleObj>
              </mc:Choice>
              <mc:Fallback>
                <p:oleObj name="Точечный рисунок" r:id="rId3" imgW="9628571" imgH="550476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466850"/>
                        <a:ext cx="8382000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108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EDF02-8697-42C7-9ACF-EC1BA1438E04}" type="slidenum">
              <a:rPr lang="ru-RU"/>
              <a:pPr/>
              <a:t>3</a:t>
            </a:fld>
            <a:endParaRPr lang="ru-RU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algn="ctr"/>
            <a:r>
              <a:rPr lang="ru-RU" sz="3200" dirty="0" err="1"/>
              <a:t>Моделювання</a:t>
            </a:r>
            <a:r>
              <a:rPr lang="ru-RU" sz="3200" dirty="0"/>
              <a:t> </a:t>
            </a:r>
            <a:r>
              <a:rPr lang="ru-RU" sz="3200" dirty="0" err="1"/>
              <a:t>документів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(</a:t>
            </a:r>
            <a:r>
              <a:rPr lang="ru-RU" sz="3200" dirty="0" err="1"/>
              <a:t>бізнес</a:t>
            </a:r>
            <a:r>
              <a:rPr lang="ru-RU" sz="3200" dirty="0"/>
              <a:t>-об</a:t>
            </a:r>
            <a:r>
              <a:rPr lang="en-US" sz="3200" dirty="0"/>
              <a:t>’</a:t>
            </a:r>
            <a:r>
              <a:rPr lang="ru-RU" sz="3200" dirty="0" err="1"/>
              <a:t>ектів</a:t>
            </a:r>
            <a:r>
              <a:rPr lang="ru-RU" sz="3200" dirty="0"/>
              <a:t>)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2190750" y="146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323528" y="1772816"/>
            <a:ext cx="8382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/>
            <a:r>
              <a:rPr lang="ru-RU" sz="2800" b="1" dirty="0">
                <a:cs typeface="Times New Roman" charset="0"/>
              </a:rPr>
              <a:t>Мета </a:t>
            </a:r>
            <a:r>
              <a:rPr lang="ru-RU" sz="2800" b="1" dirty="0" err="1">
                <a:cs typeface="Times New Roman" charset="0"/>
              </a:rPr>
              <a:t>моделювання</a:t>
            </a:r>
            <a:r>
              <a:rPr lang="ru-RU" sz="2800" b="1" dirty="0">
                <a:cs typeface="Times New Roman" charset="0"/>
              </a:rPr>
              <a:t> </a:t>
            </a:r>
            <a:r>
              <a:rPr lang="ru-RU" sz="2800" b="1" dirty="0" err="1">
                <a:cs typeface="Times New Roman" charset="0"/>
              </a:rPr>
              <a:t>документів</a:t>
            </a:r>
            <a:r>
              <a:rPr lang="ru-RU" sz="2800" b="1" dirty="0">
                <a:cs typeface="Times New Roman" charset="0"/>
              </a:rPr>
              <a:t> </a:t>
            </a:r>
            <a:r>
              <a:rPr lang="ru-RU" sz="2800" dirty="0">
                <a:cs typeface="Times New Roman" charset="0"/>
              </a:rPr>
              <a:t>- </a:t>
            </a:r>
            <a:r>
              <a:rPr lang="ru-RU" sz="2800" dirty="0" err="1">
                <a:cs typeface="Times New Roman" charset="0"/>
              </a:rPr>
              <a:t>описати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атрибути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документів</a:t>
            </a:r>
            <a:r>
              <a:rPr lang="ru-RU" sz="2800" dirty="0">
                <a:cs typeface="Times New Roman" charset="0"/>
              </a:rPr>
              <a:t>, </a:t>
            </a:r>
            <a:r>
              <a:rPr lang="ru-RU" sz="2800" dirty="0" err="1">
                <a:cs typeface="Times New Roman" charset="0"/>
              </a:rPr>
              <a:t>їх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типи</a:t>
            </a:r>
            <a:r>
              <a:rPr lang="ru-RU" sz="2800" dirty="0">
                <a:cs typeface="Times New Roman" charset="0"/>
              </a:rPr>
              <a:t>, </a:t>
            </a:r>
            <a:r>
              <a:rPr lang="ru-RU" sz="2800" dirty="0" err="1">
                <a:cs typeface="Times New Roman" charset="0"/>
              </a:rPr>
              <a:t>значення</a:t>
            </a:r>
            <a:r>
              <a:rPr lang="ru-RU" sz="2800" dirty="0">
                <a:cs typeface="Times New Roman" charset="0"/>
              </a:rPr>
              <a:t>, </a:t>
            </a:r>
            <a:r>
              <a:rPr lang="ru-RU" sz="2800" dirty="0" smtClean="0">
                <a:cs typeface="Times New Roman" charset="0"/>
              </a:rPr>
              <a:t>та правила </a:t>
            </a:r>
            <a:r>
              <a:rPr lang="ru-RU" sz="2800" dirty="0" err="1">
                <a:cs typeface="Times New Roman" charset="0"/>
              </a:rPr>
              <a:t>формування</a:t>
            </a:r>
            <a:r>
              <a:rPr lang="ru-RU" sz="2800" dirty="0">
                <a:cs typeface="Times New Roman" charset="0"/>
              </a:rPr>
              <a:t> для:</a:t>
            </a:r>
          </a:p>
          <a:p>
            <a:pPr marL="457200" indent="-457200"/>
            <a:endParaRPr lang="ru-RU" sz="2800" dirty="0">
              <a:cs typeface="Times New Roman" charset="0"/>
            </a:endParaRPr>
          </a:p>
          <a:p>
            <a:pPr marL="457200" indent="-101600">
              <a:buFont typeface="Wingdings" pitchFamily="2" charset="2"/>
              <a:buChar char="Ø"/>
            </a:pPr>
            <a:r>
              <a:rPr lang="ru-RU" sz="2800" dirty="0" err="1">
                <a:cs typeface="Times New Roman" charset="0"/>
              </a:rPr>
              <a:t>Проектування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користувальницького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інтерфейсу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системи</a:t>
            </a:r>
            <a:r>
              <a:rPr lang="ru-RU" sz="2800" dirty="0">
                <a:cs typeface="Times New Roman" charset="0"/>
              </a:rPr>
              <a:t>;</a:t>
            </a:r>
          </a:p>
          <a:p>
            <a:pPr marL="457200" indent="-101600">
              <a:buFont typeface="Wingdings" pitchFamily="2" charset="2"/>
              <a:buChar char="Ø"/>
            </a:pPr>
            <a:r>
              <a:rPr lang="ru-RU" sz="2800" dirty="0" err="1">
                <a:cs typeface="Times New Roman" charset="0"/>
              </a:rPr>
              <a:t>Проектування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Бази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даних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системи</a:t>
            </a:r>
            <a:r>
              <a:rPr lang="ru-RU" sz="2800" dirty="0">
                <a:cs typeface="Times New Roman" charset="0"/>
              </a:rPr>
              <a:t>;</a:t>
            </a:r>
          </a:p>
          <a:p>
            <a:pPr marL="457200" indent="-101600">
              <a:buFont typeface="Wingdings" pitchFamily="2" charset="2"/>
              <a:buChar char="Ø"/>
            </a:pPr>
            <a:r>
              <a:rPr lang="ru-RU" sz="2800" dirty="0" err="1">
                <a:cs typeface="Times New Roman" charset="0"/>
              </a:rPr>
              <a:t>Формування</a:t>
            </a:r>
            <a:r>
              <a:rPr lang="ru-RU" sz="2800" dirty="0">
                <a:cs typeface="Times New Roman" charset="0"/>
              </a:rPr>
              <a:t> альбому </a:t>
            </a:r>
            <a:r>
              <a:rPr lang="ru-RU" sz="2800" dirty="0" err="1">
                <a:cs typeface="Times New Roman" charset="0"/>
              </a:rPr>
              <a:t>вихідних</a:t>
            </a:r>
            <a:r>
              <a:rPr lang="ru-RU" sz="2800" dirty="0">
                <a:cs typeface="Times New Roman" charset="0"/>
              </a:rPr>
              <a:t> форм </a:t>
            </a:r>
            <a:r>
              <a:rPr lang="ru-RU" sz="2800" dirty="0" err="1">
                <a:cs typeface="Times New Roman" charset="0"/>
              </a:rPr>
              <a:t>системи</a:t>
            </a:r>
            <a:r>
              <a:rPr lang="ru-RU" sz="2800" dirty="0">
                <a:cs typeface="Times New Roman" charset="0"/>
              </a:rPr>
              <a:t>;</a:t>
            </a:r>
            <a:endParaRPr kumimoji="0"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48428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CEB6-AA5A-41AE-BF4E-647B7F14E332}" type="slidenum">
              <a:rPr lang="ru-RU"/>
              <a:pPr/>
              <a:t>4</a:t>
            </a:fld>
            <a:endParaRPr lang="ru-RU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6632"/>
            <a:ext cx="7772400" cy="1034752"/>
          </a:xfrm>
        </p:spPr>
        <p:txBody>
          <a:bodyPr/>
          <a:lstStyle/>
          <a:p>
            <a:pPr algn="ctr"/>
            <a:r>
              <a:rPr lang="ru-RU" sz="2800" dirty="0" err="1" smtClean="0"/>
              <a:t>Моделювання</a:t>
            </a:r>
            <a:r>
              <a:rPr lang="ru-RU" sz="2800" dirty="0" smtClean="0"/>
              <a:t> </a:t>
            </a:r>
            <a:r>
              <a:rPr lang="ru-RU" sz="2800" dirty="0" err="1" smtClean="0"/>
              <a:t>сценарію</a:t>
            </a:r>
            <a:r>
              <a:rPr lang="ru-RU" sz="2800" dirty="0" smtClean="0"/>
              <a:t> </a:t>
            </a:r>
            <a:r>
              <a:rPr lang="ru-RU" sz="2800" dirty="0" err="1" smtClean="0"/>
              <a:t>використання</a:t>
            </a:r>
            <a:r>
              <a:rPr lang="ru-RU" sz="2800" dirty="0" smtClean="0"/>
              <a:t> </a:t>
            </a:r>
            <a:r>
              <a:rPr lang="ru-RU" sz="2800" dirty="0" err="1" smtClean="0"/>
              <a:t>функції</a:t>
            </a:r>
            <a:r>
              <a:rPr lang="ru-RU" sz="2800" dirty="0" smtClean="0"/>
              <a:t> </a:t>
            </a:r>
            <a:r>
              <a:rPr lang="ru-RU" sz="2000" dirty="0" smtClean="0"/>
              <a:t>(«</a:t>
            </a:r>
            <a:r>
              <a:rPr lang="ru-RU" sz="2000" dirty="0"/>
              <a:t>Регистрация в картотеке»)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1066800" y="1066800"/>
          <a:ext cx="6799263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Точечный рисунок" r:id="rId3" imgW="6800000" imgH="5095238" progId="Paint.Picture">
                  <p:embed/>
                </p:oleObj>
              </mc:Choice>
              <mc:Fallback>
                <p:oleObj name="Точечный рисунок" r:id="rId3" imgW="6800000" imgH="5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066800"/>
                        <a:ext cx="6799263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457200" y="5943600"/>
            <a:ext cx="7848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2000" dirty="0"/>
              <a:t>Мета - </a:t>
            </a:r>
            <a:r>
              <a:rPr lang="ru-RU" sz="2000" dirty="0" err="1"/>
              <a:t>проектування</a:t>
            </a:r>
            <a:r>
              <a:rPr lang="ru-RU" sz="2000" dirty="0"/>
              <a:t> </a:t>
            </a:r>
            <a:r>
              <a:rPr lang="ru-RU" sz="2000" dirty="0" err="1"/>
              <a:t>сценаріїв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</a:t>
            </a:r>
            <a:r>
              <a:rPr lang="ru-RU" sz="2000" dirty="0" err="1"/>
              <a:t>користувача</a:t>
            </a:r>
            <a:r>
              <a:rPr lang="ru-RU" sz="2000" dirty="0"/>
              <a:t> з </a:t>
            </a:r>
            <a:r>
              <a:rPr lang="ru-RU" sz="2000" dirty="0" err="1"/>
              <a:t>майбутньою</a:t>
            </a:r>
            <a:r>
              <a:rPr lang="ru-RU" sz="2000" dirty="0"/>
              <a:t> системою і </a:t>
            </a:r>
            <a:r>
              <a:rPr lang="ru-RU" sz="2000" dirty="0" err="1"/>
              <a:t>опис</a:t>
            </a:r>
            <a:r>
              <a:rPr lang="ru-RU" sz="2000" dirty="0"/>
              <a:t> </a:t>
            </a:r>
            <a:r>
              <a:rPr lang="ru-RU" sz="2000" dirty="0" err="1"/>
              <a:t>функцій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.</a:t>
            </a:r>
            <a:endParaRPr kumimoji="0" lang="ru-RU" sz="2000" dirty="0"/>
          </a:p>
        </p:txBody>
      </p:sp>
    </p:spTree>
    <p:extLst>
      <p:ext uri="{BB962C8B-B14F-4D97-AF65-F5344CB8AC3E}">
        <p14:creationId xmlns:p14="http://schemas.microsoft.com/office/powerpoint/2010/main" val="63057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191C-E134-4AFA-A0F1-A9739CE93577}" type="slidenum">
              <a:rPr lang="ru-RU"/>
              <a:pPr/>
              <a:t>5</a:t>
            </a:fld>
            <a:endParaRPr lang="ru-RU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algn="ctr"/>
            <a:r>
              <a:rPr lang="ru-RU" sz="2800" dirty="0" err="1" smtClean="0"/>
              <a:t>Моделювання</a:t>
            </a:r>
            <a:r>
              <a:rPr lang="ru-RU" sz="2800" dirty="0" smtClean="0"/>
              <a:t> </a:t>
            </a:r>
            <a:r>
              <a:rPr lang="ru-RU" sz="2800" dirty="0" err="1" smtClean="0"/>
              <a:t>станів</a:t>
            </a:r>
            <a:r>
              <a:rPr lang="ru-RU" sz="2800" dirty="0" smtClean="0"/>
              <a:t> </a:t>
            </a:r>
            <a:r>
              <a:rPr lang="ru-RU" sz="2800" dirty="0" err="1" smtClean="0"/>
              <a:t>бізнес</a:t>
            </a:r>
            <a:r>
              <a:rPr lang="ru-RU" sz="2800" dirty="0" smtClean="0"/>
              <a:t>-об</a:t>
            </a:r>
            <a:r>
              <a:rPr lang="en-US" sz="2800" dirty="0" smtClean="0"/>
              <a:t>’</a:t>
            </a:r>
            <a:r>
              <a:rPr lang="ru-RU" sz="2800" dirty="0" err="1" smtClean="0"/>
              <a:t>єктів</a:t>
            </a:r>
            <a:endParaRPr lang="ru-RU" sz="2000" dirty="0"/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609600" y="6019800"/>
            <a:ext cx="815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2000" dirty="0"/>
              <a:t>Мета - </a:t>
            </a:r>
            <a:r>
              <a:rPr lang="ru-RU" sz="2000" dirty="0" err="1"/>
              <a:t>проектування</a:t>
            </a:r>
            <a:r>
              <a:rPr lang="ru-RU" sz="2000" dirty="0"/>
              <a:t> </a:t>
            </a:r>
            <a:r>
              <a:rPr lang="ru-RU" sz="2000" dirty="0" err="1"/>
              <a:t>користувальницького</a:t>
            </a:r>
            <a:r>
              <a:rPr lang="ru-RU" sz="2000" dirty="0"/>
              <a:t> </a:t>
            </a:r>
            <a:r>
              <a:rPr lang="ru-RU" sz="2000" dirty="0" err="1"/>
              <a:t>інтерфейсу</a:t>
            </a:r>
            <a:r>
              <a:rPr lang="ru-RU" sz="2000" dirty="0"/>
              <a:t> і БД </a:t>
            </a:r>
            <a:r>
              <a:rPr lang="ru-RU" sz="2000" dirty="0" err="1"/>
              <a:t>системи</a:t>
            </a:r>
            <a:r>
              <a:rPr kumimoji="0" lang="ru-RU" sz="2000" dirty="0" smtClean="0">
                <a:cs typeface="Times New Roman" charset="0"/>
              </a:rPr>
              <a:t>. </a:t>
            </a:r>
            <a:endParaRPr kumimoji="0" lang="ru-RU" sz="2000" dirty="0"/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0" y="1524000"/>
          <a:ext cx="91440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Точечный рисунок" r:id="rId3" imgW="9247619" imgH="2991268" progId="Paint.Picture">
                  <p:embed/>
                </p:oleObj>
              </mc:Choice>
              <mc:Fallback>
                <p:oleObj name="Точечный рисунок" r:id="rId3" imgW="9247619" imgH="299126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0"/>
                        <a:ext cx="91440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643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73EC6-F621-4359-A486-AF644E3F20E1}" type="slidenum">
              <a:rPr lang="ru-RU"/>
              <a:pPr/>
              <a:t>6</a:t>
            </a:fld>
            <a:endParaRPr lang="ru-RU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4"/>
            <a:ext cx="7772400" cy="831304"/>
          </a:xfrm>
        </p:spPr>
        <p:txBody>
          <a:bodyPr/>
          <a:lstStyle/>
          <a:p>
            <a:pPr algn="ctr"/>
            <a:r>
              <a:rPr lang="ru-RU" sz="3600" i="1" dirty="0" err="1">
                <a:cs typeface="Times New Roman" charset="0"/>
              </a:rPr>
              <a:t>Розробка</a:t>
            </a:r>
            <a:r>
              <a:rPr lang="ru-RU" sz="3600" i="1" dirty="0">
                <a:cs typeface="Times New Roman" charset="0"/>
              </a:rPr>
              <a:t> </a:t>
            </a:r>
            <a:r>
              <a:rPr lang="ru-RU" sz="3600" i="1" dirty="0" err="1">
                <a:cs typeface="Times New Roman" charset="0"/>
              </a:rPr>
              <a:t>вимог</a:t>
            </a:r>
            <a:r>
              <a:rPr lang="ru-RU" sz="3600" i="1" dirty="0">
                <a:cs typeface="Times New Roman" charset="0"/>
              </a:rPr>
              <a:t> до </a:t>
            </a:r>
            <a:r>
              <a:rPr lang="ru-RU" sz="3600" i="1" dirty="0" err="1">
                <a:cs typeface="Times New Roman" charset="0"/>
              </a:rPr>
              <a:t>системи</a:t>
            </a:r>
            <a:endParaRPr lang="ru-RU" dirty="0"/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800100" y="1340768"/>
            <a:ext cx="7543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dirty="0" err="1">
                <a:cs typeface="Times New Roman" charset="0"/>
              </a:rPr>
              <a:t>Перетворення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бізнес-моделі</a:t>
            </a:r>
            <a:r>
              <a:rPr lang="ru-RU" sz="2800" dirty="0">
                <a:cs typeface="Times New Roman" charset="0"/>
              </a:rPr>
              <a:t> в модель </a:t>
            </a:r>
            <a:r>
              <a:rPr lang="ru-RU" sz="2800" dirty="0" err="1">
                <a:cs typeface="Times New Roman" charset="0"/>
              </a:rPr>
              <a:t>системних</a:t>
            </a:r>
            <a:r>
              <a:rPr lang="ru-RU" sz="2800" dirty="0">
                <a:cs typeface="Times New Roman" charset="0"/>
              </a:rPr>
              <a:t> </a:t>
            </a:r>
            <a:r>
              <a:rPr lang="ru-RU" sz="2800" dirty="0" err="1">
                <a:cs typeface="Times New Roman" charset="0"/>
              </a:rPr>
              <a:t>прецедентів</a:t>
            </a:r>
            <a:endParaRPr lang="ru-RU" sz="2800" dirty="0"/>
          </a:p>
        </p:txBody>
      </p:sp>
      <p:grpSp>
        <p:nvGrpSpPr>
          <p:cNvPr id="79876" name="Group 4"/>
          <p:cNvGrpSpPr>
            <a:grpSpLocks/>
          </p:cNvGrpSpPr>
          <p:nvPr/>
        </p:nvGrpSpPr>
        <p:grpSpPr bwMode="auto">
          <a:xfrm>
            <a:off x="304800" y="2438400"/>
            <a:ext cx="8534400" cy="3573463"/>
            <a:chOff x="-3" y="-3"/>
            <a:chExt cx="4006" cy="2251"/>
          </a:xfrm>
        </p:grpSpPr>
        <p:grpSp>
          <p:nvGrpSpPr>
            <p:cNvPr id="79877" name="Group 5"/>
            <p:cNvGrpSpPr>
              <a:grpSpLocks/>
            </p:cNvGrpSpPr>
            <p:nvPr/>
          </p:nvGrpSpPr>
          <p:grpSpPr bwMode="auto">
            <a:xfrm>
              <a:off x="0" y="0"/>
              <a:ext cx="4000" cy="2245"/>
              <a:chOff x="0" y="0"/>
              <a:chExt cx="4000" cy="2245"/>
            </a:xfrm>
          </p:grpSpPr>
          <p:grpSp>
            <p:nvGrpSpPr>
              <p:cNvPr id="79878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2000" cy="518"/>
                <a:chOff x="0" y="0"/>
                <a:chExt cx="2000" cy="518"/>
              </a:xfrm>
            </p:grpSpPr>
            <p:sp>
              <p:nvSpPr>
                <p:cNvPr id="79879" name="Rectangle 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91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/>
                  <a:r>
                    <a:rPr kumimoji="0" lang="ru-RU" sz="2000" b="1" dirty="0" err="1" smtClean="0">
                      <a:latin typeface="Arial Unicode MS" pitchFamily="34" charset="-128"/>
                      <a:cs typeface="Times New Roman" charset="0"/>
                    </a:rPr>
                    <a:t>Елементи</a:t>
                  </a:r>
                  <a:r>
                    <a:rPr kumimoji="0" lang="ru-RU" sz="2000" b="1" dirty="0" smtClean="0">
                      <a:latin typeface="Arial Unicode MS" pitchFamily="34" charset="-128"/>
                      <a:cs typeface="Times New Roman" charset="0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cs typeface="Times New Roman" charset="0"/>
                    </a:rPr>
                    <a:t>бізнес</a:t>
                  </a:r>
                  <a:r>
                    <a:rPr lang="ru-RU" sz="2000" b="1" dirty="0" err="1" smtClean="0">
                      <a:latin typeface="Arial Unicode MS" pitchFamily="34" charset="-128"/>
                      <a:cs typeface="Times New Roman" charset="0"/>
                    </a:rPr>
                    <a:t>-моделі</a:t>
                  </a:r>
                  <a:endParaRPr kumimoji="0" lang="ru-RU" sz="2000" b="1" dirty="0">
                    <a:latin typeface="Arial Unicode MS" pitchFamily="34" charset="-128"/>
                    <a:cs typeface="Times New Roman" charset="0"/>
                  </a:endParaRPr>
                </a:p>
                <a:p>
                  <a:pPr algn="ctr" eaLnBrk="0" hangingPunct="0"/>
                  <a:endParaRPr kumimoji="0" lang="ru-RU" sz="2000" b="1" dirty="0"/>
                </a:p>
              </p:txBody>
            </p:sp>
            <p:sp>
              <p:nvSpPr>
                <p:cNvPr id="79880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81" name="Group 9"/>
              <p:cNvGrpSpPr>
                <a:grpSpLocks/>
              </p:cNvGrpSpPr>
              <p:nvPr/>
            </p:nvGrpSpPr>
            <p:grpSpPr bwMode="auto">
              <a:xfrm>
                <a:off x="2000" y="0"/>
                <a:ext cx="2000" cy="518"/>
                <a:chOff x="2000" y="0"/>
                <a:chExt cx="2000" cy="518"/>
              </a:xfrm>
            </p:grpSpPr>
            <p:sp>
              <p:nvSpPr>
                <p:cNvPr id="79882" name="Rectangle 10"/>
                <p:cNvSpPr>
                  <a:spLocks noChangeArrowheads="1"/>
                </p:cNvSpPr>
                <p:nvPr/>
              </p:nvSpPr>
              <p:spPr bwMode="auto">
                <a:xfrm>
                  <a:off x="2043" y="0"/>
                  <a:ext cx="191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Елементи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моделі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системних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прецедентів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algn="ctr" eaLnBrk="0" hangingPunct="0"/>
                  <a:endParaRPr kumimoji="0" lang="ru-RU" sz="2000" b="1" dirty="0"/>
                </a:p>
              </p:txBody>
            </p:sp>
            <p:sp>
              <p:nvSpPr>
                <p:cNvPr id="79883" name="Rectangle 11"/>
                <p:cNvSpPr>
                  <a:spLocks noChangeArrowheads="1"/>
                </p:cNvSpPr>
                <p:nvPr/>
              </p:nvSpPr>
              <p:spPr bwMode="auto">
                <a:xfrm>
                  <a:off x="2000" y="0"/>
                  <a:ext cx="20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84" name="Group 12"/>
              <p:cNvGrpSpPr>
                <a:grpSpLocks/>
              </p:cNvGrpSpPr>
              <p:nvPr/>
            </p:nvGrpSpPr>
            <p:grpSpPr bwMode="auto">
              <a:xfrm>
                <a:off x="0" y="518"/>
                <a:ext cx="2000" cy="403"/>
                <a:chOff x="0" y="518"/>
                <a:chExt cx="2000" cy="403"/>
              </a:xfrm>
            </p:grpSpPr>
            <p:sp>
              <p:nvSpPr>
                <p:cNvPr id="79885" name="Rectangle 13"/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Бізнес-прецеденти</a:t>
                  </a:r>
                  <a:endParaRPr kumimoji="0" lang="ru-RU" sz="2000" b="1" dirty="0"/>
                </a:p>
              </p:txBody>
            </p:sp>
            <p:sp>
              <p:nvSpPr>
                <p:cNvPr id="79886" name="Rectangle 14"/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87" name="Group 15"/>
              <p:cNvGrpSpPr>
                <a:grpSpLocks/>
              </p:cNvGrpSpPr>
              <p:nvPr/>
            </p:nvGrpSpPr>
            <p:grpSpPr bwMode="auto">
              <a:xfrm>
                <a:off x="2000" y="518"/>
                <a:ext cx="2000" cy="403"/>
                <a:chOff x="2000" y="518"/>
                <a:chExt cx="2000" cy="403"/>
              </a:xfrm>
            </p:grpSpPr>
            <p:sp>
              <p:nvSpPr>
                <p:cNvPr id="79888" name="Rectangle 16"/>
                <p:cNvSpPr>
                  <a:spLocks noChangeArrowheads="1"/>
                </p:cNvSpPr>
                <p:nvPr/>
              </p:nvSpPr>
              <p:spPr bwMode="auto">
                <a:xfrm>
                  <a:off x="2043" y="518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Підсистеми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3600" b="1" dirty="0"/>
                </a:p>
              </p:txBody>
            </p:sp>
            <p:sp>
              <p:nvSpPr>
                <p:cNvPr id="798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000" y="518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90" name="Group 18"/>
              <p:cNvGrpSpPr>
                <a:grpSpLocks/>
              </p:cNvGrpSpPr>
              <p:nvPr/>
            </p:nvGrpSpPr>
            <p:grpSpPr bwMode="auto">
              <a:xfrm>
                <a:off x="0" y="921"/>
                <a:ext cx="2000" cy="403"/>
                <a:chOff x="0" y="921"/>
                <a:chExt cx="2000" cy="403"/>
              </a:xfrm>
            </p:grpSpPr>
            <p:sp>
              <p:nvSpPr>
                <p:cNvPr id="79891" name="Rectangle 19"/>
                <p:cNvSpPr>
                  <a:spLocks noChangeArrowheads="1"/>
                </p:cNvSpPr>
                <p:nvPr/>
              </p:nvSpPr>
              <p:spPr bwMode="auto">
                <a:xfrm>
                  <a:off x="43" y="921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Зовнішні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виконавці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2000" b="1" dirty="0"/>
                </a:p>
              </p:txBody>
            </p:sp>
            <p:sp>
              <p:nvSpPr>
                <p:cNvPr id="79892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921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93" name="Group 21"/>
              <p:cNvGrpSpPr>
                <a:grpSpLocks/>
              </p:cNvGrpSpPr>
              <p:nvPr/>
            </p:nvGrpSpPr>
            <p:grpSpPr bwMode="auto">
              <a:xfrm>
                <a:off x="2000" y="921"/>
                <a:ext cx="2000" cy="403"/>
                <a:chOff x="2000" y="921"/>
                <a:chExt cx="2000" cy="403"/>
              </a:xfrm>
            </p:grpSpPr>
            <p:sp>
              <p:nvSpPr>
                <p:cNvPr id="79894" name="Rectangle 22"/>
                <p:cNvSpPr>
                  <a:spLocks noChangeArrowheads="1"/>
                </p:cNvSpPr>
                <p:nvPr/>
              </p:nvSpPr>
              <p:spPr bwMode="auto">
                <a:xfrm>
                  <a:off x="2043" y="921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Виконавці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3600" b="1" dirty="0"/>
                </a:p>
              </p:txBody>
            </p:sp>
            <p:sp>
              <p:nvSpPr>
                <p:cNvPr id="79895" name="Rectangle 23"/>
                <p:cNvSpPr>
                  <a:spLocks noChangeArrowheads="1"/>
                </p:cNvSpPr>
                <p:nvPr/>
              </p:nvSpPr>
              <p:spPr bwMode="auto">
                <a:xfrm>
                  <a:off x="2000" y="921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96" name="Group 24"/>
              <p:cNvGrpSpPr>
                <a:grpSpLocks/>
              </p:cNvGrpSpPr>
              <p:nvPr/>
            </p:nvGrpSpPr>
            <p:grpSpPr bwMode="auto">
              <a:xfrm>
                <a:off x="0" y="1324"/>
                <a:ext cx="2000" cy="403"/>
                <a:chOff x="0" y="1324"/>
                <a:chExt cx="2000" cy="403"/>
              </a:xfrm>
            </p:grpSpPr>
            <p:sp>
              <p:nvSpPr>
                <p:cNvPr id="79897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1324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Внутрішні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виконавці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2000" b="1" dirty="0"/>
                </a:p>
              </p:txBody>
            </p:sp>
            <p:sp>
              <p:nvSpPr>
                <p:cNvPr id="79898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1324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899" name="Group 27"/>
              <p:cNvGrpSpPr>
                <a:grpSpLocks/>
              </p:cNvGrpSpPr>
              <p:nvPr/>
            </p:nvGrpSpPr>
            <p:grpSpPr bwMode="auto">
              <a:xfrm>
                <a:off x="2000" y="1324"/>
                <a:ext cx="2000" cy="403"/>
                <a:chOff x="2000" y="1324"/>
                <a:chExt cx="2000" cy="403"/>
              </a:xfrm>
            </p:grpSpPr>
            <p:sp>
              <p:nvSpPr>
                <p:cNvPr id="79900" name="Rectangle 28"/>
                <p:cNvSpPr>
                  <a:spLocks noChangeArrowheads="1"/>
                </p:cNvSpPr>
                <p:nvPr/>
              </p:nvSpPr>
              <p:spPr bwMode="auto">
                <a:xfrm>
                  <a:off x="2043" y="1324"/>
                  <a:ext cx="1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Виконавці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чи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прецеденти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2000" b="1" dirty="0"/>
                </a:p>
              </p:txBody>
            </p:sp>
            <p:sp>
              <p:nvSpPr>
                <p:cNvPr id="79901" name="Rectangle 29"/>
                <p:cNvSpPr>
                  <a:spLocks noChangeArrowheads="1"/>
                </p:cNvSpPr>
                <p:nvPr/>
              </p:nvSpPr>
              <p:spPr bwMode="auto">
                <a:xfrm>
                  <a:off x="2000" y="1324"/>
                  <a:ext cx="2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902" name="Group 30"/>
              <p:cNvGrpSpPr>
                <a:grpSpLocks/>
              </p:cNvGrpSpPr>
              <p:nvPr/>
            </p:nvGrpSpPr>
            <p:grpSpPr bwMode="auto">
              <a:xfrm>
                <a:off x="0" y="1727"/>
                <a:ext cx="2000" cy="518"/>
                <a:chOff x="0" y="1727"/>
                <a:chExt cx="2000" cy="518"/>
              </a:xfrm>
            </p:grpSpPr>
            <p:sp>
              <p:nvSpPr>
                <p:cNvPr id="79903" name="Rectangle 31"/>
                <p:cNvSpPr>
                  <a:spLocks noChangeArrowheads="1"/>
                </p:cNvSpPr>
                <p:nvPr/>
              </p:nvSpPr>
              <p:spPr bwMode="auto">
                <a:xfrm>
                  <a:off x="43" y="1727"/>
                  <a:ext cx="191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Процеси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,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що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виконуються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внутрішніми</a:t>
                  </a:r>
                  <a:r>
                    <a:rPr kumimoji="0" lang="ru-RU" sz="2000" b="1" dirty="0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 </a:t>
                  </a:r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виконавцями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2000" b="1" dirty="0"/>
                </a:p>
              </p:txBody>
            </p:sp>
            <p:sp>
              <p:nvSpPr>
                <p:cNvPr id="79904" name="Rectangle 32"/>
                <p:cNvSpPr>
                  <a:spLocks noChangeArrowheads="1"/>
                </p:cNvSpPr>
                <p:nvPr/>
              </p:nvSpPr>
              <p:spPr bwMode="auto">
                <a:xfrm>
                  <a:off x="0" y="1727"/>
                  <a:ext cx="20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9905" name="Group 33"/>
              <p:cNvGrpSpPr>
                <a:grpSpLocks/>
              </p:cNvGrpSpPr>
              <p:nvPr/>
            </p:nvGrpSpPr>
            <p:grpSpPr bwMode="auto">
              <a:xfrm>
                <a:off x="2000" y="1727"/>
                <a:ext cx="2000" cy="518"/>
                <a:chOff x="2000" y="1727"/>
                <a:chExt cx="2000" cy="518"/>
              </a:xfrm>
            </p:grpSpPr>
            <p:sp>
              <p:nvSpPr>
                <p:cNvPr id="79906" name="Rectangle 34"/>
                <p:cNvSpPr>
                  <a:spLocks noChangeArrowheads="1"/>
                </p:cNvSpPr>
                <p:nvPr/>
              </p:nvSpPr>
              <p:spPr bwMode="auto">
                <a:xfrm>
                  <a:off x="2043" y="1727"/>
                  <a:ext cx="191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0" lang="ru-RU" sz="2000" b="1" dirty="0" err="1" smtClean="0"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Прецеденти</a:t>
                  </a:r>
                  <a:endParaRPr kumimoji="0" lang="ru-RU" sz="2000" b="1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eaLnBrk="0" hangingPunct="0"/>
                  <a:endParaRPr kumimoji="0" lang="ru-RU" sz="2000" b="1" dirty="0"/>
                </a:p>
              </p:txBody>
            </p:sp>
            <p:sp>
              <p:nvSpPr>
                <p:cNvPr id="79907" name="Rectangle 35"/>
                <p:cNvSpPr>
                  <a:spLocks noChangeArrowheads="1"/>
                </p:cNvSpPr>
                <p:nvPr/>
              </p:nvSpPr>
              <p:spPr bwMode="auto">
                <a:xfrm>
                  <a:off x="2000" y="1727"/>
                  <a:ext cx="20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</p:grpSp>
        <p:sp>
          <p:nvSpPr>
            <p:cNvPr id="79908" name="Rectangle 36"/>
            <p:cNvSpPr>
              <a:spLocks noChangeArrowheads="1"/>
            </p:cNvSpPr>
            <p:nvPr/>
          </p:nvSpPr>
          <p:spPr bwMode="auto">
            <a:xfrm>
              <a:off x="-3" y="-3"/>
              <a:ext cx="4006" cy="2251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28162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2EB6-0738-4232-8D05-D468A3E9D6D7}" type="slidenum">
              <a:rPr lang="ru-RU"/>
              <a:pPr/>
              <a:t>7</a:t>
            </a:fld>
            <a:endParaRPr lang="ru-RU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23" y="188640"/>
            <a:ext cx="6781800" cy="1600200"/>
          </a:xfrm>
        </p:spPr>
        <p:txBody>
          <a:bodyPr/>
          <a:lstStyle/>
          <a:p>
            <a:pPr algn="ctr"/>
            <a:r>
              <a:rPr lang="ru-RU" sz="3200" dirty="0" err="1" smtClean="0"/>
              <a:t>Бізнес-прецеденти</a:t>
            </a:r>
            <a:r>
              <a:rPr lang="ru-RU" sz="3200" dirty="0" smtClean="0"/>
              <a:t>, </a:t>
            </a:r>
            <a:r>
              <a:rPr lang="ru-RU" sz="3200" dirty="0" err="1" smtClean="0"/>
              <a:t>що</a:t>
            </a:r>
            <a:r>
              <a:rPr lang="ru-RU" sz="3200" dirty="0" smtClean="0"/>
              <a:t> </a:t>
            </a:r>
            <a:r>
              <a:rPr lang="ru-RU" sz="3200" dirty="0" err="1" smtClean="0"/>
              <a:t>відображаються</a:t>
            </a:r>
            <a:r>
              <a:rPr lang="ru-RU" sz="3200" dirty="0" smtClean="0"/>
              <a:t> в </a:t>
            </a:r>
            <a:r>
              <a:rPr lang="ru-RU" sz="3200" dirty="0" err="1" smtClean="0"/>
              <a:t>підсистемі</a:t>
            </a:r>
            <a:endParaRPr lang="ru-RU" sz="3200" dirty="0"/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345446"/>
              </p:ext>
            </p:extLst>
          </p:nvPr>
        </p:nvGraphicFramePr>
        <p:xfrm>
          <a:off x="1253627" y="2132856"/>
          <a:ext cx="6324600" cy="407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Точечный рисунок" r:id="rId3" imgW="7561905" imgH="4866667" progId="Paint.Picture">
                  <p:embed/>
                </p:oleObj>
              </mc:Choice>
              <mc:Fallback>
                <p:oleObj name="Точечный рисунок" r:id="rId3" imgW="7561905" imgH="486666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3627" y="2132856"/>
                        <a:ext cx="6324600" cy="407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00" name="Group 4"/>
          <p:cNvGrpSpPr>
            <a:grpSpLocks/>
          </p:cNvGrpSpPr>
          <p:nvPr/>
        </p:nvGrpSpPr>
        <p:grpSpPr bwMode="auto">
          <a:xfrm>
            <a:off x="3135541" y="5377875"/>
            <a:ext cx="4419600" cy="838200"/>
            <a:chOff x="3264" y="2064"/>
            <a:chExt cx="1488" cy="624"/>
          </a:xfrm>
        </p:grpSpPr>
        <p:sp>
          <p:nvSpPr>
            <p:cNvPr id="80901" name="Oval 5"/>
            <p:cNvSpPr>
              <a:spLocks noChangeArrowheads="1"/>
            </p:cNvSpPr>
            <p:nvPr/>
          </p:nvSpPr>
          <p:spPr bwMode="auto">
            <a:xfrm>
              <a:off x="3264" y="2064"/>
              <a:ext cx="1488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ru-RU"/>
            </a:p>
          </p:txBody>
        </p:sp>
        <p:sp>
          <p:nvSpPr>
            <p:cNvPr id="80902" name="Text Box 6"/>
            <p:cNvSpPr txBox="1">
              <a:spLocks noChangeArrowheads="1"/>
            </p:cNvSpPr>
            <p:nvPr/>
          </p:nvSpPr>
          <p:spPr bwMode="auto">
            <a:xfrm>
              <a:off x="3456" y="2160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ru-RU" sz="1600" b="1" dirty="0" err="1" smtClean="0"/>
                <a:t>Підсистема</a:t>
              </a:r>
              <a:r>
                <a:rPr kumimoji="0" lang="ru-RU" sz="1600" b="1" dirty="0" smtClean="0"/>
                <a:t> </a:t>
              </a:r>
              <a:r>
                <a:rPr kumimoji="0" lang="ru-RU" sz="1600" b="1" dirty="0" err="1" smtClean="0"/>
                <a:t>складського</a:t>
              </a:r>
              <a:r>
                <a:rPr kumimoji="0" lang="ru-RU" sz="1600" b="1" dirty="0" smtClean="0"/>
                <a:t>  </a:t>
              </a:r>
              <a:r>
                <a:rPr kumimoji="0" lang="ru-RU" sz="1600" b="1" dirty="0" err="1" smtClean="0"/>
                <a:t>обліку</a:t>
              </a:r>
              <a:r>
                <a:rPr kumimoji="0" lang="ru-RU" sz="1600" b="1" dirty="0" smtClean="0"/>
                <a:t> </a:t>
              </a:r>
              <a:endParaRPr kumimoji="0" lang="ru-RU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732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F770-0238-456E-AFC4-D68A6331AC8B}" type="slidenum">
              <a:rPr lang="ru-RU"/>
              <a:pPr/>
              <a:t>8</a:t>
            </a:fld>
            <a:endParaRPr lang="ru-RU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1143000"/>
          </a:xfrm>
        </p:spPr>
        <p:txBody>
          <a:bodyPr/>
          <a:lstStyle/>
          <a:p>
            <a:pPr algn="ctr"/>
            <a:r>
              <a:rPr lang="ru-RU" sz="2800" dirty="0" err="1" smtClean="0"/>
              <a:t>Процеси</a:t>
            </a:r>
            <a:r>
              <a:rPr lang="ru-RU" sz="2800" dirty="0" smtClean="0"/>
              <a:t>,  </a:t>
            </a:r>
            <a:r>
              <a:rPr lang="ru-RU" sz="2800" dirty="0" err="1" smtClean="0"/>
              <a:t>що</a:t>
            </a:r>
            <a:r>
              <a:rPr lang="ru-RU" sz="2800" dirty="0" smtClean="0"/>
              <a:t> </a:t>
            </a:r>
            <a:r>
              <a:rPr lang="ru-RU" sz="2800" dirty="0" err="1" smtClean="0"/>
              <a:t>виконуються</a:t>
            </a:r>
            <a:r>
              <a:rPr lang="ru-RU" sz="2800" dirty="0" smtClean="0"/>
              <a:t> </a:t>
            </a:r>
            <a:r>
              <a:rPr lang="ru-RU" sz="2800" dirty="0" err="1" smtClean="0"/>
              <a:t>внутрішніми</a:t>
            </a:r>
            <a:r>
              <a:rPr lang="ru-RU" sz="2800" dirty="0" smtClean="0"/>
              <a:t> </a:t>
            </a:r>
            <a:r>
              <a:rPr lang="ru-RU" sz="2800" dirty="0" err="1" smtClean="0"/>
              <a:t>виконавцями</a:t>
            </a:r>
            <a:r>
              <a:rPr lang="ru-RU" sz="2800" dirty="0" smtClean="0"/>
              <a:t> та </a:t>
            </a:r>
            <a:r>
              <a:rPr lang="ru-RU" sz="2800" dirty="0" err="1" smtClean="0"/>
              <a:t>відображаються</a:t>
            </a:r>
            <a:r>
              <a:rPr lang="ru-RU" sz="2800" dirty="0" smtClean="0"/>
              <a:t> </a:t>
            </a:r>
            <a:r>
              <a:rPr lang="ru-RU" sz="2800" dirty="0"/>
              <a:t>в </a:t>
            </a:r>
            <a:r>
              <a:rPr lang="ru-RU" sz="2800" dirty="0" err="1" smtClean="0"/>
              <a:t>системні</a:t>
            </a:r>
            <a:r>
              <a:rPr lang="ru-RU" sz="2800" dirty="0" smtClean="0"/>
              <a:t> </a:t>
            </a:r>
            <a:r>
              <a:rPr lang="ru-RU" sz="2800" dirty="0" err="1" smtClean="0"/>
              <a:t>функції</a:t>
            </a:r>
            <a:endParaRPr lang="ru-RU" sz="2800" dirty="0"/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457200" y="1219200"/>
          <a:ext cx="80772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Точечный рисунок" r:id="rId3" imgW="9247619" imgH="5619048" progId="Paint.Picture">
                  <p:embed/>
                </p:oleObj>
              </mc:Choice>
              <mc:Fallback>
                <p:oleObj name="Точечный рисунок" r:id="rId3" imgW="9247619" imgH="56190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80772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24" name="Group 4"/>
          <p:cNvGrpSpPr>
            <a:grpSpLocks/>
          </p:cNvGrpSpPr>
          <p:nvPr/>
        </p:nvGrpSpPr>
        <p:grpSpPr bwMode="auto">
          <a:xfrm>
            <a:off x="4572000" y="2590800"/>
            <a:ext cx="1905000" cy="609600"/>
            <a:chOff x="2784" y="1296"/>
            <a:chExt cx="1200" cy="384"/>
          </a:xfrm>
        </p:grpSpPr>
        <p:sp>
          <p:nvSpPr>
            <p:cNvPr id="81925" name="Oval 5"/>
            <p:cNvSpPr>
              <a:spLocks noChangeArrowheads="1"/>
            </p:cNvSpPr>
            <p:nvPr/>
          </p:nvSpPr>
          <p:spPr bwMode="auto">
            <a:xfrm>
              <a:off x="2784" y="1296"/>
              <a:ext cx="1200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1926" name="Text Box 6"/>
            <p:cNvSpPr txBox="1">
              <a:spLocks noChangeArrowheads="1"/>
            </p:cNvSpPr>
            <p:nvPr/>
          </p:nvSpPr>
          <p:spPr bwMode="auto">
            <a:xfrm>
              <a:off x="2928" y="1296"/>
              <a:ext cx="96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ru-RU" sz="1400" b="1" dirty="0"/>
                <a:t>Формирование приемного акта</a:t>
              </a:r>
            </a:p>
          </p:txBody>
        </p:sp>
      </p:grpSp>
      <p:grpSp>
        <p:nvGrpSpPr>
          <p:cNvPr id="81927" name="Group 7"/>
          <p:cNvGrpSpPr>
            <a:grpSpLocks/>
          </p:cNvGrpSpPr>
          <p:nvPr/>
        </p:nvGrpSpPr>
        <p:grpSpPr bwMode="auto">
          <a:xfrm>
            <a:off x="4724400" y="5334000"/>
            <a:ext cx="1905000" cy="609600"/>
            <a:chOff x="2784" y="1296"/>
            <a:chExt cx="1200" cy="384"/>
          </a:xfrm>
        </p:grpSpPr>
        <p:sp>
          <p:nvSpPr>
            <p:cNvPr id="81928" name="Oval 8"/>
            <p:cNvSpPr>
              <a:spLocks noChangeArrowheads="1"/>
            </p:cNvSpPr>
            <p:nvPr/>
          </p:nvSpPr>
          <p:spPr bwMode="auto">
            <a:xfrm>
              <a:off x="2784" y="1296"/>
              <a:ext cx="1200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1929" name="Text Box 9"/>
            <p:cNvSpPr txBox="1">
              <a:spLocks noChangeArrowheads="1"/>
            </p:cNvSpPr>
            <p:nvPr/>
          </p:nvSpPr>
          <p:spPr bwMode="auto">
            <a:xfrm>
              <a:off x="2928" y="1296"/>
              <a:ext cx="96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ru-RU" sz="1400" b="1"/>
                <a:t>Внутрисетевой обмен</a:t>
              </a:r>
            </a:p>
          </p:txBody>
        </p:sp>
      </p:grpSp>
      <p:grpSp>
        <p:nvGrpSpPr>
          <p:cNvPr id="81930" name="Group 10"/>
          <p:cNvGrpSpPr>
            <a:grpSpLocks/>
          </p:cNvGrpSpPr>
          <p:nvPr/>
        </p:nvGrpSpPr>
        <p:grpSpPr bwMode="auto">
          <a:xfrm>
            <a:off x="4724400" y="3962400"/>
            <a:ext cx="1905000" cy="609600"/>
            <a:chOff x="2784" y="1296"/>
            <a:chExt cx="1200" cy="384"/>
          </a:xfrm>
        </p:grpSpPr>
        <p:sp>
          <p:nvSpPr>
            <p:cNvPr id="81931" name="Oval 11"/>
            <p:cNvSpPr>
              <a:spLocks noChangeArrowheads="1"/>
            </p:cNvSpPr>
            <p:nvPr/>
          </p:nvSpPr>
          <p:spPr bwMode="auto">
            <a:xfrm>
              <a:off x="2784" y="1296"/>
              <a:ext cx="1200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1932" name="Text Box 12"/>
            <p:cNvSpPr txBox="1">
              <a:spLocks noChangeArrowheads="1"/>
            </p:cNvSpPr>
            <p:nvPr/>
          </p:nvSpPr>
          <p:spPr bwMode="auto">
            <a:xfrm>
              <a:off x="2928" y="1296"/>
              <a:ext cx="96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ru-RU" sz="1400" b="1"/>
                <a:t>Ведение картотеки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34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4BD-1AD6-4E94-A894-127D29B6DE52}" type="slidenum">
              <a:rPr lang="ru-RU"/>
              <a:pPr/>
              <a:t>9</a:t>
            </a:fld>
            <a:endParaRPr lang="ru-RU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6632"/>
            <a:ext cx="7772400" cy="14311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uk-UA" dirty="0" smtClean="0"/>
              <a:t>Технологія </a:t>
            </a:r>
            <a:r>
              <a:rPr lang="en-US" dirty="0" smtClean="0"/>
              <a:t>RUP </a:t>
            </a:r>
            <a:br>
              <a:rPr lang="en-US" dirty="0" smtClean="0"/>
            </a:br>
            <a:r>
              <a:rPr lang="en-US" dirty="0" smtClean="0"/>
              <a:t>(Rational </a:t>
            </a:r>
            <a:r>
              <a:rPr lang="en-US" dirty="0"/>
              <a:t>Unified </a:t>
            </a:r>
            <a:r>
              <a:rPr lang="en-US" dirty="0" smtClean="0"/>
              <a:t>Process)</a:t>
            </a:r>
            <a:endParaRPr lang="ru-RU" dirty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28800"/>
            <a:ext cx="8964613" cy="4114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Rational Unified Process-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процес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розробки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рішення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забезпечує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упорядкований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підхід</a:t>
            </a:r>
            <a:r>
              <a:rPr lang="ru-RU" dirty="0">
                <a:solidFill>
                  <a:schemeClr val="tx1"/>
                </a:solidFill>
              </a:rPr>
              <a:t> до </a:t>
            </a:r>
            <a:r>
              <a:rPr lang="ru-RU" dirty="0" err="1">
                <a:solidFill>
                  <a:schemeClr val="tx1"/>
                </a:solidFill>
              </a:rPr>
              <a:t>розподілу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завдань</a:t>
            </a:r>
            <a:r>
              <a:rPr lang="ru-RU" dirty="0">
                <a:solidFill>
                  <a:schemeClr val="tx1"/>
                </a:solidFill>
              </a:rPr>
              <a:t> і </a:t>
            </a:r>
            <a:r>
              <a:rPr lang="ru-RU" dirty="0" err="1">
                <a:solidFill>
                  <a:schemeClr val="tx1"/>
                </a:solidFill>
              </a:rPr>
              <a:t>обов'язків</a:t>
            </a:r>
            <a:r>
              <a:rPr lang="ru-RU" dirty="0">
                <a:solidFill>
                  <a:schemeClr val="tx1"/>
                </a:solidFill>
              </a:rPr>
              <a:t> в </a:t>
            </a:r>
            <a:r>
              <a:rPr lang="ru-RU" dirty="0" err="1">
                <a:solidFill>
                  <a:schemeClr val="tx1"/>
                </a:solidFill>
              </a:rPr>
              <a:t>організації-розробника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Rational Unified Process -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продукт </a:t>
            </a:r>
            <a:r>
              <a:rPr lang="ru-RU" dirty="0" err="1">
                <a:solidFill>
                  <a:schemeClr val="tx1"/>
                </a:solidFill>
              </a:rPr>
              <a:t>процесу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розроблений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корпорацією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Rational Software (</a:t>
            </a:r>
            <a:r>
              <a:rPr lang="ru-RU" dirty="0">
                <a:solidFill>
                  <a:schemeClr val="tx1"/>
                </a:solidFill>
              </a:rPr>
              <a:t>база </a:t>
            </a:r>
            <a:r>
              <a:rPr lang="ru-RU" dirty="0" err="1">
                <a:solidFill>
                  <a:schemeClr val="tx1"/>
                </a:solidFill>
              </a:rPr>
              <a:t>знань</a:t>
            </a:r>
            <a:r>
              <a:rPr lang="ru-RU" dirty="0">
                <a:solidFill>
                  <a:schemeClr val="tx1"/>
                </a:solidFill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Rational Unified Process -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контур </a:t>
            </a:r>
            <a:r>
              <a:rPr lang="ru-RU" dirty="0" err="1">
                <a:solidFill>
                  <a:schemeClr val="tx1"/>
                </a:solidFill>
              </a:rPr>
              <a:t>процесу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можна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адаптувати</a:t>
            </a:r>
            <a:r>
              <a:rPr lang="ru-RU" dirty="0">
                <a:solidFill>
                  <a:schemeClr val="tx1"/>
                </a:solidFill>
              </a:rPr>
              <a:t> для </a:t>
            </a:r>
            <a:r>
              <a:rPr lang="ru-RU" dirty="0" err="1">
                <a:solidFill>
                  <a:schemeClr val="tx1"/>
                </a:solidFill>
              </a:rPr>
              <a:t>задоволення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вимог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прийняла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його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організації</a:t>
            </a:r>
            <a:r>
              <a:rPr lang="ru-RU" dirty="0">
                <a:solidFill>
                  <a:schemeClr val="tx1"/>
                </a:solidFill>
              </a:rPr>
              <a:t>.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73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Rational Unified Process (RUP)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яка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безпечний</a:t>
            </a:r>
            <a:r>
              <a:rPr lang="ru-RU" dirty="0"/>
              <a:t> і </a:t>
            </a:r>
            <a:r>
              <a:rPr lang="ru-RU" dirty="0" err="1"/>
              <a:t>структурований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для </a:t>
            </a:r>
            <a:r>
              <a:rPr lang="ru-RU" dirty="0" err="1"/>
              <a:t>управління</a:t>
            </a:r>
            <a:r>
              <a:rPr lang="ru-RU" dirty="0"/>
              <a:t> проектом на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. </a:t>
            </a:r>
            <a:r>
              <a:rPr lang="en-US" dirty="0"/>
              <a:t>RUP </a:t>
            </a:r>
            <a:r>
              <a:rPr lang="ru-RU" dirty="0" err="1"/>
              <a:t>було</a:t>
            </a:r>
            <a:r>
              <a:rPr lang="ru-RU" dirty="0"/>
              <a:t> створено </a:t>
            </a:r>
            <a:r>
              <a:rPr lang="ru-RU" dirty="0" err="1"/>
              <a:t>компанією</a:t>
            </a:r>
            <a:r>
              <a:rPr lang="ru-RU" dirty="0"/>
              <a:t> </a:t>
            </a:r>
            <a:r>
              <a:rPr lang="en-US" dirty="0"/>
              <a:t>Rational Software (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en-US" dirty="0"/>
              <a:t>IBM)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безкоштовною</a:t>
            </a:r>
            <a:r>
              <a:rPr lang="ru-RU" dirty="0"/>
              <a:t>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розробникам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високої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ПЗ та </a:t>
            </a:r>
            <a:r>
              <a:rPr lang="ru-RU" dirty="0" err="1"/>
              <a:t>задоволення</a:t>
            </a:r>
            <a:r>
              <a:rPr lang="ru-RU" dirty="0"/>
              <a:t> потреб </a:t>
            </a:r>
            <a:r>
              <a:rPr lang="ru-RU" dirty="0" err="1"/>
              <a:t>користувачів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62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0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характеристики </a:t>
            </a:r>
            <a:r>
              <a:rPr lang="en-US" dirty="0"/>
              <a:t>RUP: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2776"/>
            <a:ext cx="8352928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1. </a:t>
            </a:r>
            <a:r>
              <a:rPr lang="ru-RU" b="1" dirty="0" err="1"/>
              <a:t>Фази</a:t>
            </a:r>
            <a:r>
              <a:rPr lang="ru-RU" b="1" dirty="0"/>
              <a:t> </a:t>
            </a:r>
            <a:r>
              <a:rPr lang="ru-RU" b="1" dirty="0" err="1"/>
              <a:t>життєвого</a:t>
            </a:r>
            <a:r>
              <a:rPr lang="ru-RU" b="1" dirty="0"/>
              <a:t> циклу</a:t>
            </a:r>
          </a:p>
          <a:p>
            <a:r>
              <a:rPr lang="en-US" dirty="0"/>
              <a:t>RUP </a:t>
            </a:r>
            <a:r>
              <a:rPr lang="ru-RU" dirty="0" err="1"/>
              <a:t>розділяє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на </a:t>
            </a:r>
            <a:r>
              <a:rPr lang="ru-RU" dirty="0" err="1"/>
              <a:t>чотирьох</a:t>
            </a:r>
            <a:r>
              <a:rPr lang="ru-RU" dirty="0"/>
              <a:t> </a:t>
            </a:r>
            <a:r>
              <a:rPr lang="ru-RU" dirty="0" err="1"/>
              <a:t>основних</a:t>
            </a:r>
            <a:r>
              <a:rPr lang="ru-RU" dirty="0"/>
              <a:t> фазах:</a:t>
            </a:r>
          </a:p>
          <a:p>
            <a:r>
              <a:rPr lang="ru-RU" b="1" dirty="0" err="1"/>
              <a:t>Ініціація</a:t>
            </a:r>
            <a:r>
              <a:rPr lang="ru-RU" b="1" dirty="0"/>
              <a:t> (</a:t>
            </a:r>
            <a:r>
              <a:rPr lang="en-US" b="1" dirty="0"/>
              <a:t>Inception)</a:t>
            </a:r>
            <a:r>
              <a:rPr lang="en-US" dirty="0"/>
              <a:t> :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основних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 проекту,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межі</a:t>
            </a:r>
            <a:r>
              <a:rPr lang="ru-RU" dirty="0"/>
              <a:t>, </a:t>
            </a:r>
            <a:r>
              <a:rPr lang="ru-RU" dirty="0" err="1"/>
              <a:t>оцінка</a:t>
            </a:r>
            <a:r>
              <a:rPr lang="ru-RU" dirty="0"/>
              <a:t> </a:t>
            </a:r>
            <a:r>
              <a:rPr lang="ru-RU" dirty="0" err="1"/>
              <a:t>ризиків</a:t>
            </a:r>
            <a:r>
              <a:rPr lang="ru-RU" dirty="0"/>
              <a:t> та </a:t>
            </a:r>
            <a:r>
              <a:rPr lang="ru-RU" dirty="0" err="1"/>
              <a:t>вимог</a:t>
            </a:r>
            <a:r>
              <a:rPr lang="ru-RU" dirty="0"/>
              <a:t>.</a:t>
            </a:r>
          </a:p>
          <a:p>
            <a:r>
              <a:rPr lang="ru-RU" b="1" dirty="0" err="1"/>
              <a:t>Уточнення</a:t>
            </a:r>
            <a:r>
              <a:rPr lang="ru-RU" b="1" dirty="0"/>
              <a:t> (</a:t>
            </a:r>
            <a:r>
              <a:rPr lang="en-US" b="1" dirty="0"/>
              <a:t>Elaboration)</a:t>
            </a:r>
            <a:r>
              <a:rPr lang="en-US" dirty="0"/>
              <a:t> : </a:t>
            </a:r>
            <a:r>
              <a:rPr lang="ru-RU" dirty="0" err="1"/>
              <a:t>деталізація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,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зниження</a:t>
            </a:r>
            <a:r>
              <a:rPr lang="ru-RU" dirty="0"/>
              <a:t> </a:t>
            </a:r>
            <a:r>
              <a:rPr lang="ru-RU" dirty="0" err="1"/>
              <a:t>ризиків</a:t>
            </a:r>
            <a:r>
              <a:rPr lang="ru-RU" dirty="0"/>
              <a:t>.</a:t>
            </a:r>
          </a:p>
          <a:p>
            <a:r>
              <a:rPr lang="ru-RU" b="1" dirty="0" err="1"/>
              <a:t>Конструкція</a:t>
            </a:r>
            <a:r>
              <a:rPr lang="ru-RU" b="1" dirty="0"/>
              <a:t> (</a:t>
            </a:r>
            <a:r>
              <a:rPr lang="en-US" b="1" dirty="0"/>
              <a:t>Construction)</a:t>
            </a:r>
            <a:r>
              <a:rPr lang="en-US" dirty="0"/>
              <a:t> : </a:t>
            </a:r>
            <a:r>
              <a:rPr lang="ru-RU" dirty="0" err="1"/>
              <a:t>фактична</a:t>
            </a:r>
            <a:r>
              <a:rPr lang="ru-RU" dirty="0"/>
              <a:t> </a:t>
            </a:r>
            <a:r>
              <a:rPr lang="ru-RU" dirty="0" err="1"/>
              <a:t>розробка</a:t>
            </a:r>
            <a:r>
              <a:rPr lang="ru-RU" dirty="0"/>
              <a:t> ПЗ з </a:t>
            </a:r>
            <a:r>
              <a:rPr lang="ru-RU" dirty="0" err="1"/>
              <a:t>реалізаційною</a:t>
            </a:r>
            <a:r>
              <a:rPr lang="ru-RU" dirty="0"/>
              <a:t> </a:t>
            </a:r>
            <a:r>
              <a:rPr lang="ru-RU" dirty="0" err="1"/>
              <a:t>функцією</a:t>
            </a:r>
            <a:r>
              <a:rPr lang="ru-RU" dirty="0"/>
              <a:t>,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.</a:t>
            </a:r>
          </a:p>
          <a:p>
            <a:r>
              <a:rPr lang="ru-RU" b="1" dirty="0" err="1"/>
              <a:t>Введення</a:t>
            </a:r>
            <a:r>
              <a:rPr lang="ru-RU" b="1" dirty="0"/>
              <a:t> в </a:t>
            </a:r>
            <a:r>
              <a:rPr lang="ru-RU" b="1" dirty="0" err="1"/>
              <a:t>експлуатацію</a:t>
            </a:r>
            <a:r>
              <a:rPr lang="ru-RU" b="1" dirty="0"/>
              <a:t> (</a:t>
            </a:r>
            <a:r>
              <a:rPr lang="en-US" b="1" dirty="0"/>
              <a:t>Transition)</a:t>
            </a:r>
            <a:r>
              <a:rPr lang="en-US" dirty="0"/>
              <a:t> : </a:t>
            </a:r>
            <a:r>
              <a:rPr lang="ru-RU" dirty="0" err="1"/>
              <a:t>тестування</a:t>
            </a:r>
            <a:r>
              <a:rPr lang="ru-RU" dirty="0"/>
              <a:t> продукту, </a:t>
            </a:r>
            <a:r>
              <a:rPr lang="ru-RU" dirty="0" err="1"/>
              <a:t>підготовка</a:t>
            </a:r>
            <a:r>
              <a:rPr lang="ru-RU" dirty="0"/>
              <a:t> до запуску, </a:t>
            </a:r>
            <a:r>
              <a:rPr lang="ru-RU" dirty="0" err="1"/>
              <a:t>перенесення</a:t>
            </a:r>
            <a:r>
              <a:rPr lang="ru-RU" dirty="0"/>
              <a:t> в </a:t>
            </a:r>
            <a:r>
              <a:rPr lang="ru-RU" dirty="0" err="1"/>
              <a:t>робоче</a:t>
            </a:r>
            <a:r>
              <a:rPr lang="ru-RU" dirty="0"/>
              <a:t> </a:t>
            </a:r>
            <a:r>
              <a:rPr lang="ru-RU" dirty="0" err="1"/>
              <a:t>середовище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92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85800"/>
            <a:ext cx="7982272" cy="4759424"/>
          </a:xfrm>
        </p:spPr>
        <p:txBody>
          <a:bodyPr/>
          <a:lstStyle/>
          <a:p>
            <a:r>
              <a:rPr lang="ru-RU" b="1" dirty="0"/>
              <a:t>2. </a:t>
            </a:r>
            <a:r>
              <a:rPr lang="ru-RU" b="1" dirty="0" err="1"/>
              <a:t>Ітеративний</a:t>
            </a:r>
            <a:r>
              <a:rPr lang="ru-RU" b="1" dirty="0"/>
              <a:t> </a:t>
            </a:r>
            <a:r>
              <a:rPr lang="ru-RU" b="1" dirty="0" err="1"/>
              <a:t>підхід</a:t>
            </a:r>
            <a:endParaRPr lang="ru-RU" b="1" dirty="0"/>
          </a:p>
          <a:p>
            <a:r>
              <a:rPr lang="en-US" dirty="0"/>
              <a:t>RUP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ітеративну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, де проект проходить через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циклів</a:t>
            </a:r>
            <a:r>
              <a:rPr lang="ru-RU" dirty="0"/>
              <a:t> </a:t>
            </a:r>
            <a:r>
              <a:rPr lang="ru-RU" dirty="0" err="1"/>
              <a:t>ітерацій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поступово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, </a:t>
            </a:r>
            <a:r>
              <a:rPr lang="ru-RU" dirty="0" err="1"/>
              <a:t>тестувати</a:t>
            </a:r>
            <a:r>
              <a:rPr lang="ru-RU" dirty="0"/>
              <a:t>, </a:t>
            </a:r>
            <a:r>
              <a:rPr lang="ru-RU" dirty="0" err="1"/>
              <a:t>коригувати</a:t>
            </a:r>
            <a:r>
              <a:rPr lang="ru-RU" dirty="0"/>
              <a:t> та </a:t>
            </a:r>
            <a:r>
              <a:rPr lang="ru-RU" dirty="0" err="1"/>
              <a:t>вдосконалювати</a:t>
            </a:r>
            <a:r>
              <a:rPr lang="ru-RU" dirty="0"/>
              <a:t> продукт,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зменшує</a:t>
            </a:r>
            <a:r>
              <a:rPr lang="ru-RU" dirty="0"/>
              <a:t> </a:t>
            </a:r>
            <a:r>
              <a:rPr lang="ru-RU" dirty="0" err="1"/>
              <a:t>ризики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 та </a:t>
            </a:r>
            <a:r>
              <a:rPr lang="ru-RU" dirty="0" err="1"/>
              <a:t>сприяє</a:t>
            </a:r>
            <a:r>
              <a:rPr lang="ru-RU" dirty="0"/>
              <a:t> </a:t>
            </a:r>
            <a:r>
              <a:rPr lang="ru-RU" dirty="0" err="1"/>
              <a:t>управлінню</a:t>
            </a:r>
            <a:r>
              <a:rPr lang="ru-RU" dirty="0"/>
              <a:t> </a:t>
            </a:r>
            <a:r>
              <a:rPr lang="ru-RU" dirty="0" err="1"/>
              <a:t>змінами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594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2000" y="685800"/>
            <a:ext cx="7620000" cy="547950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3. </a:t>
            </a:r>
            <a:r>
              <a:rPr lang="ru-RU" b="1" dirty="0" err="1"/>
              <a:t>Ключові</a:t>
            </a:r>
            <a:r>
              <a:rPr lang="ru-RU" b="1" dirty="0"/>
              <a:t> </a:t>
            </a:r>
            <a:r>
              <a:rPr lang="ru-RU" b="1" dirty="0" err="1"/>
              <a:t>дисципліни</a:t>
            </a:r>
            <a:r>
              <a:rPr lang="ru-RU" b="1" dirty="0"/>
              <a:t> </a:t>
            </a:r>
            <a:r>
              <a:rPr lang="en-US" b="1" dirty="0"/>
              <a:t>RUP</a:t>
            </a:r>
          </a:p>
          <a:p>
            <a:r>
              <a:rPr lang="en-US" dirty="0"/>
              <a:t>RUP </a:t>
            </a:r>
            <a:r>
              <a:rPr lang="ru-RU" dirty="0" err="1"/>
              <a:t>структуровано</a:t>
            </a:r>
            <a:r>
              <a:rPr lang="ru-RU" dirty="0"/>
              <a:t> за </a:t>
            </a:r>
            <a:r>
              <a:rPr lang="ru-RU" dirty="0" err="1"/>
              <a:t>дисциплінами</a:t>
            </a:r>
            <a:r>
              <a:rPr lang="ru-RU" dirty="0"/>
              <a:t>, </a:t>
            </a:r>
            <a:r>
              <a:rPr lang="ru-RU" dirty="0" err="1"/>
              <a:t>кожна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ru-RU" dirty="0" err="1"/>
              <a:t>певному</a:t>
            </a:r>
            <a:r>
              <a:rPr lang="ru-RU" dirty="0"/>
              <a:t> аспекту </a:t>
            </a:r>
            <a:r>
              <a:rPr lang="ru-RU" dirty="0" err="1"/>
              <a:t>розробки</a:t>
            </a:r>
            <a:r>
              <a:rPr lang="ru-RU" dirty="0"/>
              <a:t>:</a:t>
            </a:r>
          </a:p>
          <a:p>
            <a:r>
              <a:rPr lang="ru-RU" b="1" dirty="0" err="1"/>
              <a:t>Моделювання</a:t>
            </a:r>
            <a:r>
              <a:rPr lang="ru-RU" b="1" dirty="0"/>
              <a:t> </a:t>
            </a:r>
            <a:r>
              <a:rPr lang="ru-RU" b="1" dirty="0" err="1"/>
              <a:t>бізнес-процесів</a:t>
            </a:r>
            <a:r>
              <a:rPr lang="ru-RU" dirty="0"/>
              <a:t> :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бізнес-вимог</a:t>
            </a:r>
            <a:r>
              <a:rPr lang="ru-RU" dirty="0"/>
              <a:t> і </a:t>
            </a:r>
            <a:r>
              <a:rPr lang="ru-RU" dirty="0" err="1"/>
              <a:t>процесів</a:t>
            </a:r>
            <a:r>
              <a:rPr lang="ru-RU" dirty="0"/>
              <a:t>, для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створюється</a:t>
            </a:r>
            <a:r>
              <a:rPr lang="ru-RU" dirty="0"/>
              <a:t> продукт.</a:t>
            </a:r>
          </a:p>
          <a:p>
            <a:r>
              <a:rPr lang="ru-RU" b="1" dirty="0" err="1"/>
              <a:t>Вимоги</a:t>
            </a:r>
            <a:r>
              <a:rPr lang="ru-RU" dirty="0"/>
              <a:t> : </a:t>
            </a:r>
            <a:r>
              <a:rPr lang="ru-RU" dirty="0" err="1"/>
              <a:t>збір</a:t>
            </a:r>
            <a:r>
              <a:rPr lang="ru-RU" dirty="0"/>
              <a:t> та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до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Аналіз</a:t>
            </a:r>
            <a:r>
              <a:rPr lang="ru-RU" b="1" dirty="0"/>
              <a:t> та дизайн</a:t>
            </a:r>
            <a:r>
              <a:rPr lang="ru-RU" dirty="0"/>
              <a:t> : </a:t>
            </a:r>
            <a:r>
              <a:rPr lang="ru-RU" dirty="0" err="1"/>
              <a:t>проектування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і </a:t>
            </a:r>
            <a:r>
              <a:rPr lang="ru-RU" dirty="0" err="1"/>
              <a:t>логіки</a:t>
            </a:r>
            <a:r>
              <a:rPr lang="ru-RU" dirty="0"/>
              <a:t> </a:t>
            </a:r>
            <a:r>
              <a:rPr lang="ru-RU" dirty="0" err="1"/>
              <a:t>додатка</a:t>
            </a:r>
            <a:r>
              <a:rPr lang="ru-RU" dirty="0"/>
              <a:t>.</a:t>
            </a:r>
          </a:p>
          <a:p>
            <a:r>
              <a:rPr lang="ru-RU" b="1" dirty="0" err="1"/>
              <a:t>Реалізація</a:t>
            </a:r>
            <a:r>
              <a:rPr lang="ru-RU" dirty="0"/>
              <a:t> : </a:t>
            </a:r>
            <a:r>
              <a:rPr lang="ru-RU" dirty="0" err="1"/>
              <a:t>програмування</a:t>
            </a:r>
            <a:r>
              <a:rPr lang="ru-RU" dirty="0"/>
              <a:t> та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.</a:t>
            </a:r>
          </a:p>
          <a:p>
            <a:r>
              <a:rPr lang="ru-RU" b="1" dirty="0" err="1"/>
              <a:t>Тестування</a:t>
            </a:r>
            <a:r>
              <a:rPr lang="ru-RU" dirty="0"/>
              <a:t> 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.</a:t>
            </a:r>
          </a:p>
          <a:p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конфігурацією</a:t>
            </a:r>
            <a:r>
              <a:rPr lang="ru-RU" b="1" dirty="0"/>
              <a:t> та </a:t>
            </a:r>
            <a:r>
              <a:rPr lang="ru-RU" b="1" dirty="0" err="1"/>
              <a:t>змінами</a:t>
            </a:r>
            <a:r>
              <a:rPr lang="ru-RU" dirty="0"/>
              <a:t> : </a:t>
            </a:r>
            <a:r>
              <a:rPr lang="ru-RU" dirty="0" err="1"/>
              <a:t>збереження</a:t>
            </a:r>
            <a:r>
              <a:rPr lang="ru-RU" dirty="0"/>
              <a:t> і контроль </a:t>
            </a:r>
            <a:r>
              <a:rPr lang="ru-RU" dirty="0" err="1"/>
              <a:t>версій</a:t>
            </a:r>
            <a:r>
              <a:rPr lang="ru-RU" dirty="0"/>
              <a:t> коду та </a:t>
            </a:r>
            <a:r>
              <a:rPr lang="ru-RU" dirty="0" err="1"/>
              <a:t>документів</a:t>
            </a:r>
            <a:r>
              <a:rPr lang="ru-RU" dirty="0"/>
              <a:t>.</a:t>
            </a:r>
          </a:p>
          <a:p>
            <a:r>
              <a:rPr lang="ru-RU" b="1" dirty="0" err="1"/>
              <a:t>Управління</a:t>
            </a:r>
            <a:r>
              <a:rPr lang="ru-RU" b="1" dirty="0"/>
              <a:t> проектом</a:t>
            </a:r>
            <a:r>
              <a:rPr lang="ru-RU" dirty="0"/>
              <a:t> : </a:t>
            </a:r>
            <a:r>
              <a:rPr lang="ru-RU" dirty="0" err="1"/>
              <a:t>планування</a:t>
            </a:r>
            <a:r>
              <a:rPr lang="ru-RU" dirty="0"/>
              <a:t>, контроль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.</a:t>
            </a:r>
          </a:p>
          <a:p>
            <a:r>
              <a:rPr lang="ru-RU" b="1" dirty="0" err="1"/>
              <a:t>Введення</a:t>
            </a:r>
            <a:r>
              <a:rPr lang="ru-RU" b="1" dirty="0"/>
              <a:t> в </a:t>
            </a:r>
            <a:r>
              <a:rPr lang="ru-RU" b="1" dirty="0" err="1"/>
              <a:t>експлуатацію</a:t>
            </a:r>
            <a:r>
              <a:rPr lang="ru-RU" dirty="0"/>
              <a:t> : </a:t>
            </a:r>
            <a:r>
              <a:rPr lang="ru-RU" dirty="0" err="1"/>
              <a:t>налаштування</a:t>
            </a:r>
            <a:r>
              <a:rPr lang="ru-RU" dirty="0"/>
              <a:t> ПЗ для </a:t>
            </a:r>
            <a:r>
              <a:rPr lang="ru-RU" dirty="0" err="1"/>
              <a:t>користувачів</a:t>
            </a:r>
            <a:r>
              <a:rPr lang="ru-RU" dirty="0"/>
              <a:t> та </a:t>
            </a:r>
            <a:r>
              <a:rPr lang="ru-RU" dirty="0" err="1"/>
              <a:t>обслуговування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23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Ролі</a:t>
            </a:r>
            <a:r>
              <a:rPr lang="ru-RU" b="1" dirty="0"/>
              <a:t> та </a:t>
            </a:r>
            <a:r>
              <a:rPr lang="ru-RU" b="1" dirty="0" err="1"/>
              <a:t>артефакти</a:t>
            </a:r>
            <a:endParaRPr lang="ru-RU" b="1" dirty="0"/>
          </a:p>
          <a:p>
            <a:r>
              <a:rPr lang="ru-RU" dirty="0"/>
              <a:t>RUP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вибирає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(</a:t>
            </a:r>
            <a:r>
              <a:rPr lang="ru-RU" dirty="0" err="1"/>
              <a:t>аналітик</a:t>
            </a:r>
            <a:r>
              <a:rPr lang="ru-RU" dirty="0"/>
              <a:t>, </a:t>
            </a:r>
            <a:r>
              <a:rPr lang="ru-RU" dirty="0" err="1"/>
              <a:t>розробник</a:t>
            </a:r>
            <a:r>
              <a:rPr lang="ru-RU" dirty="0"/>
              <a:t>, тест, </a:t>
            </a:r>
            <a:r>
              <a:rPr lang="ru-RU" dirty="0" err="1"/>
              <a:t>проектний</a:t>
            </a:r>
            <a:r>
              <a:rPr lang="ru-RU" dirty="0"/>
              <a:t> менеджер </a:t>
            </a:r>
            <a:r>
              <a:rPr lang="ru-RU" dirty="0" err="1"/>
              <a:t>тощо</a:t>
            </a:r>
            <a:r>
              <a:rPr lang="ru-RU" dirty="0"/>
              <a:t>) та </a:t>
            </a:r>
            <a:r>
              <a:rPr lang="ru-RU" dirty="0" err="1"/>
              <a:t>артефакти</a:t>
            </a:r>
            <a:r>
              <a:rPr lang="ru-RU" dirty="0"/>
              <a:t> (</a:t>
            </a:r>
            <a:r>
              <a:rPr lang="ru-RU" dirty="0" err="1"/>
              <a:t>документи</a:t>
            </a:r>
            <a:r>
              <a:rPr lang="ru-RU" dirty="0"/>
              <a:t>, </a:t>
            </a:r>
            <a:r>
              <a:rPr lang="ru-RU" dirty="0" err="1"/>
              <a:t>моделі</a:t>
            </a:r>
            <a:r>
              <a:rPr lang="ru-RU" dirty="0"/>
              <a:t>, </a:t>
            </a:r>
            <a:r>
              <a:rPr lang="ru-RU" dirty="0" err="1"/>
              <a:t>діаграми</a:t>
            </a:r>
            <a:r>
              <a:rPr lang="ru-RU" dirty="0"/>
              <a:t>),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створюються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41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685800"/>
            <a:ext cx="7838256" cy="5695528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 </a:t>
            </a:r>
            <a:r>
              <a:rPr lang="en-US" b="1" dirty="0"/>
              <a:t>RUP:</a:t>
            </a:r>
          </a:p>
          <a:p>
            <a:r>
              <a:rPr lang="ru-RU" dirty="0" err="1"/>
              <a:t>Гнучкість</a:t>
            </a:r>
            <a:r>
              <a:rPr lang="ru-RU" dirty="0"/>
              <a:t> та </a:t>
            </a:r>
            <a:r>
              <a:rPr lang="ru-RU" dirty="0" err="1"/>
              <a:t>адаптивність</a:t>
            </a:r>
            <a:r>
              <a:rPr lang="ru-RU" dirty="0"/>
              <a:t> до </a:t>
            </a:r>
            <a:r>
              <a:rPr lang="ru-RU" dirty="0" err="1"/>
              <a:t>змін</a:t>
            </a:r>
            <a:r>
              <a:rPr lang="ru-RU" dirty="0"/>
              <a:t>.</a:t>
            </a:r>
          </a:p>
          <a:p>
            <a:r>
              <a:rPr lang="ru-RU" dirty="0"/>
              <a:t>Добре </a:t>
            </a:r>
            <a:r>
              <a:rPr lang="ru-RU" dirty="0" err="1"/>
              <a:t>структуровані</a:t>
            </a:r>
            <a:r>
              <a:rPr lang="ru-RU" dirty="0"/>
              <a:t> </a:t>
            </a:r>
            <a:r>
              <a:rPr lang="ru-RU" dirty="0" err="1"/>
              <a:t>фази</a:t>
            </a:r>
            <a:r>
              <a:rPr lang="ru-RU" dirty="0"/>
              <a:t> та </a:t>
            </a:r>
            <a:r>
              <a:rPr lang="ru-RU" dirty="0" err="1"/>
              <a:t>дисципліни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охоплюють</a:t>
            </a:r>
            <a:r>
              <a:rPr lang="ru-RU" dirty="0"/>
              <a:t> </a:t>
            </a:r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.</a:t>
            </a:r>
          </a:p>
          <a:p>
            <a:r>
              <a:rPr lang="ru-RU" dirty="0" err="1"/>
              <a:t>Мінімізація</a:t>
            </a:r>
            <a:r>
              <a:rPr lang="ru-RU" dirty="0"/>
              <a:t> </a:t>
            </a:r>
            <a:r>
              <a:rPr lang="ru-RU" dirty="0" err="1"/>
              <a:t>ризиків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ітерацій</a:t>
            </a:r>
            <a:r>
              <a:rPr lang="ru-RU" dirty="0"/>
              <a:t> та </a:t>
            </a:r>
            <a:r>
              <a:rPr lang="ru-RU" dirty="0" err="1"/>
              <a:t>тестування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.</a:t>
            </a:r>
          </a:p>
          <a:p>
            <a:r>
              <a:rPr lang="ru-RU" b="1" dirty="0" err="1"/>
              <a:t>Недоліки</a:t>
            </a:r>
            <a:r>
              <a:rPr lang="ru-RU" b="1" dirty="0"/>
              <a:t> </a:t>
            </a:r>
            <a:r>
              <a:rPr lang="en-US" b="1" dirty="0"/>
              <a:t>RUP </a:t>
            </a:r>
            <a:r>
              <a:rPr lang="ru-RU" b="1" dirty="0" smtClean="0"/>
              <a:t>:</a:t>
            </a:r>
            <a:endParaRPr lang="ru-RU" b="1" dirty="0"/>
          </a:p>
          <a:p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надто</a:t>
            </a:r>
            <a:r>
              <a:rPr lang="ru-RU" dirty="0"/>
              <a:t> </a:t>
            </a:r>
            <a:r>
              <a:rPr lang="ru-RU" dirty="0" err="1"/>
              <a:t>формалізованим</a:t>
            </a:r>
            <a:r>
              <a:rPr lang="ru-RU" dirty="0"/>
              <a:t> і </a:t>
            </a:r>
            <a:r>
              <a:rPr lang="ru-RU" dirty="0" err="1"/>
              <a:t>складним</a:t>
            </a:r>
            <a:r>
              <a:rPr lang="ru-RU" dirty="0"/>
              <a:t> для невеликих </a:t>
            </a:r>
            <a:r>
              <a:rPr lang="ru-RU" dirty="0" err="1"/>
              <a:t>проєктів</a:t>
            </a:r>
            <a:r>
              <a:rPr lang="ru-RU" dirty="0"/>
              <a:t>.</a:t>
            </a:r>
          </a:p>
          <a:p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значних</a:t>
            </a:r>
            <a:r>
              <a:rPr lang="ru-RU" dirty="0"/>
              <a:t> </a:t>
            </a:r>
            <a:r>
              <a:rPr lang="ru-RU" dirty="0" err="1"/>
              <a:t>ресурсів</a:t>
            </a:r>
            <a:r>
              <a:rPr lang="ru-RU" dirty="0"/>
              <a:t> і час на </a:t>
            </a:r>
            <a:r>
              <a:rPr lang="ru-RU" dirty="0" err="1"/>
              <a:t>документацію</a:t>
            </a:r>
            <a:r>
              <a:rPr lang="ru-RU" dirty="0"/>
              <a:t> та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процесами</a:t>
            </a:r>
            <a:r>
              <a:rPr lang="ru-RU" dirty="0"/>
              <a:t>.</a:t>
            </a:r>
          </a:p>
          <a:p>
            <a:r>
              <a:rPr lang="en-US" dirty="0"/>
              <a:t>RUP </a:t>
            </a:r>
            <a:r>
              <a:rPr lang="ru-RU" dirty="0" err="1"/>
              <a:t>підходить</a:t>
            </a:r>
            <a:r>
              <a:rPr lang="ru-RU" dirty="0"/>
              <a:t> для великих і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проектів</a:t>
            </a:r>
            <a:r>
              <a:rPr lang="ru-RU" dirty="0"/>
              <a:t>, де </a:t>
            </a:r>
            <a:r>
              <a:rPr lang="ru-RU" dirty="0" err="1"/>
              <a:t>важливо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структурований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та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адаптуватися</a:t>
            </a:r>
            <a:r>
              <a:rPr lang="ru-RU" dirty="0"/>
              <a:t> до </a:t>
            </a:r>
            <a:r>
              <a:rPr lang="ru-RU" dirty="0" err="1"/>
              <a:t>змін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888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8DCE-53BD-4539-B9FC-4F92E63E67B6}" type="slidenum">
              <a:rPr lang="ru-RU"/>
              <a:pPr/>
              <a:t>16</a:t>
            </a:fld>
            <a:endParaRPr lang="ru-RU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0"/>
            <a:ext cx="8064500" cy="1143000"/>
          </a:xfrm>
        </p:spPr>
        <p:txBody>
          <a:bodyPr/>
          <a:lstStyle/>
          <a:p>
            <a:pPr algn="ctr"/>
            <a:r>
              <a:rPr lang="ru-RU" dirty="0" err="1" smtClean="0"/>
              <a:t>Концепц</a:t>
            </a:r>
            <a:r>
              <a:rPr lang="uk-UA" dirty="0" err="1" smtClean="0"/>
              <a:t>ії</a:t>
            </a:r>
            <a:r>
              <a:rPr lang="ru-RU" dirty="0" smtClean="0"/>
              <a:t> </a:t>
            </a:r>
            <a:r>
              <a:rPr lang="en-US" dirty="0"/>
              <a:t>RUP</a:t>
            </a:r>
            <a:endParaRPr lang="ru-RU" dirty="0"/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4716463" y="1268413"/>
            <a:ext cx="6477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65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300788" y="2852738"/>
            <a:ext cx="6477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66" name="Rectangle 6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6659563" y="4581525"/>
            <a:ext cx="6477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67" name="Rectangle 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011863" y="5661025"/>
            <a:ext cx="6477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68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39975" y="5734050"/>
            <a:ext cx="6477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69" name="Rectangle 9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187450" y="4365625"/>
            <a:ext cx="6477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70" name="Rectangle 1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547813" y="2852738"/>
            <a:ext cx="6477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771" name="Rectangle 11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148263" y="1989138"/>
            <a:ext cx="6477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544" y="1384917"/>
            <a:ext cx="8208838" cy="469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8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1. </a:t>
            </a:r>
            <a:r>
              <a:rPr lang="ru-RU" b="1" dirty="0" err="1" smtClean="0"/>
              <a:t>Ітеративність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RUP </a:t>
            </a:r>
            <a:r>
              <a:rPr lang="ru-RU" dirty="0"/>
              <a:t>є </a:t>
            </a:r>
            <a:r>
              <a:rPr lang="ru-RU" dirty="0" err="1"/>
              <a:t>ітеративним</a:t>
            </a:r>
            <a:r>
              <a:rPr lang="ru-RU" dirty="0"/>
              <a:t> </a:t>
            </a:r>
            <a:r>
              <a:rPr lang="ru-RU" dirty="0" err="1"/>
              <a:t>процесом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в </a:t>
            </a:r>
            <a:r>
              <a:rPr lang="ru-RU" dirty="0" err="1"/>
              <a:t>кількох</a:t>
            </a:r>
            <a:r>
              <a:rPr lang="ru-RU" dirty="0"/>
              <a:t> </a:t>
            </a:r>
            <a:r>
              <a:rPr lang="ru-RU" dirty="0" err="1"/>
              <a:t>ітераціях</a:t>
            </a:r>
            <a:r>
              <a:rPr lang="ru-RU" dirty="0"/>
              <a:t>, </a:t>
            </a:r>
            <a:r>
              <a:rPr lang="ru-RU" dirty="0" err="1"/>
              <a:t>кожна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включає</a:t>
            </a:r>
            <a:r>
              <a:rPr lang="ru-RU" dirty="0"/>
              <a:t> </a:t>
            </a:r>
            <a:r>
              <a:rPr lang="ru-RU" dirty="0" err="1"/>
              <a:t>повний</a:t>
            </a:r>
            <a:r>
              <a:rPr lang="ru-RU" dirty="0"/>
              <a:t> цикл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аналізу</a:t>
            </a:r>
            <a:r>
              <a:rPr lang="ru-RU" dirty="0"/>
              <a:t> до </a:t>
            </a:r>
            <a:r>
              <a:rPr lang="ru-RU" dirty="0" err="1"/>
              <a:t>тестування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:</a:t>
            </a:r>
          </a:p>
          <a:p>
            <a:r>
              <a:rPr lang="ru-RU" dirty="0" err="1"/>
              <a:t>Ранне</a:t>
            </a:r>
            <a:r>
              <a:rPr lang="ru-RU" dirty="0"/>
              <a:t> </a:t>
            </a:r>
            <a:r>
              <a:rPr lang="ru-RU" dirty="0" err="1"/>
              <a:t>виявлення</a:t>
            </a:r>
            <a:r>
              <a:rPr lang="ru-RU" dirty="0"/>
              <a:t> та </a:t>
            </a:r>
            <a:r>
              <a:rPr lang="ru-RU" dirty="0" err="1"/>
              <a:t>усунення</a:t>
            </a:r>
            <a:r>
              <a:rPr lang="ru-RU" dirty="0"/>
              <a:t> проблем.</a:t>
            </a:r>
          </a:p>
          <a:p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розуміння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і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ПЗ.</a:t>
            </a:r>
          </a:p>
          <a:p>
            <a:r>
              <a:rPr lang="ru-RU" dirty="0" err="1"/>
              <a:t>Зменшення</a:t>
            </a:r>
            <a:r>
              <a:rPr lang="ru-RU" dirty="0"/>
              <a:t> </a:t>
            </a:r>
            <a:r>
              <a:rPr lang="ru-RU" dirty="0" err="1"/>
              <a:t>ризиків</a:t>
            </a:r>
            <a:r>
              <a:rPr lang="ru-RU" dirty="0"/>
              <a:t>,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змінами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.</a:t>
            </a:r>
          </a:p>
          <a:p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зворотний</a:t>
            </a:r>
            <a:r>
              <a:rPr lang="ru-RU" dirty="0"/>
              <a:t> </a:t>
            </a:r>
            <a:r>
              <a:rPr lang="ru-RU" dirty="0" err="1"/>
              <a:t>зв'язок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покращує</a:t>
            </a:r>
            <a:r>
              <a:rPr lang="ru-RU" dirty="0"/>
              <a:t> </a:t>
            </a:r>
            <a:r>
              <a:rPr lang="ru-RU" dirty="0" err="1"/>
              <a:t>кінцевий</a:t>
            </a:r>
            <a:r>
              <a:rPr lang="ru-RU" dirty="0"/>
              <a:t> продукт.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807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</a:t>
            </a:r>
            <a:r>
              <a:rPr lang="ru-RU" b="1" dirty="0" err="1"/>
              <a:t>Фазовий</a:t>
            </a:r>
            <a:r>
              <a:rPr lang="ru-RU" b="1" dirty="0"/>
              <a:t> </a:t>
            </a:r>
            <a:r>
              <a:rPr lang="ru-RU" b="1" dirty="0" err="1"/>
              <a:t>підхід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RUP </a:t>
            </a:r>
            <a:r>
              <a:rPr lang="ru-RU" dirty="0" err="1"/>
              <a:t>розподіляє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 на </a:t>
            </a:r>
            <a:r>
              <a:rPr lang="ru-RU" dirty="0" err="1"/>
              <a:t>чотирьох</a:t>
            </a:r>
            <a:r>
              <a:rPr lang="ru-RU" dirty="0"/>
              <a:t> </a:t>
            </a:r>
            <a:r>
              <a:rPr lang="ru-RU" dirty="0" err="1"/>
              <a:t>основних</a:t>
            </a:r>
            <a:r>
              <a:rPr lang="ru-RU" dirty="0"/>
              <a:t> фазах (</a:t>
            </a:r>
            <a:r>
              <a:rPr lang="ru-RU" dirty="0" err="1"/>
              <a:t>Ініціація</a:t>
            </a:r>
            <a:r>
              <a:rPr lang="ru-RU" dirty="0"/>
              <a:t>, </a:t>
            </a:r>
            <a:r>
              <a:rPr lang="ru-RU" dirty="0" err="1"/>
              <a:t>Уточнення</a:t>
            </a:r>
            <a:r>
              <a:rPr lang="ru-RU" dirty="0"/>
              <a:t>, </a:t>
            </a:r>
            <a:r>
              <a:rPr lang="ru-RU" dirty="0" err="1"/>
              <a:t>Конструкція</a:t>
            </a:r>
            <a:r>
              <a:rPr lang="ru-RU" dirty="0"/>
              <a:t>, </a:t>
            </a:r>
            <a:r>
              <a:rPr lang="ru-RU" dirty="0" err="1"/>
              <a:t>Введення</a:t>
            </a:r>
            <a:r>
              <a:rPr lang="ru-RU" dirty="0"/>
              <a:t> в </a:t>
            </a:r>
            <a:r>
              <a:rPr lang="ru-RU" dirty="0" err="1"/>
              <a:t>експлуатацію</a:t>
            </a:r>
            <a:r>
              <a:rPr lang="ru-RU" dirty="0"/>
              <a:t>), </a:t>
            </a:r>
            <a:r>
              <a:rPr lang="ru-RU" dirty="0" err="1"/>
              <a:t>кожна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цілі</a:t>
            </a:r>
            <a:r>
              <a:rPr lang="ru-RU" dirty="0"/>
              <a:t> та </a:t>
            </a:r>
            <a:r>
              <a:rPr lang="ru-RU" dirty="0" err="1"/>
              <a:t>результати</a:t>
            </a:r>
            <a:r>
              <a:rPr lang="ru-RU" dirty="0"/>
              <a:t>:</a:t>
            </a:r>
          </a:p>
          <a:p>
            <a:r>
              <a:rPr lang="ru-RU" b="1" dirty="0" err="1"/>
              <a:t>Ініціація</a:t>
            </a:r>
            <a:r>
              <a:rPr lang="ru-RU" dirty="0"/>
              <a:t> :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концепції</a:t>
            </a:r>
            <a:r>
              <a:rPr lang="ru-RU" dirty="0"/>
              <a:t> продукту та </a:t>
            </a:r>
            <a:r>
              <a:rPr lang="ru-RU" dirty="0" err="1"/>
              <a:t>бізнес-цілей</a:t>
            </a:r>
            <a:r>
              <a:rPr lang="ru-RU" dirty="0"/>
              <a:t>, </a:t>
            </a:r>
            <a:r>
              <a:rPr lang="ru-RU" dirty="0" err="1"/>
              <a:t>збір</a:t>
            </a:r>
            <a:r>
              <a:rPr lang="ru-RU" dirty="0"/>
              <a:t> </a:t>
            </a:r>
            <a:r>
              <a:rPr lang="ru-RU" dirty="0" err="1"/>
              <a:t>базових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.</a:t>
            </a:r>
          </a:p>
          <a:p>
            <a:r>
              <a:rPr lang="ru-RU" b="1" dirty="0" err="1"/>
              <a:t>Уточнення</a:t>
            </a:r>
            <a:r>
              <a:rPr lang="ru-RU" dirty="0"/>
              <a:t> :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детальний</a:t>
            </a:r>
            <a:r>
              <a:rPr lang="ru-RU" dirty="0"/>
              <a:t>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, </a:t>
            </a:r>
            <a:r>
              <a:rPr lang="ru-RU" dirty="0" err="1"/>
              <a:t>проектування</a:t>
            </a:r>
            <a:r>
              <a:rPr lang="ru-RU" dirty="0"/>
              <a:t> </a:t>
            </a:r>
            <a:r>
              <a:rPr lang="ru-RU" dirty="0" err="1"/>
              <a:t>основної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та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ключових</a:t>
            </a:r>
            <a:r>
              <a:rPr lang="ru-RU" dirty="0"/>
              <a:t> </a:t>
            </a:r>
            <a:r>
              <a:rPr lang="ru-RU" dirty="0" err="1"/>
              <a:t>ризиків</a:t>
            </a:r>
            <a:r>
              <a:rPr lang="ru-RU" dirty="0"/>
              <a:t>.</a:t>
            </a:r>
          </a:p>
          <a:p>
            <a:r>
              <a:rPr lang="ru-RU" b="1" dirty="0" err="1"/>
              <a:t>Конструкція</a:t>
            </a:r>
            <a:r>
              <a:rPr lang="ru-RU" dirty="0"/>
              <a:t> :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, </a:t>
            </a:r>
            <a:r>
              <a:rPr lang="ru-RU" dirty="0" err="1"/>
              <a:t>побудова</a:t>
            </a:r>
            <a:r>
              <a:rPr lang="ru-RU" dirty="0"/>
              <a:t> коду і </a:t>
            </a:r>
            <a:r>
              <a:rPr lang="ru-RU" dirty="0" err="1"/>
              <a:t>підготовка</a:t>
            </a:r>
            <a:r>
              <a:rPr lang="ru-RU" dirty="0"/>
              <a:t> основного </a:t>
            </a:r>
            <a:r>
              <a:rPr lang="ru-RU" dirty="0" err="1"/>
              <a:t>функціоналу</a:t>
            </a:r>
            <a:r>
              <a:rPr lang="ru-RU" dirty="0"/>
              <a:t>.</a:t>
            </a:r>
          </a:p>
          <a:p>
            <a:r>
              <a:rPr lang="ru-RU" b="1" dirty="0" err="1"/>
              <a:t>Введення</a:t>
            </a:r>
            <a:r>
              <a:rPr lang="ru-RU" b="1" dirty="0"/>
              <a:t> в </a:t>
            </a:r>
            <a:r>
              <a:rPr lang="ru-RU" b="1" dirty="0" err="1"/>
              <a:t>експлуатацію</a:t>
            </a:r>
            <a:r>
              <a:rPr lang="ru-RU" dirty="0"/>
              <a:t> : </a:t>
            </a:r>
            <a:r>
              <a:rPr lang="ru-RU" dirty="0" err="1"/>
              <a:t>підготовка</a:t>
            </a:r>
            <a:r>
              <a:rPr lang="ru-RU" dirty="0"/>
              <a:t> продукту до </a:t>
            </a:r>
            <a:r>
              <a:rPr lang="ru-RU" dirty="0" err="1"/>
              <a:t>розгортання</a:t>
            </a:r>
            <a:r>
              <a:rPr lang="ru-RU" dirty="0"/>
              <a:t>, </a:t>
            </a:r>
            <a:r>
              <a:rPr lang="ru-RU" dirty="0" err="1"/>
              <a:t>перевірка</a:t>
            </a:r>
            <a:r>
              <a:rPr lang="ru-RU" dirty="0"/>
              <a:t> та передача в </a:t>
            </a:r>
            <a:r>
              <a:rPr lang="ru-RU" dirty="0" err="1"/>
              <a:t>використання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04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3. </a:t>
            </a:r>
            <a:r>
              <a:rPr lang="ru-RU" b="1" dirty="0"/>
              <a:t>Компонентно-</a:t>
            </a:r>
            <a:r>
              <a:rPr lang="ru-RU" b="1" dirty="0" err="1"/>
              <a:t>орієнтована</a:t>
            </a:r>
            <a:r>
              <a:rPr lang="ru-RU" b="1" dirty="0"/>
              <a:t> </a:t>
            </a:r>
            <a:r>
              <a:rPr lang="ru-RU" b="1" dirty="0" err="1"/>
              <a:t>розробка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RUP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як набору </a:t>
            </a:r>
            <a:r>
              <a:rPr lang="ru-RU" dirty="0" err="1"/>
              <a:t>взаємопов’язаних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,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виконує</a:t>
            </a:r>
            <a:r>
              <a:rPr lang="ru-RU" dirty="0"/>
              <a:t> </a:t>
            </a:r>
            <a:r>
              <a:rPr lang="ru-RU" dirty="0" err="1"/>
              <a:t>окрему</a:t>
            </a:r>
            <a:r>
              <a:rPr lang="ru-RU" dirty="0"/>
              <a:t> </a:t>
            </a:r>
            <a:r>
              <a:rPr lang="ru-RU" dirty="0" err="1"/>
              <a:t>функцію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групу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:</a:t>
            </a:r>
          </a:p>
          <a:p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у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проєктах</a:t>
            </a:r>
            <a:r>
              <a:rPr lang="ru-RU" dirty="0"/>
              <a:t>.</a:t>
            </a:r>
          </a:p>
          <a:p>
            <a:r>
              <a:rPr lang="ru-RU" dirty="0" err="1"/>
              <a:t>Спрощення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та </a:t>
            </a:r>
            <a:r>
              <a:rPr lang="ru-RU" dirty="0" err="1"/>
              <a:t>обслуговування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dirty="0" err="1"/>
              <a:t>Гнучкість</a:t>
            </a:r>
            <a:r>
              <a:rPr lang="ru-RU" dirty="0"/>
              <a:t> у </a:t>
            </a:r>
            <a:r>
              <a:rPr lang="ru-RU" dirty="0" err="1"/>
              <a:t>змінах</a:t>
            </a:r>
            <a:r>
              <a:rPr lang="ru-RU" dirty="0"/>
              <a:t>, </a:t>
            </a:r>
            <a:r>
              <a:rPr lang="ru-RU" dirty="0" err="1"/>
              <a:t>закінчені</a:t>
            </a:r>
            <a:r>
              <a:rPr lang="ru-RU" dirty="0"/>
              <a:t> </a:t>
            </a:r>
            <a:r>
              <a:rPr lang="ru-RU" dirty="0" err="1"/>
              <a:t>модулі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легко </a:t>
            </a:r>
            <a:r>
              <a:rPr lang="ru-RU" dirty="0" err="1"/>
              <a:t>замінюватися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оновлюватися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475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</a:t>
            </a:r>
            <a:r>
              <a:rPr lang="ru-RU" b="1" dirty="0" err="1"/>
              <a:t>Заснованість</a:t>
            </a:r>
            <a:r>
              <a:rPr lang="ru-RU" b="1" dirty="0"/>
              <a:t> на </a:t>
            </a:r>
            <a:r>
              <a:rPr lang="ru-RU" b="1" dirty="0" err="1"/>
              <a:t>архітектурі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RUP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стабільної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на </a:t>
            </a:r>
            <a:r>
              <a:rPr lang="ru-RU" dirty="0" err="1"/>
              <a:t>ранніх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є основою для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 </a:t>
            </a:r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та </a:t>
            </a:r>
            <a:r>
              <a:rPr lang="ru-RU" dirty="0" err="1"/>
              <a:t>взаємодію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:</a:t>
            </a:r>
          </a:p>
          <a:p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технічні</a:t>
            </a:r>
            <a:r>
              <a:rPr lang="ru-RU" dirty="0"/>
              <a:t> </a:t>
            </a:r>
            <a:r>
              <a:rPr lang="ru-RU" dirty="0" err="1"/>
              <a:t>ризики</a:t>
            </a:r>
            <a:r>
              <a:rPr lang="ru-RU" dirty="0"/>
              <a:t>.</a:t>
            </a:r>
          </a:p>
          <a:p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масштабність</a:t>
            </a:r>
            <a:r>
              <a:rPr lang="ru-RU" dirty="0"/>
              <a:t> і </a:t>
            </a:r>
            <a:r>
              <a:rPr lang="ru-RU" dirty="0" err="1"/>
              <a:t>надійність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dirty="0" err="1"/>
              <a:t>Полегшити</a:t>
            </a:r>
            <a:r>
              <a:rPr lang="ru-RU" dirty="0"/>
              <a:t> </a:t>
            </a:r>
            <a:r>
              <a:rPr lang="ru-RU" dirty="0" err="1"/>
              <a:t>подальшу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 та </a:t>
            </a:r>
            <a:r>
              <a:rPr lang="ru-RU" dirty="0" err="1"/>
              <a:t>інтеграцію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285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5. </a:t>
            </a:r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дисципліни</a:t>
            </a:r>
            <a:r>
              <a:rPr lang="ru-RU" b="1" dirty="0"/>
              <a:t> </a:t>
            </a:r>
            <a:r>
              <a:rPr lang="ru-RU" b="1" dirty="0" err="1"/>
              <a:t>процесу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У РУП </a:t>
            </a:r>
            <a:r>
              <a:rPr lang="ru-RU" dirty="0" err="1"/>
              <a:t>визначені</a:t>
            </a:r>
            <a:r>
              <a:rPr lang="ru-RU" dirty="0"/>
              <a:t> </a:t>
            </a:r>
            <a:r>
              <a:rPr lang="ru-RU" dirty="0" err="1"/>
              <a:t>дисципліни</a:t>
            </a:r>
            <a:r>
              <a:rPr lang="ru-RU" dirty="0"/>
              <a:t> (</a:t>
            </a:r>
            <a:r>
              <a:rPr lang="ru-RU" dirty="0" err="1"/>
              <a:t>або</a:t>
            </a:r>
            <a:r>
              <a:rPr lang="ru-RU" dirty="0"/>
              <a:t> потоки </a:t>
            </a:r>
            <a:r>
              <a:rPr lang="ru-RU" dirty="0" err="1"/>
              <a:t>робіт</a:t>
            </a:r>
            <a:r>
              <a:rPr lang="ru-RU" dirty="0"/>
              <a:t>),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охопити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ПЗ:</a:t>
            </a:r>
          </a:p>
          <a:p>
            <a:r>
              <a:rPr lang="ru-RU" b="1" dirty="0" err="1"/>
              <a:t>Вимоги</a:t>
            </a:r>
            <a:r>
              <a:rPr lang="ru-RU" dirty="0"/>
              <a:t> : </a:t>
            </a:r>
            <a:r>
              <a:rPr lang="ru-RU" dirty="0" err="1"/>
              <a:t>збір</a:t>
            </a:r>
            <a:r>
              <a:rPr lang="ru-RU" dirty="0"/>
              <a:t>, </a:t>
            </a:r>
            <a:r>
              <a:rPr lang="ru-RU" dirty="0" err="1"/>
              <a:t>документування</a:t>
            </a:r>
            <a:r>
              <a:rPr lang="ru-RU" dirty="0"/>
              <a:t> та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вимогами</a:t>
            </a:r>
            <a:r>
              <a:rPr lang="ru-RU" dirty="0"/>
              <a:t>.</a:t>
            </a:r>
          </a:p>
          <a:p>
            <a:r>
              <a:rPr lang="ru-RU" b="1" dirty="0" err="1"/>
              <a:t>Аналіз</a:t>
            </a:r>
            <a:r>
              <a:rPr lang="ru-RU" b="1" dirty="0"/>
              <a:t> і дизайн</a:t>
            </a:r>
            <a:r>
              <a:rPr lang="ru-RU" dirty="0"/>
              <a:t> :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та дизайну </a:t>
            </a:r>
            <a:r>
              <a:rPr lang="ru-RU" dirty="0" err="1"/>
              <a:t>програмної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Реалізація</a:t>
            </a:r>
            <a:r>
              <a:rPr lang="ru-RU" dirty="0"/>
              <a:t> : </a:t>
            </a:r>
            <a:r>
              <a:rPr lang="ru-RU" dirty="0" err="1"/>
              <a:t>написання</a:t>
            </a:r>
            <a:r>
              <a:rPr lang="ru-RU" dirty="0"/>
              <a:t> коду та </a:t>
            </a:r>
            <a:r>
              <a:rPr lang="ru-RU" dirty="0" err="1"/>
              <a:t>інтеграція</a:t>
            </a:r>
            <a:r>
              <a:rPr lang="ru-RU" dirty="0"/>
              <a:t>.</a:t>
            </a:r>
          </a:p>
          <a:p>
            <a:r>
              <a:rPr lang="ru-RU" b="1" dirty="0" err="1"/>
              <a:t>Тестування</a:t>
            </a:r>
            <a:r>
              <a:rPr lang="ru-RU" dirty="0"/>
              <a:t> 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та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.</a:t>
            </a:r>
          </a:p>
          <a:p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конфігурацією</a:t>
            </a:r>
            <a:r>
              <a:rPr lang="ru-RU" b="1" dirty="0"/>
              <a:t> і </a:t>
            </a:r>
            <a:r>
              <a:rPr lang="ru-RU" b="1" dirty="0" err="1"/>
              <a:t>змінами</a:t>
            </a:r>
            <a:r>
              <a:rPr lang="ru-RU" dirty="0"/>
              <a:t> : </a:t>
            </a:r>
            <a:r>
              <a:rPr lang="ru-RU" dirty="0" err="1"/>
              <a:t>відстеження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 та </a:t>
            </a:r>
            <a:r>
              <a:rPr lang="ru-RU" dirty="0" err="1"/>
              <a:t>зміни</a:t>
            </a:r>
            <a:r>
              <a:rPr lang="ru-RU" dirty="0"/>
              <a:t> в </a:t>
            </a:r>
            <a:r>
              <a:rPr lang="ru-RU" dirty="0" err="1"/>
              <a:t>проекті</a:t>
            </a:r>
            <a:r>
              <a:rPr lang="ru-RU" dirty="0"/>
              <a:t>.</a:t>
            </a:r>
          </a:p>
          <a:p>
            <a:r>
              <a:rPr lang="ru-RU" b="1" dirty="0" err="1"/>
              <a:t>Проєктний</a:t>
            </a:r>
            <a:r>
              <a:rPr lang="ru-RU" b="1" dirty="0"/>
              <a:t> менеджмент</a:t>
            </a:r>
            <a:r>
              <a:rPr lang="ru-RU" dirty="0"/>
              <a:t> : </a:t>
            </a:r>
            <a:r>
              <a:rPr lang="ru-RU" dirty="0" err="1"/>
              <a:t>планування</a:t>
            </a:r>
            <a:r>
              <a:rPr lang="ru-RU" dirty="0"/>
              <a:t> та контроль за </a:t>
            </a:r>
            <a:r>
              <a:rPr lang="ru-RU" dirty="0" err="1"/>
              <a:t>виконанням</a:t>
            </a:r>
            <a:r>
              <a:rPr lang="ru-RU" dirty="0"/>
              <a:t>.</a:t>
            </a:r>
          </a:p>
          <a:p>
            <a:r>
              <a:rPr lang="ru-RU" b="1" dirty="0" err="1"/>
              <a:t>Введення</a:t>
            </a:r>
            <a:r>
              <a:rPr lang="ru-RU" b="1" dirty="0"/>
              <a:t> в </a:t>
            </a:r>
            <a:r>
              <a:rPr lang="ru-RU" b="1" dirty="0" err="1"/>
              <a:t>експлуатацію</a:t>
            </a:r>
            <a:r>
              <a:rPr lang="ru-RU" dirty="0"/>
              <a:t> : </a:t>
            </a:r>
            <a:r>
              <a:rPr lang="ru-RU" dirty="0" err="1"/>
              <a:t>підтримка</a:t>
            </a:r>
            <a:r>
              <a:rPr lang="ru-RU" dirty="0"/>
              <a:t> та передача готового продукту </a:t>
            </a:r>
            <a:r>
              <a:rPr lang="ru-RU" dirty="0" err="1"/>
              <a:t>користувачам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05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</a:t>
            </a:r>
            <a:r>
              <a:rPr lang="ru-RU" b="1" dirty="0" err="1"/>
              <a:t>Ролі</a:t>
            </a:r>
            <a:r>
              <a:rPr lang="ru-RU" b="1" dirty="0"/>
              <a:t> та </a:t>
            </a:r>
            <a:r>
              <a:rPr lang="ru-RU" b="1" dirty="0" err="1"/>
              <a:t>артефакти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учасник</a:t>
            </a:r>
            <a:r>
              <a:rPr lang="ru-RU" dirty="0"/>
              <a:t> проекту в </a:t>
            </a:r>
            <a:r>
              <a:rPr lang="en-US" dirty="0"/>
              <a:t>RUP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певну</a:t>
            </a:r>
            <a:r>
              <a:rPr lang="ru-RU" dirty="0"/>
              <a:t> роль (</a:t>
            </a:r>
            <a:r>
              <a:rPr lang="ru-RU" dirty="0" err="1"/>
              <a:t>розробник</a:t>
            </a:r>
            <a:r>
              <a:rPr lang="ru-RU" dirty="0"/>
              <a:t>, </a:t>
            </a:r>
            <a:r>
              <a:rPr lang="ru-RU" dirty="0" err="1"/>
              <a:t>аналітик</a:t>
            </a:r>
            <a:r>
              <a:rPr lang="ru-RU" dirty="0"/>
              <a:t>, тестувальник, менеджер),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обов'язки</a:t>
            </a:r>
            <a:r>
              <a:rPr lang="ru-RU" dirty="0"/>
              <a:t> та </a:t>
            </a:r>
            <a:r>
              <a:rPr lang="ru-RU" dirty="0" err="1"/>
              <a:t>завдання</a:t>
            </a:r>
            <a:r>
              <a:rPr lang="ru-RU" dirty="0"/>
              <a:t>. </a:t>
            </a:r>
            <a:r>
              <a:rPr lang="ru-RU" dirty="0" err="1"/>
              <a:t>Артефакти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, </a:t>
            </a:r>
            <a:r>
              <a:rPr lang="ru-RU" dirty="0" err="1"/>
              <a:t>моделі</a:t>
            </a:r>
            <a:r>
              <a:rPr lang="ru-RU" dirty="0"/>
              <a:t>, </a:t>
            </a:r>
            <a:r>
              <a:rPr lang="ru-RU" dirty="0" err="1"/>
              <a:t>коди</a:t>
            </a:r>
            <a:r>
              <a:rPr lang="ru-RU" dirty="0"/>
              <a:t>, </a:t>
            </a:r>
            <a:r>
              <a:rPr lang="ru-RU" dirty="0" err="1"/>
              <a:t>тестові</a:t>
            </a:r>
            <a:r>
              <a:rPr lang="ru-RU" dirty="0"/>
              <a:t> </a:t>
            </a:r>
            <a:r>
              <a:rPr lang="ru-RU" dirty="0" err="1"/>
              <a:t>сценарії</a:t>
            </a:r>
            <a:r>
              <a:rPr lang="ru-RU" dirty="0"/>
              <a:t> та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матеріали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створені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 і </a:t>
            </a:r>
            <a:r>
              <a:rPr lang="ru-RU" dirty="0" err="1"/>
              <a:t>якості</a:t>
            </a:r>
            <a:r>
              <a:rPr lang="ru-RU" dirty="0"/>
              <a:t> продукту.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45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7. </a:t>
            </a:r>
            <a:r>
              <a:rPr lang="ru-RU" b="1" dirty="0" err="1"/>
              <a:t>Адаптивність</a:t>
            </a:r>
            <a:r>
              <a:rPr lang="ru-RU" b="1" dirty="0"/>
              <a:t> та </a:t>
            </a:r>
            <a:r>
              <a:rPr lang="ru-RU" b="1" dirty="0" err="1"/>
              <a:t>налаштування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RUP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адаптувати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до конкретного проекту,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гнучкість</a:t>
            </a:r>
            <a:r>
              <a:rPr lang="ru-RU" dirty="0"/>
              <a:t> у </a:t>
            </a:r>
            <a:r>
              <a:rPr lang="ru-RU" dirty="0" err="1"/>
              <a:t>виборі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, </a:t>
            </a:r>
            <a:r>
              <a:rPr lang="ru-RU" dirty="0" err="1"/>
              <a:t>інтенсивність</a:t>
            </a:r>
            <a:r>
              <a:rPr lang="ru-RU" dirty="0"/>
              <a:t> </a:t>
            </a:r>
            <a:r>
              <a:rPr lang="ru-RU" dirty="0" err="1"/>
              <a:t>документації</a:t>
            </a:r>
            <a:r>
              <a:rPr lang="ru-RU" dirty="0"/>
              <a:t> та </a:t>
            </a:r>
            <a:r>
              <a:rPr lang="ru-RU" dirty="0" err="1"/>
              <a:t>управління</a:t>
            </a:r>
            <a:r>
              <a:rPr lang="ru-RU" dirty="0"/>
              <a:t> в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та </a:t>
            </a:r>
            <a:r>
              <a:rPr lang="ru-RU" dirty="0" err="1"/>
              <a:t>розміру</a:t>
            </a:r>
            <a:r>
              <a:rPr lang="ru-RU" dirty="0"/>
              <a:t> проекту.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:</a:t>
            </a:r>
          </a:p>
          <a:p>
            <a:r>
              <a:rPr lang="ru-RU" dirty="0"/>
              <a:t>Проект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та </a:t>
            </a:r>
            <a:r>
              <a:rPr lang="ru-RU" dirty="0" err="1"/>
              <a:t>підходи</a:t>
            </a:r>
            <a:r>
              <a:rPr lang="ru-RU" dirty="0"/>
              <a:t> на кожному </a:t>
            </a:r>
            <a:r>
              <a:rPr lang="ru-RU" dirty="0" err="1"/>
              <a:t>етапі</a:t>
            </a:r>
            <a:r>
              <a:rPr lang="ru-RU" dirty="0"/>
              <a:t>.</a:t>
            </a:r>
          </a:p>
          <a:p>
            <a:r>
              <a:rPr lang="ru-RU" dirty="0" err="1"/>
              <a:t>Обсяг</a:t>
            </a:r>
            <a:r>
              <a:rPr lang="ru-RU" dirty="0"/>
              <a:t> </a:t>
            </a:r>
            <a:r>
              <a:rPr lang="ru-RU" dirty="0" err="1"/>
              <a:t>документації</a:t>
            </a:r>
            <a:r>
              <a:rPr lang="ru-RU" dirty="0"/>
              <a:t> та </a:t>
            </a:r>
            <a:r>
              <a:rPr lang="ru-RU" dirty="0" err="1"/>
              <a:t>складність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змінюватися</a:t>
            </a:r>
            <a:r>
              <a:rPr lang="ru-RU" dirty="0"/>
              <a:t> у </a:t>
            </a:r>
            <a:r>
              <a:rPr lang="ru-RU" dirty="0" err="1"/>
              <a:t>зв’язку</a:t>
            </a:r>
            <a:r>
              <a:rPr lang="ru-RU" dirty="0"/>
              <a:t> з контекстом проекту.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672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 </a:t>
            </a:r>
            <a:r>
              <a:rPr lang="ru-RU" b="1" dirty="0" err="1"/>
              <a:t>концепції</a:t>
            </a:r>
            <a:r>
              <a:rPr lang="ru-RU" b="1" dirty="0"/>
              <a:t> </a:t>
            </a:r>
            <a:r>
              <a:rPr lang="en-US" b="1" dirty="0"/>
              <a:t>RUP: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 smtClean="0"/>
              <a:t>Гнучкість</a:t>
            </a:r>
            <a:r>
              <a:rPr lang="ru-RU" b="1" dirty="0" smtClean="0"/>
              <a:t> </a:t>
            </a:r>
            <a:r>
              <a:rPr lang="ru-RU" b="1" dirty="0"/>
              <a:t>і </a:t>
            </a:r>
            <a:r>
              <a:rPr lang="ru-RU" b="1" dirty="0" err="1"/>
              <a:t>адаптація</a:t>
            </a:r>
            <a:r>
              <a:rPr lang="ru-RU" dirty="0"/>
              <a:t> до </a:t>
            </a:r>
            <a:r>
              <a:rPr lang="ru-RU" dirty="0" err="1"/>
              <a:t>змін</a:t>
            </a:r>
            <a:r>
              <a:rPr lang="ru-RU" dirty="0"/>
              <a:t>.</a:t>
            </a:r>
          </a:p>
          <a:p>
            <a:r>
              <a:rPr lang="ru-RU" b="1" dirty="0" err="1"/>
              <a:t>Мінімізація</a:t>
            </a:r>
            <a:r>
              <a:rPr lang="ru-RU" b="1" dirty="0"/>
              <a:t> </a:t>
            </a:r>
            <a:r>
              <a:rPr lang="ru-RU" b="1" dirty="0" err="1"/>
              <a:t>ризиків</a:t>
            </a:r>
            <a:r>
              <a:rPr lang="ru-RU" dirty="0"/>
              <a:t> за </a:t>
            </a:r>
            <a:r>
              <a:rPr lang="ru-RU" dirty="0" err="1"/>
              <a:t>рахунок</a:t>
            </a:r>
            <a:r>
              <a:rPr lang="ru-RU" dirty="0"/>
              <a:t> </a:t>
            </a:r>
            <a:r>
              <a:rPr lang="ru-RU" dirty="0" err="1"/>
              <a:t>ітераційного</a:t>
            </a:r>
            <a:r>
              <a:rPr lang="ru-RU" dirty="0"/>
              <a:t> </a:t>
            </a:r>
            <a:r>
              <a:rPr lang="ru-RU" dirty="0" err="1"/>
              <a:t>підходу</a:t>
            </a:r>
            <a:r>
              <a:rPr lang="ru-RU" dirty="0"/>
              <a:t>.</a:t>
            </a:r>
          </a:p>
          <a:p>
            <a:r>
              <a:rPr lang="ru-RU" b="1" dirty="0" err="1"/>
              <a:t>Забезпечення</a:t>
            </a:r>
            <a:r>
              <a:rPr lang="ru-RU" b="1" dirty="0"/>
              <a:t> </a:t>
            </a:r>
            <a:r>
              <a:rPr lang="ru-RU" b="1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дисциплінам</a:t>
            </a:r>
            <a:r>
              <a:rPr lang="ru-RU" dirty="0"/>
              <a:t> і </a:t>
            </a:r>
            <a:r>
              <a:rPr lang="ru-RU" dirty="0" err="1"/>
              <a:t>структурі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.</a:t>
            </a:r>
          </a:p>
          <a:p>
            <a:r>
              <a:rPr lang="ru-RU" b="1" dirty="0" err="1"/>
              <a:t>Зосередження</a:t>
            </a:r>
            <a:r>
              <a:rPr lang="ru-RU" b="1" dirty="0"/>
              <a:t> на </a:t>
            </a:r>
            <a:r>
              <a:rPr lang="ru-RU" b="1" dirty="0" err="1"/>
              <a:t>архітектурі</a:t>
            </a:r>
            <a:r>
              <a:rPr lang="ru-RU" dirty="0"/>
              <a:t> та </a:t>
            </a:r>
            <a:r>
              <a:rPr lang="ru-RU" b="1" dirty="0" err="1"/>
              <a:t>компонентності</a:t>
            </a:r>
            <a:r>
              <a:rPr lang="ru-RU" dirty="0"/>
              <a:t> 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сприяє</a:t>
            </a:r>
            <a:r>
              <a:rPr lang="ru-RU" dirty="0"/>
              <a:t> </a:t>
            </a:r>
            <a:r>
              <a:rPr lang="ru-RU" dirty="0" err="1"/>
              <a:t>довговічності</a:t>
            </a:r>
            <a:r>
              <a:rPr lang="ru-RU" dirty="0"/>
              <a:t> та </a:t>
            </a:r>
            <a:r>
              <a:rPr lang="ru-RU" dirty="0" err="1"/>
              <a:t>стабільності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dirty="0" err="1"/>
              <a:t>Концепції</a:t>
            </a:r>
            <a:r>
              <a:rPr lang="ru-RU" dirty="0"/>
              <a:t> </a:t>
            </a:r>
            <a:r>
              <a:rPr lang="en-US" dirty="0"/>
              <a:t>RUP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ефективно</a:t>
            </a:r>
            <a:r>
              <a:rPr lang="ru-RU" dirty="0"/>
              <a:t> </a:t>
            </a:r>
            <a:r>
              <a:rPr lang="ru-RU" dirty="0" err="1"/>
              <a:t>організувати</a:t>
            </a:r>
            <a:r>
              <a:rPr lang="ru-RU" dirty="0"/>
              <a:t> роботу </a:t>
            </a:r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якісне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проектом і </a:t>
            </a:r>
            <a:r>
              <a:rPr lang="ru-RU" dirty="0" err="1"/>
              <a:t>створити</a:t>
            </a:r>
            <a:r>
              <a:rPr lang="ru-RU" dirty="0"/>
              <a:t> продукт,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і стандартам </a:t>
            </a:r>
            <a:r>
              <a:rPr lang="ru-RU" dirty="0" err="1"/>
              <a:t>якості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434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FDD3-8F73-4F90-BD7E-BA1B343B6C8C}" type="slidenum">
              <a:rPr lang="ru-RU"/>
              <a:pPr/>
              <a:t>25</a:t>
            </a:fld>
            <a:endParaRPr lang="ru-RU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7772400" cy="79216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Архітектура</a:t>
            </a:r>
            <a:r>
              <a:rPr lang="ru-RU" dirty="0" smtClean="0"/>
              <a:t> </a:t>
            </a:r>
            <a:r>
              <a:rPr lang="en-US" dirty="0"/>
              <a:t>RUP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19979"/>
            <a:ext cx="8850263" cy="505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8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72400" y="332656"/>
            <a:ext cx="762000" cy="365125"/>
          </a:xfrm>
        </p:spPr>
        <p:txBody>
          <a:bodyPr/>
          <a:lstStyle/>
          <a:p>
            <a:fld id="{738796EA-508D-436B-99AC-959FE98831E7}" type="slidenum">
              <a:rPr lang="ru-RU"/>
              <a:pPr/>
              <a:t>26</a:t>
            </a:fld>
            <a:endParaRPr lang="ru-RU" dirty="0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38200"/>
          </a:xfrm>
        </p:spPr>
        <p:txBody>
          <a:bodyPr/>
          <a:lstStyle/>
          <a:p>
            <a:r>
              <a:rPr lang="ru-RU" sz="3600" dirty="0" err="1" smtClean="0">
                <a:cs typeface="Times New Roman" charset="0"/>
              </a:rPr>
              <a:t>Этапи</a:t>
            </a:r>
            <a:r>
              <a:rPr lang="ru-RU" sz="3600" dirty="0" smtClean="0">
                <a:cs typeface="Times New Roman" charset="0"/>
              </a:rPr>
              <a:t>  </a:t>
            </a:r>
            <a:r>
              <a:rPr lang="ru-RU" sz="3600" dirty="0" err="1" smtClean="0">
                <a:cs typeface="Times New Roman" charset="0"/>
              </a:rPr>
              <a:t>рабіт</a:t>
            </a:r>
            <a:r>
              <a:rPr lang="ru-RU" sz="3600" dirty="0" smtClean="0">
                <a:cs typeface="Times New Roman" charset="0"/>
              </a:rPr>
              <a:t> у </a:t>
            </a:r>
            <a:r>
              <a:rPr lang="ru-RU" sz="3600" dirty="0" err="1" smtClean="0">
                <a:cs typeface="Times New Roman" charset="0"/>
              </a:rPr>
              <a:t>відповідності</a:t>
            </a:r>
            <a:r>
              <a:rPr lang="ru-RU" sz="3600" dirty="0" smtClean="0">
                <a:cs typeface="Times New Roman" charset="0"/>
              </a:rPr>
              <a:t> з </a:t>
            </a:r>
            <a:r>
              <a:rPr lang="en-US" sz="3600" dirty="0" smtClean="0">
                <a:cs typeface="Times New Roman" charset="0"/>
              </a:rPr>
              <a:t>RUP</a:t>
            </a:r>
            <a:endParaRPr lang="ru-RU" sz="3600" dirty="0">
              <a:cs typeface="Times New Roman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036496" cy="5530552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Бізнес-моделювання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Виділення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бізнес-процесів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прецедентів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цілі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системи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розбиття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на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підсистеми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Опис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бізнес-процесів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діяльності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модулі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підсистем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їх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функції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Опис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бізнес-сутностей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вхідні-вихідні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форми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користувальницький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інтерфейс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, базу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даних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Опис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станів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бізнес-сутностей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станів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приховані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атрибути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бізнес-сутностей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Ролі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види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діяльності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прецедентів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функції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системи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Структура </a:t>
            </a: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підприємства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прецедентів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функції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системи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latin typeface="Book Antiqua" pitchFamily="18" charset="0"/>
              </a:rPr>
              <a:t>Бізнес</a:t>
            </a:r>
            <a:r>
              <a:rPr lang="ru-RU" sz="2800" b="1" dirty="0">
                <a:solidFill>
                  <a:schemeClr val="tx1"/>
                </a:solidFill>
                <a:latin typeface="Book Antiqua" pitchFamily="18" charset="0"/>
              </a:rPr>
              <a:t>-правила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-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і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діяльності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(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визначає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 правила </a:t>
            </a:r>
            <a:r>
              <a:rPr lang="ru-RU" sz="2800" dirty="0" err="1">
                <a:solidFill>
                  <a:schemeClr val="tx1"/>
                </a:solidFill>
                <a:latin typeface="Book Antiqua" pitchFamily="18" charset="0"/>
              </a:rPr>
              <a:t>системи</a:t>
            </a:r>
            <a:r>
              <a:rPr lang="ru-RU" sz="2800" dirty="0">
                <a:solidFill>
                  <a:schemeClr val="tx1"/>
                </a:solidFill>
                <a:latin typeface="Book Antiqua" pitchFamily="18" charset="0"/>
              </a:rPr>
              <a:t>)</a:t>
            </a:r>
            <a:endParaRPr lang="ru-RU" sz="2400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F85C-AC40-45C3-BA48-31E1AB5D99C7}" type="slidenum">
              <a:rPr lang="ru-RU"/>
              <a:pPr/>
              <a:t>27</a:t>
            </a:fld>
            <a:endParaRPr lang="ru-RU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8915400" cy="5715000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2.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Визначення</a:t>
            </a: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вимог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Функції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системи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прецедентів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Екранні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форми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класів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Сценарії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роботи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користувача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з системою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діяльності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3.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Аналіз</a:t>
            </a: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та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проектування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розміщення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розгортання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даних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класів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аналізу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класів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проекту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діяльності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послідовності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взаємодії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4.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Реалізація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реалізації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компонентів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5.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Тестування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тестування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класів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діяльності</a:t>
            </a:r>
            <a:endParaRPr lang="ru-RU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sz="2800" dirty="0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6. </a:t>
            </a:r>
            <a:r>
              <a:rPr lang="ru-RU" sz="2800" dirty="0" err="1">
                <a:solidFill>
                  <a:srgbClr val="F50D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Розміщення</a:t>
            </a:r>
            <a:endParaRPr lang="ru-RU" sz="2800" dirty="0">
              <a:solidFill>
                <a:srgbClr val="F50D3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розміщення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-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діаграми</a:t>
            </a:r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розгортання</a:t>
            </a:r>
            <a:endParaRPr lang="ru-RU" sz="2000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47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5AE4-CBFF-49B3-958D-215085CCDCB3}" type="slidenum">
              <a:rPr lang="ru-RU"/>
              <a:pPr/>
              <a:t>28</a:t>
            </a:fld>
            <a:endParaRPr lang="ru-RU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r>
              <a:rPr lang="ru-RU" sz="4000" dirty="0" err="1" smtClean="0"/>
              <a:t>Взаємозв</a:t>
            </a:r>
            <a:r>
              <a:rPr lang="en-US" sz="4000" dirty="0" smtClean="0"/>
              <a:t>’</a:t>
            </a:r>
            <a:r>
              <a:rPr lang="uk-UA" sz="4000" dirty="0" err="1" smtClean="0"/>
              <a:t>язки</a:t>
            </a:r>
            <a:r>
              <a:rPr lang="uk-UA" sz="4000" dirty="0" smtClean="0"/>
              <a:t> моделей</a:t>
            </a:r>
            <a:endParaRPr lang="ru-RU" sz="4000" dirty="0"/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68413"/>
            <a:ext cx="8785225" cy="493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49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20AD-865A-479E-A100-51803DD48CC7}" type="slidenum">
              <a:rPr lang="ru-RU"/>
              <a:pPr/>
              <a:t>29</a:t>
            </a:fld>
            <a:endParaRPr lang="ru-RU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Модель </a:t>
            </a:r>
            <a:r>
              <a:rPr lang="en-US" sz="3600" dirty="0" smtClean="0"/>
              <a:t>RUP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86019" name="Picture 3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8207375" cy="487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468313" y="6381750"/>
            <a:ext cx="4175125" cy="215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179388" y="908050"/>
            <a:ext cx="87836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 err="1" smtClean="0"/>
              <a:t>Описує</a:t>
            </a:r>
            <a:r>
              <a:rPr lang="ru-RU" dirty="0" smtClean="0"/>
              <a:t> </a:t>
            </a:r>
            <a:r>
              <a:rPr lang="ru-RU" i="1" dirty="0" smtClean="0"/>
              <a:t> </a:t>
            </a:r>
            <a:r>
              <a:rPr lang="ru-RU" sz="3600" b="1" i="1" dirty="0" err="1" smtClean="0"/>
              <a:t>Хто</a:t>
            </a:r>
            <a:r>
              <a:rPr lang="ru-RU" i="1" dirty="0" smtClean="0"/>
              <a:t> </a:t>
            </a:r>
            <a:r>
              <a:rPr lang="ru-RU" dirty="0" err="1" smtClean="0"/>
              <a:t>виконує</a:t>
            </a:r>
            <a:r>
              <a:rPr lang="ru-RU" dirty="0" smtClean="0"/>
              <a:t>, </a:t>
            </a:r>
            <a:r>
              <a:rPr lang="ru-RU" sz="3600" b="1" i="1" dirty="0" err="1" smtClean="0"/>
              <a:t>Що</a:t>
            </a:r>
            <a:r>
              <a:rPr lang="ru-RU" i="1" dirty="0" smtClean="0"/>
              <a:t> </a:t>
            </a:r>
            <a:r>
              <a:rPr lang="ru-RU" dirty="0" err="1" smtClean="0"/>
              <a:t>виконує</a:t>
            </a:r>
            <a:r>
              <a:rPr lang="ru-RU" i="1" dirty="0" smtClean="0"/>
              <a:t>, </a:t>
            </a:r>
            <a:r>
              <a:rPr lang="ru-RU" sz="3600" b="1" i="1" dirty="0" smtClean="0"/>
              <a:t>Як</a:t>
            </a:r>
            <a:r>
              <a:rPr lang="ru-RU" i="1" dirty="0" smtClean="0"/>
              <a:t> </a:t>
            </a:r>
            <a:r>
              <a:rPr lang="ru-RU" dirty="0" smtClean="0"/>
              <a:t>і </a:t>
            </a:r>
            <a:r>
              <a:rPr lang="ru-RU" sz="3600" b="1" i="1" dirty="0" smtClean="0"/>
              <a:t>Коли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2771775" y="4868863"/>
            <a:ext cx="6372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ru-RU" sz="1600" b="1" i="1" dirty="0" err="1" smtClean="0"/>
              <a:t>Етапи</a:t>
            </a:r>
            <a:r>
              <a:rPr kumimoji="0" lang="ru-RU" sz="1600" b="1" i="1" dirty="0" smtClean="0"/>
              <a:t> </a:t>
            </a:r>
            <a:r>
              <a:rPr kumimoji="0" lang="ru-RU" sz="1600" b="1" i="1" dirty="0" err="1" smtClean="0"/>
              <a:t>діяльності</a:t>
            </a:r>
            <a:r>
              <a:rPr kumimoji="0" lang="ru-RU" sz="1600" b="1" i="1" dirty="0" smtClean="0"/>
              <a:t>: </a:t>
            </a:r>
            <a:r>
              <a:rPr kumimoji="0" lang="ru-RU" sz="1600" b="1" i="1" dirty="0" err="1" smtClean="0"/>
              <a:t>Роздуми</a:t>
            </a:r>
            <a:r>
              <a:rPr kumimoji="0" lang="ru-RU" sz="1600" b="1" i="1" dirty="0" smtClean="0"/>
              <a:t>, </a:t>
            </a:r>
            <a:r>
              <a:rPr kumimoji="0" lang="ru-RU" sz="1600" b="1" i="1" dirty="0" err="1" smtClean="0"/>
              <a:t>Виконання</a:t>
            </a:r>
            <a:r>
              <a:rPr kumimoji="0" lang="ru-RU" sz="1600" b="1" i="1" dirty="0" smtClean="0"/>
              <a:t>, </a:t>
            </a:r>
            <a:r>
              <a:rPr kumimoji="0" lang="ru-RU" sz="1600" b="1" i="1" dirty="0" err="1" smtClean="0"/>
              <a:t>Рецензування</a:t>
            </a:r>
            <a:r>
              <a:rPr kumimoji="0" lang="ru-RU" sz="1600" b="1" i="1" dirty="0" smtClean="0"/>
              <a:t>.</a:t>
            </a:r>
            <a:endParaRPr kumimoji="0" lang="ru-RU" sz="1600" b="1" i="1" dirty="0"/>
          </a:p>
        </p:txBody>
      </p:sp>
    </p:spTree>
    <p:extLst>
      <p:ext uri="{BB962C8B-B14F-4D97-AF65-F5344CB8AC3E}">
        <p14:creationId xmlns:p14="http://schemas.microsoft.com/office/powerpoint/2010/main" val="53465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99599-3D56-42B1-8335-FAABDF3AC6EF}" type="slidenum">
              <a:rPr lang="ru-RU"/>
              <a:pPr/>
              <a:t>30</a:t>
            </a:fld>
            <a:endParaRPr lang="ru-RU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772400" cy="738187"/>
          </a:xfrm>
        </p:spPr>
        <p:txBody>
          <a:bodyPr/>
          <a:lstStyle/>
          <a:p>
            <a:r>
              <a:rPr lang="ru-RU" sz="4000" dirty="0" err="1" smtClean="0"/>
              <a:t>Артефакти</a:t>
            </a:r>
            <a:r>
              <a:rPr lang="ru-RU" sz="4000" dirty="0" smtClean="0"/>
              <a:t> проекту</a:t>
            </a:r>
            <a:endParaRPr lang="ru-RU" sz="4000" dirty="0"/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0" y="914400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ru-RU" sz="2400" dirty="0" err="1"/>
              <a:t>матеріальні</a:t>
            </a:r>
            <a:r>
              <a:rPr lang="ru-RU" sz="2400" dirty="0"/>
              <a:t> </a:t>
            </a:r>
            <a:r>
              <a:rPr lang="ru-RU" sz="2400" dirty="0" err="1"/>
              <a:t>продукти</a:t>
            </a:r>
            <a:r>
              <a:rPr lang="ru-RU" sz="2400" dirty="0"/>
              <a:t> проекту: </a:t>
            </a:r>
            <a:r>
              <a:rPr lang="ru-RU" sz="2400" dirty="0" err="1"/>
              <a:t>об'єкти</a:t>
            </a:r>
            <a:r>
              <a:rPr lang="ru-RU" sz="2400" dirty="0"/>
              <a:t>, </a:t>
            </a:r>
            <a:r>
              <a:rPr lang="ru-RU" sz="2400" dirty="0" err="1"/>
              <a:t>породжувані</a:t>
            </a:r>
            <a:r>
              <a:rPr lang="ru-RU" sz="2400" dirty="0"/>
              <a:t> </a:t>
            </a:r>
            <a:r>
              <a:rPr lang="ru-RU" sz="2400" dirty="0" err="1"/>
              <a:t>або</a:t>
            </a:r>
            <a:r>
              <a:rPr lang="ru-RU" sz="2400" dirty="0"/>
              <a:t> </a:t>
            </a:r>
            <a:r>
              <a:rPr lang="ru-RU" sz="2400" dirty="0" err="1"/>
              <a:t>використовувані</a:t>
            </a:r>
            <a:r>
              <a:rPr lang="ru-RU" sz="2400" dirty="0"/>
              <a:t> проектом при </a:t>
            </a:r>
            <a:r>
              <a:rPr lang="ru-RU" sz="2400" dirty="0" err="1"/>
              <a:t>роботі</a:t>
            </a:r>
            <a:r>
              <a:rPr lang="ru-RU" sz="2400" dirty="0"/>
              <a:t> над </a:t>
            </a:r>
            <a:r>
              <a:rPr lang="ru-RU" sz="2400" dirty="0" err="1"/>
              <a:t>остаточним</a:t>
            </a:r>
            <a:r>
              <a:rPr lang="ru-RU" sz="2400" dirty="0"/>
              <a:t> продуктом</a:t>
            </a:r>
          </a:p>
        </p:txBody>
      </p:sp>
      <p:pic>
        <p:nvPicPr>
          <p:cNvPr id="87044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0645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468313" y="6381750"/>
            <a:ext cx="4103687" cy="287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09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A5C-06BB-4CA0-8575-D79D8956538B}" type="slidenum">
              <a:rPr lang="ru-RU"/>
              <a:pPr/>
              <a:t>31</a:t>
            </a:fld>
            <a:endParaRPr lang="ru-RU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13407" y="332656"/>
            <a:ext cx="7772400" cy="926678"/>
          </a:xfrm>
        </p:spPr>
        <p:txBody>
          <a:bodyPr/>
          <a:lstStyle/>
          <a:p>
            <a:pPr algn="ctr"/>
            <a:r>
              <a:rPr lang="ru-RU" sz="3200" dirty="0"/>
              <a:t>Схема </a:t>
            </a:r>
            <a:r>
              <a:rPr lang="ru-RU" sz="3200" dirty="0" err="1" smtClean="0"/>
              <a:t>процесів</a:t>
            </a:r>
            <a:r>
              <a:rPr lang="ru-RU" sz="3200" dirty="0" smtClean="0"/>
              <a:t> </a:t>
            </a:r>
            <a:r>
              <a:rPr lang="ru-RU" sz="3200" dirty="0" err="1" smtClean="0"/>
              <a:t>бізнес-моделювання</a:t>
            </a:r>
            <a:endParaRPr lang="ru-RU" sz="3200" dirty="0"/>
          </a:p>
        </p:txBody>
      </p:sp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28775"/>
            <a:ext cx="7920038" cy="43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497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E7BFD-E734-4E72-B9E9-5A78F3B9DEC5}" type="slidenum">
              <a:rPr lang="ru-RU"/>
              <a:pPr/>
              <a:t>32</a:t>
            </a:fld>
            <a:endParaRPr lang="ru-RU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692696"/>
            <a:ext cx="7772400" cy="6477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 err="1" smtClean="0"/>
              <a:t>Бізнес-прецеденти</a:t>
            </a:r>
            <a:endParaRPr lang="ru-RU" sz="40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557338"/>
            <a:ext cx="8569325" cy="4114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Char char="ü"/>
            </a:pPr>
            <a:r>
              <a:rPr lang="ru-RU" sz="2800" b="1" dirty="0" err="1">
                <a:solidFill>
                  <a:schemeClr val="tx1"/>
                </a:solidFill>
              </a:rPr>
              <a:t>Діаграми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прецедентів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dirty="0">
                <a:solidFill>
                  <a:schemeClr val="tx1"/>
                </a:solidFill>
              </a:rPr>
              <a:t>(</a:t>
            </a:r>
            <a:r>
              <a:rPr lang="ru-RU" sz="2800" dirty="0" err="1">
                <a:solidFill>
                  <a:schemeClr val="tx1"/>
                </a:solidFill>
              </a:rPr>
              <a:t>діаграми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варіантів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використання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en-US" sz="2800" dirty="0">
                <a:solidFill>
                  <a:schemeClr val="tx1"/>
                </a:solidFill>
              </a:rPr>
              <a:t>use case diagrams) - </a:t>
            </a:r>
            <a:r>
              <a:rPr lang="ru-RU" sz="2800" dirty="0" err="1">
                <a:solidFill>
                  <a:schemeClr val="tx1"/>
                </a:solidFill>
              </a:rPr>
              <a:t>це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узагальнена</a:t>
            </a:r>
            <a:r>
              <a:rPr lang="ru-RU" sz="2800" dirty="0">
                <a:solidFill>
                  <a:schemeClr val="tx1"/>
                </a:solidFill>
              </a:rPr>
              <a:t> модель </a:t>
            </a:r>
            <a:r>
              <a:rPr lang="ru-RU" sz="2800" dirty="0" err="1">
                <a:solidFill>
                  <a:schemeClr val="tx1"/>
                </a:solidFill>
              </a:rPr>
              <a:t>функціонування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системи</a:t>
            </a:r>
            <a:r>
              <a:rPr lang="ru-RU" sz="2800" dirty="0">
                <a:solidFill>
                  <a:schemeClr val="tx1"/>
                </a:solidFill>
              </a:rPr>
              <a:t> в </a:t>
            </a:r>
            <a:r>
              <a:rPr lang="ru-RU" sz="2800" dirty="0" err="1">
                <a:solidFill>
                  <a:schemeClr val="tx1"/>
                </a:solidFill>
              </a:rPr>
              <a:t>навколишньому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середовищі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ü"/>
            </a:pPr>
            <a:endParaRPr lang="ru-RU" sz="28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ü"/>
            </a:pPr>
            <a:r>
              <a:rPr lang="ru-RU" sz="2800" b="1" dirty="0">
                <a:solidFill>
                  <a:schemeClr val="tx1"/>
                </a:solidFill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</a:rPr>
              <a:t>бізнес-прецедентів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описує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бізнес-процеси</a:t>
            </a:r>
            <a:r>
              <a:rPr lang="ru-RU" sz="2800" dirty="0">
                <a:solidFill>
                  <a:schemeClr val="tx1"/>
                </a:solidFill>
              </a:rPr>
              <a:t> з точки </a:t>
            </a:r>
            <a:r>
              <a:rPr lang="ru-RU" sz="2800" dirty="0" err="1">
                <a:solidFill>
                  <a:schemeClr val="tx1"/>
                </a:solidFill>
              </a:rPr>
              <a:t>зору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зовнішнього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користувача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ru-RU" sz="2800" dirty="0" err="1">
                <a:solidFill>
                  <a:schemeClr val="tx1"/>
                </a:solidFill>
              </a:rPr>
              <a:t>тобто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відображає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погляд</a:t>
            </a:r>
            <a:r>
              <a:rPr lang="ru-RU" sz="2800" dirty="0">
                <a:solidFill>
                  <a:schemeClr val="tx1"/>
                </a:solidFill>
              </a:rPr>
              <a:t> на </a:t>
            </a:r>
            <a:r>
              <a:rPr lang="ru-RU" sz="2800" dirty="0" err="1">
                <a:solidFill>
                  <a:schemeClr val="tx1"/>
                </a:solidFill>
              </a:rPr>
              <a:t>діяльність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організації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ззовні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41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B1E9-EB3A-4404-9922-6044AAFA812C}" type="slidenum">
              <a:rPr lang="ru-RU"/>
              <a:pPr/>
              <a:t>33</a:t>
            </a:fld>
            <a:endParaRPr lang="ru-RU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r>
              <a:rPr lang="ru-RU" sz="4000" dirty="0" err="1" smtClean="0"/>
              <a:t>Властивості</a:t>
            </a:r>
            <a:r>
              <a:rPr lang="ru-RU" sz="4000" dirty="0" smtClean="0"/>
              <a:t> </a:t>
            </a:r>
            <a:r>
              <a:rPr lang="ru-RU" sz="4000" dirty="0" err="1" smtClean="0"/>
              <a:t>бізнес-прецедентів</a:t>
            </a:r>
            <a:endParaRPr lang="ru-RU" sz="4000" dirty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844824"/>
            <a:ext cx="7543800" cy="3886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ru-RU" sz="2800" dirty="0"/>
              <a:t>прецедент повинен </a:t>
            </a:r>
            <a:r>
              <a:rPr lang="ru-RU" sz="2800" dirty="0" err="1"/>
              <a:t>описувати</a:t>
            </a:r>
            <a:r>
              <a:rPr lang="ru-RU" sz="2800" dirty="0"/>
              <a:t> ЩО </a:t>
            </a:r>
            <a:r>
              <a:rPr lang="ru-RU" sz="2800" dirty="0" err="1"/>
              <a:t>потрібно</a:t>
            </a:r>
            <a:r>
              <a:rPr lang="ru-RU" sz="2800" dirty="0"/>
              <a:t> </a:t>
            </a:r>
            <a:r>
              <a:rPr lang="ru-RU" sz="2800" dirty="0" err="1"/>
              <a:t>робити</a:t>
            </a:r>
            <a:r>
              <a:rPr lang="ru-RU" sz="2800" dirty="0"/>
              <a:t>, а не ЯК;</a:t>
            </a:r>
          </a:p>
          <a:p>
            <a:pPr algn="just">
              <a:lnSpc>
                <a:spcPct val="90000"/>
              </a:lnSpc>
            </a:pPr>
            <a:r>
              <a:rPr lang="ru-RU" sz="2800" dirty="0"/>
              <a:t>прецедент повинен </a:t>
            </a:r>
            <a:r>
              <a:rPr lang="ru-RU" sz="2800" dirty="0" err="1"/>
              <a:t>описувати</a:t>
            </a:r>
            <a:r>
              <a:rPr lang="ru-RU" sz="2800" dirty="0"/>
              <a:t> </a:t>
            </a:r>
            <a:r>
              <a:rPr lang="ru-RU" sz="2800" dirty="0" err="1"/>
              <a:t>дії</a:t>
            </a:r>
            <a:r>
              <a:rPr lang="ru-RU" sz="2800" dirty="0"/>
              <a:t> з </a:t>
            </a:r>
            <a:r>
              <a:rPr lang="ru-RU" sz="2800" dirty="0" err="1"/>
              <a:t>погляду</a:t>
            </a:r>
            <a:r>
              <a:rPr lang="ru-RU" sz="2800" dirty="0"/>
              <a:t> ВИКОНАВЦЯ;</a:t>
            </a:r>
          </a:p>
          <a:p>
            <a:pPr algn="just">
              <a:lnSpc>
                <a:spcPct val="90000"/>
              </a:lnSpc>
            </a:pPr>
            <a:r>
              <a:rPr lang="ru-RU" sz="2800" dirty="0"/>
              <a:t>прецедент повинен </a:t>
            </a:r>
            <a:r>
              <a:rPr lang="ru-RU" sz="2800" dirty="0" err="1"/>
              <a:t>повертати</a:t>
            </a:r>
            <a:r>
              <a:rPr lang="ru-RU" sz="2800" dirty="0"/>
              <a:t> </a:t>
            </a:r>
            <a:r>
              <a:rPr lang="ru-RU" sz="2800" dirty="0" err="1"/>
              <a:t>виконавцю</a:t>
            </a:r>
            <a:r>
              <a:rPr lang="ru-RU" sz="2800" dirty="0"/>
              <a:t> </a:t>
            </a:r>
            <a:r>
              <a:rPr lang="ru-RU" sz="2800" dirty="0" err="1"/>
              <a:t>деяке</a:t>
            </a:r>
            <a:r>
              <a:rPr lang="ru-RU" sz="2800" dirty="0"/>
              <a:t> </a:t>
            </a:r>
            <a:r>
              <a:rPr lang="ru-RU" sz="2800" dirty="0" err="1"/>
              <a:t>повідомлення</a:t>
            </a:r>
            <a:r>
              <a:rPr lang="ru-RU" sz="2800" dirty="0"/>
              <a:t>;</a:t>
            </a:r>
          </a:p>
          <a:p>
            <a:pPr algn="just">
              <a:lnSpc>
                <a:spcPct val="90000"/>
              </a:lnSpc>
            </a:pPr>
            <a:r>
              <a:rPr lang="ru-RU" sz="2800" dirty="0" err="1"/>
              <a:t>послідовність</a:t>
            </a:r>
            <a:r>
              <a:rPr lang="ru-RU" sz="2800" dirty="0"/>
              <a:t> </a:t>
            </a:r>
            <a:r>
              <a:rPr lang="ru-RU" sz="2800" dirty="0" err="1"/>
              <a:t>дій</a:t>
            </a:r>
            <a:r>
              <a:rPr lang="ru-RU" sz="2800" dirty="0"/>
              <a:t> </a:t>
            </a:r>
            <a:r>
              <a:rPr lang="ru-RU" sz="2800" dirty="0" err="1"/>
              <a:t>всередині</a:t>
            </a:r>
            <a:r>
              <a:rPr lang="ru-RU" sz="2800" dirty="0"/>
              <a:t> прецеденту повинна </a:t>
            </a:r>
            <a:r>
              <a:rPr lang="ru-RU" sz="2800" dirty="0" err="1"/>
              <a:t>являти</a:t>
            </a:r>
            <a:r>
              <a:rPr lang="ru-RU" sz="2800" dirty="0"/>
              <a:t> собою одну </a:t>
            </a:r>
            <a:r>
              <a:rPr lang="ru-RU" sz="2800" dirty="0" err="1"/>
              <a:t>неподільного</a:t>
            </a:r>
            <a:r>
              <a:rPr lang="ru-RU" sz="2800" dirty="0"/>
              <a:t> </a:t>
            </a:r>
            <a:r>
              <a:rPr lang="ru-RU" sz="2800" dirty="0" err="1"/>
              <a:t>ланцюж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519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030-97D7-47BA-8B6B-5A8676FB3552}" type="slidenum">
              <a:rPr lang="ru-RU"/>
              <a:pPr/>
              <a:t>34</a:t>
            </a:fld>
            <a:endParaRPr lang="ru-RU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ru-RU" sz="3200" i="1" dirty="0" err="1" smtClean="0">
                <a:cs typeface="Times New Roman" charset="0"/>
              </a:rPr>
              <a:t>Розробка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моделі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бізнес-прецедентів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1995488" y="1428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304800" y="838200"/>
            <a:ext cx="82996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 err="1">
                <a:cs typeface="Times New Roman" charset="0"/>
              </a:rPr>
              <a:t>Загальна</a:t>
            </a:r>
            <a:r>
              <a:rPr lang="ru-RU" sz="2400" dirty="0">
                <a:cs typeface="Times New Roman" charset="0"/>
              </a:rPr>
              <a:t> </a:t>
            </a:r>
            <a:r>
              <a:rPr lang="ru-RU" sz="2400" dirty="0" err="1">
                <a:cs typeface="Times New Roman" charset="0"/>
              </a:rPr>
              <a:t>діаграма</a:t>
            </a:r>
            <a:r>
              <a:rPr lang="ru-RU" sz="2400" dirty="0">
                <a:cs typeface="Times New Roman" charset="0"/>
              </a:rPr>
              <a:t> </a:t>
            </a:r>
            <a:r>
              <a:rPr lang="ru-RU" sz="2400" dirty="0" err="1">
                <a:cs typeface="Times New Roman" charset="0"/>
              </a:rPr>
              <a:t>діяльності</a:t>
            </a:r>
            <a:r>
              <a:rPr lang="ru-RU" sz="2400" dirty="0">
                <a:cs typeface="Times New Roman" charset="0"/>
              </a:rPr>
              <a:t> </a:t>
            </a:r>
            <a:r>
              <a:rPr lang="ru-RU" sz="2400" dirty="0" err="1">
                <a:cs typeface="Times New Roman" charset="0"/>
              </a:rPr>
              <a:t>медичного</a:t>
            </a:r>
            <a:r>
              <a:rPr lang="ru-RU" sz="2400" dirty="0">
                <a:cs typeface="Times New Roman" charset="0"/>
              </a:rPr>
              <a:t> центру з </a:t>
            </a:r>
            <a:r>
              <a:rPr lang="ru-RU" sz="2400" dirty="0" err="1">
                <a:cs typeface="Times New Roman" charset="0"/>
              </a:rPr>
              <a:t>обслуговування</a:t>
            </a:r>
            <a:r>
              <a:rPr lang="ru-RU" sz="2400" dirty="0">
                <a:cs typeface="Times New Roman" charset="0"/>
              </a:rPr>
              <a:t> </a:t>
            </a:r>
            <a:r>
              <a:rPr lang="ru-RU" sz="2400" dirty="0" err="1">
                <a:cs typeface="Times New Roman" charset="0"/>
              </a:rPr>
              <a:t>пацієнта</a:t>
            </a:r>
            <a:endParaRPr lang="ru-RU" sz="2400" dirty="0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533400" y="1581150"/>
          <a:ext cx="7848600" cy="49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r:id="rId3" imgW="5687219" imgH="4277322" progId="Paint.Picture">
                  <p:embed/>
                </p:oleObj>
              </mc:Choice>
              <mc:Fallback>
                <p:oleObj r:id="rId3" imgW="5687219" imgH="427732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81150"/>
                        <a:ext cx="7848600" cy="494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142" name="Group 6"/>
          <p:cNvGrpSpPr>
            <a:grpSpLocks/>
          </p:cNvGrpSpPr>
          <p:nvPr/>
        </p:nvGrpSpPr>
        <p:grpSpPr bwMode="auto">
          <a:xfrm>
            <a:off x="4419600" y="1676400"/>
            <a:ext cx="3733800" cy="2819400"/>
            <a:chOff x="2784" y="1056"/>
            <a:chExt cx="2352" cy="1776"/>
          </a:xfrm>
        </p:grpSpPr>
        <p:grpSp>
          <p:nvGrpSpPr>
            <p:cNvPr id="91143" name="Group 7"/>
            <p:cNvGrpSpPr>
              <a:grpSpLocks/>
            </p:cNvGrpSpPr>
            <p:nvPr/>
          </p:nvGrpSpPr>
          <p:grpSpPr bwMode="auto">
            <a:xfrm>
              <a:off x="2784" y="2448"/>
              <a:ext cx="240" cy="384"/>
              <a:chOff x="4992" y="1104"/>
              <a:chExt cx="288" cy="528"/>
            </a:xfrm>
          </p:grpSpPr>
          <p:sp>
            <p:nvSpPr>
              <p:cNvPr id="91144" name="Oval 8"/>
              <p:cNvSpPr>
                <a:spLocks noChangeArrowheads="1"/>
              </p:cNvSpPr>
              <p:nvPr/>
            </p:nvSpPr>
            <p:spPr bwMode="auto">
              <a:xfrm>
                <a:off x="5040" y="1104"/>
                <a:ext cx="192" cy="14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91145" name="Line 9"/>
              <p:cNvSpPr>
                <a:spLocks noChangeShapeType="1"/>
              </p:cNvSpPr>
              <p:nvPr/>
            </p:nvSpPr>
            <p:spPr bwMode="auto">
              <a:xfrm>
                <a:off x="5136" y="124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sp>
            <p:nvSpPr>
              <p:cNvPr id="91146" name="Line 10"/>
              <p:cNvSpPr>
                <a:spLocks noChangeShapeType="1"/>
              </p:cNvSpPr>
              <p:nvPr/>
            </p:nvSpPr>
            <p:spPr bwMode="auto">
              <a:xfrm flipH="1">
                <a:off x="5040" y="1536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sp>
            <p:nvSpPr>
              <p:cNvPr id="91147" name="Line 11"/>
              <p:cNvSpPr>
                <a:spLocks noChangeShapeType="1"/>
              </p:cNvSpPr>
              <p:nvPr/>
            </p:nvSpPr>
            <p:spPr bwMode="auto">
              <a:xfrm>
                <a:off x="5136" y="1536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sp>
            <p:nvSpPr>
              <p:cNvPr id="91148" name="Line 12"/>
              <p:cNvSpPr>
                <a:spLocks noChangeShapeType="1"/>
              </p:cNvSpPr>
              <p:nvPr/>
            </p:nvSpPr>
            <p:spPr bwMode="auto">
              <a:xfrm>
                <a:off x="4992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</p:grpSp>
        <p:sp>
          <p:nvSpPr>
            <p:cNvPr id="91149" name="Text Box 13"/>
            <p:cNvSpPr txBox="1">
              <a:spLocks noChangeArrowheads="1"/>
            </p:cNvSpPr>
            <p:nvPr/>
          </p:nvSpPr>
          <p:spPr bwMode="auto">
            <a:xfrm>
              <a:off x="3408" y="1056"/>
              <a:ext cx="1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2000" i="1" dirty="0" err="1" smtClean="0"/>
                <a:t>Зовнішній</a:t>
              </a:r>
              <a:r>
                <a:rPr lang="ru-RU" sz="2000" i="1" dirty="0" smtClean="0"/>
                <a:t> </a:t>
              </a:r>
              <a:r>
                <a:rPr lang="ru-RU" sz="2000" i="1" dirty="0" err="1" smtClean="0"/>
                <a:t>виконавець</a:t>
              </a:r>
              <a:endParaRPr lang="ru-RU" sz="2000" i="1" dirty="0"/>
            </a:p>
          </p:txBody>
        </p:sp>
        <p:sp>
          <p:nvSpPr>
            <p:cNvPr id="91150" name="Text Box 14"/>
            <p:cNvSpPr txBox="1">
              <a:spLocks noChangeArrowheads="1"/>
            </p:cNvSpPr>
            <p:nvPr/>
          </p:nvSpPr>
          <p:spPr bwMode="auto">
            <a:xfrm>
              <a:off x="2928" y="2112"/>
              <a:ext cx="2016" cy="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2000" i="1" dirty="0" err="1" smtClean="0"/>
                <a:t>Внутрішній</a:t>
              </a:r>
              <a:r>
                <a:rPr lang="ru-RU" sz="2000" i="1" dirty="0" smtClean="0"/>
                <a:t> </a:t>
              </a:r>
              <a:r>
                <a:rPr lang="ru-RU" sz="2000" i="1" dirty="0" err="1" smtClean="0"/>
                <a:t>виконавець</a:t>
              </a:r>
              <a:endParaRPr lang="ru-RU" sz="2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6024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6203B-38F8-4AC9-98A4-92D0F515FA31}" type="slidenum">
              <a:rPr lang="ru-RU"/>
              <a:pPr/>
              <a:t>35</a:t>
            </a:fld>
            <a:endParaRPr lang="ru-RU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i="1" dirty="0" err="1">
                <a:cs typeface="Times New Roman" charset="0"/>
              </a:rPr>
              <a:t>Розробка</a:t>
            </a:r>
            <a:r>
              <a:rPr lang="ru-RU" sz="3200" i="1" dirty="0">
                <a:cs typeface="Times New Roman" charset="0"/>
              </a:rPr>
              <a:t> </a:t>
            </a:r>
            <a:r>
              <a:rPr lang="ru-RU" sz="3200" i="1" dirty="0" err="1">
                <a:cs typeface="Times New Roman" charset="0"/>
              </a:rPr>
              <a:t>моделі</a:t>
            </a:r>
            <a:r>
              <a:rPr lang="ru-RU" sz="3200" i="1" dirty="0">
                <a:cs typeface="Times New Roman" charset="0"/>
              </a:rPr>
              <a:t> </a:t>
            </a:r>
            <a:r>
              <a:rPr lang="ru-RU" sz="3200" i="1" dirty="0" err="1">
                <a:cs typeface="Times New Roman" charset="0"/>
              </a:rPr>
              <a:t>бізнес-прецедентів</a:t>
            </a:r>
            <a:r>
              <a:rPr lang="ru-RU" sz="3200" dirty="0"/>
              <a:t> </a:t>
            </a:r>
            <a:r>
              <a:rPr lang="ru-RU" sz="2400" i="1" dirty="0" smtClean="0">
                <a:cs typeface="Times New Roman" charset="0"/>
              </a:rPr>
              <a:t>(</a:t>
            </a:r>
            <a:r>
              <a:rPr lang="ru-RU" sz="2400" i="1" dirty="0" err="1" smtClean="0">
                <a:cs typeface="Times New Roman" charset="0"/>
              </a:rPr>
              <a:t>деталізація</a:t>
            </a:r>
            <a:r>
              <a:rPr lang="ru-RU" sz="2400" i="1" dirty="0" smtClean="0">
                <a:cs typeface="Times New Roman" charset="0"/>
              </a:rPr>
              <a:t> </a:t>
            </a:r>
            <a:r>
              <a:rPr lang="ru-RU" sz="2400" i="1" dirty="0" err="1" smtClean="0">
                <a:cs typeface="Times New Roman" charset="0"/>
              </a:rPr>
              <a:t>прецедентів</a:t>
            </a:r>
            <a:r>
              <a:rPr lang="ru-RU" sz="2400" i="1" dirty="0">
                <a:cs typeface="Times New Roman" charset="0"/>
              </a:rPr>
              <a:t>)</a:t>
            </a:r>
            <a:r>
              <a:rPr lang="ru-RU" sz="3600" dirty="0"/>
              <a:t> </a:t>
            </a: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1995488" y="1428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539750" y="1268413"/>
            <a:ext cx="8153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dirty="0">
                <a:cs typeface="Times New Roman" charset="0"/>
              </a:rPr>
              <a:t>Модель </a:t>
            </a:r>
            <a:r>
              <a:rPr lang="ru-RU" sz="2000" dirty="0" err="1" smtClean="0">
                <a:cs typeface="Times New Roman" charset="0"/>
              </a:rPr>
              <a:t>бізнес-прецедентів</a:t>
            </a:r>
            <a:r>
              <a:rPr lang="ru-RU" sz="2000" dirty="0">
                <a:cs typeface="Times New Roman" charset="0"/>
              </a:rPr>
              <a:t>, </a:t>
            </a:r>
            <a:r>
              <a:rPr lang="ru-RU" sz="2000" dirty="0" err="1" smtClean="0">
                <a:cs typeface="Times New Roman" charset="0"/>
              </a:rPr>
              <a:t>що</a:t>
            </a:r>
            <a:r>
              <a:rPr lang="ru-RU" sz="2000" dirty="0" smtClean="0">
                <a:cs typeface="Times New Roman" charset="0"/>
              </a:rPr>
              <a:t> </a:t>
            </a:r>
            <a:r>
              <a:rPr lang="ru-RU" sz="2000" dirty="0" err="1" smtClean="0">
                <a:cs typeface="Times New Roman" charset="0"/>
              </a:rPr>
              <a:t>складає</a:t>
            </a:r>
            <a:r>
              <a:rPr lang="ru-RU" sz="2000" dirty="0" smtClean="0">
                <a:cs typeface="Times New Roman" charset="0"/>
              </a:rPr>
              <a:t> </a:t>
            </a:r>
            <a:r>
              <a:rPr lang="ru-RU" sz="2000" dirty="0" err="1" smtClean="0">
                <a:cs typeface="Times New Roman" charset="0"/>
              </a:rPr>
              <a:t>обслуговування</a:t>
            </a:r>
            <a:r>
              <a:rPr lang="ru-RU" sz="2000" dirty="0" smtClean="0">
                <a:cs typeface="Times New Roman" charset="0"/>
              </a:rPr>
              <a:t> </a:t>
            </a:r>
            <a:r>
              <a:rPr lang="ru-RU" sz="2000" dirty="0" err="1" smtClean="0">
                <a:cs typeface="Times New Roman" charset="0"/>
              </a:rPr>
              <a:t>паці</a:t>
            </a:r>
            <a:r>
              <a:rPr lang="ru-RU" sz="2000" dirty="0" err="1">
                <a:cs typeface="Times New Roman" charset="0"/>
              </a:rPr>
              <a:t>є</a:t>
            </a:r>
            <a:r>
              <a:rPr lang="ru-RU" sz="2000" dirty="0" err="1" smtClean="0">
                <a:cs typeface="Times New Roman" charset="0"/>
              </a:rPr>
              <a:t>нта</a:t>
            </a:r>
            <a:r>
              <a:rPr lang="ru-RU" sz="2000" dirty="0" smtClean="0">
                <a:cs typeface="Times New Roman" charset="0"/>
              </a:rPr>
              <a:t> </a:t>
            </a:r>
            <a:endParaRPr lang="ru-RU" sz="2000" dirty="0">
              <a:cs typeface="Times New Roman" charset="0"/>
            </a:endParaRP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190750" y="1566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graphicFrame>
        <p:nvGraphicFramePr>
          <p:cNvPr id="92166" name="Object 6"/>
          <p:cNvGraphicFramePr>
            <a:graphicFrameLocks/>
          </p:cNvGraphicFramePr>
          <p:nvPr/>
        </p:nvGraphicFramePr>
        <p:xfrm>
          <a:off x="457200" y="1628775"/>
          <a:ext cx="8458200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Точечный рисунок" r:id="rId3" imgW="5619048" imgH="4533333" progId="Paint.Picture">
                  <p:embed/>
                </p:oleObj>
              </mc:Choice>
              <mc:Fallback>
                <p:oleObj name="Точечный рисунок" r:id="rId3" imgW="5619048" imgH="4533333" progId="Paint.Picture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28775"/>
                        <a:ext cx="8458200" cy="484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67" name="Group 7"/>
          <p:cNvGrpSpPr>
            <a:grpSpLocks/>
          </p:cNvGrpSpPr>
          <p:nvPr/>
        </p:nvGrpSpPr>
        <p:grpSpPr bwMode="auto">
          <a:xfrm>
            <a:off x="1905000" y="2362200"/>
            <a:ext cx="6629400" cy="3505200"/>
            <a:chOff x="1200" y="1488"/>
            <a:chExt cx="4176" cy="2208"/>
          </a:xfrm>
        </p:grpSpPr>
        <p:sp>
          <p:nvSpPr>
            <p:cNvPr id="92168" name="Text Box 8"/>
            <p:cNvSpPr txBox="1">
              <a:spLocks noChangeArrowheads="1"/>
            </p:cNvSpPr>
            <p:nvPr/>
          </p:nvSpPr>
          <p:spPr bwMode="auto">
            <a:xfrm>
              <a:off x="1200" y="1824"/>
              <a:ext cx="110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 b="1">
                  <a:solidFill>
                    <a:srgbClr val="F50D39"/>
                  </a:solidFill>
                </a:rPr>
                <a:t>Техническое обеспечение</a:t>
              </a:r>
            </a:p>
          </p:txBody>
        </p:sp>
        <p:grpSp>
          <p:nvGrpSpPr>
            <p:cNvPr id="92169" name="Group 9"/>
            <p:cNvGrpSpPr>
              <a:grpSpLocks/>
            </p:cNvGrpSpPr>
            <p:nvPr/>
          </p:nvGrpSpPr>
          <p:grpSpPr bwMode="auto">
            <a:xfrm>
              <a:off x="1344" y="1488"/>
              <a:ext cx="4032" cy="2208"/>
              <a:chOff x="1296" y="1440"/>
              <a:chExt cx="4032" cy="2208"/>
            </a:xfrm>
          </p:grpSpPr>
          <p:sp>
            <p:nvSpPr>
              <p:cNvPr id="92170" name="Text Box 10"/>
              <p:cNvSpPr txBox="1">
                <a:spLocks noChangeArrowheads="1"/>
              </p:cNvSpPr>
              <p:nvPr/>
            </p:nvSpPr>
            <p:spPr bwMode="auto">
              <a:xfrm>
                <a:off x="2496" y="1536"/>
                <a:ext cx="72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Назначение лечения</a:t>
                </a:r>
              </a:p>
            </p:txBody>
          </p:sp>
          <p:sp>
            <p:nvSpPr>
              <p:cNvPr id="92171" name="Text Box 11"/>
              <p:cNvSpPr txBox="1">
                <a:spLocks noChangeArrowheads="1"/>
              </p:cNvSpPr>
              <p:nvPr/>
            </p:nvSpPr>
            <p:spPr bwMode="auto">
              <a:xfrm>
                <a:off x="3360" y="1536"/>
                <a:ext cx="86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Обеспечение лечения</a:t>
                </a:r>
              </a:p>
            </p:txBody>
          </p:sp>
          <p:sp>
            <p:nvSpPr>
              <p:cNvPr id="92172" name="Text Box 12"/>
              <p:cNvSpPr txBox="1">
                <a:spLocks noChangeArrowheads="1"/>
              </p:cNvSpPr>
              <p:nvPr/>
            </p:nvSpPr>
            <p:spPr bwMode="auto">
              <a:xfrm>
                <a:off x="3456" y="1824"/>
                <a:ext cx="1488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Контроль за изменением состояния пациента</a:t>
                </a:r>
              </a:p>
            </p:txBody>
          </p:sp>
          <p:sp>
            <p:nvSpPr>
              <p:cNvPr id="92173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448"/>
                <a:ext cx="14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Проверка размера оплаты</a:t>
                </a:r>
              </a:p>
            </p:txBody>
          </p:sp>
          <p:sp>
            <p:nvSpPr>
              <p:cNvPr id="92174" name="Text Box 14"/>
              <p:cNvSpPr txBox="1">
                <a:spLocks noChangeArrowheads="1"/>
              </p:cNvSpPr>
              <p:nvPr/>
            </p:nvSpPr>
            <p:spPr bwMode="auto">
              <a:xfrm>
                <a:off x="3840" y="2160"/>
                <a:ext cx="1488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Контроль качества лечения</a:t>
                </a:r>
              </a:p>
            </p:txBody>
          </p:sp>
          <p:sp>
            <p:nvSpPr>
              <p:cNvPr id="92175" name="Text Box 15"/>
              <p:cNvSpPr txBox="1">
                <a:spLocks noChangeArrowheads="1"/>
              </p:cNvSpPr>
              <p:nvPr/>
            </p:nvSpPr>
            <p:spPr bwMode="auto">
              <a:xfrm>
                <a:off x="1344" y="2496"/>
                <a:ext cx="110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Контроль тарифов</a:t>
                </a:r>
              </a:p>
            </p:txBody>
          </p:sp>
          <p:sp>
            <p:nvSpPr>
              <p:cNvPr id="92176" name="Text Box 16"/>
              <p:cNvSpPr txBox="1">
                <a:spLocks noChangeArrowheads="1"/>
              </p:cNvSpPr>
              <p:nvPr/>
            </p:nvSpPr>
            <p:spPr bwMode="auto">
              <a:xfrm>
                <a:off x="1296" y="2784"/>
                <a:ext cx="144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Контроль организации деятельности</a:t>
                </a:r>
              </a:p>
            </p:txBody>
          </p:sp>
          <p:sp>
            <p:nvSpPr>
              <p:cNvPr id="92177" name="Text Box 17"/>
              <p:cNvSpPr txBox="1">
                <a:spLocks noChangeArrowheads="1"/>
              </p:cNvSpPr>
              <p:nvPr/>
            </p:nvSpPr>
            <p:spPr bwMode="auto">
              <a:xfrm>
                <a:off x="1392" y="3408"/>
                <a:ext cx="14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Предыстория лечения</a:t>
                </a:r>
              </a:p>
            </p:txBody>
          </p:sp>
          <p:sp>
            <p:nvSpPr>
              <p:cNvPr id="92178" name="Text Box 18"/>
              <p:cNvSpPr txBox="1">
                <a:spLocks noChangeArrowheads="1"/>
              </p:cNvSpPr>
              <p:nvPr/>
            </p:nvSpPr>
            <p:spPr bwMode="auto">
              <a:xfrm>
                <a:off x="3360" y="3456"/>
                <a:ext cx="14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Доставка информации</a:t>
                </a:r>
              </a:p>
            </p:txBody>
          </p:sp>
          <p:sp>
            <p:nvSpPr>
              <p:cNvPr id="92179" name="Text Box 19"/>
              <p:cNvSpPr txBox="1">
                <a:spLocks noChangeArrowheads="1"/>
              </p:cNvSpPr>
              <p:nvPr/>
            </p:nvSpPr>
            <p:spPr bwMode="auto">
              <a:xfrm>
                <a:off x="1776" y="1440"/>
                <a:ext cx="72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rgbClr val="F50D39"/>
                    </a:solidFill>
                  </a:rPr>
                  <a:t>Получение лечения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21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BCECD-0E81-49FB-91B1-9F09EE52EEF7}" type="slidenum">
              <a:rPr lang="ru-RU"/>
              <a:pPr/>
              <a:t>36</a:t>
            </a:fld>
            <a:endParaRPr lang="ru-RU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711200"/>
          </a:xfrm>
        </p:spPr>
        <p:txBody>
          <a:bodyPr/>
          <a:lstStyle/>
          <a:p>
            <a:pPr algn="ctr"/>
            <a:r>
              <a:rPr lang="ru-RU" sz="3600" dirty="0" err="1" smtClean="0">
                <a:ea typeface="Arial Unicode MS" pitchFamily="34" charset="-128"/>
                <a:cs typeface="Arial Unicode MS" pitchFamily="34" charset="-128"/>
              </a:rPr>
              <a:t>Розробка</a:t>
            </a:r>
            <a:r>
              <a:rPr lang="ru-RU" sz="3600" dirty="0" smtClea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3600" dirty="0" err="1" smtClean="0">
                <a:ea typeface="Arial Unicode MS" pitchFamily="34" charset="-128"/>
                <a:cs typeface="Arial Unicode MS" pitchFamily="34" charset="-128"/>
              </a:rPr>
              <a:t>опису</a:t>
            </a:r>
            <a:r>
              <a:rPr lang="ru-RU" sz="3600" dirty="0" smtClea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3600" dirty="0" err="1" smtClean="0">
                <a:ea typeface="Arial Unicode MS" pitchFamily="34" charset="-128"/>
                <a:cs typeface="Arial Unicode MS" pitchFamily="34" charset="-128"/>
              </a:rPr>
              <a:t>прецедентів</a:t>
            </a:r>
            <a:endParaRPr lang="ru-RU" sz="360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424863" cy="56896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2800" b="1" dirty="0" err="1">
                <a:solidFill>
                  <a:schemeClr val="tx1"/>
                </a:solidFill>
              </a:rPr>
              <a:t>Діаграми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видів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діяльності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dirty="0">
                <a:solidFill>
                  <a:schemeClr val="tx1"/>
                </a:solidFill>
              </a:rPr>
              <a:t>(</a:t>
            </a:r>
            <a:r>
              <a:rPr lang="ru-RU" sz="2800" dirty="0" err="1">
                <a:solidFill>
                  <a:schemeClr val="tx1"/>
                </a:solidFill>
              </a:rPr>
              <a:t>діаграми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діяльностей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en-US" sz="2800" dirty="0">
                <a:solidFill>
                  <a:schemeClr val="tx1"/>
                </a:solidFill>
              </a:rPr>
              <a:t>activity diagrams) - </a:t>
            </a:r>
            <a:r>
              <a:rPr lang="ru-RU" sz="2800" dirty="0">
                <a:solidFill>
                  <a:schemeClr val="tx1"/>
                </a:solidFill>
              </a:rPr>
              <a:t>модель </a:t>
            </a:r>
            <a:r>
              <a:rPr lang="ru-RU" sz="2800" dirty="0" err="1">
                <a:solidFill>
                  <a:schemeClr val="tx1"/>
                </a:solidFill>
              </a:rPr>
              <a:t>бізнес-процесу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або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поведінки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системи</a:t>
            </a:r>
            <a:r>
              <a:rPr lang="ru-RU" sz="2800" dirty="0">
                <a:solidFill>
                  <a:schemeClr val="tx1"/>
                </a:solidFill>
              </a:rPr>
              <a:t> в рамках прецеденту.</a:t>
            </a:r>
          </a:p>
          <a:p>
            <a:pPr algn="just">
              <a:lnSpc>
                <a:spcPct val="80000"/>
              </a:lnSpc>
            </a:pPr>
            <a:endParaRPr lang="ru-RU" sz="2800" dirty="0">
              <a:solidFill>
                <a:schemeClr val="tx1"/>
              </a:solidFill>
            </a:endParaRPr>
          </a:p>
          <a:p>
            <a:pPr algn="just">
              <a:lnSpc>
                <a:spcPct val="80000"/>
              </a:lnSpc>
            </a:pPr>
            <a:r>
              <a:rPr lang="ru-RU" sz="2800" b="1" dirty="0" err="1">
                <a:solidFill>
                  <a:schemeClr val="tx1"/>
                </a:solidFill>
              </a:rPr>
              <a:t>Діаграми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взаємодії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dirty="0">
                <a:solidFill>
                  <a:schemeClr val="tx1"/>
                </a:solidFill>
              </a:rPr>
              <a:t>(</a:t>
            </a:r>
            <a:r>
              <a:rPr lang="en-US" sz="2800" dirty="0">
                <a:solidFill>
                  <a:schemeClr val="tx1"/>
                </a:solidFill>
              </a:rPr>
              <a:t>interaction diagrams) - </a:t>
            </a:r>
            <a:r>
              <a:rPr lang="ru-RU" sz="2800" dirty="0">
                <a:solidFill>
                  <a:schemeClr val="tx1"/>
                </a:solidFill>
              </a:rPr>
              <a:t>модель </a:t>
            </a:r>
            <a:r>
              <a:rPr lang="ru-RU" sz="2800" dirty="0" err="1">
                <a:solidFill>
                  <a:schemeClr val="tx1"/>
                </a:solidFill>
              </a:rPr>
              <a:t>процесу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обміну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повідомленнями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між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об'єктами</a:t>
            </a:r>
            <a:r>
              <a:rPr lang="ru-RU" sz="2800" dirty="0">
                <a:solidFill>
                  <a:schemeClr val="tx1"/>
                </a:solidFill>
              </a:rPr>
              <a:t>. </a:t>
            </a:r>
            <a:r>
              <a:rPr lang="ru-RU" sz="2800" dirty="0" err="1">
                <a:solidFill>
                  <a:schemeClr val="tx1"/>
                </a:solidFill>
              </a:rPr>
              <a:t>Представляється</a:t>
            </a:r>
            <a:r>
              <a:rPr lang="ru-RU" sz="2800" dirty="0">
                <a:solidFill>
                  <a:schemeClr val="tx1"/>
                </a:solidFill>
              </a:rPr>
              <a:t> у </a:t>
            </a:r>
            <a:r>
              <a:rPr lang="ru-RU" sz="2800" dirty="0" err="1">
                <a:solidFill>
                  <a:schemeClr val="tx1"/>
                </a:solidFill>
              </a:rPr>
              <a:t>вигляді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діаграм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послідовності</a:t>
            </a:r>
            <a:r>
              <a:rPr lang="ru-RU" sz="2800" dirty="0">
                <a:solidFill>
                  <a:schemeClr val="tx1"/>
                </a:solidFill>
              </a:rPr>
              <a:t> (</a:t>
            </a:r>
            <a:r>
              <a:rPr lang="en-US" sz="2800" dirty="0">
                <a:solidFill>
                  <a:schemeClr val="tx1"/>
                </a:solidFill>
              </a:rPr>
              <a:t>sequence diagrams) </a:t>
            </a:r>
            <a:r>
              <a:rPr lang="ru-RU" sz="2800" dirty="0" err="1">
                <a:solidFill>
                  <a:schemeClr val="tx1"/>
                </a:solidFill>
              </a:rPr>
              <a:t>або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кооперативних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діаграм</a:t>
            </a:r>
            <a:r>
              <a:rPr lang="ru-RU" sz="2800" dirty="0">
                <a:solidFill>
                  <a:schemeClr val="tx1"/>
                </a:solidFill>
              </a:rPr>
              <a:t> (</a:t>
            </a:r>
            <a:r>
              <a:rPr lang="en-US" sz="2800" dirty="0">
                <a:solidFill>
                  <a:schemeClr val="tx1"/>
                </a:solidFill>
              </a:rPr>
              <a:t>collaboration diagrams).</a:t>
            </a:r>
          </a:p>
          <a:p>
            <a:pPr algn="just">
              <a:lnSpc>
                <a:spcPct val="8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 algn="just">
              <a:lnSpc>
                <a:spcPct val="80000"/>
              </a:lnSpc>
            </a:pPr>
            <a:r>
              <a:rPr lang="ru-RU" sz="2800" b="1" dirty="0" err="1">
                <a:solidFill>
                  <a:schemeClr val="tx1"/>
                </a:solidFill>
              </a:rPr>
              <a:t>Діаграми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станів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statechart</a:t>
            </a:r>
            <a:r>
              <a:rPr lang="en-US" sz="2800" dirty="0">
                <a:solidFill>
                  <a:schemeClr val="tx1"/>
                </a:solidFill>
              </a:rPr>
              <a:t> diagrams) - </a:t>
            </a:r>
            <a:r>
              <a:rPr lang="ru-RU" sz="2800" dirty="0">
                <a:solidFill>
                  <a:schemeClr val="tx1"/>
                </a:solidFill>
              </a:rPr>
              <a:t>модель </a:t>
            </a:r>
            <a:r>
              <a:rPr lang="ru-RU" sz="2800" dirty="0" err="1">
                <a:solidFill>
                  <a:schemeClr val="tx1"/>
                </a:solidFill>
              </a:rPr>
              <a:t>динамічної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поведінки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системи</a:t>
            </a:r>
            <a:r>
              <a:rPr lang="ru-RU" sz="2800" dirty="0">
                <a:solidFill>
                  <a:schemeClr val="tx1"/>
                </a:solidFill>
              </a:rPr>
              <a:t> та </a:t>
            </a:r>
            <a:r>
              <a:rPr lang="ru-RU" sz="2800" dirty="0" err="1">
                <a:solidFill>
                  <a:schemeClr val="tx1"/>
                </a:solidFill>
              </a:rPr>
              <a:t>її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компонентів</a:t>
            </a:r>
            <a:r>
              <a:rPr lang="ru-RU" sz="2800" dirty="0">
                <a:solidFill>
                  <a:schemeClr val="tx1"/>
                </a:solidFill>
              </a:rPr>
              <a:t> при </a:t>
            </a:r>
            <a:r>
              <a:rPr lang="ru-RU" sz="2800" dirty="0" err="1">
                <a:solidFill>
                  <a:schemeClr val="tx1"/>
                </a:solidFill>
              </a:rPr>
              <a:t>переході</a:t>
            </a:r>
            <a:r>
              <a:rPr lang="ru-RU" sz="2800" dirty="0">
                <a:solidFill>
                  <a:schemeClr val="tx1"/>
                </a:solidFill>
              </a:rPr>
              <a:t> з одного стану в </a:t>
            </a:r>
            <a:r>
              <a:rPr lang="ru-RU" sz="2800" dirty="0" err="1">
                <a:solidFill>
                  <a:schemeClr val="tx1"/>
                </a:solidFill>
              </a:rPr>
              <a:t>інший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  <a:endParaRPr lang="ru-RU" sz="2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66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F71-FB10-479B-87A1-0D58AD91FA97}" type="slidenum">
              <a:rPr lang="ru-RU"/>
              <a:pPr/>
              <a:t>37</a:t>
            </a:fld>
            <a:endParaRPr lang="ru-RU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Arial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ru-RU" sz="2400" dirty="0">
                <a:latin typeface="Arial" charset="0"/>
                <a:ea typeface="Arial Unicode MS" pitchFamily="34" charset="-128"/>
                <a:cs typeface="Arial Unicode MS" pitchFamily="34" charset="-128"/>
              </a:rPr>
            </a:br>
            <a:r>
              <a:rPr lang="ru-RU" sz="27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Діаграма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27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видів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27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діяльності</a:t>
            </a:r>
            <a:r>
              <a:rPr lang="ru-RU" sz="27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для 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прецеденту «</a:t>
            </a:r>
            <a:r>
              <a:rPr lang="ru-RU" sz="27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Надання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27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медичної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27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допомоги</a:t>
            </a:r>
            <a:r>
              <a:rPr lang="ru-RU" sz="27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»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1828800" y="1595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457200" y="1595438"/>
          <a:ext cx="8229600" cy="498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Точечный рисунок" r:id="rId3" imgW="5676190" imgH="4619048" progId="Paint.Picture">
                  <p:embed/>
                </p:oleObj>
              </mc:Choice>
              <mc:Fallback>
                <p:oleObj name="Точечный рисунок" r:id="rId3" imgW="5676190" imgH="46190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95438"/>
                        <a:ext cx="8229600" cy="498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533400" y="1905000"/>
            <a:ext cx="2057400" cy="212725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/>
              <a:t>Штатный специалист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683568" y="1238063"/>
            <a:ext cx="8028384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="1" i="1" dirty="0" err="1" smtClean="0"/>
              <a:t>Вх</a:t>
            </a:r>
            <a:r>
              <a:rPr lang="ru-RU" sz="1800" b="1" i="1" dirty="0" smtClean="0"/>
              <a:t>\</a:t>
            </a:r>
            <a:r>
              <a:rPr lang="ru-RU" sz="1800" b="1" i="1" dirty="0" err="1" smtClean="0"/>
              <a:t>Вих</a:t>
            </a:r>
            <a:r>
              <a:rPr lang="ru-RU" sz="1800" b="1" i="1" dirty="0" smtClean="0"/>
              <a:t> </a:t>
            </a:r>
            <a:r>
              <a:rPr lang="ru-RU" sz="1800" b="1" i="1" dirty="0" err="1" smtClean="0"/>
              <a:t>інформація</a:t>
            </a:r>
            <a:r>
              <a:rPr lang="ru-RU" sz="1800" b="1" i="1" dirty="0" smtClean="0"/>
              <a:t>  </a:t>
            </a:r>
            <a:r>
              <a:rPr lang="ru-RU" sz="1800" b="1" i="1" dirty="0" err="1" smtClean="0"/>
              <a:t>Діяльність</a:t>
            </a:r>
            <a:r>
              <a:rPr lang="ru-RU" sz="1800" b="1" i="1" dirty="0" smtClean="0"/>
              <a:t>   Роль   </a:t>
            </a:r>
            <a:r>
              <a:rPr lang="ru-RU" sz="1800" b="1" i="1" dirty="0" err="1" smtClean="0"/>
              <a:t>Підрозділ</a:t>
            </a:r>
            <a:r>
              <a:rPr lang="ru-RU" sz="1800" b="1" i="1" dirty="0" smtClean="0"/>
              <a:t>   Посада   </a:t>
            </a:r>
            <a:r>
              <a:rPr lang="ru-RU" sz="1800" b="1" i="1" dirty="0" err="1" smtClean="0"/>
              <a:t>Бізнес</a:t>
            </a:r>
            <a:r>
              <a:rPr lang="ru-RU" sz="1800" b="1" i="1" dirty="0" smtClean="0"/>
              <a:t>-правило</a:t>
            </a:r>
            <a:endParaRPr lang="ru-RU" sz="1800" b="1" i="1" dirty="0"/>
          </a:p>
        </p:txBody>
      </p:sp>
    </p:spTree>
    <p:extLst>
      <p:ext uri="{BB962C8B-B14F-4D97-AF65-F5344CB8AC3E}">
        <p14:creationId xmlns:p14="http://schemas.microsoft.com/office/powerpoint/2010/main" val="319566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 animBg="1" autoUpdateAnimBg="0"/>
      <p:bldP spid="94214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2484-0D89-42AF-BD72-58C39D35A39C}" type="slidenum">
              <a:rPr lang="ru-RU"/>
              <a:pPr/>
              <a:t>38</a:t>
            </a:fld>
            <a:endParaRPr lang="ru-RU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620688"/>
            <a:ext cx="7842448" cy="943000"/>
          </a:xfrm>
        </p:spPr>
        <p:txBody>
          <a:bodyPr/>
          <a:lstStyle/>
          <a:p>
            <a:r>
              <a:rPr lang="ru-RU" sz="4000" i="1" dirty="0" err="1">
                <a:cs typeface="Times New Roman" charset="0"/>
              </a:rPr>
              <a:t>Розробка</a:t>
            </a:r>
            <a:r>
              <a:rPr lang="ru-RU" sz="4000" i="1" dirty="0">
                <a:cs typeface="Times New Roman" charset="0"/>
              </a:rPr>
              <a:t> </a:t>
            </a:r>
            <a:r>
              <a:rPr lang="ru-RU" sz="4000" i="1" dirty="0" err="1">
                <a:cs typeface="Times New Roman" charset="0"/>
              </a:rPr>
              <a:t>моделі</a:t>
            </a:r>
            <a:r>
              <a:rPr lang="ru-RU" sz="4000" i="1" dirty="0">
                <a:cs typeface="Times New Roman" charset="0"/>
              </a:rPr>
              <a:t> </a:t>
            </a:r>
            <a:r>
              <a:rPr lang="ru-RU" sz="4000" i="1" dirty="0" err="1" smtClean="0">
                <a:cs typeface="Times New Roman" charset="0"/>
              </a:rPr>
              <a:t>бізнес</a:t>
            </a:r>
            <a:r>
              <a:rPr lang="ru-RU" sz="4000" i="1" dirty="0" smtClean="0">
                <a:cs typeface="Times New Roman" charset="0"/>
              </a:rPr>
              <a:t>-об</a:t>
            </a:r>
            <a:r>
              <a:rPr lang="en-US" sz="4000" i="1" dirty="0" smtClean="0">
                <a:cs typeface="Times New Roman" charset="0"/>
              </a:rPr>
              <a:t>’</a:t>
            </a:r>
            <a:r>
              <a:rPr lang="uk-UA" sz="4000" i="1" dirty="0" err="1" smtClean="0">
                <a:cs typeface="Times New Roman" charset="0"/>
              </a:rPr>
              <a:t>єктів</a:t>
            </a:r>
            <a:endParaRPr lang="ru-RU" sz="4000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2132856"/>
            <a:ext cx="7543800" cy="3886200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itchFamily="2" charset="2"/>
              <a:buChar char="Ø"/>
            </a:pPr>
            <a:r>
              <a:rPr lang="ru-RU" sz="2800" b="1" dirty="0">
                <a:solidFill>
                  <a:schemeClr val="tx1"/>
                </a:solidFill>
              </a:rPr>
              <a:t>Модель </a:t>
            </a:r>
            <a:r>
              <a:rPr lang="ru-RU" sz="2800" b="1" dirty="0" err="1">
                <a:solidFill>
                  <a:schemeClr val="tx1"/>
                </a:solidFill>
              </a:rPr>
              <a:t>бізнес-об'єктів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відображає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виконання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бізнес-процесів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організації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її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внутрішніми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виконавцями</a:t>
            </a:r>
            <a:r>
              <a:rPr lang="ru-RU" sz="28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Ø"/>
            </a:pPr>
            <a:r>
              <a:rPr lang="ru-RU" sz="2800" dirty="0" smtClean="0">
                <a:solidFill>
                  <a:schemeClr val="tx1"/>
                </a:solidFill>
              </a:rPr>
              <a:t> </a:t>
            </a:r>
            <a:r>
              <a:rPr lang="ru-RU" sz="2800" b="1" dirty="0" err="1">
                <a:solidFill>
                  <a:schemeClr val="tx1"/>
                </a:solidFill>
              </a:rPr>
              <a:t>Основними</a:t>
            </a:r>
            <a:r>
              <a:rPr lang="ru-RU" sz="2800" b="1" dirty="0">
                <a:solidFill>
                  <a:schemeClr val="tx1"/>
                </a:solidFill>
              </a:rPr>
              <a:t> компонентами моделей </a:t>
            </a:r>
            <a:r>
              <a:rPr lang="ru-RU" sz="2800" b="1" dirty="0" err="1">
                <a:solidFill>
                  <a:schemeClr val="tx1"/>
                </a:solidFill>
              </a:rPr>
              <a:t>бізнес-об'єктів</a:t>
            </a:r>
            <a:r>
              <a:rPr lang="ru-RU" sz="2800" b="1" dirty="0">
                <a:solidFill>
                  <a:schemeClr val="tx1"/>
                </a:solidFill>
              </a:rPr>
              <a:t> є </a:t>
            </a:r>
            <a:r>
              <a:rPr lang="ru-RU" sz="2800" dirty="0" err="1">
                <a:solidFill>
                  <a:schemeClr val="tx1"/>
                </a:solidFill>
              </a:rPr>
              <a:t>зовнішні</a:t>
            </a:r>
            <a:r>
              <a:rPr lang="ru-RU" sz="2800" dirty="0">
                <a:solidFill>
                  <a:schemeClr val="tx1"/>
                </a:solidFill>
              </a:rPr>
              <a:t> і </a:t>
            </a:r>
            <a:r>
              <a:rPr lang="ru-RU" sz="2800" dirty="0" err="1">
                <a:solidFill>
                  <a:schemeClr val="tx1"/>
                </a:solidFill>
              </a:rPr>
              <a:t>внутрішні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виконавці</a:t>
            </a:r>
            <a:r>
              <a:rPr lang="ru-RU" sz="2800" dirty="0">
                <a:solidFill>
                  <a:schemeClr val="tx1"/>
                </a:solidFill>
              </a:rPr>
              <a:t> (</a:t>
            </a:r>
            <a:r>
              <a:rPr lang="ru-RU" sz="2800" dirty="0" err="1">
                <a:solidFill>
                  <a:schemeClr val="tx1"/>
                </a:solidFill>
              </a:rPr>
              <a:t>бізнес-суб'єкти</a:t>
            </a:r>
            <a:r>
              <a:rPr lang="ru-RU" sz="2800" dirty="0">
                <a:solidFill>
                  <a:schemeClr val="tx1"/>
                </a:solidFill>
              </a:rPr>
              <a:t>), а </a:t>
            </a:r>
            <a:r>
              <a:rPr lang="ru-RU" sz="2800" dirty="0" err="1">
                <a:solidFill>
                  <a:schemeClr val="tx1"/>
                </a:solidFill>
              </a:rPr>
              <a:t>також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бізнес-сутності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ru-RU" sz="2800" dirty="0" err="1">
                <a:solidFill>
                  <a:schemeClr val="tx1"/>
                </a:solidFill>
              </a:rPr>
              <a:t>що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відображають</a:t>
            </a:r>
            <a:r>
              <a:rPr lang="ru-RU" sz="2800" dirty="0">
                <a:solidFill>
                  <a:schemeClr val="tx1"/>
                </a:solidFill>
              </a:rPr>
              <a:t> все, </a:t>
            </a:r>
            <a:r>
              <a:rPr lang="ru-RU" sz="2800" dirty="0" err="1">
                <a:solidFill>
                  <a:schemeClr val="tx1"/>
                </a:solidFill>
              </a:rPr>
              <a:t>що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використовують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внутрішні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виконавці</a:t>
            </a:r>
            <a:r>
              <a:rPr lang="ru-RU" sz="2800" dirty="0">
                <a:solidFill>
                  <a:schemeClr val="tx1"/>
                </a:solidFill>
              </a:rPr>
              <a:t> для </a:t>
            </a:r>
            <a:r>
              <a:rPr lang="ru-RU" sz="2800" dirty="0" err="1">
                <a:solidFill>
                  <a:schemeClr val="tx1"/>
                </a:solidFill>
              </a:rPr>
              <a:t>реалізації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бізнес-процесів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9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39576-17F3-4572-97C7-D0E3D036B4B0}" type="slidenum">
              <a:rPr lang="ru-RU"/>
              <a:pPr/>
              <a:t>39</a:t>
            </a:fld>
            <a:endParaRPr lang="ru-RU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27050"/>
          </a:xfrm>
        </p:spPr>
        <p:txBody>
          <a:bodyPr/>
          <a:lstStyle/>
          <a:p>
            <a:pPr algn="ctr"/>
            <a:r>
              <a:rPr lang="ru-RU" sz="2800" i="1" dirty="0" err="1" smtClean="0"/>
              <a:t>Виокремлення</a:t>
            </a:r>
            <a:r>
              <a:rPr lang="ru-RU" sz="2800" i="1" dirty="0" smtClean="0"/>
              <a:t> </a:t>
            </a:r>
            <a:r>
              <a:rPr lang="ru-RU" sz="2800" i="1" dirty="0" err="1" smtClean="0"/>
              <a:t>бізнес-суб</a:t>
            </a:r>
            <a:r>
              <a:rPr lang="en-US" sz="2800" i="1" dirty="0" smtClean="0"/>
              <a:t>’</a:t>
            </a:r>
            <a:r>
              <a:rPr lang="uk-UA" sz="2800" i="1" dirty="0" err="1" smtClean="0"/>
              <a:t>єктів</a:t>
            </a:r>
            <a:endParaRPr lang="ru-RU" sz="2800" i="1" dirty="0"/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3677444" y="5805264"/>
            <a:ext cx="1676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800" b="1" dirty="0" err="1" smtClean="0"/>
              <a:t>Лікар</a:t>
            </a:r>
            <a:endParaRPr lang="ru-RU" sz="1800" b="1" dirty="0"/>
          </a:p>
          <a:p>
            <a:pPr algn="ctr">
              <a:spcBef>
                <a:spcPct val="50000"/>
              </a:spcBef>
            </a:pPr>
            <a:r>
              <a:rPr lang="ru-RU" sz="1800" b="1" dirty="0"/>
              <a:t>(суперкласс)</a:t>
            </a: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2340161" y="3108325"/>
            <a:ext cx="1752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="1" dirty="0" err="1" smtClean="0"/>
              <a:t>Спеціаліст-сумісник</a:t>
            </a:r>
            <a:endParaRPr lang="ru-RU" sz="1800" b="1" dirty="0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5148263" y="3164733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="1" dirty="0"/>
              <a:t>Штатный </a:t>
            </a:r>
            <a:r>
              <a:rPr lang="ru-RU" sz="1800" b="1" dirty="0" err="1" smtClean="0"/>
              <a:t>спеціаліст</a:t>
            </a:r>
            <a:endParaRPr lang="ru-RU" sz="1800" b="1" dirty="0"/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539750" y="1772816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dirty="0"/>
              <a:t>Центр </a:t>
            </a:r>
            <a:r>
              <a:rPr lang="ru-RU" sz="2400" dirty="0" err="1"/>
              <a:t>залучає</a:t>
            </a:r>
            <a:r>
              <a:rPr lang="ru-RU" sz="2400" dirty="0"/>
              <a:t> до </a:t>
            </a:r>
            <a:r>
              <a:rPr lang="ru-RU" sz="2400" dirty="0" err="1"/>
              <a:t>своєї</a:t>
            </a:r>
            <a:r>
              <a:rPr lang="ru-RU" sz="2400" dirty="0"/>
              <a:t> </a:t>
            </a:r>
            <a:r>
              <a:rPr lang="ru-RU" sz="2400" dirty="0" err="1"/>
              <a:t>діяльності</a:t>
            </a:r>
            <a:r>
              <a:rPr lang="ru-RU" sz="2400" dirty="0"/>
              <a:t> як </a:t>
            </a:r>
            <a:r>
              <a:rPr lang="ru-RU" sz="2400" dirty="0" err="1"/>
              <a:t>штатних</a:t>
            </a:r>
            <a:r>
              <a:rPr lang="ru-RU" sz="2400" dirty="0"/>
              <a:t> </a:t>
            </a:r>
            <a:r>
              <a:rPr lang="ru-RU" sz="2400" dirty="0" err="1"/>
              <a:t>фахівців</a:t>
            </a:r>
            <a:r>
              <a:rPr lang="ru-RU" sz="2400" dirty="0"/>
              <a:t>, так і </a:t>
            </a:r>
            <a:r>
              <a:rPr lang="ru-RU" sz="2400" dirty="0" err="1"/>
              <a:t>експертів-фахівців</a:t>
            </a:r>
            <a:r>
              <a:rPr lang="ru-RU" sz="2400" dirty="0"/>
              <a:t> з </a:t>
            </a:r>
            <a:r>
              <a:rPr lang="ru-RU" sz="2400" dirty="0" err="1"/>
              <a:t>зовнішніх</a:t>
            </a:r>
            <a:r>
              <a:rPr lang="ru-RU" sz="2400" dirty="0"/>
              <a:t> </a:t>
            </a:r>
            <a:r>
              <a:rPr lang="ru-RU" sz="2400" dirty="0" err="1"/>
              <a:t>організацій</a:t>
            </a:r>
            <a:endParaRPr lang="ru-RU" sz="2400" dirty="0"/>
          </a:p>
        </p:txBody>
      </p:sp>
      <p:grpSp>
        <p:nvGrpSpPr>
          <p:cNvPr id="96263" name="Group 7"/>
          <p:cNvGrpSpPr>
            <a:grpSpLocks/>
          </p:cNvGrpSpPr>
          <p:nvPr/>
        </p:nvGrpSpPr>
        <p:grpSpPr bwMode="auto">
          <a:xfrm>
            <a:off x="3144044" y="3811431"/>
            <a:ext cx="2495550" cy="2047875"/>
            <a:chOff x="2016" y="1872"/>
            <a:chExt cx="1572" cy="1290"/>
          </a:xfrm>
        </p:grpSpPr>
        <p:graphicFrame>
          <p:nvGraphicFramePr>
            <p:cNvPr id="96264" name="Object 8"/>
            <p:cNvGraphicFramePr>
              <a:graphicFrameLocks noChangeAspect="1"/>
            </p:cNvGraphicFramePr>
            <p:nvPr/>
          </p:nvGraphicFramePr>
          <p:xfrm>
            <a:off x="3312" y="1872"/>
            <a:ext cx="276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6" name="Точечный рисунок" r:id="rId3" imgW="438095" imgH="676369" progId="Paint.Picture">
                    <p:embed/>
                  </p:oleObj>
                </mc:Choice>
                <mc:Fallback>
                  <p:oleObj name="Точечный рисунок" r:id="rId3" imgW="438095" imgH="67636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72"/>
                          <a:ext cx="276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65" name="Object 9"/>
            <p:cNvGraphicFramePr>
              <a:graphicFrameLocks noChangeAspect="1"/>
            </p:cNvGraphicFramePr>
            <p:nvPr/>
          </p:nvGraphicFramePr>
          <p:xfrm>
            <a:off x="2016" y="1872"/>
            <a:ext cx="276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7" name="Точечный рисунок" r:id="rId5" imgW="438095" imgH="676369" progId="Paint.Picture">
                    <p:embed/>
                  </p:oleObj>
                </mc:Choice>
                <mc:Fallback>
                  <p:oleObj name="Точечный рисунок" r:id="rId5" imgW="438095" imgH="67636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872"/>
                          <a:ext cx="276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66" name="Object 10"/>
            <p:cNvGraphicFramePr>
              <a:graphicFrameLocks noChangeAspect="1"/>
            </p:cNvGraphicFramePr>
            <p:nvPr/>
          </p:nvGraphicFramePr>
          <p:xfrm>
            <a:off x="2688" y="2736"/>
            <a:ext cx="276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8" name="Точечный рисунок" r:id="rId6" imgW="438095" imgH="676369" progId="Paint.Picture">
                    <p:embed/>
                  </p:oleObj>
                </mc:Choice>
                <mc:Fallback>
                  <p:oleObj name="Точечный рисунок" r:id="rId6" imgW="438095" imgH="67636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736"/>
                          <a:ext cx="276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6267" name="Group 11"/>
            <p:cNvGrpSpPr>
              <a:grpSpLocks/>
            </p:cNvGrpSpPr>
            <p:nvPr/>
          </p:nvGrpSpPr>
          <p:grpSpPr bwMode="auto">
            <a:xfrm>
              <a:off x="2256" y="2352"/>
              <a:ext cx="528" cy="384"/>
              <a:chOff x="2256" y="2352"/>
              <a:chExt cx="568" cy="432"/>
            </a:xfrm>
          </p:grpSpPr>
          <p:sp>
            <p:nvSpPr>
              <p:cNvPr id="96268" name="Line 12"/>
              <p:cNvSpPr>
                <a:spLocks noChangeShapeType="1"/>
              </p:cNvSpPr>
              <p:nvPr/>
            </p:nvSpPr>
            <p:spPr bwMode="auto">
              <a:xfrm>
                <a:off x="2256" y="2352"/>
                <a:ext cx="48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graphicFrame>
            <p:nvGraphicFramePr>
              <p:cNvPr id="96269" name="Object 13"/>
              <p:cNvGraphicFramePr>
                <a:graphicFrameLocks noChangeAspect="1"/>
              </p:cNvGraphicFramePr>
              <p:nvPr/>
            </p:nvGraphicFramePr>
            <p:xfrm>
              <a:off x="2592" y="2544"/>
              <a:ext cx="232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69" name="Точечный рисунок" r:id="rId7" imgW="266737" imgH="276117" progId="Paint.Picture">
                      <p:embed/>
                    </p:oleObj>
                  </mc:Choice>
                  <mc:Fallback>
                    <p:oleObj name="Точечный рисунок" r:id="rId7" imgW="266737" imgH="276117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2544"/>
                            <a:ext cx="232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6270" name="Group 14"/>
            <p:cNvGrpSpPr>
              <a:grpSpLocks/>
            </p:cNvGrpSpPr>
            <p:nvPr/>
          </p:nvGrpSpPr>
          <p:grpSpPr bwMode="auto">
            <a:xfrm>
              <a:off x="2880" y="2352"/>
              <a:ext cx="480" cy="384"/>
              <a:chOff x="2880" y="2352"/>
              <a:chExt cx="480" cy="384"/>
            </a:xfrm>
          </p:grpSpPr>
          <p:sp>
            <p:nvSpPr>
              <p:cNvPr id="96271" name="Line 15"/>
              <p:cNvSpPr>
                <a:spLocks noChangeShapeType="1"/>
              </p:cNvSpPr>
              <p:nvPr/>
            </p:nvSpPr>
            <p:spPr bwMode="auto">
              <a:xfrm flipH="1">
                <a:off x="2880" y="2352"/>
                <a:ext cx="48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graphicFrame>
            <p:nvGraphicFramePr>
              <p:cNvPr id="96272" name="Object 16"/>
              <p:cNvGraphicFramePr>
                <a:graphicFrameLocks noChangeAspect="1"/>
              </p:cNvGraphicFramePr>
              <p:nvPr/>
            </p:nvGraphicFramePr>
            <p:xfrm>
              <a:off x="2880" y="2544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70" name="Точечный рисунок" r:id="rId9" imgW="219222" imgH="228571" progId="Paint.Picture">
                      <p:embed/>
                    </p:oleObj>
                  </mc:Choice>
                  <mc:Fallback>
                    <p:oleObj name="Точечный рисунок" r:id="rId9" imgW="219222" imgH="228571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544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6273" name="Text Box 17"/>
          <p:cNvSpPr txBox="1">
            <a:spLocks noChangeArrowheads="1"/>
          </p:cNvSpPr>
          <p:nvPr/>
        </p:nvSpPr>
        <p:spPr bwMode="auto">
          <a:xfrm>
            <a:off x="3601244" y="3987912"/>
            <a:ext cx="1676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k-UA" sz="1600" b="1" i="1" dirty="0" smtClean="0">
                <a:solidFill>
                  <a:srgbClr val="F50D39"/>
                </a:solidFill>
              </a:rPr>
              <a:t>Відношення узагальнення</a:t>
            </a:r>
            <a:endParaRPr lang="ru-RU" sz="1600" b="1" i="1" dirty="0">
              <a:solidFill>
                <a:srgbClr val="F50D39"/>
              </a:solidFill>
            </a:endParaRPr>
          </a:p>
        </p:txBody>
      </p:sp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611188" y="1176893"/>
            <a:ext cx="75612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ru-RU" sz="2400" i="1" dirty="0" err="1" smtClean="0"/>
              <a:t>Поява</a:t>
            </a:r>
            <a:r>
              <a:rPr kumimoji="0" lang="ru-RU" sz="2400" i="1" dirty="0" smtClean="0"/>
              <a:t> </a:t>
            </a:r>
            <a:r>
              <a:rPr kumimoji="0" lang="ru-RU" sz="2400" i="1" dirty="0" err="1" smtClean="0"/>
              <a:t>суперкласу</a:t>
            </a:r>
            <a:r>
              <a:rPr kumimoji="0" lang="ru-RU" sz="2400" i="1" dirty="0" smtClean="0"/>
              <a:t> </a:t>
            </a:r>
            <a:r>
              <a:rPr kumimoji="0" lang="ru-RU" sz="2400" i="1" dirty="0" smtClean="0"/>
              <a:t>«</a:t>
            </a:r>
            <a:r>
              <a:rPr kumimoji="0" lang="ru-RU" sz="2400" i="1" dirty="0" err="1" smtClean="0"/>
              <a:t>Лікар</a:t>
            </a:r>
            <a:r>
              <a:rPr kumimoji="0" lang="ru-RU" sz="2400" i="1" dirty="0" smtClean="0"/>
              <a:t>»</a:t>
            </a:r>
            <a:endParaRPr kumimoji="0"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4312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72E-F07F-4AAB-A0BA-30B01516B5D6}" type="slidenum">
              <a:rPr lang="ru-RU"/>
              <a:pPr/>
              <a:t>40</a:t>
            </a:fld>
            <a:endParaRPr lang="ru-RU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i="1" dirty="0" err="1" smtClean="0">
                <a:cs typeface="Times New Roman" charset="0"/>
              </a:rPr>
              <a:t>Ієрархія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класів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бізнес-суб</a:t>
            </a:r>
            <a:r>
              <a:rPr lang="en-US" sz="3200" i="1" dirty="0" smtClean="0">
                <a:cs typeface="Times New Roman" charset="0"/>
              </a:rPr>
              <a:t>’</a:t>
            </a:r>
            <a:r>
              <a:rPr lang="ru-RU" sz="3200" i="1" dirty="0" err="1" smtClean="0">
                <a:cs typeface="Times New Roman" charset="0"/>
              </a:rPr>
              <a:t>єктів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1928813" y="264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547664" y="851663"/>
            <a:ext cx="3200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dirty="0" err="1" smtClean="0">
                <a:cs typeface="Times New Roman" charset="0"/>
              </a:rPr>
              <a:t>Узагальнення</a:t>
            </a:r>
            <a:r>
              <a:rPr lang="ru-RU" sz="2800" dirty="0" smtClean="0">
                <a:cs typeface="Times New Roman" charset="0"/>
              </a:rPr>
              <a:t> </a:t>
            </a:r>
            <a:r>
              <a:rPr lang="ru-RU" sz="2800" dirty="0" err="1" smtClean="0">
                <a:cs typeface="Times New Roman" charset="0"/>
              </a:rPr>
              <a:t>класів</a:t>
            </a:r>
            <a:endParaRPr lang="ru-RU" sz="2800" dirty="0"/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2343150" y="199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914400" y="1990725"/>
          <a:ext cx="7086600" cy="441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Точечный рисунок" r:id="rId3" imgW="5172797" imgH="3343742" progId="Paint.Picture">
                  <p:embed/>
                </p:oleObj>
              </mc:Choice>
              <mc:Fallback>
                <p:oleObj name="Точечный рисунок" r:id="rId3" imgW="5172797" imgH="334374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90725"/>
                        <a:ext cx="7086600" cy="441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287" name="Group 7"/>
          <p:cNvGrpSpPr>
            <a:grpSpLocks/>
          </p:cNvGrpSpPr>
          <p:nvPr/>
        </p:nvGrpSpPr>
        <p:grpSpPr bwMode="auto">
          <a:xfrm>
            <a:off x="4724400" y="609600"/>
            <a:ext cx="4419600" cy="4191000"/>
            <a:chOff x="2938" y="384"/>
            <a:chExt cx="2630" cy="2640"/>
          </a:xfrm>
        </p:grpSpPr>
        <p:grpSp>
          <p:nvGrpSpPr>
            <p:cNvPr id="97288" name="Group 8"/>
            <p:cNvGrpSpPr>
              <a:grpSpLocks/>
            </p:cNvGrpSpPr>
            <p:nvPr/>
          </p:nvGrpSpPr>
          <p:grpSpPr bwMode="auto">
            <a:xfrm>
              <a:off x="3696" y="768"/>
              <a:ext cx="1572" cy="1290"/>
              <a:chOff x="2016" y="1872"/>
              <a:chExt cx="1572" cy="1290"/>
            </a:xfrm>
          </p:grpSpPr>
          <p:graphicFrame>
            <p:nvGraphicFramePr>
              <p:cNvPr id="97289" name="Object 9"/>
              <p:cNvGraphicFramePr>
                <a:graphicFrameLocks noChangeAspect="1"/>
              </p:cNvGraphicFramePr>
              <p:nvPr/>
            </p:nvGraphicFramePr>
            <p:xfrm>
              <a:off x="3312" y="1872"/>
              <a:ext cx="276" cy="4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15" name="Точечный рисунок" r:id="rId5" imgW="438095" imgH="676369" progId="Paint.Picture">
                      <p:embed/>
                    </p:oleObj>
                  </mc:Choice>
                  <mc:Fallback>
                    <p:oleObj name="Точечный рисунок" r:id="rId5" imgW="438095" imgH="6763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1872"/>
                            <a:ext cx="276" cy="4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290" name="Object 10"/>
              <p:cNvGraphicFramePr>
                <a:graphicFrameLocks noChangeAspect="1"/>
              </p:cNvGraphicFramePr>
              <p:nvPr/>
            </p:nvGraphicFramePr>
            <p:xfrm>
              <a:off x="2016" y="1872"/>
              <a:ext cx="276" cy="4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16" name="Точечный рисунок" r:id="rId7" imgW="438095" imgH="676369" progId="Paint.Picture">
                      <p:embed/>
                    </p:oleObj>
                  </mc:Choice>
                  <mc:Fallback>
                    <p:oleObj name="Точечный рисунок" r:id="rId7" imgW="438095" imgH="6763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1872"/>
                            <a:ext cx="276" cy="4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291" name="Object 11"/>
              <p:cNvGraphicFramePr>
                <a:graphicFrameLocks noChangeAspect="1"/>
              </p:cNvGraphicFramePr>
              <p:nvPr/>
            </p:nvGraphicFramePr>
            <p:xfrm>
              <a:off x="2688" y="2736"/>
              <a:ext cx="276" cy="4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17" name="Точечный рисунок" r:id="rId8" imgW="438095" imgH="676369" progId="Paint.Picture">
                      <p:embed/>
                    </p:oleObj>
                  </mc:Choice>
                  <mc:Fallback>
                    <p:oleObj name="Точечный рисунок" r:id="rId8" imgW="438095" imgH="6763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2736"/>
                            <a:ext cx="276" cy="4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7292" name="Group 12"/>
              <p:cNvGrpSpPr>
                <a:grpSpLocks/>
              </p:cNvGrpSpPr>
              <p:nvPr/>
            </p:nvGrpSpPr>
            <p:grpSpPr bwMode="auto">
              <a:xfrm>
                <a:off x="2256" y="2352"/>
                <a:ext cx="528" cy="384"/>
                <a:chOff x="2256" y="2352"/>
                <a:chExt cx="568" cy="432"/>
              </a:xfrm>
            </p:grpSpPr>
            <p:sp>
              <p:nvSpPr>
                <p:cNvPr id="97293" name="Line 13"/>
                <p:cNvSpPr>
                  <a:spLocks noChangeShapeType="1"/>
                </p:cNvSpPr>
                <p:nvPr/>
              </p:nvSpPr>
              <p:spPr bwMode="auto">
                <a:xfrm>
                  <a:off x="2256" y="2352"/>
                  <a:ext cx="48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  <p:graphicFrame>
              <p:nvGraphicFramePr>
                <p:cNvPr id="97294" name="Object 14"/>
                <p:cNvGraphicFramePr>
                  <a:graphicFrameLocks noChangeAspect="1"/>
                </p:cNvGraphicFramePr>
                <p:nvPr/>
              </p:nvGraphicFramePr>
              <p:xfrm>
                <a:off x="2592" y="2544"/>
                <a:ext cx="232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18" name="Точечный рисунок" r:id="rId9" imgW="266737" imgH="276117" progId="Paint.Picture">
                        <p:embed/>
                      </p:oleObj>
                    </mc:Choice>
                    <mc:Fallback>
                      <p:oleObj name="Точечный рисунок" r:id="rId9" imgW="266737" imgH="276117" progId="Paint.Picture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92" y="2544"/>
                              <a:ext cx="232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7295" name="Group 15"/>
              <p:cNvGrpSpPr>
                <a:grpSpLocks/>
              </p:cNvGrpSpPr>
              <p:nvPr/>
            </p:nvGrpSpPr>
            <p:grpSpPr bwMode="auto">
              <a:xfrm>
                <a:off x="2880" y="2352"/>
                <a:ext cx="480" cy="384"/>
                <a:chOff x="2880" y="2352"/>
                <a:chExt cx="480" cy="384"/>
              </a:xfrm>
            </p:grpSpPr>
            <p:sp>
              <p:nvSpPr>
                <p:cNvPr id="9729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880" y="2352"/>
                  <a:ext cx="48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  <p:graphicFrame>
              <p:nvGraphicFramePr>
                <p:cNvPr id="97297" name="Object 17"/>
                <p:cNvGraphicFramePr>
                  <a:graphicFrameLocks noChangeAspect="1"/>
                </p:cNvGraphicFramePr>
                <p:nvPr/>
              </p:nvGraphicFramePr>
              <p:xfrm>
                <a:off x="2880" y="2544"/>
                <a:ext cx="184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19" name="Точечный рисунок" r:id="rId11" imgW="219222" imgH="228571" progId="Paint.Picture">
                        <p:embed/>
                      </p:oleObj>
                    </mc:Choice>
                    <mc:Fallback>
                      <p:oleObj name="Точечный рисунок" r:id="rId11" imgW="219222" imgH="228571" progId="Paint.Picture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0" y="2544"/>
                              <a:ext cx="184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97298" name="Object 18"/>
            <p:cNvGraphicFramePr>
              <a:graphicFrameLocks noChangeAspect="1"/>
            </p:cNvGraphicFramePr>
            <p:nvPr/>
          </p:nvGraphicFramePr>
          <p:xfrm>
            <a:off x="2938" y="2832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0" name="Точечный рисунок" r:id="rId13" imgW="181096" imgH="228571" progId="Paint.Picture">
                    <p:embed/>
                  </p:oleObj>
                </mc:Choice>
                <mc:Fallback>
                  <p:oleObj name="Точечный рисунок" r:id="rId13" imgW="181096" imgH="22857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" y="2832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99" name="Line 19"/>
            <p:cNvSpPr>
              <a:spLocks noChangeShapeType="1"/>
            </p:cNvSpPr>
            <p:nvPr/>
          </p:nvSpPr>
          <p:spPr bwMode="auto">
            <a:xfrm flipV="1">
              <a:off x="3072" y="1968"/>
              <a:ext cx="1296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ru-RU"/>
            </a:p>
          </p:txBody>
        </p:sp>
        <p:sp>
          <p:nvSpPr>
            <p:cNvPr id="97300" name="Text Box 20"/>
            <p:cNvSpPr txBox="1">
              <a:spLocks noChangeArrowheads="1"/>
            </p:cNvSpPr>
            <p:nvPr/>
          </p:nvSpPr>
          <p:spPr bwMode="auto">
            <a:xfrm>
              <a:off x="4656" y="2059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600" b="1"/>
                <a:t>Врач</a:t>
              </a:r>
            </a:p>
          </p:txBody>
        </p:sp>
        <p:sp>
          <p:nvSpPr>
            <p:cNvPr id="97301" name="Text Box 21"/>
            <p:cNvSpPr txBox="1">
              <a:spLocks noChangeArrowheads="1"/>
            </p:cNvSpPr>
            <p:nvPr/>
          </p:nvSpPr>
          <p:spPr bwMode="auto">
            <a:xfrm>
              <a:off x="3552" y="384"/>
              <a:ext cx="8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600" dirty="0" err="1" smtClean="0"/>
                <a:t>Спеціаліст-сумісник</a:t>
              </a:r>
              <a:endParaRPr lang="ru-RU" sz="1600" dirty="0"/>
            </a:p>
          </p:txBody>
        </p:sp>
        <p:sp>
          <p:nvSpPr>
            <p:cNvPr id="97302" name="Text Box 22"/>
            <p:cNvSpPr txBox="1">
              <a:spLocks noChangeArrowheads="1"/>
            </p:cNvSpPr>
            <p:nvPr/>
          </p:nvSpPr>
          <p:spPr bwMode="auto">
            <a:xfrm>
              <a:off x="4752" y="432"/>
              <a:ext cx="8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600" dirty="0"/>
                <a:t>Штатный </a:t>
              </a:r>
              <a:r>
                <a:rPr lang="ru-RU" sz="1600" dirty="0" err="1" smtClean="0"/>
                <a:t>спеціаліст</a:t>
              </a:r>
              <a:endParaRPr lang="ru-RU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773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F02A7-8B4C-4E21-AA68-AD230AF5F6A1}" type="slidenum">
              <a:rPr lang="ru-RU"/>
              <a:pPr/>
              <a:t>41</a:t>
            </a:fld>
            <a:endParaRPr lang="ru-RU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ru-RU" sz="3200" i="1" dirty="0" err="1" smtClean="0">
                <a:cs typeface="Times New Roman" charset="0"/>
              </a:rPr>
              <a:t>Модифікація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моделі</a:t>
            </a:r>
            <a:r>
              <a:rPr lang="ru-RU" sz="3200" i="1" dirty="0" smtClean="0">
                <a:cs typeface="Times New Roman" charset="0"/>
              </a:rPr>
              <a:t> </a:t>
            </a:r>
            <a:r>
              <a:rPr lang="ru-RU" sz="3200" i="1" dirty="0" err="1" smtClean="0">
                <a:cs typeface="Times New Roman" charset="0"/>
              </a:rPr>
              <a:t>бізнес-прецедентів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1995488" y="1428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304800" y="838200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cs typeface="Times New Roman" charset="0"/>
              </a:rPr>
              <a:t>Модель </a:t>
            </a:r>
            <a:r>
              <a:rPr lang="ru-RU" sz="2400" dirty="0" err="1" smtClean="0">
                <a:cs typeface="Times New Roman" charset="0"/>
              </a:rPr>
              <a:t>бізнес-прецедентів</a:t>
            </a:r>
            <a:r>
              <a:rPr lang="ru-RU" sz="2400" dirty="0">
                <a:cs typeface="Times New Roman" charset="0"/>
              </a:rPr>
              <a:t>, </a:t>
            </a:r>
            <a:r>
              <a:rPr lang="ru-RU" sz="2400" dirty="0" err="1" smtClean="0">
                <a:cs typeface="Times New Roman" charset="0"/>
              </a:rPr>
              <a:t>що</a:t>
            </a:r>
            <a:r>
              <a:rPr lang="ru-RU" sz="2400" dirty="0" smtClean="0">
                <a:cs typeface="Times New Roman" charset="0"/>
              </a:rPr>
              <a:t> </a:t>
            </a:r>
            <a:r>
              <a:rPr lang="ru-RU" sz="2400" dirty="0" err="1" smtClean="0">
                <a:cs typeface="Times New Roman" charset="0"/>
              </a:rPr>
              <a:t>відображає</a:t>
            </a:r>
            <a:r>
              <a:rPr lang="ru-RU" sz="2400" dirty="0" smtClean="0">
                <a:cs typeface="Times New Roman" charset="0"/>
              </a:rPr>
              <a:t> </a:t>
            </a:r>
            <a:r>
              <a:rPr lang="ru-RU" sz="2400" dirty="0" err="1" smtClean="0">
                <a:cs typeface="Times New Roman" charset="0"/>
              </a:rPr>
              <a:t>обслуговування</a:t>
            </a:r>
            <a:r>
              <a:rPr lang="ru-RU" sz="2400" dirty="0" smtClean="0">
                <a:cs typeface="Times New Roman" charset="0"/>
              </a:rPr>
              <a:t> </a:t>
            </a:r>
            <a:r>
              <a:rPr lang="ru-RU" sz="2400" dirty="0" err="1" smtClean="0">
                <a:cs typeface="Times New Roman" charset="0"/>
              </a:rPr>
              <a:t>пацієнта</a:t>
            </a:r>
            <a:r>
              <a:rPr lang="ru-RU" sz="2400" dirty="0" smtClean="0">
                <a:cs typeface="Times New Roman" charset="0"/>
              </a:rPr>
              <a:t> </a:t>
            </a:r>
            <a:endParaRPr lang="ru-RU" sz="2400" dirty="0">
              <a:cs typeface="Times New Roman" charset="0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2190750" y="1566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983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777163" cy="485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90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960D-C96F-480C-A281-3249213551F8}" type="slidenum">
              <a:rPr lang="ru-RU"/>
              <a:pPr/>
              <a:t>42</a:t>
            </a:fld>
            <a:endParaRPr lang="ru-RU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ru-RU" sz="3600" b="1" dirty="0" err="1" smtClean="0">
                <a:cs typeface="Times New Roman" charset="0"/>
              </a:rPr>
              <a:t>Розробка</a:t>
            </a:r>
            <a:r>
              <a:rPr lang="ru-RU" sz="3600" b="1" dirty="0" smtClean="0">
                <a:cs typeface="Times New Roman" charset="0"/>
              </a:rPr>
              <a:t> </a:t>
            </a:r>
            <a:r>
              <a:rPr lang="ru-RU" sz="3600" b="1" dirty="0" err="1" smtClean="0">
                <a:cs typeface="Times New Roman" charset="0"/>
              </a:rPr>
              <a:t>моделі</a:t>
            </a:r>
            <a:r>
              <a:rPr lang="ru-RU" sz="3600" b="1" dirty="0" smtClean="0">
                <a:cs typeface="Times New Roman" charset="0"/>
              </a:rPr>
              <a:t> </a:t>
            </a:r>
            <a:r>
              <a:rPr lang="ru-RU" sz="3600" b="1" dirty="0" err="1" smtClean="0">
                <a:cs typeface="Times New Roman" charset="0"/>
              </a:rPr>
              <a:t>бізнес</a:t>
            </a:r>
            <a:r>
              <a:rPr lang="ru-RU" sz="3600" b="1" dirty="0" smtClean="0">
                <a:cs typeface="Times New Roman" charset="0"/>
              </a:rPr>
              <a:t>-об</a:t>
            </a:r>
            <a:r>
              <a:rPr lang="en-US" sz="3600" b="1" dirty="0" smtClean="0">
                <a:cs typeface="Times New Roman" charset="0"/>
              </a:rPr>
              <a:t>’</a:t>
            </a:r>
            <a:r>
              <a:rPr lang="uk-UA" sz="3600" b="1" dirty="0" smtClean="0">
                <a:cs typeface="Times New Roman" charset="0"/>
              </a:rPr>
              <a:t>є</a:t>
            </a:r>
            <a:r>
              <a:rPr lang="ru-RU" sz="3600" b="1" dirty="0" err="1" smtClean="0">
                <a:cs typeface="Times New Roman" charset="0"/>
              </a:rPr>
              <a:t>ктів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1928813" y="264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804988"/>
            <a:ext cx="6553200" cy="464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49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0FB1-E382-4E6C-ACC0-0BA42E2DF7DC}" type="slidenum">
              <a:rPr lang="ru-RU"/>
              <a:pPr/>
              <a:t>43</a:t>
            </a:fld>
            <a:endParaRPr lang="ru-RU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algn="ctr"/>
            <a:r>
              <a:rPr lang="ru-RU" sz="2800" dirty="0" err="1"/>
              <a:t>Виявлення</a:t>
            </a:r>
            <a:r>
              <a:rPr lang="ru-RU" sz="2800" dirty="0"/>
              <a:t> </a:t>
            </a:r>
            <a:r>
              <a:rPr lang="ru-RU" sz="2800" dirty="0" err="1"/>
              <a:t>прихованих</a:t>
            </a:r>
            <a:r>
              <a:rPr lang="ru-RU" sz="2800" dirty="0"/>
              <a:t> </a:t>
            </a:r>
            <a:r>
              <a:rPr lang="ru-RU" sz="2800" dirty="0" err="1"/>
              <a:t>атрибутів</a:t>
            </a:r>
            <a:r>
              <a:rPr lang="ru-RU" sz="2800" dirty="0"/>
              <a:t> </a:t>
            </a:r>
            <a:r>
              <a:rPr lang="ru-RU" sz="2800" dirty="0" err="1"/>
              <a:t>бізнес-сутностей</a:t>
            </a:r>
            <a:endParaRPr lang="ru-RU" sz="2800" dirty="0"/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914400" y="2081213"/>
          <a:ext cx="7391400" cy="398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Точечный рисунок" r:id="rId3" imgW="6439799" imgH="3333333" progId="Paint.Picture">
                  <p:embed/>
                </p:oleObj>
              </mc:Choice>
              <mc:Fallback>
                <p:oleObj name="Точечный рисунок" r:id="rId3" imgW="6439799" imgH="3333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81213"/>
                        <a:ext cx="7391400" cy="398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350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745F-CD19-4D97-8592-4131F55F80CF}" type="slidenum">
              <a:rPr lang="ru-RU"/>
              <a:pPr/>
              <a:t>44</a:t>
            </a:fld>
            <a:endParaRPr lang="ru-RU"/>
          </a:p>
        </p:txBody>
      </p:sp>
      <p:graphicFrame>
        <p:nvGraphicFramePr>
          <p:cNvPr id="10137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827088" y="908050"/>
          <a:ext cx="7529512" cy="520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Точечный рисунок" r:id="rId3" imgW="6706536" imgH="3296110" progId="Paint.Picture">
                  <p:embed/>
                </p:oleObj>
              </mc:Choice>
              <mc:Fallback>
                <p:oleObj name="Точечный рисунок" r:id="rId3" imgW="6706536" imgH="329611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08050"/>
                        <a:ext cx="7529512" cy="520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3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404664"/>
            <a:ext cx="6781800" cy="943000"/>
          </a:xfrm>
        </p:spPr>
        <p:txBody>
          <a:bodyPr/>
          <a:lstStyle/>
          <a:p>
            <a:r>
              <a:rPr lang="uk-UA" dirty="0" smtClean="0"/>
              <a:t>Домашнє завдання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556792"/>
            <a:ext cx="6912768" cy="381419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uk-UA" dirty="0" smtClean="0">
                <a:solidFill>
                  <a:schemeClr val="tx1"/>
                </a:solidFill>
              </a:rPr>
              <a:t>Які технології розробки ІС Ви знаєте? Наведіть приклади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 smtClean="0">
                <a:solidFill>
                  <a:schemeClr val="tx1"/>
                </a:solidFill>
              </a:rPr>
              <a:t>Чи доцільно на Вашу думку застосовувати етап проектування ІС? Чому</a:t>
            </a:r>
            <a:r>
              <a:rPr lang="uk-UA" dirty="0" smtClean="0">
                <a:solidFill>
                  <a:schemeClr val="tx1"/>
                </a:solidFill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endParaRPr lang="ru-RU" dirty="0">
              <a:solidFill>
                <a:schemeClr val="tx1"/>
              </a:solidFill>
            </a:endParaRPr>
          </a:p>
          <a:p>
            <a:endParaRPr lang="uk-UA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64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59632" y="2420888"/>
            <a:ext cx="6781800" cy="1600200"/>
          </a:xfrm>
        </p:spPr>
        <p:txBody>
          <a:bodyPr/>
          <a:lstStyle/>
          <a:p>
            <a:pPr algn="ctr"/>
            <a:r>
              <a:rPr lang="uk-UA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blipFill>
                  <a:blip r:embed="rId2"/>
                  <a:tile tx="0" ty="0" sx="100000" sy="100000" flip="none" algn="tl"/>
                </a:blip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Дякую за увагу!</a:t>
            </a:r>
            <a:endParaRPr lang="ru-RU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blipFill>
                <a:blip r:embed="rId2"/>
                <a:tile tx="0" ty="0" sx="100000" sy="100000" flip="none" algn="tl"/>
              </a:blip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73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творення нового документа." ma:contentTypeScope="" ma:versionID="423ed9f862b53b3723e0c68c59744d48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f3c64bf9194440085859e081236cc0aa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зображень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BD73D8-910A-4B5D-9D36-6E8E62722B79}"/>
</file>

<file path=customXml/itemProps2.xml><?xml version="1.0" encoding="utf-8"?>
<ds:datastoreItem xmlns:ds="http://schemas.openxmlformats.org/officeDocument/2006/customXml" ds:itemID="{862EB334-086A-48A1-97B3-80976365F639}"/>
</file>

<file path=customXml/itemProps3.xml><?xml version="1.0" encoding="utf-8"?>
<ds:datastoreItem xmlns:ds="http://schemas.openxmlformats.org/officeDocument/2006/customXml" ds:itemID="{D7AC3FF4-A6B3-4210-AE9C-62E1BCF113E6}"/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410</TotalTime>
  <Words>1789</Words>
  <Application>Microsoft Office PowerPoint</Application>
  <PresentationFormat>Экран (4:3)</PresentationFormat>
  <Paragraphs>250</Paragraphs>
  <Slides>46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46</vt:i4>
      </vt:variant>
    </vt:vector>
  </HeadingPairs>
  <TitlesOfParts>
    <vt:vector size="57" baseType="lpstr">
      <vt:lpstr>Arial Unicode MS</vt:lpstr>
      <vt:lpstr>Arial</vt:lpstr>
      <vt:lpstr>Book Antiqua</vt:lpstr>
      <vt:lpstr>Calibri</vt:lpstr>
      <vt:lpstr>Comic Sans MS</vt:lpstr>
      <vt:lpstr>Impact</vt:lpstr>
      <vt:lpstr>Times New Roman</vt:lpstr>
      <vt:lpstr>Wingdings</vt:lpstr>
      <vt:lpstr>NewsPrint</vt:lpstr>
      <vt:lpstr>Точечный рисунок</vt:lpstr>
      <vt:lpstr>Bitmap Image</vt:lpstr>
      <vt:lpstr>Предмет: Технології створення програмних продуктів Лекція 8. Моделювання документів. Технологія RUP</vt:lpstr>
      <vt:lpstr>Моделювання документів (бізнес-об’ектів)</vt:lpstr>
      <vt:lpstr>Моделювання документів (бізнес-об’ектів)</vt:lpstr>
      <vt:lpstr>Моделювання сценарію використання функції («Регистрация в картотеке»)</vt:lpstr>
      <vt:lpstr>Моделювання станів бізнес-об’єктів</vt:lpstr>
      <vt:lpstr>Розробка вимог до системи</vt:lpstr>
      <vt:lpstr>Бізнес-прецеденти, що відображаються в підсистемі</vt:lpstr>
      <vt:lpstr>Процеси,  що виконуються внутрішніми виконавцями та відображаються в системні функції</vt:lpstr>
      <vt:lpstr> Технологія RUP  (Rational Unified Process)</vt:lpstr>
      <vt:lpstr>Презентация PowerPoint</vt:lpstr>
      <vt:lpstr>Основні характеристики RUP:</vt:lpstr>
      <vt:lpstr>Презентация PowerPoint</vt:lpstr>
      <vt:lpstr>Презентация PowerPoint</vt:lpstr>
      <vt:lpstr>Презентация PowerPoint</vt:lpstr>
      <vt:lpstr>Презентация PowerPoint</vt:lpstr>
      <vt:lpstr>Концепції RUP</vt:lpstr>
      <vt:lpstr>1. Ітеративність</vt:lpstr>
      <vt:lpstr>2. Фазовий підхід</vt:lpstr>
      <vt:lpstr>3. Компонентно-орієнтована розробка</vt:lpstr>
      <vt:lpstr>4. Заснованість на архітектурі</vt:lpstr>
      <vt:lpstr>5. Основні дисципліни процесу</vt:lpstr>
      <vt:lpstr>6. Ролі та артефакти</vt:lpstr>
      <vt:lpstr>7. Адаптивність та налаштування</vt:lpstr>
      <vt:lpstr>Переваги концепції RUP: </vt:lpstr>
      <vt:lpstr>Архітектура RUP</vt:lpstr>
      <vt:lpstr>Этапи  рабіт у відповідності з RUP</vt:lpstr>
      <vt:lpstr>Презентация PowerPoint</vt:lpstr>
      <vt:lpstr>Взаємозв’язки моделей</vt:lpstr>
      <vt:lpstr>Модель RUP </vt:lpstr>
      <vt:lpstr>Артефакти проекту</vt:lpstr>
      <vt:lpstr>Схема процесів бізнес-моделювання</vt:lpstr>
      <vt:lpstr>Бізнес-прецеденти</vt:lpstr>
      <vt:lpstr>Властивості бізнес-прецедентів</vt:lpstr>
      <vt:lpstr>Розробка моделі бізнес-прецедентів </vt:lpstr>
      <vt:lpstr>Розробка моделі бізнес-прецедентів (деталізація прецедентів) </vt:lpstr>
      <vt:lpstr>Розробка опису прецедентів</vt:lpstr>
      <vt:lpstr> Діаграма видів діяльності для прецеденту «Надання медичної допомоги»</vt:lpstr>
      <vt:lpstr>Розробка моделі бізнес-об’єктів</vt:lpstr>
      <vt:lpstr>Виокремлення бізнес-суб’єктів</vt:lpstr>
      <vt:lpstr>Ієрархія класів бізнес-суб’єктів </vt:lpstr>
      <vt:lpstr>Модифікація моделі бізнес-прецедентів </vt:lpstr>
      <vt:lpstr>Розробка моделі бізнес-об’єктів </vt:lpstr>
      <vt:lpstr>Виявлення прихованих атрибутів бізнес-сутностей</vt:lpstr>
      <vt:lpstr>Презентация PowerPoint</vt:lpstr>
      <vt:lpstr>Домашнє завдання</vt:lpstr>
      <vt:lpstr>Дякую за увагу!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Предмет: Технології комп’ютерного проектування Лекція 1</dc:title>
  <dc:creator>OVK</dc:creator>
  <cp:lastModifiedBy>admin</cp:lastModifiedBy>
  <cp:revision>37</cp:revision>
  <cp:lastPrinted>2015-09-15T10:07:24Z</cp:lastPrinted>
  <dcterms:modified xsi:type="dcterms:W3CDTF">2024-11-09T07:06:26Z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</Properties>
</file>