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1.xml" ContentType="application/vnd.openxmlformats-officedocument.theme+xml"/>
  <Override PartName="/ppt/diagrams/quickStyle3.xml" ContentType="application/vnd.openxmlformats-officedocument.drawingml.diagramStyl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2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3" r:id="rId20"/>
    <p:sldId id="291" r:id="rId21"/>
    <p:sldId id="294" r:id="rId22"/>
    <p:sldId id="295" r:id="rId23"/>
    <p:sldId id="257" r:id="rId24"/>
    <p:sldId id="258" r:id="rId25"/>
    <p:sldId id="259" r:id="rId26"/>
    <p:sldId id="26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70" r:id="rId37"/>
    <p:sldId id="272" r:id="rId38"/>
    <p:sldId id="296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 autoAdjust="0"/>
    <p:restoredTop sz="97902" autoAdjust="0"/>
  </p:normalViewPr>
  <p:slideViewPr>
    <p:cSldViewPr>
      <p:cViewPr varScale="1">
        <p:scale>
          <a:sx n="52" d="100"/>
          <a:sy n="52" d="100"/>
        </p:scale>
        <p:origin x="128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BD9D96-C777-4E2E-970C-2B41E5F4C6A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8DA589C8-2BA8-4FD8-AF3B-19B1EFAF647C}">
      <dgm:prSet phldrT="[Текст]"/>
      <dgm:spPr/>
      <dgm:t>
        <a:bodyPr/>
        <a:lstStyle/>
        <a:p>
          <a:r>
            <a:rPr lang="uk-UA" dirty="0"/>
            <a:t>Інформація</a:t>
          </a:r>
          <a:endParaRPr lang="ru-RU" dirty="0"/>
        </a:p>
      </dgm:t>
    </dgm:pt>
    <dgm:pt modelId="{D0CA009B-9935-4CF8-9615-93A5C9DEA516}" type="parTrans" cxnId="{2D5BD2C9-69F3-4844-96EC-D73048A4F72E}">
      <dgm:prSet/>
      <dgm:spPr/>
      <dgm:t>
        <a:bodyPr/>
        <a:lstStyle/>
        <a:p>
          <a:endParaRPr lang="ru-RU"/>
        </a:p>
      </dgm:t>
    </dgm:pt>
    <dgm:pt modelId="{5D9737A5-B96F-4135-AE71-6BE68ABB794C}" type="sibTrans" cxnId="{2D5BD2C9-69F3-4844-96EC-D73048A4F72E}">
      <dgm:prSet/>
      <dgm:spPr/>
      <dgm:t>
        <a:bodyPr/>
        <a:lstStyle/>
        <a:p>
          <a:endParaRPr lang="ru-RU"/>
        </a:p>
      </dgm:t>
    </dgm:pt>
    <dgm:pt modelId="{1A7FB18A-55C8-4688-9F1D-A6E39784AE45}">
      <dgm:prSet phldrT="[Текст]"/>
      <dgm:spPr/>
      <dgm:t>
        <a:bodyPr/>
        <a:lstStyle/>
        <a:p>
          <a:r>
            <a:rPr lang="uk-UA" dirty="0"/>
            <a:t>Дані</a:t>
          </a:r>
          <a:endParaRPr lang="ru-RU" dirty="0"/>
        </a:p>
      </dgm:t>
    </dgm:pt>
    <dgm:pt modelId="{BFEDFFA8-4D92-44AB-B4F7-0CC5679E9925}" type="parTrans" cxnId="{EFB5E3AD-6D18-4F3B-846B-F73F17D0A1B4}">
      <dgm:prSet/>
      <dgm:spPr/>
      <dgm:t>
        <a:bodyPr/>
        <a:lstStyle/>
        <a:p>
          <a:endParaRPr lang="ru-RU"/>
        </a:p>
      </dgm:t>
    </dgm:pt>
    <dgm:pt modelId="{C98D0510-B784-479C-8243-B5C01467927B}" type="sibTrans" cxnId="{EFB5E3AD-6D18-4F3B-846B-F73F17D0A1B4}">
      <dgm:prSet/>
      <dgm:spPr/>
      <dgm:t>
        <a:bodyPr/>
        <a:lstStyle/>
        <a:p>
          <a:endParaRPr lang="ru-RU"/>
        </a:p>
      </dgm:t>
    </dgm:pt>
    <dgm:pt modelId="{4D6B5F59-4F66-4671-9EBB-3C412A5D4CB7}">
      <dgm:prSet phldrT="[Текст]"/>
      <dgm:spPr/>
      <dgm:t>
        <a:bodyPr/>
        <a:lstStyle/>
        <a:p>
          <a:r>
            <a:rPr lang="uk-UA" dirty="0"/>
            <a:t>Інформація</a:t>
          </a:r>
          <a:endParaRPr lang="ru-RU" dirty="0"/>
        </a:p>
      </dgm:t>
    </dgm:pt>
    <dgm:pt modelId="{2645E949-4BB6-4AE1-AC14-A9F634A999A4}" type="parTrans" cxnId="{D1509DE1-249E-4878-97FC-0273D208489E}">
      <dgm:prSet/>
      <dgm:spPr/>
      <dgm:t>
        <a:bodyPr/>
        <a:lstStyle/>
        <a:p>
          <a:endParaRPr lang="ru-RU"/>
        </a:p>
      </dgm:t>
    </dgm:pt>
    <dgm:pt modelId="{18A30310-F0B2-43A9-B4CF-A48430930E53}" type="sibTrans" cxnId="{D1509DE1-249E-4878-97FC-0273D208489E}">
      <dgm:prSet/>
      <dgm:spPr/>
      <dgm:t>
        <a:bodyPr/>
        <a:lstStyle/>
        <a:p>
          <a:endParaRPr lang="ru-RU"/>
        </a:p>
      </dgm:t>
    </dgm:pt>
    <dgm:pt modelId="{CD1214F1-E20D-4034-96EC-73391C2B7682}" type="pres">
      <dgm:prSet presAssocID="{1CBD9D96-C777-4E2E-970C-2B41E5F4C6AD}" presName="Name0" presStyleCnt="0">
        <dgm:presLayoutVars>
          <dgm:dir/>
          <dgm:animLvl val="lvl"/>
          <dgm:resizeHandles val="exact"/>
        </dgm:presLayoutVars>
      </dgm:prSet>
      <dgm:spPr/>
    </dgm:pt>
    <dgm:pt modelId="{622D185B-88C1-47E6-A699-5FB6051B9DA3}" type="pres">
      <dgm:prSet presAssocID="{8DA589C8-2BA8-4FD8-AF3B-19B1EFAF647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2094FEB-9AF3-4D21-9985-3C03CF259CF6}" type="pres">
      <dgm:prSet presAssocID="{5D9737A5-B96F-4135-AE71-6BE68ABB794C}" presName="parTxOnlySpace" presStyleCnt="0"/>
      <dgm:spPr/>
    </dgm:pt>
    <dgm:pt modelId="{95C92FAF-40B0-4B72-9290-D55AEA527F56}" type="pres">
      <dgm:prSet presAssocID="{1A7FB18A-55C8-4688-9F1D-A6E39784AE4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72D14C0-3AAF-424A-BB56-9B63C96D5435}" type="pres">
      <dgm:prSet presAssocID="{C98D0510-B784-479C-8243-B5C01467927B}" presName="parTxOnlySpace" presStyleCnt="0"/>
      <dgm:spPr/>
    </dgm:pt>
    <dgm:pt modelId="{969048C8-4FBA-473B-A585-A3E95E6AF768}" type="pres">
      <dgm:prSet presAssocID="{4D6B5F59-4F66-4671-9EBB-3C412A5D4CB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BAEF815-CD27-4038-B2EE-EA27BF1B27E6}" type="presOf" srcId="{1A7FB18A-55C8-4688-9F1D-A6E39784AE45}" destId="{95C92FAF-40B0-4B72-9290-D55AEA527F56}" srcOrd="0" destOrd="0" presId="urn:microsoft.com/office/officeart/2005/8/layout/chevron1"/>
    <dgm:cxn modelId="{F411155E-8E8F-438A-B2F3-5E1C808D7353}" type="presOf" srcId="{1CBD9D96-C777-4E2E-970C-2B41E5F4C6AD}" destId="{CD1214F1-E20D-4034-96EC-73391C2B7682}" srcOrd="0" destOrd="0" presId="urn:microsoft.com/office/officeart/2005/8/layout/chevron1"/>
    <dgm:cxn modelId="{43BF1E48-B046-4A58-A16B-5E5A5D8B61F0}" type="presOf" srcId="{4D6B5F59-4F66-4671-9EBB-3C412A5D4CB7}" destId="{969048C8-4FBA-473B-A585-A3E95E6AF768}" srcOrd="0" destOrd="0" presId="urn:microsoft.com/office/officeart/2005/8/layout/chevron1"/>
    <dgm:cxn modelId="{EFB5E3AD-6D18-4F3B-846B-F73F17D0A1B4}" srcId="{1CBD9D96-C777-4E2E-970C-2B41E5F4C6AD}" destId="{1A7FB18A-55C8-4688-9F1D-A6E39784AE45}" srcOrd="1" destOrd="0" parTransId="{BFEDFFA8-4D92-44AB-B4F7-0CC5679E9925}" sibTransId="{C98D0510-B784-479C-8243-B5C01467927B}"/>
    <dgm:cxn modelId="{8FF43AC0-EC8B-420A-842D-7C6B12CA4220}" type="presOf" srcId="{8DA589C8-2BA8-4FD8-AF3B-19B1EFAF647C}" destId="{622D185B-88C1-47E6-A699-5FB6051B9DA3}" srcOrd="0" destOrd="0" presId="urn:microsoft.com/office/officeart/2005/8/layout/chevron1"/>
    <dgm:cxn modelId="{2D5BD2C9-69F3-4844-96EC-D73048A4F72E}" srcId="{1CBD9D96-C777-4E2E-970C-2B41E5F4C6AD}" destId="{8DA589C8-2BA8-4FD8-AF3B-19B1EFAF647C}" srcOrd="0" destOrd="0" parTransId="{D0CA009B-9935-4CF8-9615-93A5C9DEA516}" sibTransId="{5D9737A5-B96F-4135-AE71-6BE68ABB794C}"/>
    <dgm:cxn modelId="{D1509DE1-249E-4878-97FC-0273D208489E}" srcId="{1CBD9D96-C777-4E2E-970C-2B41E5F4C6AD}" destId="{4D6B5F59-4F66-4671-9EBB-3C412A5D4CB7}" srcOrd="2" destOrd="0" parTransId="{2645E949-4BB6-4AE1-AC14-A9F634A999A4}" sibTransId="{18A30310-F0B2-43A9-B4CF-A48430930E53}"/>
    <dgm:cxn modelId="{15DAF018-7AE3-4536-840E-6927320C7DFA}" type="presParOf" srcId="{CD1214F1-E20D-4034-96EC-73391C2B7682}" destId="{622D185B-88C1-47E6-A699-5FB6051B9DA3}" srcOrd="0" destOrd="0" presId="urn:microsoft.com/office/officeart/2005/8/layout/chevron1"/>
    <dgm:cxn modelId="{1B069903-4943-43B3-8929-B739DAA24B48}" type="presParOf" srcId="{CD1214F1-E20D-4034-96EC-73391C2B7682}" destId="{B2094FEB-9AF3-4D21-9985-3C03CF259CF6}" srcOrd="1" destOrd="0" presId="urn:microsoft.com/office/officeart/2005/8/layout/chevron1"/>
    <dgm:cxn modelId="{56432D9A-DD77-4DBA-A679-0680F700853F}" type="presParOf" srcId="{CD1214F1-E20D-4034-96EC-73391C2B7682}" destId="{95C92FAF-40B0-4B72-9290-D55AEA527F56}" srcOrd="2" destOrd="0" presId="urn:microsoft.com/office/officeart/2005/8/layout/chevron1"/>
    <dgm:cxn modelId="{A8356A00-EADA-4470-AE48-081EABD730C9}" type="presParOf" srcId="{CD1214F1-E20D-4034-96EC-73391C2B7682}" destId="{572D14C0-3AAF-424A-BB56-9B63C96D5435}" srcOrd="3" destOrd="0" presId="urn:microsoft.com/office/officeart/2005/8/layout/chevron1"/>
    <dgm:cxn modelId="{CF71393F-CB48-4CED-AC1D-CD7F8FB5855C}" type="presParOf" srcId="{CD1214F1-E20D-4034-96EC-73391C2B7682}" destId="{969048C8-4FBA-473B-A585-A3E95E6AF768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83BDC4-0482-4FA2-9E4D-D8E309334478}" type="doc">
      <dgm:prSet loTypeId="urn:microsoft.com/office/officeart/2005/8/layout/arrow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01A0C0BE-92E9-48CC-8385-59BF099E5DAF}">
      <dgm:prSet phldrT="[Текст]"/>
      <dgm:spPr/>
      <dgm:t>
        <a:bodyPr/>
        <a:lstStyle/>
        <a:p>
          <a:r>
            <a:rPr lang="uk-UA" dirty="0"/>
            <a:t>Програми</a:t>
          </a:r>
          <a:endParaRPr lang="ru-RU" dirty="0"/>
        </a:p>
      </dgm:t>
    </dgm:pt>
    <dgm:pt modelId="{71DD6FD3-D089-4468-A297-CED8AB135553}" type="parTrans" cxnId="{0BC3EDFE-A6CF-4334-B666-AA0866923368}">
      <dgm:prSet/>
      <dgm:spPr/>
      <dgm:t>
        <a:bodyPr/>
        <a:lstStyle/>
        <a:p>
          <a:endParaRPr lang="ru-RU"/>
        </a:p>
      </dgm:t>
    </dgm:pt>
    <dgm:pt modelId="{E7D8CDD7-5DE4-4189-AD75-9AE175D36A19}" type="sibTrans" cxnId="{0BC3EDFE-A6CF-4334-B666-AA0866923368}">
      <dgm:prSet/>
      <dgm:spPr/>
      <dgm:t>
        <a:bodyPr/>
        <a:lstStyle/>
        <a:p>
          <a:endParaRPr lang="ru-RU"/>
        </a:p>
      </dgm:t>
    </dgm:pt>
    <dgm:pt modelId="{CF612E59-51E2-4B4E-A889-E1440D4A0086}">
      <dgm:prSet phldrT="[Текст]"/>
      <dgm:spPr/>
      <dgm:t>
        <a:bodyPr/>
        <a:lstStyle/>
        <a:p>
          <a:r>
            <a:rPr lang="uk-UA" dirty="0"/>
            <a:t>Дані</a:t>
          </a:r>
          <a:endParaRPr lang="ru-RU" dirty="0"/>
        </a:p>
      </dgm:t>
    </dgm:pt>
    <dgm:pt modelId="{7BE83797-E811-4B31-89AF-D0DAD3945ABE}" type="parTrans" cxnId="{81A48786-A21F-4E17-9B25-E249C1E7C235}">
      <dgm:prSet/>
      <dgm:spPr/>
      <dgm:t>
        <a:bodyPr/>
        <a:lstStyle/>
        <a:p>
          <a:endParaRPr lang="ru-RU"/>
        </a:p>
      </dgm:t>
    </dgm:pt>
    <dgm:pt modelId="{7B6E6292-C247-4038-9D5F-F0F60B7188EB}" type="sibTrans" cxnId="{81A48786-A21F-4E17-9B25-E249C1E7C235}">
      <dgm:prSet/>
      <dgm:spPr/>
      <dgm:t>
        <a:bodyPr/>
        <a:lstStyle/>
        <a:p>
          <a:endParaRPr lang="ru-RU"/>
        </a:p>
      </dgm:t>
    </dgm:pt>
    <dgm:pt modelId="{9D91C8DE-A885-413F-AFC3-77888A51B5A4}" type="pres">
      <dgm:prSet presAssocID="{B283BDC4-0482-4FA2-9E4D-D8E309334478}" presName="diagram" presStyleCnt="0">
        <dgm:presLayoutVars>
          <dgm:dir/>
          <dgm:resizeHandles val="exact"/>
        </dgm:presLayoutVars>
      </dgm:prSet>
      <dgm:spPr/>
    </dgm:pt>
    <dgm:pt modelId="{773012F9-2C42-4744-BE3E-C0D518F0D47B}" type="pres">
      <dgm:prSet presAssocID="{01A0C0BE-92E9-48CC-8385-59BF099E5DAF}" presName="arrow" presStyleLbl="node1" presStyleIdx="0" presStyleCnt="2">
        <dgm:presLayoutVars>
          <dgm:bulletEnabled val="1"/>
        </dgm:presLayoutVars>
      </dgm:prSet>
      <dgm:spPr/>
    </dgm:pt>
    <dgm:pt modelId="{5B093BEB-7224-4859-BBBD-2BBEC1EB3556}" type="pres">
      <dgm:prSet presAssocID="{CF612E59-51E2-4B4E-A889-E1440D4A0086}" presName="arrow" presStyleLbl="node1" presStyleIdx="1" presStyleCnt="2">
        <dgm:presLayoutVars>
          <dgm:bulletEnabled val="1"/>
        </dgm:presLayoutVars>
      </dgm:prSet>
      <dgm:spPr/>
    </dgm:pt>
  </dgm:ptLst>
  <dgm:cxnLst>
    <dgm:cxn modelId="{89FCAE3D-F301-4CB3-A4E3-1522C1C3949D}" type="presOf" srcId="{CF612E59-51E2-4B4E-A889-E1440D4A0086}" destId="{5B093BEB-7224-4859-BBBD-2BBEC1EB3556}" srcOrd="0" destOrd="0" presId="urn:microsoft.com/office/officeart/2005/8/layout/arrow5"/>
    <dgm:cxn modelId="{7FA57A7A-25D3-4375-B5C2-BF5927C70F6C}" type="presOf" srcId="{B283BDC4-0482-4FA2-9E4D-D8E309334478}" destId="{9D91C8DE-A885-413F-AFC3-77888A51B5A4}" srcOrd="0" destOrd="0" presId="urn:microsoft.com/office/officeart/2005/8/layout/arrow5"/>
    <dgm:cxn modelId="{81A48786-A21F-4E17-9B25-E249C1E7C235}" srcId="{B283BDC4-0482-4FA2-9E4D-D8E309334478}" destId="{CF612E59-51E2-4B4E-A889-E1440D4A0086}" srcOrd="1" destOrd="0" parTransId="{7BE83797-E811-4B31-89AF-D0DAD3945ABE}" sibTransId="{7B6E6292-C247-4038-9D5F-F0F60B7188EB}"/>
    <dgm:cxn modelId="{409BBBFD-CC85-41E7-AF73-037ADEE1D3EA}" type="presOf" srcId="{01A0C0BE-92E9-48CC-8385-59BF099E5DAF}" destId="{773012F9-2C42-4744-BE3E-C0D518F0D47B}" srcOrd="0" destOrd="0" presId="urn:microsoft.com/office/officeart/2005/8/layout/arrow5"/>
    <dgm:cxn modelId="{0BC3EDFE-A6CF-4334-B666-AA0866923368}" srcId="{B283BDC4-0482-4FA2-9E4D-D8E309334478}" destId="{01A0C0BE-92E9-48CC-8385-59BF099E5DAF}" srcOrd="0" destOrd="0" parTransId="{71DD6FD3-D089-4468-A297-CED8AB135553}" sibTransId="{E7D8CDD7-5DE4-4189-AD75-9AE175D36A19}"/>
    <dgm:cxn modelId="{245D89D7-426A-400B-A58D-C89AF3FCD7EB}" type="presParOf" srcId="{9D91C8DE-A885-413F-AFC3-77888A51B5A4}" destId="{773012F9-2C42-4744-BE3E-C0D518F0D47B}" srcOrd="0" destOrd="0" presId="urn:microsoft.com/office/officeart/2005/8/layout/arrow5"/>
    <dgm:cxn modelId="{C5F94EF3-913C-461C-826E-D71C5D8A7587}" type="presParOf" srcId="{9D91C8DE-A885-413F-AFC3-77888A51B5A4}" destId="{5B093BEB-7224-4859-BBBD-2BBEC1EB3556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B17D6F-4416-484A-8989-E0ABEA1295C9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2AF525B0-4F9A-4471-9D25-F7CB5D211597}">
      <dgm:prSet phldrT="[Текст]" custT="1"/>
      <dgm:spPr/>
      <dgm:t>
        <a:bodyPr/>
        <a:lstStyle/>
        <a:p>
          <a:r>
            <a:rPr lang="ru-RU" sz="2400" dirty="0">
              <a:solidFill>
                <a:schemeClr val="bg1"/>
              </a:solidFill>
            </a:rPr>
            <a:t>БД </a:t>
          </a:r>
          <a:r>
            <a:rPr lang="ru-RU" sz="2400" dirty="0" err="1">
              <a:solidFill>
                <a:schemeClr val="bg1"/>
              </a:solidFill>
            </a:rPr>
            <a:t>складається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зі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всіх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екземплярів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записів</a:t>
          </a:r>
          <a:r>
            <a:rPr lang="ru-RU" sz="2400" dirty="0">
              <a:solidFill>
                <a:schemeClr val="bg1"/>
              </a:solidFill>
            </a:rPr>
            <a:t>, </a:t>
          </a:r>
          <a:r>
            <a:rPr lang="ru-RU" sz="2400" dirty="0" err="1">
              <a:solidFill>
                <a:schemeClr val="bg1"/>
              </a:solidFill>
            </a:rPr>
            <a:t>екземплярів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наборів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записів</a:t>
          </a:r>
          <a:r>
            <a:rPr lang="ru-RU" sz="2400" dirty="0">
              <a:solidFill>
                <a:schemeClr val="bg1"/>
              </a:solidFill>
            </a:rPr>
            <a:t> і областей, </a:t>
          </a:r>
          <a:r>
            <a:rPr lang="ru-RU" sz="2400" dirty="0" err="1">
              <a:solidFill>
                <a:schemeClr val="bg1"/>
              </a:solidFill>
            </a:rPr>
            <a:t>які</a:t>
          </a:r>
          <a:r>
            <a:rPr lang="ru-RU" sz="2400" dirty="0">
              <a:solidFill>
                <a:schemeClr val="bg1"/>
              </a:solidFill>
            </a:rPr>
            <a:t> </a:t>
          </a:r>
        </a:p>
        <a:p>
          <a:r>
            <a:rPr lang="ru-RU" sz="2400" dirty="0" err="1">
              <a:solidFill>
                <a:schemeClr val="bg1"/>
              </a:solidFill>
            </a:rPr>
            <a:t>контролюються</a:t>
          </a:r>
          <a:r>
            <a:rPr lang="ru-RU" sz="2400" dirty="0">
              <a:solidFill>
                <a:schemeClr val="bg1"/>
              </a:solidFill>
            </a:rPr>
            <a:t> конкретною схемою</a:t>
          </a:r>
        </a:p>
      </dgm:t>
    </dgm:pt>
    <dgm:pt modelId="{88190D33-DFD3-4E36-8B7C-141484BD5045}" type="parTrans" cxnId="{1F13C6A3-9711-466D-8E07-71FD39B72B5D}">
      <dgm:prSet/>
      <dgm:spPr/>
      <dgm:t>
        <a:bodyPr/>
        <a:lstStyle/>
        <a:p>
          <a:endParaRPr lang="ru-RU"/>
        </a:p>
      </dgm:t>
    </dgm:pt>
    <dgm:pt modelId="{C9291EA9-2339-4669-8F2F-62AD55823D0F}" type="sibTrans" cxnId="{1F13C6A3-9711-466D-8E07-71FD39B72B5D}">
      <dgm:prSet/>
      <dgm:spPr/>
      <dgm:t>
        <a:bodyPr/>
        <a:lstStyle/>
        <a:p>
          <a:endParaRPr lang="ru-RU"/>
        </a:p>
      </dgm:t>
    </dgm:pt>
    <dgm:pt modelId="{C2EF5090-CB0C-4E8B-BFEE-A1ED15E40CAE}">
      <dgm:prSet phldrT="[Текст]" custT="1"/>
      <dgm:spPr/>
      <dgm:t>
        <a:bodyPr/>
        <a:lstStyle/>
        <a:p>
          <a:r>
            <a:rPr lang="ru-RU" sz="2400" dirty="0" err="1">
              <a:solidFill>
                <a:schemeClr val="bg1"/>
              </a:solidFill>
            </a:rPr>
            <a:t>Під</a:t>
          </a:r>
          <a:r>
            <a:rPr lang="ru-RU" sz="2400" dirty="0">
              <a:solidFill>
                <a:schemeClr val="bg1"/>
              </a:solidFill>
            </a:rPr>
            <a:t> схемою БД </a:t>
          </a:r>
          <a:r>
            <a:rPr lang="ru-RU" sz="2400" dirty="0" err="1">
              <a:solidFill>
                <a:schemeClr val="bg1"/>
              </a:solidFill>
            </a:rPr>
            <a:t>можна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розуміти</a:t>
          </a:r>
          <a:r>
            <a:rPr lang="ru-RU" sz="2400" dirty="0">
              <a:solidFill>
                <a:schemeClr val="bg1"/>
              </a:solidFill>
            </a:rPr>
            <a:t> карту </a:t>
          </a:r>
          <a:r>
            <a:rPr lang="ru-RU" sz="2400" dirty="0" err="1">
              <a:solidFill>
                <a:schemeClr val="bg1"/>
              </a:solidFill>
            </a:rPr>
            <a:t>всієї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логічної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структури</a:t>
          </a:r>
          <a:r>
            <a:rPr lang="ru-RU" sz="2400" dirty="0">
              <a:solidFill>
                <a:schemeClr val="bg1"/>
              </a:solidFill>
            </a:rPr>
            <a:t> БД</a:t>
          </a:r>
        </a:p>
      </dgm:t>
    </dgm:pt>
    <dgm:pt modelId="{D9D8DD05-FF1B-44F7-BC49-2CBAE5B46F72}" type="parTrans" cxnId="{784D5DAF-0EB6-4EF3-AE30-F4090DC60C7B}">
      <dgm:prSet/>
      <dgm:spPr/>
      <dgm:t>
        <a:bodyPr/>
        <a:lstStyle/>
        <a:p>
          <a:endParaRPr lang="ru-RU"/>
        </a:p>
      </dgm:t>
    </dgm:pt>
    <dgm:pt modelId="{7A603A3D-9EF9-4C56-B510-197DB456D20C}" type="sibTrans" cxnId="{784D5DAF-0EB6-4EF3-AE30-F4090DC60C7B}">
      <dgm:prSet/>
      <dgm:spPr/>
      <dgm:t>
        <a:bodyPr/>
        <a:lstStyle/>
        <a:p>
          <a:endParaRPr lang="ru-RU"/>
        </a:p>
      </dgm:t>
    </dgm:pt>
    <dgm:pt modelId="{EA759348-7B29-4641-8FE1-8472112DDAF5}">
      <dgm:prSet phldrT="[Текст]" custT="1"/>
      <dgm:spPr/>
      <dgm:t>
        <a:bodyPr/>
        <a:lstStyle/>
        <a:p>
          <a:r>
            <a:rPr lang="ru-RU" sz="2400" dirty="0">
              <a:solidFill>
                <a:schemeClr val="bg1"/>
              </a:solidFill>
            </a:rPr>
            <a:t>СКБД </a:t>
          </a:r>
          <a:r>
            <a:rPr lang="ru-RU" sz="2400" dirty="0" err="1">
              <a:solidFill>
                <a:schemeClr val="bg1"/>
              </a:solidFill>
            </a:rPr>
            <a:t>називається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сукупність</a:t>
          </a:r>
          <a:r>
            <a:rPr lang="ru-RU" sz="2400" dirty="0">
              <a:solidFill>
                <a:schemeClr val="bg1"/>
              </a:solidFill>
            </a:rPr>
            <a:t> ПЗ, </a:t>
          </a:r>
          <a:r>
            <a:rPr lang="ru-RU" sz="2400" dirty="0" err="1">
              <a:solidFill>
                <a:schemeClr val="bg1"/>
              </a:solidFill>
            </a:rPr>
            <a:t>необхідних</a:t>
          </a:r>
          <a:r>
            <a:rPr lang="ru-RU" sz="2400" dirty="0">
              <a:solidFill>
                <a:schemeClr val="bg1"/>
              </a:solidFill>
            </a:rPr>
            <a:t> для  </a:t>
          </a:r>
          <a:r>
            <a:rPr lang="ru-RU" sz="2400" dirty="0" err="1">
              <a:solidFill>
                <a:schemeClr val="bg1"/>
              </a:solidFill>
            </a:rPr>
            <a:t>використання</a:t>
          </a:r>
          <a:r>
            <a:rPr lang="ru-RU" sz="2400" dirty="0">
              <a:solidFill>
                <a:schemeClr val="bg1"/>
              </a:solidFill>
            </a:rPr>
            <a:t> БД і </a:t>
          </a:r>
          <a:r>
            <a:rPr lang="ru-RU" sz="2400" dirty="0" err="1">
              <a:solidFill>
                <a:schemeClr val="bg1"/>
              </a:solidFill>
            </a:rPr>
            <a:t>подання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розробникам</a:t>
          </a:r>
          <a:r>
            <a:rPr lang="ru-RU" sz="2400" dirty="0">
              <a:solidFill>
                <a:schemeClr val="bg1"/>
              </a:solidFill>
            </a:rPr>
            <a:t> і </a:t>
          </a:r>
          <a:r>
            <a:rPr lang="ru-RU" sz="2400" dirty="0" err="1">
              <a:solidFill>
                <a:schemeClr val="bg1"/>
              </a:solidFill>
            </a:rPr>
            <a:t>користувачам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безлічі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різних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подань</a:t>
          </a:r>
          <a:r>
            <a:rPr lang="ru-RU" sz="2400" dirty="0">
              <a:solidFill>
                <a:schemeClr val="bg1"/>
              </a:solidFill>
            </a:rPr>
            <a:t> </a:t>
          </a:r>
          <a:r>
            <a:rPr lang="ru-RU" sz="2400" dirty="0" err="1">
              <a:solidFill>
                <a:schemeClr val="bg1"/>
              </a:solidFill>
            </a:rPr>
            <a:t>даних</a:t>
          </a:r>
          <a:endParaRPr lang="ru-RU" sz="2400" dirty="0">
            <a:solidFill>
              <a:schemeClr val="bg1"/>
            </a:solidFill>
          </a:endParaRPr>
        </a:p>
      </dgm:t>
    </dgm:pt>
    <dgm:pt modelId="{90B7D09A-185C-49BF-821A-70EE8DC469BB}" type="parTrans" cxnId="{D14FB2C4-0A26-41D5-A023-7CCA2C22930D}">
      <dgm:prSet/>
      <dgm:spPr/>
      <dgm:t>
        <a:bodyPr/>
        <a:lstStyle/>
        <a:p>
          <a:endParaRPr lang="ru-RU"/>
        </a:p>
      </dgm:t>
    </dgm:pt>
    <dgm:pt modelId="{9B8C0675-F849-4F2A-9D58-2E739F702585}" type="sibTrans" cxnId="{D14FB2C4-0A26-41D5-A023-7CCA2C22930D}">
      <dgm:prSet/>
      <dgm:spPr/>
      <dgm:t>
        <a:bodyPr/>
        <a:lstStyle/>
        <a:p>
          <a:endParaRPr lang="ru-RU"/>
        </a:p>
      </dgm:t>
    </dgm:pt>
    <dgm:pt modelId="{3C12050E-984F-47FA-8A2E-CC21C083D46D}" type="pres">
      <dgm:prSet presAssocID="{4BB17D6F-4416-484A-8989-E0ABEA1295C9}" presName="linear" presStyleCnt="0">
        <dgm:presLayoutVars>
          <dgm:dir/>
          <dgm:animLvl val="lvl"/>
          <dgm:resizeHandles val="exact"/>
        </dgm:presLayoutVars>
      </dgm:prSet>
      <dgm:spPr/>
    </dgm:pt>
    <dgm:pt modelId="{73046D16-1142-4843-A309-4EC673B16C31}" type="pres">
      <dgm:prSet presAssocID="{2AF525B0-4F9A-4471-9D25-F7CB5D211597}" presName="parentLin" presStyleCnt="0"/>
      <dgm:spPr/>
    </dgm:pt>
    <dgm:pt modelId="{E4160DDB-7132-4EC4-9403-8D697494B78D}" type="pres">
      <dgm:prSet presAssocID="{2AF525B0-4F9A-4471-9D25-F7CB5D211597}" presName="parentLeftMargin" presStyleLbl="node1" presStyleIdx="0" presStyleCnt="3"/>
      <dgm:spPr/>
    </dgm:pt>
    <dgm:pt modelId="{8BB1186C-8B65-4F5B-A665-CECA874480F4}" type="pres">
      <dgm:prSet presAssocID="{2AF525B0-4F9A-4471-9D25-F7CB5D211597}" presName="parentText" presStyleLbl="node1" presStyleIdx="0" presStyleCnt="3" custScaleX="132208" custScaleY="105347">
        <dgm:presLayoutVars>
          <dgm:chMax val="0"/>
          <dgm:bulletEnabled val="1"/>
        </dgm:presLayoutVars>
      </dgm:prSet>
      <dgm:spPr/>
    </dgm:pt>
    <dgm:pt modelId="{9228C65B-BB68-4220-92A7-34569AFC9C17}" type="pres">
      <dgm:prSet presAssocID="{2AF525B0-4F9A-4471-9D25-F7CB5D211597}" presName="negativeSpace" presStyleCnt="0"/>
      <dgm:spPr/>
    </dgm:pt>
    <dgm:pt modelId="{FD3AEFD5-9F2E-453F-9944-32EEC8166172}" type="pres">
      <dgm:prSet presAssocID="{2AF525B0-4F9A-4471-9D25-F7CB5D211597}" presName="childText" presStyleLbl="conFgAcc1" presStyleIdx="0" presStyleCnt="3">
        <dgm:presLayoutVars>
          <dgm:bulletEnabled val="1"/>
        </dgm:presLayoutVars>
      </dgm:prSet>
      <dgm:spPr/>
    </dgm:pt>
    <dgm:pt modelId="{F7AA6C96-F55C-4231-BAD7-940A6D75B7F1}" type="pres">
      <dgm:prSet presAssocID="{C9291EA9-2339-4669-8F2F-62AD55823D0F}" presName="spaceBetweenRectangles" presStyleCnt="0"/>
      <dgm:spPr/>
    </dgm:pt>
    <dgm:pt modelId="{D04E4946-4CCE-4A66-A603-9B523CF3F520}" type="pres">
      <dgm:prSet presAssocID="{C2EF5090-CB0C-4E8B-BFEE-A1ED15E40CAE}" presName="parentLin" presStyleCnt="0"/>
      <dgm:spPr/>
    </dgm:pt>
    <dgm:pt modelId="{9674F1A1-895F-410B-B61B-9E5B311E07E7}" type="pres">
      <dgm:prSet presAssocID="{C2EF5090-CB0C-4E8B-BFEE-A1ED15E40CAE}" presName="parentLeftMargin" presStyleLbl="node1" presStyleIdx="0" presStyleCnt="3"/>
      <dgm:spPr/>
    </dgm:pt>
    <dgm:pt modelId="{836ABC72-CCD5-4C17-87B3-017B60DF9783}" type="pres">
      <dgm:prSet presAssocID="{C2EF5090-CB0C-4E8B-BFEE-A1ED15E40CAE}" presName="parentText" presStyleLbl="node1" presStyleIdx="1" presStyleCnt="3" custScaleX="132497" custLinFactNeighborX="-9987" custLinFactNeighborY="-4873">
        <dgm:presLayoutVars>
          <dgm:chMax val="0"/>
          <dgm:bulletEnabled val="1"/>
        </dgm:presLayoutVars>
      </dgm:prSet>
      <dgm:spPr/>
    </dgm:pt>
    <dgm:pt modelId="{8C78C629-132B-405F-B282-56B776DA4F41}" type="pres">
      <dgm:prSet presAssocID="{C2EF5090-CB0C-4E8B-BFEE-A1ED15E40CAE}" presName="negativeSpace" presStyleCnt="0"/>
      <dgm:spPr/>
    </dgm:pt>
    <dgm:pt modelId="{0C2023CD-20D8-45C2-87DB-7E380603E030}" type="pres">
      <dgm:prSet presAssocID="{C2EF5090-CB0C-4E8B-BFEE-A1ED15E40CAE}" presName="childText" presStyleLbl="conFgAcc1" presStyleIdx="1" presStyleCnt="3">
        <dgm:presLayoutVars>
          <dgm:bulletEnabled val="1"/>
        </dgm:presLayoutVars>
      </dgm:prSet>
      <dgm:spPr/>
    </dgm:pt>
    <dgm:pt modelId="{CBB4EF3E-9F1E-47CB-B9EA-64C6F0C8A094}" type="pres">
      <dgm:prSet presAssocID="{7A603A3D-9EF9-4C56-B510-197DB456D20C}" presName="spaceBetweenRectangles" presStyleCnt="0"/>
      <dgm:spPr/>
    </dgm:pt>
    <dgm:pt modelId="{87C622D1-1DC7-48E8-AFEC-A3A3AB309504}" type="pres">
      <dgm:prSet presAssocID="{EA759348-7B29-4641-8FE1-8472112DDAF5}" presName="parentLin" presStyleCnt="0"/>
      <dgm:spPr/>
    </dgm:pt>
    <dgm:pt modelId="{4DF3DEF8-E0C3-4B55-B166-B9B41EAE5A22}" type="pres">
      <dgm:prSet presAssocID="{EA759348-7B29-4641-8FE1-8472112DDAF5}" presName="parentLeftMargin" presStyleLbl="node1" presStyleIdx="1" presStyleCnt="3"/>
      <dgm:spPr/>
    </dgm:pt>
    <dgm:pt modelId="{7D512898-B16B-4BAC-8374-5EA5D19D1823}" type="pres">
      <dgm:prSet presAssocID="{EA759348-7B29-4641-8FE1-8472112DDAF5}" presName="parentText" presStyleLbl="node1" presStyleIdx="2" presStyleCnt="3" custScaleX="129562">
        <dgm:presLayoutVars>
          <dgm:chMax val="0"/>
          <dgm:bulletEnabled val="1"/>
        </dgm:presLayoutVars>
      </dgm:prSet>
      <dgm:spPr/>
    </dgm:pt>
    <dgm:pt modelId="{C3CBB5DF-CFDB-4DAE-9D55-FC880C83D160}" type="pres">
      <dgm:prSet presAssocID="{EA759348-7B29-4641-8FE1-8472112DDAF5}" presName="negativeSpace" presStyleCnt="0"/>
      <dgm:spPr/>
    </dgm:pt>
    <dgm:pt modelId="{BAD0CFD0-5A18-4512-8F71-E6539ED06E6B}" type="pres">
      <dgm:prSet presAssocID="{EA759348-7B29-4641-8FE1-8472112DDAF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86B4517-6848-47F8-BFA7-9766AA61BF0F}" type="presOf" srcId="{C2EF5090-CB0C-4E8B-BFEE-A1ED15E40CAE}" destId="{9674F1A1-895F-410B-B61B-9E5B311E07E7}" srcOrd="0" destOrd="0" presId="urn:microsoft.com/office/officeart/2005/8/layout/list1"/>
    <dgm:cxn modelId="{2A18555D-7FEC-4D39-B429-A6D63CB0113A}" type="presOf" srcId="{EA759348-7B29-4641-8FE1-8472112DDAF5}" destId="{7D512898-B16B-4BAC-8374-5EA5D19D1823}" srcOrd="1" destOrd="0" presId="urn:microsoft.com/office/officeart/2005/8/layout/list1"/>
    <dgm:cxn modelId="{8AD88F50-15F2-4823-9CFC-33D33A48DC0A}" type="presOf" srcId="{EA759348-7B29-4641-8FE1-8472112DDAF5}" destId="{4DF3DEF8-E0C3-4B55-B166-B9B41EAE5A22}" srcOrd="0" destOrd="0" presId="urn:microsoft.com/office/officeart/2005/8/layout/list1"/>
    <dgm:cxn modelId="{7F675693-C076-4321-BE2D-942FCE32E2E8}" type="presOf" srcId="{2AF525B0-4F9A-4471-9D25-F7CB5D211597}" destId="{8BB1186C-8B65-4F5B-A665-CECA874480F4}" srcOrd="1" destOrd="0" presId="urn:microsoft.com/office/officeart/2005/8/layout/list1"/>
    <dgm:cxn modelId="{47A3679F-5C25-45E5-BA35-AE01DE87C735}" type="presOf" srcId="{4BB17D6F-4416-484A-8989-E0ABEA1295C9}" destId="{3C12050E-984F-47FA-8A2E-CC21C083D46D}" srcOrd="0" destOrd="0" presId="urn:microsoft.com/office/officeart/2005/8/layout/list1"/>
    <dgm:cxn modelId="{1F13C6A3-9711-466D-8E07-71FD39B72B5D}" srcId="{4BB17D6F-4416-484A-8989-E0ABEA1295C9}" destId="{2AF525B0-4F9A-4471-9D25-F7CB5D211597}" srcOrd="0" destOrd="0" parTransId="{88190D33-DFD3-4E36-8B7C-141484BD5045}" sibTransId="{C9291EA9-2339-4669-8F2F-62AD55823D0F}"/>
    <dgm:cxn modelId="{784D5DAF-0EB6-4EF3-AE30-F4090DC60C7B}" srcId="{4BB17D6F-4416-484A-8989-E0ABEA1295C9}" destId="{C2EF5090-CB0C-4E8B-BFEE-A1ED15E40CAE}" srcOrd="1" destOrd="0" parTransId="{D9D8DD05-FF1B-44F7-BC49-2CBAE5B46F72}" sibTransId="{7A603A3D-9EF9-4C56-B510-197DB456D20C}"/>
    <dgm:cxn modelId="{937AC6B2-D346-4224-877D-C754C32A5D39}" type="presOf" srcId="{C2EF5090-CB0C-4E8B-BFEE-A1ED15E40CAE}" destId="{836ABC72-CCD5-4C17-87B3-017B60DF9783}" srcOrd="1" destOrd="0" presId="urn:microsoft.com/office/officeart/2005/8/layout/list1"/>
    <dgm:cxn modelId="{196059BE-F95A-40B6-95DD-E383FF8DB666}" type="presOf" srcId="{2AF525B0-4F9A-4471-9D25-F7CB5D211597}" destId="{E4160DDB-7132-4EC4-9403-8D697494B78D}" srcOrd="0" destOrd="0" presId="urn:microsoft.com/office/officeart/2005/8/layout/list1"/>
    <dgm:cxn modelId="{D14FB2C4-0A26-41D5-A023-7CCA2C22930D}" srcId="{4BB17D6F-4416-484A-8989-E0ABEA1295C9}" destId="{EA759348-7B29-4641-8FE1-8472112DDAF5}" srcOrd="2" destOrd="0" parTransId="{90B7D09A-185C-49BF-821A-70EE8DC469BB}" sibTransId="{9B8C0675-F849-4F2A-9D58-2E739F702585}"/>
    <dgm:cxn modelId="{148F87AE-731E-44D5-8BFE-94C961A4AB7A}" type="presParOf" srcId="{3C12050E-984F-47FA-8A2E-CC21C083D46D}" destId="{73046D16-1142-4843-A309-4EC673B16C31}" srcOrd="0" destOrd="0" presId="urn:microsoft.com/office/officeart/2005/8/layout/list1"/>
    <dgm:cxn modelId="{B196320D-DCCB-4ED9-8260-0FFF5D398990}" type="presParOf" srcId="{73046D16-1142-4843-A309-4EC673B16C31}" destId="{E4160DDB-7132-4EC4-9403-8D697494B78D}" srcOrd="0" destOrd="0" presId="urn:microsoft.com/office/officeart/2005/8/layout/list1"/>
    <dgm:cxn modelId="{262464AE-20B8-4351-9056-5CD006D20A68}" type="presParOf" srcId="{73046D16-1142-4843-A309-4EC673B16C31}" destId="{8BB1186C-8B65-4F5B-A665-CECA874480F4}" srcOrd="1" destOrd="0" presId="urn:microsoft.com/office/officeart/2005/8/layout/list1"/>
    <dgm:cxn modelId="{42C37527-5780-4F98-87E8-71F462A36AEC}" type="presParOf" srcId="{3C12050E-984F-47FA-8A2E-CC21C083D46D}" destId="{9228C65B-BB68-4220-92A7-34569AFC9C17}" srcOrd="1" destOrd="0" presId="urn:microsoft.com/office/officeart/2005/8/layout/list1"/>
    <dgm:cxn modelId="{45543461-53F2-4163-B8B4-274964053E36}" type="presParOf" srcId="{3C12050E-984F-47FA-8A2E-CC21C083D46D}" destId="{FD3AEFD5-9F2E-453F-9944-32EEC8166172}" srcOrd="2" destOrd="0" presId="urn:microsoft.com/office/officeart/2005/8/layout/list1"/>
    <dgm:cxn modelId="{CB94EEC2-9247-40EA-9568-EFF121C82E3C}" type="presParOf" srcId="{3C12050E-984F-47FA-8A2E-CC21C083D46D}" destId="{F7AA6C96-F55C-4231-BAD7-940A6D75B7F1}" srcOrd="3" destOrd="0" presId="urn:microsoft.com/office/officeart/2005/8/layout/list1"/>
    <dgm:cxn modelId="{4F15E32B-01C7-4E97-922E-E383D098603F}" type="presParOf" srcId="{3C12050E-984F-47FA-8A2E-CC21C083D46D}" destId="{D04E4946-4CCE-4A66-A603-9B523CF3F520}" srcOrd="4" destOrd="0" presId="urn:microsoft.com/office/officeart/2005/8/layout/list1"/>
    <dgm:cxn modelId="{E4E1B784-7987-4352-8AAE-B5EAFA8EEABE}" type="presParOf" srcId="{D04E4946-4CCE-4A66-A603-9B523CF3F520}" destId="{9674F1A1-895F-410B-B61B-9E5B311E07E7}" srcOrd="0" destOrd="0" presId="urn:microsoft.com/office/officeart/2005/8/layout/list1"/>
    <dgm:cxn modelId="{74B51DED-977B-4247-B79F-5AD5118C5BFC}" type="presParOf" srcId="{D04E4946-4CCE-4A66-A603-9B523CF3F520}" destId="{836ABC72-CCD5-4C17-87B3-017B60DF9783}" srcOrd="1" destOrd="0" presId="urn:microsoft.com/office/officeart/2005/8/layout/list1"/>
    <dgm:cxn modelId="{40D2F488-4F39-49D6-893F-F17A2CCC7E0C}" type="presParOf" srcId="{3C12050E-984F-47FA-8A2E-CC21C083D46D}" destId="{8C78C629-132B-405F-B282-56B776DA4F41}" srcOrd="5" destOrd="0" presId="urn:microsoft.com/office/officeart/2005/8/layout/list1"/>
    <dgm:cxn modelId="{2EB6E8FF-9B33-48D4-82DB-155C27ED7D98}" type="presParOf" srcId="{3C12050E-984F-47FA-8A2E-CC21C083D46D}" destId="{0C2023CD-20D8-45C2-87DB-7E380603E030}" srcOrd="6" destOrd="0" presId="urn:microsoft.com/office/officeart/2005/8/layout/list1"/>
    <dgm:cxn modelId="{B312AC47-E989-4703-BC84-F6323925AC93}" type="presParOf" srcId="{3C12050E-984F-47FA-8A2E-CC21C083D46D}" destId="{CBB4EF3E-9F1E-47CB-B9EA-64C6F0C8A094}" srcOrd="7" destOrd="0" presId="urn:microsoft.com/office/officeart/2005/8/layout/list1"/>
    <dgm:cxn modelId="{2DB07CD3-D383-424E-82CC-6BF55D652AED}" type="presParOf" srcId="{3C12050E-984F-47FA-8A2E-CC21C083D46D}" destId="{87C622D1-1DC7-48E8-AFEC-A3A3AB309504}" srcOrd="8" destOrd="0" presId="urn:microsoft.com/office/officeart/2005/8/layout/list1"/>
    <dgm:cxn modelId="{6B25D22B-2879-4D37-B66E-E79073827A91}" type="presParOf" srcId="{87C622D1-1DC7-48E8-AFEC-A3A3AB309504}" destId="{4DF3DEF8-E0C3-4B55-B166-B9B41EAE5A22}" srcOrd="0" destOrd="0" presId="urn:microsoft.com/office/officeart/2005/8/layout/list1"/>
    <dgm:cxn modelId="{9DFC102D-AC7E-4F3B-B5F9-C72AA0D1E214}" type="presParOf" srcId="{87C622D1-1DC7-48E8-AFEC-A3A3AB309504}" destId="{7D512898-B16B-4BAC-8374-5EA5D19D1823}" srcOrd="1" destOrd="0" presId="urn:microsoft.com/office/officeart/2005/8/layout/list1"/>
    <dgm:cxn modelId="{D9D04C36-0F8F-45CF-9677-BD94BF6AD774}" type="presParOf" srcId="{3C12050E-984F-47FA-8A2E-CC21C083D46D}" destId="{C3CBB5DF-CFDB-4DAE-9D55-FC880C83D160}" srcOrd="9" destOrd="0" presId="urn:microsoft.com/office/officeart/2005/8/layout/list1"/>
    <dgm:cxn modelId="{522A7ECA-D5D3-4E10-AA7F-F3D9A37106F6}" type="presParOf" srcId="{3C12050E-984F-47FA-8A2E-CC21C083D46D}" destId="{BAD0CFD0-5A18-4512-8F71-E6539ED06E6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D185B-88C1-47E6-A699-5FB6051B9DA3}">
      <dsp:nvSpPr>
        <dsp:cNvPr id="0" name=""/>
        <dsp:cNvSpPr/>
      </dsp:nvSpPr>
      <dsp:spPr>
        <a:xfrm>
          <a:off x="1785" y="1596826"/>
          <a:ext cx="2175867" cy="87034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Інформація</a:t>
          </a:r>
          <a:endParaRPr lang="ru-RU" sz="1900" kern="1200" dirty="0"/>
        </a:p>
      </dsp:txBody>
      <dsp:txXfrm>
        <a:off x="436958" y="1596826"/>
        <a:ext cx="1305521" cy="870346"/>
      </dsp:txXfrm>
    </dsp:sp>
    <dsp:sp modelId="{95C92FAF-40B0-4B72-9290-D55AEA527F56}">
      <dsp:nvSpPr>
        <dsp:cNvPr id="0" name=""/>
        <dsp:cNvSpPr/>
      </dsp:nvSpPr>
      <dsp:spPr>
        <a:xfrm>
          <a:off x="1960066" y="1596826"/>
          <a:ext cx="2175867" cy="87034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Дані</a:t>
          </a:r>
          <a:endParaRPr lang="ru-RU" sz="1900" kern="1200" dirty="0"/>
        </a:p>
      </dsp:txBody>
      <dsp:txXfrm>
        <a:off x="2395239" y="1596826"/>
        <a:ext cx="1305521" cy="870346"/>
      </dsp:txXfrm>
    </dsp:sp>
    <dsp:sp modelId="{969048C8-4FBA-473B-A585-A3E95E6AF768}">
      <dsp:nvSpPr>
        <dsp:cNvPr id="0" name=""/>
        <dsp:cNvSpPr/>
      </dsp:nvSpPr>
      <dsp:spPr>
        <a:xfrm>
          <a:off x="3918346" y="1596826"/>
          <a:ext cx="2175867" cy="87034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Інформація</a:t>
          </a:r>
          <a:endParaRPr lang="ru-RU" sz="1900" kern="1200" dirty="0"/>
        </a:p>
      </dsp:txBody>
      <dsp:txXfrm>
        <a:off x="4353519" y="1596826"/>
        <a:ext cx="1305521" cy="8703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012F9-2C42-4744-BE3E-C0D518F0D47B}">
      <dsp:nvSpPr>
        <dsp:cNvPr id="0" name=""/>
        <dsp:cNvSpPr/>
      </dsp:nvSpPr>
      <dsp:spPr>
        <a:xfrm rot="16200000">
          <a:off x="1086" y="514528"/>
          <a:ext cx="2515111" cy="2515111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kern="1200" dirty="0"/>
            <a:t>Програми</a:t>
          </a:r>
          <a:endParaRPr lang="ru-RU" sz="3000" kern="1200" dirty="0"/>
        </a:p>
      </dsp:txBody>
      <dsp:txXfrm rot="5400000">
        <a:off x="1086" y="1143306"/>
        <a:ext cx="2074967" cy="1257555"/>
      </dsp:txXfrm>
    </dsp:sp>
    <dsp:sp modelId="{5B093BEB-7224-4859-BBBD-2BBEC1EB3556}">
      <dsp:nvSpPr>
        <dsp:cNvPr id="0" name=""/>
        <dsp:cNvSpPr/>
      </dsp:nvSpPr>
      <dsp:spPr>
        <a:xfrm rot="5400000">
          <a:off x="2692041" y="514528"/>
          <a:ext cx="2515111" cy="2515111"/>
        </a:xfrm>
        <a:prstGeom prst="downArrow">
          <a:avLst>
            <a:gd name="adj1" fmla="val 50000"/>
            <a:gd name="adj2" fmla="val 3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kern="1200" dirty="0"/>
            <a:t>Дані</a:t>
          </a:r>
          <a:endParaRPr lang="ru-RU" sz="3000" kern="1200" dirty="0"/>
        </a:p>
      </dsp:txBody>
      <dsp:txXfrm rot="-5400000">
        <a:off x="3132185" y="1143306"/>
        <a:ext cx="2074967" cy="12575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AEFD5-9F2E-453F-9944-32EEC8166172}">
      <dsp:nvSpPr>
        <dsp:cNvPr id="0" name=""/>
        <dsp:cNvSpPr/>
      </dsp:nvSpPr>
      <dsp:spPr>
        <a:xfrm>
          <a:off x="0" y="611585"/>
          <a:ext cx="82296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1186C-8B65-4F5B-A665-CECA874480F4}">
      <dsp:nvSpPr>
        <dsp:cNvPr id="0" name=""/>
        <dsp:cNvSpPr/>
      </dsp:nvSpPr>
      <dsp:spPr>
        <a:xfrm>
          <a:off x="411480" y="39739"/>
          <a:ext cx="7616132" cy="1088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bg1"/>
              </a:solidFill>
            </a:rPr>
            <a:t>БД </a:t>
          </a:r>
          <a:r>
            <a:rPr lang="ru-RU" sz="2400" kern="1200" dirty="0" err="1">
              <a:solidFill>
                <a:schemeClr val="bg1"/>
              </a:solidFill>
            </a:rPr>
            <a:t>складається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зі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всіх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екземплярів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записів</a:t>
          </a:r>
          <a:r>
            <a:rPr lang="ru-RU" sz="2400" kern="1200" dirty="0">
              <a:solidFill>
                <a:schemeClr val="bg1"/>
              </a:solidFill>
            </a:rPr>
            <a:t>, </a:t>
          </a:r>
          <a:r>
            <a:rPr lang="ru-RU" sz="2400" kern="1200" dirty="0" err="1">
              <a:solidFill>
                <a:schemeClr val="bg1"/>
              </a:solidFill>
            </a:rPr>
            <a:t>екземплярів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наборів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записів</a:t>
          </a:r>
          <a:r>
            <a:rPr lang="ru-RU" sz="2400" kern="1200" dirty="0">
              <a:solidFill>
                <a:schemeClr val="bg1"/>
              </a:solidFill>
            </a:rPr>
            <a:t> і областей, </a:t>
          </a:r>
          <a:r>
            <a:rPr lang="ru-RU" sz="2400" kern="1200" dirty="0" err="1">
              <a:solidFill>
                <a:schemeClr val="bg1"/>
              </a:solidFill>
            </a:rPr>
            <a:t>які</a:t>
          </a:r>
          <a:r>
            <a:rPr lang="ru-RU" sz="2400" kern="1200" dirty="0">
              <a:solidFill>
                <a:schemeClr val="bg1"/>
              </a:solidFill>
            </a:rPr>
            <a:t>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 err="1">
              <a:solidFill>
                <a:schemeClr val="bg1"/>
              </a:solidFill>
            </a:rPr>
            <a:t>контролюються</a:t>
          </a:r>
          <a:r>
            <a:rPr lang="ru-RU" sz="2400" kern="1200" dirty="0">
              <a:solidFill>
                <a:schemeClr val="bg1"/>
              </a:solidFill>
            </a:rPr>
            <a:t> конкретною схемою</a:t>
          </a:r>
        </a:p>
      </dsp:txBody>
      <dsp:txXfrm>
        <a:off x="464614" y="92873"/>
        <a:ext cx="7509864" cy="982177"/>
      </dsp:txXfrm>
    </dsp:sp>
    <dsp:sp modelId="{0C2023CD-20D8-45C2-87DB-7E380603E030}">
      <dsp:nvSpPr>
        <dsp:cNvPr id="0" name=""/>
        <dsp:cNvSpPr/>
      </dsp:nvSpPr>
      <dsp:spPr>
        <a:xfrm>
          <a:off x="0" y="2199185"/>
          <a:ext cx="82296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241392"/>
              <a:satOff val="123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ABC72-CCD5-4C17-87B3-017B60DF9783}">
      <dsp:nvSpPr>
        <dsp:cNvPr id="0" name=""/>
        <dsp:cNvSpPr/>
      </dsp:nvSpPr>
      <dsp:spPr>
        <a:xfrm>
          <a:off x="370385" y="1632237"/>
          <a:ext cx="7632781" cy="1033200"/>
        </a:xfrm>
        <a:prstGeom prst="roundRect">
          <a:avLst/>
        </a:prstGeom>
        <a:solidFill>
          <a:schemeClr val="accent2">
            <a:hueOff val="3241392"/>
            <a:satOff val="12376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 err="1">
              <a:solidFill>
                <a:schemeClr val="bg1"/>
              </a:solidFill>
            </a:rPr>
            <a:t>Під</a:t>
          </a:r>
          <a:r>
            <a:rPr lang="ru-RU" sz="2400" kern="1200" dirty="0">
              <a:solidFill>
                <a:schemeClr val="bg1"/>
              </a:solidFill>
            </a:rPr>
            <a:t> схемою БД </a:t>
          </a:r>
          <a:r>
            <a:rPr lang="ru-RU" sz="2400" kern="1200" dirty="0" err="1">
              <a:solidFill>
                <a:schemeClr val="bg1"/>
              </a:solidFill>
            </a:rPr>
            <a:t>можна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розуміти</a:t>
          </a:r>
          <a:r>
            <a:rPr lang="ru-RU" sz="2400" kern="1200" dirty="0">
              <a:solidFill>
                <a:schemeClr val="bg1"/>
              </a:solidFill>
            </a:rPr>
            <a:t> карту </a:t>
          </a:r>
          <a:r>
            <a:rPr lang="ru-RU" sz="2400" kern="1200" dirty="0" err="1">
              <a:solidFill>
                <a:schemeClr val="bg1"/>
              </a:solidFill>
            </a:rPr>
            <a:t>всієї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логічної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структури</a:t>
          </a:r>
          <a:r>
            <a:rPr lang="ru-RU" sz="2400" kern="1200" dirty="0">
              <a:solidFill>
                <a:schemeClr val="bg1"/>
              </a:solidFill>
            </a:rPr>
            <a:t> БД</a:t>
          </a:r>
        </a:p>
      </dsp:txBody>
      <dsp:txXfrm>
        <a:off x="420822" y="1682674"/>
        <a:ext cx="7531907" cy="932326"/>
      </dsp:txXfrm>
    </dsp:sp>
    <dsp:sp modelId="{BAD0CFD0-5A18-4512-8F71-E6539ED06E6B}">
      <dsp:nvSpPr>
        <dsp:cNvPr id="0" name=""/>
        <dsp:cNvSpPr/>
      </dsp:nvSpPr>
      <dsp:spPr>
        <a:xfrm>
          <a:off x="0" y="3786785"/>
          <a:ext cx="82296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482784"/>
              <a:satOff val="24753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12898-B16B-4BAC-8374-5EA5D19D1823}">
      <dsp:nvSpPr>
        <dsp:cNvPr id="0" name=""/>
        <dsp:cNvSpPr/>
      </dsp:nvSpPr>
      <dsp:spPr>
        <a:xfrm>
          <a:off x="411480" y="3270185"/>
          <a:ext cx="7463704" cy="1033200"/>
        </a:xfrm>
        <a:prstGeom prst="roundRect">
          <a:avLst/>
        </a:prstGeom>
        <a:solidFill>
          <a:schemeClr val="accent2">
            <a:hueOff val="6482784"/>
            <a:satOff val="24753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bg1"/>
              </a:solidFill>
            </a:rPr>
            <a:t>СКБД </a:t>
          </a:r>
          <a:r>
            <a:rPr lang="ru-RU" sz="2400" kern="1200" dirty="0" err="1">
              <a:solidFill>
                <a:schemeClr val="bg1"/>
              </a:solidFill>
            </a:rPr>
            <a:t>називається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сукупність</a:t>
          </a:r>
          <a:r>
            <a:rPr lang="ru-RU" sz="2400" kern="1200" dirty="0">
              <a:solidFill>
                <a:schemeClr val="bg1"/>
              </a:solidFill>
            </a:rPr>
            <a:t> ПЗ, </a:t>
          </a:r>
          <a:r>
            <a:rPr lang="ru-RU" sz="2400" kern="1200" dirty="0" err="1">
              <a:solidFill>
                <a:schemeClr val="bg1"/>
              </a:solidFill>
            </a:rPr>
            <a:t>необхідних</a:t>
          </a:r>
          <a:r>
            <a:rPr lang="ru-RU" sz="2400" kern="1200" dirty="0">
              <a:solidFill>
                <a:schemeClr val="bg1"/>
              </a:solidFill>
            </a:rPr>
            <a:t> для  </a:t>
          </a:r>
          <a:r>
            <a:rPr lang="ru-RU" sz="2400" kern="1200" dirty="0" err="1">
              <a:solidFill>
                <a:schemeClr val="bg1"/>
              </a:solidFill>
            </a:rPr>
            <a:t>використання</a:t>
          </a:r>
          <a:r>
            <a:rPr lang="ru-RU" sz="2400" kern="1200" dirty="0">
              <a:solidFill>
                <a:schemeClr val="bg1"/>
              </a:solidFill>
            </a:rPr>
            <a:t> БД і </a:t>
          </a:r>
          <a:r>
            <a:rPr lang="ru-RU" sz="2400" kern="1200" dirty="0" err="1">
              <a:solidFill>
                <a:schemeClr val="bg1"/>
              </a:solidFill>
            </a:rPr>
            <a:t>подання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розробникам</a:t>
          </a:r>
          <a:r>
            <a:rPr lang="ru-RU" sz="2400" kern="1200" dirty="0">
              <a:solidFill>
                <a:schemeClr val="bg1"/>
              </a:solidFill>
            </a:rPr>
            <a:t> і </a:t>
          </a:r>
          <a:r>
            <a:rPr lang="ru-RU" sz="2400" kern="1200" dirty="0" err="1">
              <a:solidFill>
                <a:schemeClr val="bg1"/>
              </a:solidFill>
            </a:rPr>
            <a:t>користувачам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безлічі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різних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подань</a:t>
          </a:r>
          <a:r>
            <a:rPr lang="ru-RU" sz="2400" kern="1200" dirty="0">
              <a:solidFill>
                <a:schemeClr val="bg1"/>
              </a:solidFill>
            </a:rPr>
            <a:t> </a:t>
          </a:r>
          <a:r>
            <a:rPr lang="ru-RU" sz="2400" kern="1200" dirty="0" err="1">
              <a:solidFill>
                <a:schemeClr val="bg1"/>
              </a:solidFill>
            </a:rPr>
            <a:t>даних</a:t>
          </a:r>
          <a:endParaRPr lang="ru-RU" sz="2400" kern="1200" dirty="0">
            <a:solidFill>
              <a:schemeClr val="bg1"/>
            </a:solidFill>
          </a:endParaRPr>
        </a:p>
      </dsp:txBody>
      <dsp:txXfrm>
        <a:off x="461917" y="3320622"/>
        <a:ext cx="7362830" cy="932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duotone>
              <a:schemeClr val="bg2">
                <a:shade val="3000"/>
                <a:satMod val="110000"/>
              </a:schemeClr>
              <a:schemeClr val="bg2">
                <a:tint val="60000"/>
                <a:satMod val="425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057EDEE-7883-4C06-B88A-67A2665BFFBA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A0A83EA7-064A-4851-A0E4-26E37F644BF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323528" y="2564904"/>
            <a:ext cx="8229600" cy="3366136"/>
          </a:xfrm>
        </p:spPr>
        <p:txBody>
          <a:bodyPr>
            <a:normAutofit/>
          </a:bodyPr>
          <a:lstStyle/>
          <a:p>
            <a:r>
              <a:rPr lang="ru-RU" sz="4000" dirty="0" err="1">
                <a:solidFill>
                  <a:srgbClr val="00B050"/>
                </a:solidFill>
              </a:rPr>
              <a:t>Лекція</a:t>
            </a:r>
            <a:r>
              <a:rPr lang="ru-RU" sz="4000" dirty="0">
                <a:solidFill>
                  <a:srgbClr val="00B050"/>
                </a:solidFill>
              </a:rPr>
              <a:t> 3</a:t>
            </a:r>
            <a:r>
              <a:rPr lang="ru-RU" sz="4000" dirty="0">
                <a:solidFill>
                  <a:schemeClr val="bg1"/>
                </a:solidFill>
              </a:rPr>
              <a:t> : </a:t>
            </a:r>
            <a:br>
              <a:rPr lang="ru-RU" sz="4000" dirty="0">
                <a:solidFill>
                  <a:schemeClr val="bg1"/>
                </a:solidFill>
              </a:rPr>
            </a:br>
            <a:r>
              <a:rPr lang="uk-UA" sz="4000" dirty="0">
                <a:solidFill>
                  <a:schemeClr val="bg1"/>
                </a:solidFill>
              </a:rPr>
              <a:t>Поняття інформаційної системи та бази даних. </a:t>
            </a:r>
            <a:br>
              <a:rPr lang="uk-UA" sz="4000" dirty="0">
                <a:solidFill>
                  <a:schemeClr val="bg1"/>
                </a:solidFill>
              </a:rPr>
            </a:br>
            <a:r>
              <a:rPr lang="ru-RU" sz="4000" dirty="0" err="1">
                <a:solidFill>
                  <a:schemeClr val="bg1"/>
                </a:solidFill>
              </a:rPr>
              <a:t>Аналіз</a:t>
            </a:r>
            <a:r>
              <a:rPr lang="ru-RU" sz="4000" dirty="0">
                <a:solidFill>
                  <a:schemeClr val="bg1"/>
                </a:solidFill>
              </a:rPr>
              <a:t> </a:t>
            </a:r>
            <a:r>
              <a:rPr lang="ru-RU" sz="4000" dirty="0" err="1">
                <a:solidFill>
                  <a:schemeClr val="bg1"/>
                </a:solidFill>
              </a:rPr>
              <a:t>функціональної</a:t>
            </a:r>
            <a:r>
              <a:rPr lang="ru-RU" sz="4000" dirty="0">
                <a:solidFill>
                  <a:schemeClr val="bg1"/>
                </a:solidFill>
              </a:rPr>
              <a:t> </a:t>
            </a:r>
            <a:r>
              <a:rPr lang="ru-RU" sz="4000" dirty="0" err="1">
                <a:solidFill>
                  <a:schemeClr val="bg1"/>
                </a:solidFill>
              </a:rPr>
              <a:t>області</a:t>
            </a:r>
            <a:r>
              <a:rPr lang="ru-RU" sz="4000" dirty="0">
                <a:solidFill>
                  <a:schemeClr val="bg1"/>
                </a:solidFill>
              </a:rPr>
              <a:t> </a:t>
            </a:r>
            <a:r>
              <a:rPr lang="ru-RU" sz="4000" dirty="0" err="1">
                <a:solidFill>
                  <a:schemeClr val="bg1"/>
                </a:solidFill>
              </a:rPr>
              <a:t>впровадження</a:t>
            </a:r>
            <a:r>
              <a:rPr lang="ru-RU" sz="4000" dirty="0">
                <a:solidFill>
                  <a:schemeClr val="bg1"/>
                </a:solidFill>
              </a:rPr>
              <a:t> ІС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57200" y="188640"/>
            <a:ext cx="8229600" cy="2736304"/>
          </a:xfrm>
        </p:spPr>
        <p:txBody>
          <a:bodyPr>
            <a:normAutofit fontScale="55000" lnSpcReduction="20000"/>
          </a:bodyPr>
          <a:lstStyle/>
          <a:p>
            <a:r>
              <a:rPr lang="uk-UA" dirty="0">
                <a:solidFill>
                  <a:schemeClr val="bg1"/>
                </a:solidFill>
              </a:rPr>
              <a:t>Київський національний університет ім. Тараса Шевченка</a:t>
            </a:r>
          </a:p>
          <a:p>
            <a:r>
              <a:rPr lang="uk-UA" dirty="0">
                <a:solidFill>
                  <a:schemeClr val="bg1"/>
                </a:solidFill>
              </a:rPr>
              <a:t>Кафедра Інформаційних технологій і систем</a:t>
            </a:r>
          </a:p>
          <a:p>
            <a:endParaRPr lang="uk-UA" dirty="0">
              <a:solidFill>
                <a:schemeClr val="bg1"/>
              </a:solidFill>
            </a:endParaRPr>
          </a:p>
          <a:p>
            <a:endParaRPr lang="uk-UA" dirty="0">
              <a:solidFill>
                <a:schemeClr val="bg1"/>
              </a:solidFill>
            </a:endParaRPr>
          </a:p>
          <a:p>
            <a:r>
              <a:rPr lang="uk-UA" sz="5100" dirty="0">
                <a:solidFill>
                  <a:schemeClr val="bg1"/>
                </a:solidFill>
              </a:rPr>
              <a:t>Предмет: «ТЕХНОЛОГІЇ СТВОРЕННЯ ПРОГРАМНИХ ПРОДУКТІВ»</a:t>
            </a:r>
          </a:p>
          <a:p>
            <a:r>
              <a:rPr lang="uk-UA" sz="5100" dirty="0">
                <a:solidFill>
                  <a:schemeClr val="bg1"/>
                </a:solidFill>
              </a:rPr>
              <a:t>Викладач: </a:t>
            </a:r>
            <a:r>
              <a:rPr lang="ru-RU" sz="5400" dirty="0">
                <a:solidFill>
                  <a:schemeClr val="bg1"/>
                </a:solidFill>
              </a:rPr>
              <a:t>к.т.н., доц. Кравченко Ольга Віталіївна</a:t>
            </a:r>
            <a:br>
              <a:rPr lang="ru-RU" sz="5400" dirty="0">
                <a:solidFill>
                  <a:schemeClr val="bg1"/>
                </a:solidFill>
              </a:rPr>
            </a:br>
            <a:endParaRPr lang="ru-RU" sz="5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6166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Мета</a:t>
            </a:r>
          </a:p>
          <a:p>
            <a:pPr algn="just"/>
            <a:r>
              <a:rPr lang="ru-RU" dirty="0" err="1">
                <a:solidFill>
                  <a:schemeClr val="bg1"/>
                </a:solidFill>
              </a:rPr>
              <a:t>Дисципліна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має</a:t>
            </a:r>
            <a:r>
              <a:rPr lang="ru-RU" dirty="0">
                <a:solidFill>
                  <a:schemeClr val="bg1"/>
                </a:solidFill>
              </a:rPr>
              <a:t> на </a:t>
            </a:r>
            <a:r>
              <a:rPr lang="ru-RU" dirty="0" err="1">
                <a:solidFill>
                  <a:schemeClr val="bg1"/>
                </a:solidFill>
              </a:rPr>
              <a:t>меті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ознайомити</a:t>
            </a:r>
            <a:r>
              <a:rPr lang="ru-RU" dirty="0">
                <a:solidFill>
                  <a:schemeClr val="bg1"/>
                </a:solidFill>
              </a:rPr>
              <a:t> з </a:t>
            </a:r>
            <a:r>
              <a:rPr lang="ru-RU" dirty="0" err="1">
                <a:solidFill>
                  <a:schemeClr val="bg1"/>
                </a:solidFill>
              </a:rPr>
              <a:t>інформаційними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технологіями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аналізу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складних</a:t>
            </a:r>
            <a:r>
              <a:rPr lang="ru-RU" dirty="0">
                <a:solidFill>
                  <a:schemeClr val="bg1"/>
                </a:solidFill>
              </a:rPr>
              <a:t> систем і </a:t>
            </a:r>
            <a:r>
              <a:rPr lang="ru-RU" dirty="0" err="1">
                <a:solidFill>
                  <a:schemeClr val="bg1"/>
                </a:solidFill>
              </a:rPr>
              <a:t>заснованими</a:t>
            </a:r>
            <a:r>
              <a:rPr lang="ru-RU" dirty="0">
                <a:solidFill>
                  <a:schemeClr val="bg1"/>
                </a:solidFill>
              </a:rPr>
              <a:t> на </a:t>
            </a:r>
            <a:r>
              <a:rPr lang="ru-RU" dirty="0" err="1">
                <a:solidFill>
                  <a:schemeClr val="bg1"/>
                </a:solidFill>
              </a:rPr>
              <a:t>міжнародних</a:t>
            </a:r>
            <a:r>
              <a:rPr lang="ru-RU" dirty="0">
                <a:solidFill>
                  <a:schemeClr val="bg1"/>
                </a:solidFill>
              </a:rPr>
              <a:t> стандартах методами </a:t>
            </a:r>
            <a:r>
              <a:rPr lang="ru-RU" dirty="0" err="1">
                <a:solidFill>
                  <a:schemeClr val="bg1"/>
                </a:solidFill>
              </a:rPr>
              <a:t>проектування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інформаційних</a:t>
            </a:r>
            <a:r>
              <a:rPr lang="ru-RU" dirty="0">
                <a:solidFill>
                  <a:schemeClr val="bg1"/>
                </a:solidFill>
              </a:rPr>
              <a:t> систем, </a:t>
            </a:r>
            <a:r>
              <a:rPr lang="ru-RU" dirty="0" err="1">
                <a:solidFill>
                  <a:schemeClr val="bg1"/>
                </a:solidFill>
              </a:rPr>
              <a:t>навчити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студентів</a:t>
            </a:r>
            <a:r>
              <a:rPr lang="ru-RU" dirty="0">
                <a:solidFill>
                  <a:schemeClr val="bg1"/>
                </a:solidFill>
              </a:rPr>
              <a:t> принципам </a:t>
            </a:r>
            <a:r>
              <a:rPr lang="ru-RU" dirty="0" err="1">
                <a:solidFill>
                  <a:schemeClr val="bg1"/>
                </a:solidFill>
              </a:rPr>
              <a:t>побудови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функціональних</a:t>
            </a:r>
            <a:r>
              <a:rPr lang="ru-RU" dirty="0">
                <a:solidFill>
                  <a:schemeClr val="bg1"/>
                </a:solidFill>
              </a:rPr>
              <a:t> і </a:t>
            </a:r>
            <a:r>
              <a:rPr lang="ru-RU" dirty="0" err="1">
                <a:solidFill>
                  <a:schemeClr val="bg1"/>
                </a:solidFill>
              </a:rPr>
              <a:t>інформаційних</a:t>
            </a:r>
            <a:r>
              <a:rPr lang="ru-RU" dirty="0">
                <a:solidFill>
                  <a:schemeClr val="bg1"/>
                </a:solidFill>
              </a:rPr>
              <a:t> моделей систем, </a:t>
            </a:r>
            <a:r>
              <a:rPr lang="ru-RU" dirty="0" err="1">
                <a:solidFill>
                  <a:schemeClr val="bg1"/>
                </a:solidFill>
              </a:rPr>
              <a:t>проведенню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аналізу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отриманих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результатів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застосуванню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інструментальних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засобів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підтримки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проектування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інформаційних</a:t>
            </a:r>
            <a:r>
              <a:rPr lang="ru-RU" dirty="0">
                <a:solidFill>
                  <a:schemeClr val="bg1"/>
                </a:solidFill>
              </a:rPr>
              <a:t> систем.</a:t>
            </a:r>
          </a:p>
          <a:p>
            <a:pPr algn="just"/>
            <a:r>
              <a:rPr lang="ru-RU" b="1" dirty="0" err="1">
                <a:solidFill>
                  <a:schemeClr val="bg1"/>
                </a:solidFill>
              </a:rPr>
              <a:t>Попередні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знання</a:t>
            </a:r>
            <a:endParaRPr lang="ru-RU" b="1" dirty="0">
              <a:solidFill>
                <a:schemeClr val="bg1"/>
              </a:solidFill>
            </a:endParaRPr>
          </a:p>
          <a:p>
            <a:pPr algn="just"/>
            <a:r>
              <a:rPr lang="ru-RU" dirty="0">
                <a:solidFill>
                  <a:schemeClr val="bg1"/>
                </a:solidFill>
              </a:rPr>
              <a:t>Дана </a:t>
            </a:r>
            <a:r>
              <a:rPr lang="ru-RU" dirty="0" err="1">
                <a:solidFill>
                  <a:schemeClr val="bg1"/>
                </a:solidFill>
              </a:rPr>
              <a:t>дисципліна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вимагає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попереднього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вивчення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курсів</a:t>
            </a:r>
            <a:r>
              <a:rPr lang="ru-RU" dirty="0">
                <a:solidFill>
                  <a:schemeClr val="bg1"/>
                </a:solidFill>
              </a:rPr>
              <a:t>: «</a:t>
            </a:r>
            <a:r>
              <a:rPr lang="ru-RU" dirty="0" err="1">
                <a:solidFill>
                  <a:schemeClr val="bg1"/>
                </a:solidFill>
              </a:rPr>
              <a:t>Об’єктно-орієнтоване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програмування</a:t>
            </a:r>
            <a:r>
              <a:rPr lang="ru-RU" dirty="0">
                <a:solidFill>
                  <a:schemeClr val="bg1"/>
                </a:solidFill>
              </a:rPr>
              <a:t>", "</a:t>
            </a:r>
            <a:r>
              <a:rPr lang="ru-RU" dirty="0" err="1">
                <a:solidFill>
                  <a:schemeClr val="bg1"/>
                </a:solidFill>
              </a:rPr>
              <a:t>Основи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алгоритмізації</a:t>
            </a:r>
            <a:r>
              <a:rPr lang="ru-RU" dirty="0">
                <a:solidFill>
                  <a:schemeClr val="bg1"/>
                </a:solidFill>
              </a:rPr>
              <a:t>».</a:t>
            </a:r>
          </a:p>
          <a:p>
            <a:pPr algn="just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150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49459"/>
            <a:ext cx="8229600" cy="1143000"/>
          </a:xfrm>
        </p:spPr>
        <p:txBody>
          <a:bodyPr/>
          <a:lstStyle/>
          <a:p>
            <a:r>
              <a:rPr lang="ru-RU" dirty="0" err="1">
                <a:solidFill>
                  <a:srgbClr val="00B050"/>
                </a:solidFill>
              </a:rPr>
              <a:t>Поняття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інформації</a:t>
            </a:r>
            <a:r>
              <a:rPr lang="ru-RU" dirty="0">
                <a:solidFill>
                  <a:srgbClr val="00B050"/>
                </a:solidFill>
              </a:rPr>
              <a:t> і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 algn="just">
              <a:buNone/>
            </a:pPr>
            <a:r>
              <a:rPr lang="ru-RU" dirty="0" err="1">
                <a:solidFill>
                  <a:schemeClr val="bg1"/>
                </a:solidFill>
              </a:rPr>
              <a:t>Інформацією</a:t>
            </a:r>
            <a:r>
              <a:rPr lang="ru-RU" dirty="0">
                <a:solidFill>
                  <a:schemeClr val="bg1"/>
                </a:solidFill>
              </a:rPr>
              <a:t> є </a:t>
            </a:r>
            <a:r>
              <a:rPr lang="ru-RU" dirty="0" err="1">
                <a:solidFill>
                  <a:schemeClr val="bg1"/>
                </a:solidFill>
              </a:rPr>
              <a:t>дані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яким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надається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деякий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зміст</a:t>
            </a:r>
            <a:r>
              <a:rPr lang="ru-RU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інтерпретація</a:t>
            </a:r>
            <a:r>
              <a:rPr lang="ru-RU" dirty="0">
                <a:solidFill>
                  <a:schemeClr val="bg1"/>
                </a:solidFill>
              </a:rPr>
              <a:t>) у </a:t>
            </a:r>
            <a:r>
              <a:rPr lang="ru-RU" dirty="0" err="1">
                <a:solidFill>
                  <a:schemeClr val="bg1"/>
                </a:solidFill>
              </a:rPr>
              <a:t>конкретній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ситуації</a:t>
            </a:r>
            <a:r>
              <a:rPr lang="ru-RU" dirty="0">
                <a:solidFill>
                  <a:schemeClr val="bg1"/>
                </a:solidFill>
              </a:rPr>
              <a:t> у рамках </a:t>
            </a:r>
            <a:r>
              <a:rPr lang="ru-RU" dirty="0" err="1">
                <a:solidFill>
                  <a:schemeClr val="bg1"/>
                </a:solidFill>
              </a:rPr>
              <a:t>деякої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системи</a:t>
            </a:r>
            <a:r>
              <a:rPr lang="ru-RU" dirty="0">
                <a:solidFill>
                  <a:schemeClr val="bg1"/>
                </a:solidFill>
              </a:rPr>
              <a:t> понять.</a:t>
            </a:r>
          </a:p>
          <a:p>
            <a:r>
              <a:rPr lang="ru-RU" dirty="0" err="1">
                <a:solidFill>
                  <a:schemeClr val="bg1"/>
                </a:solidFill>
              </a:rPr>
              <a:t>Основні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перетворення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даних</a:t>
            </a:r>
            <a:r>
              <a:rPr lang="ru-RU" dirty="0">
                <a:solidFill>
                  <a:schemeClr val="bg1"/>
                </a:solidFill>
              </a:rPr>
              <a:t> та </a:t>
            </a:r>
            <a:r>
              <a:rPr lang="ru-RU" dirty="0" err="1">
                <a:solidFill>
                  <a:schemeClr val="bg1"/>
                </a:solidFill>
              </a:rPr>
              <a:t>інформації</a:t>
            </a:r>
            <a:r>
              <a:rPr lang="ru-RU" dirty="0">
                <a:solidFill>
                  <a:schemeClr val="bg1"/>
                </a:solidFill>
              </a:rPr>
              <a:t> в ІС: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948549228"/>
              </p:ext>
            </p:extLst>
          </p:nvPr>
        </p:nvGraphicFramePr>
        <p:xfrm>
          <a:off x="1331640" y="256490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45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B050"/>
                </a:solidFill>
              </a:rPr>
              <a:t>Поняття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інформації</a:t>
            </a:r>
            <a:r>
              <a:rPr lang="ru-RU" dirty="0">
                <a:solidFill>
                  <a:srgbClr val="00B050"/>
                </a:solidFill>
              </a:rPr>
              <a:t> і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7798" t="20270" r="17723" b="29855"/>
          <a:stretch/>
        </p:blipFill>
        <p:spPr bwMode="auto">
          <a:xfrm>
            <a:off x="457200" y="2040976"/>
            <a:ext cx="8229600" cy="38269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8086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B050"/>
                </a:solidFill>
              </a:rPr>
              <a:t>Інформаційна</a:t>
            </a:r>
            <a:r>
              <a:rPr lang="ru-RU" dirty="0">
                <a:solidFill>
                  <a:srgbClr val="00B050"/>
                </a:solidFill>
              </a:rPr>
              <a:t> система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24211" t="18136" r="18707" b="8250"/>
          <a:stretch/>
        </p:blipFill>
        <p:spPr bwMode="auto">
          <a:xfrm>
            <a:off x="1535442" y="1600200"/>
            <a:ext cx="6073115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5256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solidFill>
                  <a:srgbClr val="00B050"/>
                </a:solidFill>
              </a:rPr>
              <a:t>Автоматизована інформаційна система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28381" t="28005" r="24318" b="9584"/>
          <a:stretch/>
        </p:blipFill>
        <p:spPr bwMode="auto">
          <a:xfrm>
            <a:off x="1604081" y="1600200"/>
            <a:ext cx="5935837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42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solidFill>
                  <a:srgbClr val="00B050"/>
                </a:solidFill>
              </a:rPr>
              <a:t>Забезпечення інформаційних систем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7798" t="20538" r="18065" b="4250"/>
          <a:stretch/>
        </p:blipFill>
        <p:spPr bwMode="auto">
          <a:xfrm>
            <a:off x="1232632" y="1600200"/>
            <a:ext cx="6678736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0974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00B050"/>
                </a:solidFill>
              </a:rPr>
              <a:t>Забезпечення та функції ІС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7798" t="24537" r="18065" b="21853"/>
          <a:stretch/>
        </p:blipFill>
        <p:spPr bwMode="auto">
          <a:xfrm>
            <a:off x="457200" y="1886713"/>
            <a:ext cx="8229600" cy="41354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8845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Основні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концепції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обробки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43925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ru-RU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ru-RU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ru-RU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chemeClr val="bg1"/>
                </a:solidFill>
              </a:rPr>
              <a:t>Вибір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chemeClr val="bg1"/>
                </a:solidFill>
              </a:rPr>
              <a:t>алгоритмів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обробки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інформації</a:t>
            </a:r>
            <a:r>
              <a:rPr lang="ru-RU" dirty="0">
                <a:solidFill>
                  <a:schemeClr val="bg1"/>
                </a:solidFill>
              </a:rPr>
              <a:t>,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chemeClr val="bg1"/>
                </a:solidFill>
              </a:rPr>
              <a:t>апаратних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засобів</a:t>
            </a:r>
            <a:r>
              <a:rPr lang="ru-RU" dirty="0">
                <a:solidFill>
                  <a:schemeClr val="bg1"/>
                </a:solidFill>
              </a:rPr>
              <a:t>,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chemeClr val="bg1"/>
                </a:solidFill>
              </a:rPr>
              <a:t>технологічної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платформи</a:t>
            </a:r>
            <a:r>
              <a:rPr lang="ru-RU" dirty="0">
                <a:solidFill>
                  <a:schemeClr val="bg1"/>
                </a:solidFill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256956806"/>
              </p:ext>
            </p:extLst>
          </p:nvPr>
        </p:nvGraphicFramePr>
        <p:xfrm>
          <a:off x="2051720" y="1052736"/>
          <a:ext cx="5208240" cy="3544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55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Основні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концепції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обробки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r>
              <a:rPr lang="ru-RU" dirty="0">
                <a:solidFill>
                  <a:srgbClr val="00B050"/>
                </a:solidFill>
              </a:rPr>
              <a:t>.</a:t>
            </a:r>
            <a:br>
              <a:rPr lang="ru-RU" dirty="0">
                <a:solidFill>
                  <a:srgbClr val="00B050"/>
                </a:solidFill>
              </a:rPr>
            </a:br>
            <a:r>
              <a:rPr lang="ru-RU" dirty="0" err="1"/>
              <a:t>Проблеми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7958" t="33339" r="17584" b="23720"/>
          <a:stretch/>
        </p:blipFill>
        <p:spPr bwMode="auto">
          <a:xfrm>
            <a:off x="457200" y="2306466"/>
            <a:ext cx="8229600" cy="32959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72440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Основні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концепції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обробки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r>
              <a:rPr lang="ru-RU" dirty="0">
                <a:solidFill>
                  <a:srgbClr val="00B050"/>
                </a:solidFill>
              </a:rPr>
              <a:t>.</a:t>
            </a:r>
            <a:endParaRPr lang="ru-RU" dirty="0"/>
          </a:p>
        </p:txBody>
      </p:sp>
      <p:pic>
        <p:nvPicPr>
          <p:cNvPr id="6" name="Объект 5"/>
          <p:cNvPicPr>
            <a:picLocks noGrp="1"/>
          </p:cNvPicPr>
          <p:nvPr>
            <p:ph idx="1"/>
          </p:nvPr>
        </p:nvPicPr>
        <p:blipFill rotWithShape="1">
          <a:blip r:embed="rId2"/>
          <a:srcRect l="32390" t="22938" r="31212" b="11184"/>
          <a:stretch/>
        </p:blipFill>
        <p:spPr bwMode="auto">
          <a:xfrm>
            <a:off x="2408385" y="1600200"/>
            <a:ext cx="4327229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37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Основні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концепції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обробки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r>
              <a:rPr lang="ru-RU" dirty="0">
                <a:solidFill>
                  <a:srgbClr val="00B050"/>
                </a:solidFill>
              </a:rPr>
              <a:t>.</a:t>
            </a:r>
            <a:endParaRPr lang="ru-RU" dirty="0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 rotWithShape="1">
          <a:blip r:embed="rId2"/>
          <a:srcRect l="29984" t="21337" r="29128" b="6650"/>
          <a:stretch/>
        </p:blipFill>
        <p:spPr bwMode="auto">
          <a:xfrm>
            <a:off x="2348548" y="1600200"/>
            <a:ext cx="4446903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1573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Основні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концепції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обробки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r>
              <a:rPr lang="ru-RU" dirty="0">
                <a:solidFill>
                  <a:srgbClr val="00B050"/>
                </a:solidFill>
              </a:rPr>
              <a:t>.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30786" t="22671" r="25922" b="10117"/>
          <a:stretch/>
        </p:blipFill>
        <p:spPr bwMode="auto">
          <a:xfrm>
            <a:off x="2049660" y="1600200"/>
            <a:ext cx="5044680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818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Основні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концепції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обробки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9241" t="24271" r="17264" b="13318"/>
          <a:stretch/>
        </p:blipFill>
        <p:spPr bwMode="auto">
          <a:xfrm>
            <a:off x="587983" y="1600200"/>
            <a:ext cx="7968034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3568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784976" cy="796950"/>
          </a:xfrm>
        </p:spPr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Бази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r>
              <a:rPr lang="ru-RU" dirty="0">
                <a:solidFill>
                  <a:srgbClr val="00B050"/>
                </a:solidFill>
              </a:rPr>
              <a:t> та СКБД. </a:t>
            </a:r>
            <a:r>
              <a:rPr lang="ru-RU" dirty="0" err="1">
                <a:solidFill>
                  <a:srgbClr val="00B050"/>
                </a:solidFill>
              </a:rPr>
              <a:t>Архітектура</a:t>
            </a:r>
            <a:r>
              <a:rPr lang="ru-RU" dirty="0">
                <a:solidFill>
                  <a:srgbClr val="00B050"/>
                </a:solidFill>
              </a:rPr>
              <a:t> БД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8279" t="18136" r="17584" b="7984"/>
          <a:stretch/>
        </p:blipFill>
        <p:spPr bwMode="auto">
          <a:xfrm>
            <a:off x="932874" y="1268413"/>
            <a:ext cx="7278251" cy="50403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23160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solidFill>
                  <a:srgbClr val="00B050"/>
                </a:solidFill>
              </a:rPr>
              <a:t>Основні питання для вибору при реалізації БД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9241" t="21337" r="17905" b="5850"/>
          <a:stretch/>
        </p:blipFill>
        <p:spPr bwMode="auto">
          <a:xfrm>
            <a:off x="1191610" y="1600200"/>
            <a:ext cx="6760779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6667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B050"/>
                </a:solidFill>
              </a:rPr>
              <a:t>Трирівнева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архітектура</a:t>
            </a:r>
            <a:r>
              <a:rPr lang="ru-RU" dirty="0">
                <a:solidFill>
                  <a:srgbClr val="00B050"/>
                </a:solidFill>
              </a:rPr>
              <a:t> СКБД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8600" t="17336" r="19508" b="7717"/>
          <a:stretch/>
        </p:blipFill>
        <p:spPr bwMode="auto">
          <a:xfrm>
            <a:off x="1338126" y="1600200"/>
            <a:ext cx="6467747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15499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895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B050"/>
                </a:solidFill>
              </a:rPr>
              <a:t>Система </a:t>
            </a:r>
            <a:r>
              <a:rPr lang="ru-RU" dirty="0" err="1">
                <a:solidFill>
                  <a:srgbClr val="00B050"/>
                </a:solidFill>
              </a:rPr>
              <a:t>керування</a:t>
            </a:r>
            <a:r>
              <a:rPr lang="ru-RU" dirty="0">
                <a:solidFill>
                  <a:srgbClr val="00B050"/>
                </a:solidFill>
              </a:rPr>
              <a:t> базами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7958" t="26670" r="17584" b="5317"/>
          <a:stretch/>
        </p:blipFill>
        <p:spPr bwMode="auto">
          <a:xfrm>
            <a:off x="860686" y="1600200"/>
            <a:ext cx="7422627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9295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B050"/>
                </a:solidFill>
              </a:rPr>
              <a:t>Модель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це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17798" t="26671" r="18386" b="9585"/>
          <a:stretch/>
        </p:blipFill>
        <p:spPr bwMode="auto">
          <a:xfrm>
            <a:off x="651576" y="1600200"/>
            <a:ext cx="7840848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8045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B050"/>
                </a:solidFill>
              </a:rPr>
              <a:t>Моделі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даних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21326" t="13069" r="18064" b="13851"/>
          <a:stretch/>
        </p:blipFill>
        <p:spPr bwMode="auto">
          <a:xfrm>
            <a:off x="1324206" y="1600200"/>
            <a:ext cx="6495588" cy="47085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180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00B050"/>
                </a:solidFill>
              </a:rPr>
              <a:t>Типи моделей даних (БД)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8" name="Объект 7"/>
          <p:cNvPicPr>
            <a:picLocks noGrp="1"/>
          </p:cNvPicPr>
          <p:nvPr>
            <p:ph idx="1"/>
          </p:nvPr>
        </p:nvPicPr>
        <p:blipFill rotWithShape="1">
          <a:blip r:embed="rId2"/>
          <a:srcRect l="18920" t="28272" r="18386" b="17052"/>
          <a:stretch/>
        </p:blipFill>
        <p:spPr bwMode="auto">
          <a:xfrm>
            <a:off x="457200" y="1797058"/>
            <a:ext cx="8229600" cy="43148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91728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00B050"/>
                </a:solidFill>
              </a:rPr>
              <a:t>ОТЖЕ, 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9669596"/>
              </p:ext>
            </p:extLst>
          </p:nvPr>
        </p:nvGraphicFramePr>
        <p:xfrm>
          <a:off x="457200" y="1600200"/>
          <a:ext cx="8229600" cy="4708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5513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>
                <a:solidFill>
                  <a:srgbClr val="7030A0"/>
                </a:solidFill>
              </a:rPr>
              <a:t>Узагальнена</a:t>
            </a:r>
            <a:r>
              <a:rPr lang="ru-RU" sz="3200" dirty="0">
                <a:solidFill>
                  <a:srgbClr val="7030A0"/>
                </a:solidFill>
              </a:rPr>
              <a:t> схема </a:t>
            </a:r>
            <a:r>
              <a:rPr lang="ru-RU" sz="3200" dirty="0" err="1">
                <a:solidFill>
                  <a:srgbClr val="7030A0"/>
                </a:solidFill>
              </a:rPr>
              <a:t>організаційного</a:t>
            </a:r>
            <a:r>
              <a:rPr lang="ru-RU" sz="3200" dirty="0">
                <a:solidFill>
                  <a:srgbClr val="7030A0"/>
                </a:solidFill>
              </a:rPr>
              <a:t> </a:t>
            </a:r>
            <a:r>
              <a:rPr lang="ru-RU" sz="3200" dirty="0" err="1">
                <a:solidFill>
                  <a:srgbClr val="7030A0"/>
                </a:solidFill>
              </a:rPr>
              <a:t>бізнес</a:t>
            </a:r>
            <a:r>
              <a:rPr lang="ru-RU" sz="3200" dirty="0">
                <a:solidFill>
                  <a:srgbClr val="7030A0"/>
                </a:solidFill>
              </a:rPr>
              <a:t>- </a:t>
            </a:r>
            <a:r>
              <a:rPr lang="ru-RU" sz="3200" dirty="0" err="1">
                <a:solidFill>
                  <a:srgbClr val="7030A0"/>
                </a:solidFill>
              </a:rPr>
              <a:t>моделювання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496" y="5589240"/>
            <a:ext cx="8651304" cy="1268760"/>
          </a:xfrm>
        </p:spPr>
        <p:txBody>
          <a:bodyPr>
            <a:normAutofit fontScale="70000" lnSpcReduction="20000"/>
          </a:bodyPr>
          <a:lstStyle/>
          <a:p>
            <a:pPr marL="137160" indent="0" algn="just">
              <a:buNone/>
            </a:pPr>
            <a:r>
              <a:rPr lang="uk-UA" b="1" dirty="0">
                <a:solidFill>
                  <a:schemeClr val="bg1"/>
                </a:solidFill>
              </a:rPr>
              <a:t>Місія </a:t>
            </a:r>
            <a:r>
              <a:rPr lang="uk-UA" dirty="0">
                <a:solidFill>
                  <a:schemeClr val="bg1"/>
                </a:solidFill>
              </a:rPr>
              <a:t>згідно [</a:t>
            </a:r>
            <a:r>
              <a:rPr lang="ru-RU" dirty="0">
                <a:solidFill>
                  <a:schemeClr val="bg1"/>
                </a:solidFill>
              </a:rPr>
              <a:t>ISO-15704</a:t>
            </a:r>
            <a:r>
              <a:rPr lang="uk-UA" dirty="0">
                <a:solidFill>
                  <a:schemeClr val="bg1"/>
                </a:solidFill>
              </a:rPr>
              <a:t>] </a:t>
            </a:r>
            <a:r>
              <a:rPr lang="ru-RU" dirty="0">
                <a:solidFill>
                  <a:schemeClr val="bg1"/>
                </a:solidFill>
              </a:rPr>
              <a:t>–</a:t>
            </a:r>
            <a:r>
              <a:rPr lang="ru-RU" dirty="0" err="1">
                <a:solidFill>
                  <a:schemeClr val="bg1"/>
                </a:solidFill>
              </a:rPr>
              <a:t>це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діяльність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здійснювана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підприємством</a:t>
            </a:r>
            <a:r>
              <a:rPr lang="ru-RU" dirty="0">
                <a:solidFill>
                  <a:schemeClr val="bg1"/>
                </a:solidFill>
              </a:rPr>
              <a:t> для того, </a:t>
            </a:r>
            <a:r>
              <a:rPr lang="ru-RU" dirty="0" err="1">
                <a:solidFill>
                  <a:schemeClr val="bg1"/>
                </a:solidFill>
              </a:rPr>
              <a:t>щоб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виконати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функцію</a:t>
            </a:r>
            <a:r>
              <a:rPr lang="ru-RU" dirty="0">
                <a:solidFill>
                  <a:schemeClr val="bg1"/>
                </a:solidFill>
              </a:rPr>
              <a:t>, для </a:t>
            </a:r>
            <a:r>
              <a:rPr lang="ru-RU" dirty="0" err="1">
                <a:solidFill>
                  <a:schemeClr val="bg1"/>
                </a:solidFill>
              </a:rPr>
              <a:t>якої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воно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було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засноване</a:t>
            </a:r>
            <a:r>
              <a:rPr lang="ru-RU" dirty="0">
                <a:solidFill>
                  <a:schemeClr val="bg1"/>
                </a:solidFill>
              </a:rPr>
              <a:t>, - </a:t>
            </a:r>
            <a:r>
              <a:rPr lang="ru-RU" dirty="0" err="1">
                <a:solidFill>
                  <a:schemeClr val="bg1"/>
                </a:solidFill>
              </a:rPr>
              <a:t>надання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замовникам</a:t>
            </a:r>
            <a:r>
              <a:rPr lang="ru-RU" dirty="0">
                <a:solidFill>
                  <a:schemeClr val="bg1"/>
                </a:solidFill>
              </a:rPr>
              <a:t> продукту </a:t>
            </a:r>
            <a:r>
              <a:rPr lang="ru-RU" dirty="0" err="1">
                <a:solidFill>
                  <a:schemeClr val="bg1"/>
                </a:solidFill>
              </a:rPr>
              <a:t>або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послуги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marL="137160" lvl="0" indent="0" algn="just">
              <a:buNone/>
            </a:pPr>
            <a:r>
              <a:rPr lang="ru-RU" dirty="0" err="1">
                <a:solidFill>
                  <a:schemeClr val="bg1"/>
                </a:solidFill>
              </a:rPr>
              <a:t>Механізм</a:t>
            </a:r>
            <a:r>
              <a:rPr lang="ru-RU" dirty="0">
                <a:solidFill>
                  <a:schemeClr val="bg1"/>
                </a:solidFill>
              </a:rPr>
              <a:t>, за </a:t>
            </a:r>
            <a:r>
              <a:rPr lang="ru-RU" dirty="0" err="1">
                <a:solidFill>
                  <a:schemeClr val="bg1"/>
                </a:solidFill>
              </a:rPr>
              <a:t>допомогою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якого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підприємство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реалізує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свої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цілі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задачі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5A7E87-21F0-4293-9CBA-AF1ABDDE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20" y="1418914"/>
            <a:ext cx="7653159" cy="41703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7030A0"/>
                </a:solidFill>
              </a:rPr>
              <a:t>Основні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етапи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процесно-ц</a:t>
            </a:r>
            <a:r>
              <a:rPr lang="uk-UA" dirty="0">
                <a:solidFill>
                  <a:srgbClr val="7030A0"/>
                </a:solidFill>
              </a:rPr>
              <a:t>і</a:t>
            </a:r>
            <a:r>
              <a:rPr lang="ru-RU" dirty="0" err="1">
                <a:solidFill>
                  <a:srgbClr val="7030A0"/>
                </a:solidFill>
              </a:rPr>
              <a:t>льового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опису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компанії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56176" y="1461419"/>
            <a:ext cx="2880320" cy="3623765"/>
          </a:xfrm>
        </p:spPr>
        <p:txBody>
          <a:bodyPr>
            <a:normAutofit/>
          </a:bodyPr>
          <a:lstStyle/>
          <a:p>
            <a:pPr marL="137160" indent="0" algn="just">
              <a:buNone/>
            </a:pPr>
            <a:r>
              <a:rPr lang="ru-RU" dirty="0" err="1">
                <a:solidFill>
                  <a:schemeClr val="bg1"/>
                </a:solidFill>
              </a:rPr>
              <a:t>Повна</a:t>
            </a:r>
            <a:r>
              <a:rPr lang="ru-RU" dirty="0">
                <a:solidFill>
                  <a:schemeClr val="bg1"/>
                </a:solidFill>
              </a:rPr>
              <a:t> бизнес-модель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 - </a:t>
            </a:r>
            <a:r>
              <a:rPr lang="ru-RU" dirty="0" err="1">
                <a:solidFill>
                  <a:schemeClr val="bg1"/>
                </a:solidFill>
              </a:rPr>
              <a:t>це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сукупність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функціонально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орієнтованих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інформаційних</a:t>
            </a:r>
            <a:r>
              <a:rPr lang="ru-RU" dirty="0">
                <a:solidFill>
                  <a:schemeClr val="bg1"/>
                </a:solidFill>
              </a:rPr>
              <a:t> моделей,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ED0D00-ADD4-4414-ADC5-1E28132F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8" y="1512374"/>
            <a:ext cx="5695488" cy="3833251"/>
          </a:xfrm>
          <a:prstGeom prst="rect">
            <a:avLst/>
          </a:prstGeom>
        </p:spPr>
      </p:pic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4980ADF7-1B20-41F8-A304-8E0C1A1A6091}"/>
              </a:ext>
            </a:extLst>
          </p:cNvPr>
          <p:cNvSpPr/>
          <p:nvPr/>
        </p:nvSpPr>
        <p:spPr>
          <a:xfrm>
            <a:off x="827584" y="5589240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що забезпечує взаємозв'язані відповіді на наступні питання: "навіщо" - "що" - "де" - "хто" - "скільки" - "як" - "коли" - "кому"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solidFill>
                  <a:srgbClr val="7030A0"/>
                </a:solidFill>
              </a:rPr>
              <a:t>Повна</a:t>
            </a:r>
            <a:r>
              <a:rPr lang="ru-RU" dirty="0">
                <a:solidFill>
                  <a:srgbClr val="7030A0"/>
                </a:solidFill>
              </a:rPr>
              <a:t> бизнес-модель </a:t>
            </a:r>
            <a:r>
              <a:rPr lang="ru-RU" dirty="0" err="1">
                <a:solidFill>
                  <a:srgbClr val="7030A0"/>
                </a:solidFill>
              </a:rPr>
              <a:t>компанії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300192" y="2178398"/>
            <a:ext cx="2664296" cy="3594740"/>
          </a:xfrm>
        </p:spPr>
        <p:txBody>
          <a:bodyPr>
            <a:normAutofit fontScale="92500" lnSpcReduction="10000"/>
          </a:bodyPr>
          <a:lstStyle/>
          <a:p>
            <a:pPr marL="137160" indent="0">
              <a:buNone/>
            </a:pPr>
            <a:r>
              <a:rPr lang="ru-RU" dirty="0" err="1">
                <a:solidFill>
                  <a:schemeClr val="bg1"/>
                </a:solidFill>
              </a:rPr>
              <a:t>Організаційний</a:t>
            </a:r>
            <a:r>
              <a:rPr lang="ru-RU" dirty="0">
                <a:solidFill>
                  <a:schemeClr val="bg1"/>
                </a:solidFill>
              </a:rPr>
              <a:t>  </a:t>
            </a:r>
            <a:r>
              <a:rPr lang="ru-RU" dirty="0" err="1">
                <a:solidFill>
                  <a:schemeClr val="bg1"/>
                </a:solidFill>
              </a:rPr>
              <a:t>аналіз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передбачає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побудова</a:t>
            </a:r>
            <a:r>
              <a:rPr lang="ru-RU" dirty="0">
                <a:solidFill>
                  <a:schemeClr val="bg1"/>
                </a:solidFill>
              </a:rPr>
              <a:t> комплексу </a:t>
            </a:r>
            <a:r>
              <a:rPr lang="ru-RU" dirty="0" err="1">
                <a:solidFill>
                  <a:schemeClr val="bg1"/>
                </a:solidFill>
              </a:rPr>
              <a:t>взаємозв'язаних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інформаційних</a:t>
            </a:r>
            <a:r>
              <a:rPr lang="ru-RU" dirty="0">
                <a:solidFill>
                  <a:schemeClr val="bg1"/>
                </a:solidFill>
              </a:rPr>
              <a:t> моделей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73FA18-E141-446F-A6FF-E222643DE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05" y="1196752"/>
            <a:ext cx="6444208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7030A0"/>
                </a:solidFill>
              </a:rPr>
              <a:t>Поняття матричної моделі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37160" indent="0" algn="just">
              <a:buNone/>
            </a:pPr>
            <a:r>
              <a:rPr lang="ru-RU" b="1" dirty="0">
                <a:solidFill>
                  <a:schemeClr val="bg1"/>
                </a:solidFill>
              </a:rPr>
              <a:t>*</a:t>
            </a:r>
            <a:r>
              <a:rPr lang="ru-RU" b="1" dirty="0" err="1">
                <a:solidFill>
                  <a:schemeClr val="bg1"/>
                </a:solidFill>
              </a:rPr>
              <a:t>Матричні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моделі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- </a:t>
            </a:r>
            <a:r>
              <a:rPr lang="ru-RU" dirty="0" err="1">
                <a:solidFill>
                  <a:schemeClr val="bg1"/>
                </a:solidFill>
              </a:rPr>
              <a:t>це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проекції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що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задають</a:t>
            </a:r>
            <a:r>
              <a:rPr lang="ru-RU" dirty="0">
                <a:solidFill>
                  <a:schemeClr val="bg1"/>
                </a:solidFill>
              </a:rPr>
              <a:t> систему </a:t>
            </a:r>
            <a:r>
              <a:rPr lang="ru-RU" dirty="0" err="1">
                <a:solidFill>
                  <a:schemeClr val="bg1"/>
                </a:solidFill>
              </a:rPr>
              <a:t>відносин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між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класифікаторами</a:t>
            </a:r>
            <a:r>
              <a:rPr lang="ru-RU" dirty="0">
                <a:solidFill>
                  <a:schemeClr val="bg1"/>
                </a:solidFill>
              </a:rPr>
              <a:t> в будь-</a:t>
            </a:r>
            <a:r>
              <a:rPr lang="ru-RU" dirty="0" err="1">
                <a:solidFill>
                  <a:schemeClr val="bg1"/>
                </a:solidFill>
              </a:rPr>
              <a:t>якій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їх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комбінації</a:t>
            </a:r>
            <a:r>
              <a:rPr lang="ru-RU" dirty="0">
                <a:solidFill>
                  <a:schemeClr val="bg1"/>
                </a:solidFill>
              </a:rPr>
              <a:t>. </a:t>
            </a:r>
            <a:r>
              <a:rPr lang="ru-RU" dirty="0" err="1">
                <a:solidFill>
                  <a:schemeClr val="bg1"/>
                </a:solidFill>
              </a:rPr>
              <a:t>Зв'язки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можуть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мати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додаткові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атрибути</a:t>
            </a:r>
            <a:r>
              <a:rPr lang="ru-RU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напрям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назва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індекс</a:t>
            </a:r>
            <a:r>
              <a:rPr lang="ru-RU" dirty="0">
                <a:solidFill>
                  <a:schemeClr val="bg1"/>
                </a:solidFill>
              </a:rPr>
              <a:t>, шкала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вага).</a:t>
            </a:r>
          </a:p>
          <a:p>
            <a:pPr marL="137160" indent="0" algn="just">
              <a:buNone/>
            </a:pPr>
            <a:r>
              <a:rPr lang="ru-RU" dirty="0">
                <a:solidFill>
                  <a:schemeClr val="bg1"/>
                </a:solidFill>
              </a:rPr>
              <a:t>**У </a:t>
            </a:r>
            <a:r>
              <a:rPr lang="ru-RU" b="1" dirty="0" err="1">
                <a:solidFill>
                  <a:schemeClr val="bg1"/>
                </a:solidFill>
              </a:rPr>
              <a:t>початковій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моделі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застосовується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всього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декілька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класифікаторів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предметної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області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основні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групи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продуктів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послуг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;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ресурси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споживані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компанією</a:t>
            </a:r>
            <a:r>
              <a:rPr lang="ru-RU" dirty="0">
                <a:solidFill>
                  <a:schemeClr val="bg1"/>
                </a:solidFill>
              </a:rPr>
              <a:t> в </a:t>
            </a:r>
            <a:r>
              <a:rPr lang="ru-RU" dirty="0" err="1">
                <a:solidFill>
                  <a:schemeClr val="bg1"/>
                </a:solidFill>
              </a:rPr>
              <a:t>ході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своєї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діяльності</a:t>
            </a:r>
            <a:r>
              <a:rPr lang="ru-RU" dirty="0">
                <a:solidFill>
                  <a:schemeClr val="bg1"/>
                </a:solidFill>
              </a:rPr>
              <a:t>;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функції</a:t>
            </a:r>
            <a:r>
              <a:rPr lang="ru-RU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процеси</a:t>
            </a:r>
            <a:r>
              <a:rPr lang="ru-RU" dirty="0">
                <a:solidFill>
                  <a:schemeClr val="bg1"/>
                </a:solidFill>
              </a:rPr>
              <a:t>), </a:t>
            </a:r>
            <a:r>
              <a:rPr lang="ru-RU" dirty="0" err="1">
                <a:solidFill>
                  <a:schemeClr val="bg1"/>
                </a:solidFill>
              </a:rPr>
              <a:t>підтримувані</a:t>
            </a:r>
            <a:r>
              <a:rPr lang="ru-RU" dirty="0">
                <a:solidFill>
                  <a:schemeClr val="bg1"/>
                </a:solidFill>
              </a:rPr>
              <a:t> в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;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організаційні</a:t>
            </a:r>
            <a:r>
              <a:rPr lang="ru-RU" dirty="0">
                <a:solidFill>
                  <a:schemeClr val="bg1"/>
                </a:solidFill>
              </a:rPr>
              <a:t> ланки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marL="137160" indent="0" algn="just">
              <a:buNone/>
            </a:pPr>
            <a:r>
              <a:rPr lang="ru-RU" dirty="0">
                <a:solidFill>
                  <a:schemeClr val="bg1"/>
                </a:solidFill>
              </a:rPr>
              <a:t>***У </a:t>
            </a:r>
            <a:r>
              <a:rPr lang="ru-RU" dirty="0" err="1">
                <a:solidFill>
                  <a:schemeClr val="bg1"/>
                </a:solidFill>
              </a:rPr>
              <a:t>класифікаторові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зазвичай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виділяють</a:t>
            </a:r>
            <a:r>
              <a:rPr lang="ru-RU" dirty="0">
                <a:solidFill>
                  <a:schemeClr val="bg1"/>
                </a:solidFill>
              </a:rPr>
              <a:t> три </a:t>
            </a:r>
            <a:r>
              <a:rPr lang="ru-RU" dirty="0" err="1">
                <a:solidFill>
                  <a:schemeClr val="bg1"/>
                </a:solidFill>
              </a:rPr>
              <a:t>базові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розділи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pPr lvl="0"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основні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функції</a:t>
            </a:r>
            <a:r>
              <a:rPr lang="ru-RU" dirty="0">
                <a:solidFill>
                  <a:schemeClr val="bg1"/>
                </a:solidFill>
              </a:rPr>
              <a:t> - </a:t>
            </a:r>
            <a:r>
              <a:rPr lang="ru-RU" dirty="0" err="1">
                <a:solidFill>
                  <a:schemeClr val="bg1"/>
                </a:solidFill>
              </a:rPr>
              <a:t>безпосередньо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пов'язані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процесом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перетворення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зовнішніх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ресурсів</a:t>
            </a:r>
            <a:r>
              <a:rPr lang="ru-RU" dirty="0">
                <a:solidFill>
                  <a:schemeClr val="bg1"/>
                </a:solidFill>
              </a:rPr>
              <a:t> в </a:t>
            </a:r>
            <a:r>
              <a:rPr lang="ru-RU" dirty="0" err="1">
                <a:solidFill>
                  <a:schemeClr val="bg1"/>
                </a:solidFill>
              </a:rPr>
              <a:t>продукцію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послуги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підприємства</a:t>
            </a:r>
            <a:r>
              <a:rPr lang="ru-RU" dirty="0">
                <a:solidFill>
                  <a:schemeClr val="bg1"/>
                </a:solidFill>
              </a:rPr>
              <a:t>;</a:t>
            </a:r>
          </a:p>
          <a:p>
            <a:pPr lvl="0"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функції</a:t>
            </a:r>
            <a:r>
              <a:rPr lang="ru-RU" dirty="0">
                <a:solidFill>
                  <a:schemeClr val="bg1"/>
                </a:solidFill>
              </a:rPr>
              <a:t> менеджменту - </a:t>
            </a:r>
            <a:r>
              <a:rPr lang="ru-RU" dirty="0" err="1">
                <a:solidFill>
                  <a:schemeClr val="bg1"/>
                </a:solidFill>
              </a:rPr>
              <a:t>або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управління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підприємством</a:t>
            </a:r>
            <a:r>
              <a:rPr lang="ru-RU" dirty="0">
                <a:solidFill>
                  <a:schemeClr val="bg1"/>
                </a:solidFill>
              </a:rPr>
              <a:t>;</a:t>
            </a:r>
          </a:p>
          <a:p>
            <a:pPr lvl="0" algn="just"/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ru-RU" dirty="0" err="1">
                <a:solidFill>
                  <a:schemeClr val="bg1"/>
                </a:solidFill>
              </a:rPr>
              <a:t>функції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забезпечення</a:t>
            </a:r>
            <a:r>
              <a:rPr lang="ru-RU" dirty="0">
                <a:solidFill>
                  <a:schemeClr val="bg1"/>
                </a:solidFill>
              </a:rPr>
              <a:t> - </a:t>
            </a:r>
            <a:r>
              <a:rPr lang="ru-RU" dirty="0" err="1">
                <a:solidFill>
                  <a:schemeClr val="bg1"/>
                </a:solidFill>
              </a:rPr>
              <a:t>що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підтримують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виробничу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комерційну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управлінську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діяльність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77642"/>
            <a:ext cx="8229600" cy="939784"/>
          </a:xfrm>
        </p:spPr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7030A0"/>
                </a:solidFill>
              </a:rPr>
              <a:t>Шаблони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організаційного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бізнес-моделювання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000636"/>
            <a:ext cx="8229600" cy="64294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Шаблон </a:t>
            </a:r>
            <a:r>
              <a:rPr lang="ru-RU" dirty="0" err="1">
                <a:solidFill>
                  <a:schemeClr val="bg1"/>
                </a:solidFill>
              </a:rPr>
              <a:t>розробки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місії</a:t>
            </a:r>
            <a:r>
              <a:rPr lang="ru-RU" dirty="0">
                <a:solidFill>
                  <a:schemeClr val="bg1"/>
                </a:solidFill>
              </a:rPr>
              <a:t> ( </a:t>
            </a:r>
            <a:r>
              <a:rPr lang="ru-RU" dirty="0" err="1">
                <a:solidFill>
                  <a:schemeClr val="bg1"/>
                </a:solidFill>
              </a:rPr>
              <a:t>матриця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проекцій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B2EC14-68EA-44B7-A8E4-639180FFB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124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FECA3F-F321-4B2B-9728-9C7E36214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6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799068-5539-479B-8A58-CD866305E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883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Шаблон </a:t>
            </a:r>
            <a:r>
              <a:rPr lang="ru-RU" dirty="0" err="1">
                <a:solidFill>
                  <a:srgbClr val="7030A0"/>
                </a:solidFill>
              </a:rPr>
              <a:t>формування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бізнесів</a:t>
            </a:r>
            <a:r>
              <a:rPr lang="ru-RU" dirty="0">
                <a:solidFill>
                  <a:srgbClr val="7030A0"/>
                </a:solidFill>
              </a:rPr>
              <a:t> (</a:t>
            </a:r>
            <a:r>
              <a:rPr lang="ru-RU" dirty="0" err="1">
                <a:solidFill>
                  <a:srgbClr val="7030A0"/>
                </a:solidFill>
              </a:rPr>
              <a:t>матриця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проекцій</a:t>
            </a:r>
            <a:r>
              <a:rPr lang="ru-RU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00504"/>
            <a:ext cx="8229600" cy="230885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 err="1">
                <a:solidFill>
                  <a:schemeClr val="bg1"/>
                </a:solidFill>
              </a:rPr>
              <a:t>Розробка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бізнес-потенціалу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може</a:t>
            </a:r>
            <a:r>
              <a:rPr lang="ru-RU" dirty="0">
                <a:solidFill>
                  <a:schemeClr val="bg1"/>
                </a:solidFill>
              </a:rPr>
              <a:t> бути </a:t>
            </a:r>
            <a:r>
              <a:rPr lang="ru-RU" dirty="0" err="1">
                <a:solidFill>
                  <a:schemeClr val="bg1"/>
                </a:solidFill>
              </a:rPr>
              <a:t>виконана</a:t>
            </a:r>
            <a:r>
              <a:rPr lang="ru-RU" dirty="0">
                <a:solidFill>
                  <a:schemeClr val="bg1"/>
                </a:solidFill>
              </a:rPr>
              <a:t> за Шаблоном </a:t>
            </a:r>
            <a:r>
              <a:rPr lang="ru-RU" dirty="0" err="1">
                <a:solidFill>
                  <a:schemeClr val="bg1"/>
                </a:solidFill>
              </a:rPr>
              <a:t>формування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бізнесів</a:t>
            </a:r>
            <a:endParaRPr lang="ru-RU" dirty="0">
              <a:solidFill>
                <a:schemeClr val="bg1"/>
              </a:solidFill>
            </a:endParaRPr>
          </a:p>
          <a:p>
            <a:pPr algn="just"/>
            <a:r>
              <a:rPr lang="ru-RU" dirty="0" err="1">
                <a:solidFill>
                  <a:schemeClr val="bg1"/>
                </a:solidFill>
              </a:rPr>
              <a:t>Встановлюється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відповідність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між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сформованими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товарними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групами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сегментами ринку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визначається</a:t>
            </a:r>
            <a:r>
              <a:rPr lang="ru-RU" dirty="0">
                <a:solidFill>
                  <a:schemeClr val="bg1"/>
                </a:solidFill>
              </a:rPr>
              <a:t> список </a:t>
            </a:r>
            <a:r>
              <a:rPr lang="ru-RU" dirty="0" err="1">
                <a:solidFill>
                  <a:schemeClr val="bg1"/>
                </a:solidFill>
              </a:rPr>
              <a:t>бізнесів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 (на </a:t>
            </a:r>
            <a:r>
              <a:rPr lang="ru-RU" dirty="0" err="1">
                <a:solidFill>
                  <a:schemeClr val="bg1"/>
                </a:solidFill>
              </a:rPr>
              <a:t>перетині</a:t>
            </a:r>
            <a:r>
              <a:rPr lang="ru-RU" dirty="0">
                <a:solidFill>
                  <a:schemeClr val="bg1"/>
                </a:solidFill>
              </a:rPr>
              <a:t>  </a:t>
            </a:r>
            <a:r>
              <a:rPr lang="ru-RU" dirty="0" err="1">
                <a:solidFill>
                  <a:schemeClr val="bg1"/>
                </a:solidFill>
              </a:rPr>
              <a:t>рядків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стовпців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знаходяться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бізнеси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).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768791-5489-4857-9BEE-360B66955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63" t="63992" r="2751"/>
          <a:stretch/>
        </p:blipFill>
        <p:spPr>
          <a:xfrm>
            <a:off x="611560" y="1782552"/>
            <a:ext cx="7560840" cy="18530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985" y="5475518"/>
            <a:ext cx="8291264" cy="136819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На </a:t>
            </a:r>
            <a:r>
              <a:rPr lang="ru-RU" dirty="0" err="1">
                <a:solidFill>
                  <a:schemeClr val="bg1"/>
                </a:solidFill>
              </a:rPr>
              <a:t>підставі</a:t>
            </a:r>
            <a:r>
              <a:rPr lang="ru-RU" dirty="0">
                <a:solidFill>
                  <a:schemeClr val="bg1"/>
                </a:solidFill>
              </a:rPr>
              <a:t> списку </a:t>
            </a:r>
            <a:r>
              <a:rPr lang="ru-RU" dirty="0" err="1">
                <a:solidFill>
                  <a:schemeClr val="bg1"/>
                </a:solidFill>
              </a:rPr>
              <a:t>бізнесів</a:t>
            </a:r>
            <a:r>
              <a:rPr lang="ru-RU" dirty="0">
                <a:solidFill>
                  <a:schemeClr val="bg1"/>
                </a:solidFill>
              </a:rPr>
              <a:t>, за </a:t>
            </a:r>
            <a:r>
              <a:rPr lang="ru-RU" dirty="0" err="1">
                <a:solidFill>
                  <a:schemeClr val="bg1"/>
                </a:solidFill>
              </a:rPr>
              <a:t>допомогою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матричної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проекції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формується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класифікатор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бізнес-функцій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.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Для </a:t>
            </a:r>
            <a:r>
              <a:rPr lang="ru-RU" dirty="0" err="1">
                <a:solidFill>
                  <a:schemeClr val="bg1"/>
                </a:solidFill>
              </a:rPr>
              <a:t>формування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основних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функцій</a:t>
            </a:r>
            <a:r>
              <a:rPr lang="ru-RU" dirty="0">
                <a:solidFill>
                  <a:schemeClr val="bg1"/>
                </a:solidFill>
              </a:rPr>
              <a:t> менеджменту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спочатку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розробляються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затверджуються</a:t>
            </a:r>
            <a:r>
              <a:rPr lang="ru-RU" dirty="0">
                <a:solidFill>
                  <a:schemeClr val="bg1"/>
                </a:solidFill>
              </a:rPr>
              <a:t> два </a:t>
            </a:r>
            <a:r>
              <a:rPr lang="ru-RU" dirty="0" err="1">
                <a:solidFill>
                  <a:schemeClr val="bg1"/>
                </a:solidFill>
              </a:rPr>
              <a:t>базові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класифікатори</a:t>
            </a:r>
            <a:r>
              <a:rPr lang="ru-RU" dirty="0">
                <a:solidFill>
                  <a:schemeClr val="bg1"/>
                </a:solidFill>
              </a:rPr>
              <a:t> - "</a:t>
            </a:r>
            <a:r>
              <a:rPr lang="ru-RU" dirty="0" err="1">
                <a:solidFill>
                  <a:schemeClr val="bg1"/>
                </a:solidFill>
              </a:rPr>
              <a:t>Компоненти</a:t>
            </a:r>
            <a:r>
              <a:rPr lang="ru-RU" dirty="0">
                <a:solidFill>
                  <a:schemeClr val="bg1"/>
                </a:solidFill>
              </a:rPr>
              <a:t> менеджменту.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5115C0-D463-435D-9735-11F04885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" y="188640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Шаблон </a:t>
            </a:r>
            <a:r>
              <a:rPr lang="ru-RU" dirty="0" err="1">
                <a:solidFill>
                  <a:srgbClr val="7030A0"/>
                </a:solidFill>
              </a:rPr>
              <a:t>формування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основних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функцій</a:t>
            </a:r>
            <a:r>
              <a:rPr lang="ru-RU" dirty="0">
                <a:solidFill>
                  <a:srgbClr val="7030A0"/>
                </a:solidFill>
              </a:rPr>
              <a:t> менеджменту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733250"/>
            <a:ext cx="8960645" cy="1224176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>
                <a:solidFill>
                  <a:schemeClr val="bg1"/>
                </a:solidFill>
              </a:rPr>
              <a:t>Представлені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матричні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проекції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дозволяють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формувати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функції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будь-якого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ступеня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деталізації</a:t>
            </a:r>
            <a:r>
              <a:rPr lang="ru-RU" dirty="0">
                <a:solidFill>
                  <a:schemeClr val="bg1"/>
                </a:solidFill>
              </a:rPr>
              <a:t> шляхом детального </a:t>
            </a:r>
            <a:r>
              <a:rPr lang="ru-RU" dirty="0" err="1">
                <a:solidFill>
                  <a:schemeClr val="bg1"/>
                </a:solidFill>
              </a:rPr>
              <a:t>опису</a:t>
            </a:r>
            <a:r>
              <a:rPr lang="ru-RU" dirty="0">
                <a:solidFill>
                  <a:schemeClr val="bg1"/>
                </a:solidFill>
              </a:rPr>
              <a:t> як </a:t>
            </a:r>
            <a:r>
              <a:rPr lang="ru-RU" dirty="0" err="1">
                <a:solidFill>
                  <a:schemeClr val="bg1"/>
                </a:solidFill>
              </a:rPr>
              <a:t>рядків</a:t>
            </a:r>
            <a:r>
              <a:rPr lang="ru-RU" dirty="0">
                <a:solidFill>
                  <a:schemeClr val="bg1"/>
                </a:solidFill>
              </a:rPr>
              <a:t>, так </a:t>
            </a:r>
            <a:r>
              <a:rPr lang="ru-RU" dirty="0" err="1">
                <a:solidFill>
                  <a:schemeClr val="bg1"/>
                </a:solidFill>
              </a:rPr>
              <a:t>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стовпців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матриці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FAF2C3-2AD2-478B-9BA6-C4FBDDD4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19" y="1417638"/>
            <a:ext cx="7812360" cy="43967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949280"/>
            <a:ext cx="8229600" cy="737220"/>
          </a:xfrm>
        </p:spPr>
        <p:txBody>
          <a:bodyPr>
            <a:normAutofit fontScale="92500"/>
          </a:bodyPr>
          <a:lstStyle/>
          <a:p>
            <a:pPr marL="137160" indent="0" algn="ctr">
              <a:buNone/>
            </a:pPr>
            <a:r>
              <a:rPr lang="ru-RU" dirty="0">
                <a:solidFill>
                  <a:schemeClr val="bg1"/>
                </a:solidFill>
              </a:rPr>
              <a:t>Шаблон </a:t>
            </a:r>
            <a:r>
              <a:rPr lang="ru-RU" dirty="0" err="1">
                <a:solidFill>
                  <a:schemeClr val="bg1"/>
                </a:solidFill>
              </a:rPr>
              <a:t>розподілу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функцій</a:t>
            </a:r>
            <a:r>
              <a:rPr lang="ru-RU" dirty="0">
                <a:solidFill>
                  <a:schemeClr val="bg1"/>
                </a:solidFill>
              </a:rPr>
              <a:t> по </a:t>
            </a:r>
            <a:r>
              <a:rPr lang="ru-RU" dirty="0" err="1">
                <a:solidFill>
                  <a:schemeClr val="bg1"/>
                </a:solidFill>
              </a:rPr>
              <a:t>організаційних</a:t>
            </a:r>
            <a:r>
              <a:rPr lang="ru-RU" dirty="0">
                <a:solidFill>
                  <a:schemeClr val="bg1"/>
                </a:solidFill>
              </a:rPr>
              <a:t> ланках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4C8563-F767-4C39-A064-6075CD725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0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707" y="-1"/>
            <a:ext cx="8229600" cy="855883"/>
          </a:xfrm>
        </p:spPr>
        <p:txBody>
          <a:bodyPr>
            <a:normAutofit fontScale="90000"/>
          </a:bodyPr>
          <a:lstStyle/>
          <a:p>
            <a:r>
              <a:rPr lang="ru-RU" sz="3600" dirty="0" err="1">
                <a:solidFill>
                  <a:srgbClr val="7030A0"/>
                </a:solidFill>
              </a:rPr>
              <a:t>Матриця</a:t>
            </a:r>
            <a:r>
              <a:rPr lang="ru-RU" sz="3600" dirty="0">
                <a:solidFill>
                  <a:srgbClr val="7030A0"/>
                </a:solidFill>
              </a:rPr>
              <a:t> </a:t>
            </a:r>
            <a:r>
              <a:rPr lang="ru-RU" sz="3600" dirty="0" err="1">
                <a:solidFill>
                  <a:srgbClr val="7030A0"/>
                </a:solidFill>
              </a:rPr>
              <a:t>комерційної</a:t>
            </a:r>
            <a:r>
              <a:rPr lang="ru-RU" sz="3600" dirty="0">
                <a:solidFill>
                  <a:srgbClr val="7030A0"/>
                </a:solidFill>
              </a:rPr>
              <a:t> </a:t>
            </a:r>
            <a:r>
              <a:rPr lang="ru-RU" sz="3600" dirty="0" err="1">
                <a:solidFill>
                  <a:srgbClr val="7030A0"/>
                </a:solidFill>
              </a:rPr>
              <a:t>відповідальності</a:t>
            </a:r>
            <a:r>
              <a:rPr lang="ru-RU" sz="3600" dirty="0">
                <a:solidFill>
                  <a:srgbClr val="7030A0"/>
                </a:solidFill>
              </a:rPr>
              <a:t>.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857892"/>
            <a:ext cx="8229600" cy="45146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1.11.  </a:t>
            </a:r>
            <a:r>
              <a:rPr lang="ru-RU" dirty="0" err="1">
                <a:solidFill>
                  <a:schemeClr val="bg1"/>
                </a:solidFill>
              </a:rPr>
              <a:t>Потокова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процесна</a:t>
            </a:r>
            <a:r>
              <a:rPr lang="ru-RU" dirty="0">
                <a:solidFill>
                  <a:schemeClr val="bg1"/>
                </a:solidFill>
              </a:rPr>
              <a:t> модель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9883C3-3245-4E6C-89DE-96AECC5D0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883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7030A0"/>
                </a:solidFill>
              </a:rPr>
              <a:t>Побудова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організаційно-функціональної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моделі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компанії</a:t>
            </a:r>
            <a:br>
              <a:rPr lang="ru-RU" dirty="0">
                <a:solidFill>
                  <a:srgbClr val="7030A0"/>
                </a:solidFill>
              </a:rPr>
            </a:b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572140"/>
            <a:ext cx="8229600" cy="73722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Рис. 1.12.  </a:t>
            </a:r>
            <a:r>
              <a:rPr lang="ru-RU" dirty="0" err="1">
                <a:solidFill>
                  <a:schemeClr val="bg1"/>
                </a:solidFill>
              </a:rPr>
              <a:t>Функціональна</a:t>
            </a:r>
            <a:r>
              <a:rPr lang="ru-RU" dirty="0">
                <a:solidFill>
                  <a:schemeClr val="bg1"/>
                </a:solidFill>
              </a:rPr>
              <a:t> схема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B1C12D-67F7-4DB3-BC24-A8A2A8E09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866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000" b="0" dirty="0">
                <a:solidFill>
                  <a:schemeClr val="bg1"/>
                </a:solidFill>
              </a:rPr>
              <a:t>Стандартна практика </a:t>
            </a:r>
            <a:r>
              <a:rPr lang="ru-RU" sz="2000" b="0" dirty="0" err="1">
                <a:solidFill>
                  <a:schemeClr val="bg1"/>
                </a:solidFill>
              </a:rPr>
              <a:t>побудови</a:t>
            </a:r>
            <a:r>
              <a:rPr lang="ru-RU" sz="2000" b="0" dirty="0">
                <a:solidFill>
                  <a:schemeClr val="bg1"/>
                </a:solidFill>
              </a:rPr>
              <a:t> моделей </a:t>
            </a:r>
            <a:r>
              <a:rPr lang="ru-RU" sz="2000" b="0" dirty="0" err="1">
                <a:solidFill>
                  <a:schemeClr val="bg1"/>
                </a:solidFill>
              </a:rPr>
              <a:t>організаційно-функціональної</a:t>
            </a:r>
            <a:r>
              <a:rPr lang="ru-RU" sz="2000" b="0" dirty="0">
                <a:solidFill>
                  <a:schemeClr val="bg1"/>
                </a:solidFill>
              </a:rPr>
              <a:t> </a:t>
            </a:r>
            <a:r>
              <a:rPr lang="ru-RU" sz="2000" b="0" dirty="0" err="1">
                <a:solidFill>
                  <a:schemeClr val="bg1"/>
                </a:solidFill>
              </a:rPr>
              <a:t>структури</a:t>
            </a:r>
            <a:r>
              <a:rPr lang="ru-RU" sz="2000" b="0" dirty="0">
                <a:solidFill>
                  <a:schemeClr val="bg1"/>
                </a:solidFill>
              </a:rPr>
              <a:t> </a:t>
            </a:r>
            <a:r>
              <a:rPr lang="ru-RU" sz="2000" b="0" dirty="0" err="1">
                <a:solidFill>
                  <a:schemeClr val="bg1"/>
                </a:solidFill>
              </a:rPr>
              <a:t>компаній</a:t>
            </a:r>
            <a:r>
              <a:rPr lang="ru-RU" sz="2000" b="0" dirty="0">
                <a:solidFill>
                  <a:schemeClr val="bg1"/>
                </a:solidFill>
              </a:rPr>
              <a:t> </a:t>
            </a:r>
            <a:r>
              <a:rPr lang="ru-RU" sz="2000" b="0" dirty="0" err="1">
                <a:solidFill>
                  <a:schemeClr val="bg1"/>
                </a:solidFill>
              </a:rPr>
              <a:t>підтримує</a:t>
            </a:r>
            <a:r>
              <a:rPr lang="ru-RU" sz="2000" b="0" dirty="0">
                <a:solidFill>
                  <a:schemeClr val="bg1"/>
                </a:solidFill>
              </a:rPr>
              <a:t> два </a:t>
            </a:r>
            <a:r>
              <a:rPr lang="ru-RU" sz="2000" b="0" dirty="0" err="1">
                <a:solidFill>
                  <a:schemeClr val="bg1"/>
                </a:solidFill>
              </a:rPr>
              <a:t>рівні</a:t>
            </a:r>
            <a:r>
              <a:rPr lang="ru-RU" sz="2000" b="0" dirty="0">
                <a:solidFill>
                  <a:schemeClr val="bg1"/>
                </a:solidFill>
              </a:rPr>
              <a:t> </a:t>
            </a:r>
            <a:r>
              <a:rPr lang="ru-RU" sz="2000" b="0" dirty="0" err="1">
                <a:solidFill>
                  <a:schemeClr val="bg1"/>
                </a:solidFill>
              </a:rPr>
              <a:t>деталізації</a:t>
            </a:r>
            <a:r>
              <a:rPr lang="ru-RU" sz="2000" b="0" dirty="0">
                <a:solidFill>
                  <a:schemeClr val="bg1"/>
                </a:solidFill>
              </a:rPr>
              <a:t>:</a:t>
            </a:r>
            <a:br>
              <a:rPr lang="ru-RU" sz="2000" b="0" dirty="0">
                <a:solidFill>
                  <a:schemeClr val="bg1"/>
                </a:solidFill>
              </a:rPr>
            </a:br>
            <a:r>
              <a:rPr lang="ru-RU" sz="2000" b="0" dirty="0">
                <a:solidFill>
                  <a:schemeClr val="bg1"/>
                </a:solidFill>
              </a:rPr>
              <a:t>а) </a:t>
            </a:r>
            <a:r>
              <a:rPr lang="ru-RU" sz="2000" b="0" dirty="0" err="1">
                <a:solidFill>
                  <a:schemeClr val="bg1"/>
                </a:solidFill>
              </a:rPr>
              <a:t>агреговану</a:t>
            </a:r>
            <a:r>
              <a:rPr lang="ru-RU" sz="2000" b="0" dirty="0">
                <a:solidFill>
                  <a:schemeClr val="bg1"/>
                </a:solidFill>
              </a:rPr>
              <a:t> модель; б) </a:t>
            </a:r>
            <a:r>
              <a:rPr lang="ru-RU" sz="2000" b="0" dirty="0" err="1">
                <a:solidFill>
                  <a:schemeClr val="bg1"/>
                </a:solidFill>
              </a:rPr>
              <a:t>деталізовану</a:t>
            </a:r>
            <a:r>
              <a:rPr lang="ru-RU" sz="2000" b="0" dirty="0">
                <a:solidFill>
                  <a:schemeClr val="bg1"/>
                </a:solidFill>
              </a:rPr>
              <a:t> модель.</a:t>
            </a:r>
            <a:br>
              <a:rPr lang="ru-RU" sz="2000" b="0" dirty="0">
                <a:solidFill>
                  <a:schemeClr val="bg1"/>
                </a:solidFill>
              </a:rPr>
            </a:br>
            <a:endParaRPr lang="ru-RU" sz="2000" b="0" dirty="0">
              <a:solidFill>
                <a:schemeClr val="bg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5572140"/>
            <a:ext cx="8640960" cy="737220"/>
          </a:xfrm>
        </p:spPr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ru-RU" dirty="0">
                <a:solidFill>
                  <a:schemeClr val="bg1"/>
                </a:solidFill>
              </a:rPr>
              <a:t>Схема </a:t>
            </a:r>
            <a:r>
              <a:rPr lang="ru-RU" dirty="0" err="1">
                <a:solidFill>
                  <a:schemeClr val="bg1"/>
                </a:solidFill>
              </a:rPr>
              <a:t>створення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Положення</a:t>
            </a:r>
            <a:r>
              <a:rPr lang="ru-RU" dirty="0">
                <a:solidFill>
                  <a:schemeClr val="bg1"/>
                </a:solidFill>
              </a:rPr>
              <a:t> про </a:t>
            </a:r>
            <a:r>
              <a:rPr lang="ru-RU" dirty="0" err="1">
                <a:solidFill>
                  <a:schemeClr val="bg1"/>
                </a:solidFill>
              </a:rPr>
              <a:t>организаційно-функціональну</a:t>
            </a:r>
            <a:r>
              <a:rPr lang="ru-RU" dirty="0">
                <a:solidFill>
                  <a:schemeClr val="bg1"/>
                </a:solidFill>
              </a:rPr>
              <a:t> структуру </a:t>
            </a:r>
            <a:r>
              <a:rPr lang="ru-RU" dirty="0" err="1">
                <a:solidFill>
                  <a:schemeClr val="bg1"/>
                </a:solidFill>
              </a:rPr>
              <a:t>компанії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521B5D-ACF5-4118-BDE0-ACCF14BD4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35748" y="836712"/>
            <a:ext cx="3128740" cy="1143000"/>
          </a:xfrm>
        </p:spPr>
        <p:txBody>
          <a:bodyPr>
            <a:noAutofit/>
          </a:bodyPr>
          <a:lstStyle/>
          <a:p>
            <a:r>
              <a:rPr lang="ru-RU" sz="2400" dirty="0"/>
              <a:t> </a:t>
            </a:r>
            <a:r>
              <a:rPr lang="ru-RU" sz="2400" b="0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Приклад </a:t>
            </a:r>
            <a:r>
              <a:rPr lang="ru-RU" sz="2400" b="0" i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опису</a:t>
            </a:r>
            <a:r>
              <a:rPr lang="ru-RU" sz="2400" b="0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0" i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фрагментів</a:t>
            </a:r>
            <a:r>
              <a:rPr lang="ru-RU" sz="2400" b="0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0" i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організаційно-функціональної</a:t>
            </a:r>
            <a:r>
              <a:rPr lang="ru-RU" sz="2400" b="0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0" i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моделі</a:t>
            </a:r>
            <a:r>
              <a:rPr lang="ru-RU" sz="2400" b="0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0" i="1" dirty="0" err="1">
                <a:solidFill>
                  <a:srgbClr val="7030A0"/>
                </a:solidFill>
                <a:effectLst/>
              </a:rPr>
              <a:t>торгівельного</a:t>
            </a:r>
            <a:r>
              <a:rPr lang="ru-RU" sz="2400" b="0" i="1" dirty="0">
                <a:solidFill>
                  <a:srgbClr val="7030A0"/>
                </a:solidFill>
                <a:effectLst/>
              </a:rPr>
              <a:t> </a:t>
            </a:r>
            <a:r>
              <a:rPr lang="ru-RU" sz="2400" b="0" i="1" dirty="0" err="1">
                <a:solidFill>
                  <a:srgbClr val="7030A0"/>
                </a:solidFill>
                <a:effectLst/>
              </a:rPr>
              <a:t>підприємства</a:t>
            </a:r>
            <a:r>
              <a:rPr lang="ru-RU" sz="2400" b="0" i="1" dirty="0">
                <a:solidFill>
                  <a:srgbClr val="7030A0"/>
                </a:solidFill>
                <a:effectLst/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412A03-2284-4503-AEB7-9E9CF1074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56562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solidFill>
                  <a:srgbClr val="FF0000"/>
                </a:solidFill>
              </a:rPr>
              <a:t>Завдання до самостійної роботи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0FE1A1-46A8-4BF9-BD52-DB805881A4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13638"/>
            <a:ext cx="8507288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Що таке організаційне бізнес-моделювання та які його основні завдання?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Які складові необхідно враховувати під час формування місії компанії?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 на місію компанії впливають держава, власники, менеджери, персонал, замовники, партнери, конкуренти та громадські рухи?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Що таке матриця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проєкцій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місії та які ключові запитання вона містить?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 пов’язані місія, стратегічні цілі, організаційна структура та операції компанії?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Яку роль відіграють бізнес-функції та функції менеджменту в побудові повної бізнес-моделі компанії?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 базовий продукт, базовий ринок, диференціація та сегментація впливають на формування бізнес-процесів?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 чому полягає відмінність між основними, управлінськими та забезпечувальними бізнес-функціями?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Які етапи управлінського циклу враховуються під час формування основних функцій управління?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Які компоненти менеджменту можуть бути представлені в матриці функцій управління?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 за допомогою матриці визначають зони відповідальності структурних підрозділів за функціонал компанії?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Що позначає символ «X» у матриці розподілу функцій між посадами та підрозділами?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Які складові містить потокова процесна модель та як у ній перетворюються вхідні ресурси на продукти або послуги?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 взаємодіють компоненти менеджменту, виробничого забезпечення та етапи виробничого циклу «Постачання — Виробництво — Розподіл»?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Які дані та моделі використовуються для створення положення про організаційно-функціональну структуру компанії? </a:t>
            </a:r>
          </a:p>
        </p:txBody>
      </p:sp>
    </p:spTree>
    <p:extLst>
      <p:ext uri="{BB962C8B-B14F-4D97-AF65-F5344CB8AC3E}">
        <p14:creationId xmlns:p14="http://schemas.microsoft.com/office/powerpoint/2010/main" val="5001608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творення нового документа." ma:contentTypeScope="" ma:versionID="4bd932c6edde057e4a531a4bffd55655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ff8eef8a8fa2d462934f327bdaa79c7a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зображень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8C06341-7763-4225-9A84-C44C1D10F458}"/>
</file>

<file path=customXml/itemProps2.xml><?xml version="1.0" encoding="utf-8"?>
<ds:datastoreItem xmlns:ds="http://schemas.openxmlformats.org/officeDocument/2006/customXml" ds:itemID="{B11C44E9-0321-4AE2-BB01-312823E316B8}"/>
</file>

<file path=customXml/itemProps3.xml><?xml version="1.0" encoding="utf-8"?>
<ds:datastoreItem xmlns:ds="http://schemas.openxmlformats.org/officeDocument/2006/customXml" ds:itemID="{64BFD67A-FABF-4345-A87E-3CA479F6F57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566</TotalTime>
  <Words>925</Words>
  <Application>Microsoft Office PowerPoint</Application>
  <PresentationFormat>Екран (4:3)</PresentationFormat>
  <Paragraphs>101</Paragraphs>
  <Slides>38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38</vt:i4>
      </vt:variant>
    </vt:vector>
  </HeadingPairs>
  <TitlesOfParts>
    <vt:vector size="46" baseType="lpstr">
      <vt:lpstr>Arial</vt:lpstr>
      <vt:lpstr>Book Antiqua</vt:lpstr>
      <vt:lpstr>Lucida Sans</vt:lpstr>
      <vt:lpstr>Times New Roman</vt:lpstr>
      <vt:lpstr>Wingdings</vt:lpstr>
      <vt:lpstr>Wingdings 2</vt:lpstr>
      <vt:lpstr>Wingdings 3</vt:lpstr>
      <vt:lpstr>Апекс</vt:lpstr>
      <vt:lpstr>Лекція 3 :  Поняття інформаційної системи та бази даних.  Аналіз функціональної області впровадження ІС</vt:lpstr>
      <vt:lpstr>Презентація PowerPoint</vt:lpstr>
      <vt:lpstr>Поняття інформації і даних</vt:lpstr>
      <vt:lpstr>Поняття інформації і даних</vt:lpstr>
      <vt:lpstr>Інформаційна система</vt:lpstr>
      <vt:lpstr>Автоматизована інформаційна система</vt:lpstr>
      <vt:lpstr>Забезпечення інформаційних систем</vt:lpstr>
      <vt:lpstr>Забезпечення та функції ІС</vt:lpstr>
      <vt:lpstr>Основні концепції обробки даних</vt:lpstr>
      <vt:lpstr>Основні концепції обробки даних. Проблеми методів обробки даних</vt:lpstr>
      <vt:lpstr>Основні концепції обробки даних.</vt:lpstr>
      <vt:lpstr>Основні концепції обробки даних.</vt:lpstr>
      <vt:lpstr>Основні концепції обробки даних.</vt:lpstr>
      <vt:lpstr>Основні концепції обробки даних</vt:lpstr>
      <vt:lpstr>Бази даних та СКБД. Архітектура БД</vt:lpstr>
      <vt:lpstr>Основні питання для вибору при реалізації БД</vt:lpstr>
      <vt:lpstr>Трирівнева архітектура СКБД</vt:lpstr>
      <vt:lpstr>Система керування базами даних</vt:lpstr>
      <vt:lpstr>Модель даних - це</vt:lpstr>
      <vt:lpstr>Моделі даних</vt:lpstr>
      <vt:lpstr>Типи моделей даних (БД)</vt:lpstr>
      <vt:lpstr>ОТЖЕ, </vt:lpstr>
      <vt:lpstr>Узагальнена схема організаційного бізнес- моделювання</vt:lpstr>
      <vt:lpstr>Основні етапи процесно-цільового опису компанії</vt:lpstr>
      <vt:lpstr>Повна бизнес-модель компанії</vt:lpstr>
      <vt:lpstr>Поняття матричної моделі</vt:lpstr>
      <vt:lpstr>Шаблони організаційного бізнес-моделювання </vt:lpstr>
      <vt:lpstr>Презентація PowerPoint</vt:lpstr>
      <vt:lpstr>Презентація PowerPoint</vt:lpstr>
      <vt:lpstr>Шаблон формування бізнесів (матриця проекцій)</vt:lpstr>
      <vt:lpstr>Презентація PowerPoint</vt:lpstr>
      <vt:lpstr>Шаблон формування основних функцій менеджменту</vt:lpstr>
      <vt:lpstr>Презентація PowerPoint</vt:lpstr>
      <vt:lpstr>Матриця комерційної відповідальності.</vt:lpstr>
      <vt:lpstr>Побудова організаційно-функціональної моделі компанії </vt:lpstr>
      <vt:lpstr>Стандартна практика побудови моделей організаційно-функціональної структури компаній підтримує два рівні деталізації: а) агреговану модель; б) деталізовану модель. </vt:lpstr>
      <vt:lpstr> Приклад опису фрагментів організаційно-функціональної моделі торгівельного підприємства </vt:lpstr>
      <vt:lpstr>Завдання до самостійної роботи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 : Аналіз і моделювання функціональної області впровадження ІС</dc:title>
  <dc:creator>Olzya</dc:creator>
  <cp:lastModifiedBy>Кравченко Ольга Віталіївна</cp:lastModifiedBy>
  <cp:revision>27</cp:revision>
  <dcterms:created xsi:type="dcterms:W3CDTF">2010-09-14T18:02:29Z</dcterms:created>
  <dcterms:modified xsi:type="dcterms:W3CDTF">2026-09-08T14:48:02Z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</Properties>
</file>