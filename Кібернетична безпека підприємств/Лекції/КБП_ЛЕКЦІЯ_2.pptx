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7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3" r:id="rId3"/>
    <p:sldId id="274" r:id="rId4"/>
    <p:sldId id="282" r:id="rId5"/>
    <p:sldId id="257" r:id="rId6"/>
    <p:sldId id="258" r:id="rId7"/>
    <p:sldId id="275" r:id="rId8"/>
    <p:sldId id="278" r:id="rId9"/>
    <p:sldId id="276" r:id="rId10"/>
    <p:sldId id="277" r:id="rId11"/>
    <p:sldId id="283" r:id="rId12"/>
    <p:sldId id="286" r:id="rId13"/>
    <p:sldId id="287" r:id="rId14"/>
    <p:sldId id="288" r:id="rId15"/>
    <p:sldId id="289" r:id="rId16"/>
    <p:sldId id="259" r:id="rId17"/>
    <p:sldId id="279" r:id="rId18"/>
    <p:sldId id="260" r:id="rId19"/>
    <p:sldId id="261" r:id="rId20"/>
    <p:sldId id="284" r:id="rId21"/>
    <p:sldId id="280" r:id="rId22"/>
    <p:sldId id="262" r:id="rId23"/>
    <p:sldId id="263" r:id="rId24"/>
    <p:sldId id="264" r:id="rId25"/>
    <p:sldId id="265" r:id="rId26"/>
    <p:sldId id="281" r:id="rId27"/>
    <p:sldId id="266" r:id="rId28"/>
    <p:sldId id="267" r:id="rId29"/>
    <p:sldId id="285" r:id="rId30"/>
    <p:sldId id="268" r:id="rId31"/>
    <p:sldId id="290" r:id="rId32"/>
    <p:sldId id="292" r:id="rId33"/>
    <p:sldId id="291" r:id="rId34"/>
    <p:sldId id="293" r:id="rId35"/>
    <p:sldId id="269" r:id="rId36"/>
    <p:sldId id="270" r:id="rId37"/>
    <p:sldId id="272" r:id="rId3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67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3" y="-152400"/>
            <a:ext cx="16535613" cy="92964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260600" y="603976"/>
            <a:ext cx="1038267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МІНІСТЕРСТВО ОСВІТИ І НАУКИ УКРАЇНИ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ctr" fontAlgn="base"/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Київський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національний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університет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імені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Тараса </a:t>
            </a:r>
            <a:r>
              <a:rPr lang="ru-RU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ШЕВЧЕНКА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 та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endParaRPr lang="ru-RU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6"/>
          <p:cNvSpPr/>
          <p:nvPr/>
        </p:nvSpPr>
        <p:spPr>
          <a:xfrm>
            <a:off x="13766800" y="381000"/>
            <a:ext cx="1710288" cy="1754141"/>
          </a:xfrm>
          <a:custGeom>
            <a:avLst/>
            <a:gdLst/>
            <a:ahLst/>
            <a:cxnLst/>
            <a:rect l="l" t="t" r="r" b="b"/>
            <a:pathLst>
              <a:path w="1710288" h="1754141">
                <a:moveTo>
                  <a:pt x="0" y="0"/>
                </a:moveTo>
                <a:lnTo>
                  <a:pt x="1710288" y="0"/>
                </a:lnTo>
                <a:lnTo>
                  <a:pt x="1710288" y="1754141"/>
                </a:lnTo>
                <a:lnTo>
                  <a:pt x="0" y="1754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498600" y="2861810"/>
            <a:ext cx="13792200" cy="1049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КІБЕРНЕТИЧНА БЕЗПЕКА ПІДПРИЄМСТВА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803400" y="4783865"/>
            <a:ext cx="12649200" cy="1732005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ЛЕКЦІЯ 2.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 КІБЕРБЕЗПЕКИ ПІДПРИЄМСТВА ТА ЗАХИСТ IOT-ІНФРАСТРУКТУРИ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одзаголовок 3"/>
          <p:cNvSpPr txBox="1">
            <a:spLocks/>
          </p:cNvSpPr>
          <p:nvPr/>
        </p:nvSpPr>
        <p:spPr>
          <a:xfrm>
            <a:off x="7594600" y="6575457"/>
            <a:ext cx="7253654" cy="86142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к. т. н. , доцент кафедри ІСТ  Ірина Борисенко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423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78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2413000" y="3048000"/>
            <a:ext cx="13030200" cy="3276600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uk-UA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914400" algn="just">
              <a:buAutoNum type="arabicPeriod"/>
            </a:pPr>
            <a:r>
              <a:rPr lang="ru-RU" sz="5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Рівні</a:t>
            </a:r>
            <a:r>
              <a:rPr lang="ru-RU" sz="5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корпоративної</a:t>
            </a: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ІТ-</a:t>
            </a:r>
            <a:r>
              <a:rPr lang="ru-RU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endParaRPr lang="ru-RU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914400" algn="just">
              <a:buAutoNum type="arabicPeriod"/>
            </a:pPr>
            <a:r>
              <a:rPr lang="ru-RU" sz="5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</a:t>
            </a:r>
            <a:r>
              <a:rPr lang="ru-RU" sz="5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endParaRPr lang="ru-RU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914400" algn="just">
              <a:buAutoNum type="arabicPeriod"/>
            </a:pPr>
            <a:r>
              <a:rPr lang="ru-RU" sz="5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Взаємодія</a:t>
            </a:r>
            <a:r>
              <a:rPr lang="ru-RU" sz="5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IT, OT </a:t>
            </a: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en-US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endParaRPr 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914400" algn="just">
              <a:buAutoNum type="arabicPeriod"/>
            </a:pPr>
            <a:r>
              <a:rPr lang="ru-RU" sz="5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Загрози</a:t>
            </a:r>
            <a:r>
              <a:rPr lang="ru-RU" sz="5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ru-RU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вразливості</a:t>
            </a: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endParaRPr lang="ru-RU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0" y="1447800"/>
            <a:ext cx="3731075" cy="96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541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129000" cy="90678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152400"/>
            <a:ext cx="15976600" cy="9325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Сучасне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підприємство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функціонує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умовах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інтенсивної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цифрової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трансформації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що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передбачає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широке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впровадження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інформаційно-комунікаційних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технологій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хмарних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сервісів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автоматизованих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систем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управління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технологій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Інтернету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речей.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Цифровізація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бізнес-процесів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сприяє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підвищенню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ефективності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управління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оптимізації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використання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ресурсів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автоматизації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виробничих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і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логістичних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операцій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також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забезпечує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формування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нових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моделей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взаємодії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з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клієнтами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партнерами.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Особливого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значення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набуває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зростання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кількості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використовуються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збору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передавання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оброблення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До складу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підприємства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можуть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входити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сенсори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виконавчі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промислові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контролери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моніторингу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мережеві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шлюзи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мобільні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хмарні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платформи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На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відміну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традиційної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характеризується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значною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кількістю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територіально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розподілених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постійним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обміном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даними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тісною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взаємодією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фізичних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і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цифрових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Водночас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цифрова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трансформація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призводить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взаємозалежності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інформаційної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технологічної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інфраструктури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підприємства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IT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забезпечують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оброблення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зберігання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передавання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тоді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як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операційні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OT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відповідають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за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моніторинг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і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управління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фізичними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процесами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обладнанням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Інтеграція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IT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OT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створює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єдине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технологічне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середовище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у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якому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порушення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безпеки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одного компонента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потенційно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вплинути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функціонування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інших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таких умов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кібербезпека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стає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невід’ємною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складовою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загальної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безпеки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стійкості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Компрометація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-пристрою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бути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як початкова точка для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проникнення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корпоративної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несанкціонованого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доступу до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викрадення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модифікації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порушення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технологічних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Особливу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небезпеку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становлять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слабка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автентифікація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паролів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незахищені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канали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зв’язку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застаріле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відсутність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своєчасного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оновлення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прошивок і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недостатній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контроль доступу.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Отже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захист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корпоративної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ІТ та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розглядатися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як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комплексне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завдання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охоплює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лише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окремі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технічні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засоби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захисту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й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інформаційної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організаційні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заходи,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доступом,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сегментацію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моніторинг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подій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безпеки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стійкості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499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78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2413000" y="3048000"/>
            <a:ext cx="13030200" cy="32766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uk-UA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914400" algn="just">
              <a:buAutoNum type="arabicPeriod"/>
            </a:pPr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РІВНІ КОРПОРАТИВНОЇ ІТ-ІНФРАСТРУКТУРИ</a:t>
            </a:r>
          </a:p>
          <a:p>
            <a:endParaRPr lang="en-US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31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8" y="-20595"/>
            <a:ext cx="16523194" cy="91131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5" y="370153"/>
            <a:ext cx="16227854" cy="87697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" y="-26773"/>
            <a:ext cx="16129000" cy="916047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26999" y="0"/>
            <a:ext cx="16009551" cy="886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Поняття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корпоративної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ІТ-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інфраструктури</a:t>
            </a:r>
            <a:endParaRPr lang="en-US" sz="26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Корпоративна ІТ-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інфраструктура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сукупність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технічних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програмних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мережевих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організаційних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компонентів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забезпечують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функціонування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систем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підприємства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оброблення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зберігання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передавання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захист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інформації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а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також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підтримку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основних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бізнес-процесів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сучасному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підприємстві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ІТ-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інфраструктура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має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багаторівневу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структуру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у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якій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окремі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взаємодіють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між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собою та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утворюють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єдине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інформаційно-технологічне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середовище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До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основних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складових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належать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кінцеві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робочі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станції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серверні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мережеве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обладнання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зберігання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хмарні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сервіси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позицій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кібербезпеки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принциповим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є те,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що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безпека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підприємства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визначається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не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лише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захищеністю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окремого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компонента, а й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безпекою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взаємодії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між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усіма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рівнями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Компрометація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одного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елемента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може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створити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умови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подальшого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поширення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атаки на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інші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ресурси</a:t>
            </a:r>
            <a:r>
              <a:rPr lang="ru-RU" sz="26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кінцевих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пристроїв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Кінцевий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пристрій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апаратний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програмно-апаратний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засіб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безпосередньо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підключений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корпоративної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мережі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використовується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оброблення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передавання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кінцевих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пристроїв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належать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персональні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комп’ютери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ноутбуки,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смартфони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планшети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мережеві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термінали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телефони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відеокамери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також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Цей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є одним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із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найбільш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уразливих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оскільки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саме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через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кінцеві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користувачі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взаємодіють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із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корпоративними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інформаційними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системами.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Основними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загрозами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зараження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шкідливим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програмним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забезпеченням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фішинг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вразливого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компрометація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облікових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несанкціонований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418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129000" cy="92964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16129000" cy="9571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Рівень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робочих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станцій</a:t>
            </a: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Робоча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станція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комп’ютерна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система,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призначена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виконання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працівником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професійних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завдань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і доступу до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корпоративних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ресурсів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робочій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станції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можуть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зберігатися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локальні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користувача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документи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службова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облікові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засоби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необхідні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виконання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посадових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функцій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погляду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кібербезпеки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робоча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станція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розглядається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як 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точка доступу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користувача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 корпоративного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середовища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Тому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захист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цього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рівня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передбачає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автентифікацію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користувача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розмежування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прав доступу,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застосування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політик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безпеки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контроль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програмного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моніторинг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активності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Важливим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принципом є 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принцип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найменших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привілеїв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Principle of Least Privilege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відповідно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користувачеві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надається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лише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той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обсяг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прав,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який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необхідний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виконання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професійних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обов’язків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Серверний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комп’ютерна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система, яка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надає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іншим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пристроям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програмним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системам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обчислювальні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підприємстві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можуть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виконувати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функції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зберігання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оброблення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керування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обліковими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записами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розміщення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корпоративних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застосунків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функціонування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баз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електронної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пошти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розміщення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вебресурсів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централізованого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резервного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копіювання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автентифікації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авторизації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користувачів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Серверний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підвищені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вимоги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захисту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оскільки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компрометація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сервера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забезпечити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зловмиснику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 до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значного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обсягу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корпоративних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його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захисту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використовуються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контроль доступу,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сегментація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міжмережеві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екрани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виявлення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вторгнень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шифрування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резервне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копіювання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журналювання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централізований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моніторинг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324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16129000" cy="92964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77800" y="0"/>
            <a:ext cx="14732000" cy="7848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Мережевий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рівен</a:t>
            </a: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Мережева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сукупність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апаратних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і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засобів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призначених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взаємодії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між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пристроями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системами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користувачами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підприємства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її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складу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входять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маршрутизатори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комутатори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точки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бездротового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доступу,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міжмережеві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екрани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VPN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шлюзи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інші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мережеві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Основним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завданням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цього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рівня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є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безпечного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передавання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інформації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між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компонентами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корпоративної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Важливим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механізмом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захисту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є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мережева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сегментація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поділ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корпоративної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окремі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логічні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фізичні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сегменти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відповідно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функціонального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призначення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рівня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довіри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Рівень</a:t>
            </a:r>
            <a:r>
              <a:rPr lang="ru-RU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систем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зберігання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даних</a:t>
            </a: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Система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зберігання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даних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комплекс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апаратних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і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засобів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призначений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централізованого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розподіленого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зберігання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доступу до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 таких систем належать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серверні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дискові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масиви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мережеві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сховища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NAS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SAN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резервні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сховища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інші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зберігання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Захист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цьому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рівні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передбачає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трьох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основних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властивостей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безпеки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конфіденційності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недопущення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доступу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неавторизованих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суб’єктів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цілісності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недопущення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несанкціонованої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зміни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доступності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можливості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отримання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уповноваженими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користувачами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тоді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коли вона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необхідна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Особливе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значення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мають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шифрування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розмежування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доступу,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резервне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копіювання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контроль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цілісності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захист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резервних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копій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несанкціонованого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видалення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модифікації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472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16129000" cy="92964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45413" y="533400"/>
            <a:ext cx="15038173" cy="6869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Хмарний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Хмарні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обчислення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модель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надання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обчислювальних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програмних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засобів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платформ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сховищ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через мережу за потреби.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використовують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хмарні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сервіси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розміщення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корпоративних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застосунків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баз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резервних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копій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систем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аналітики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-платформ.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моделей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хмарних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послуг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належать: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IaaS (Infrastructure as a Service)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інфраструктура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як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послуга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PaaS (Platform as a Service)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платформа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як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послуга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SaaS (Software as a Service)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програмне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забезпечення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як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послуга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Особливістю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захисту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хмарного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середовища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модель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спільної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відповідальності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(Shared Responsibility Model)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Відповідальність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безпеку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розподіляється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постачальником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хмарної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послуги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підприємством-користувачем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Основними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механізмами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захисту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IAM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багатофакторна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автентифікація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шифрування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контроль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конфігурацій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журналювання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подій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моніторинг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хмарних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</a:pP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Взаємозв’язок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рівнів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корпоративної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ІТ-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endParaRPr lang="en-US" sz="2400" b="1" dirty="0">
              <a:solidFill>
                <a:srgbClr val="2E74B5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Рівні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корпоративної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функціонують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ізольовано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Вони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утворюють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ієрархічну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взаємопов’язану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систему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у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якій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переміщується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кінцевими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пристроями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мережевими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компонентами, серверами, системами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зберігання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хмарними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сервісами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534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78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889000" y="3048000"/>
            <a:ext cx="14554200" cy="24384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uk-UA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АРХІТЕКТУРА </a:t>
            </a:r>
            <a:r>
              <a:rPr lang="en-US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IOT-</a:t>
            </a:r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 ПІДПРИЄМСТВА</a:t>
            </a:r>
          </a:p>
          <a:p>
            <a:endParaRPr lang="en-US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921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78"/>
            <a:ext cx="16256000" cy="9226378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279400" y="762000"/>
            <a:ext cx="15392400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Поняття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інфраструктури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підприємства</a:t>
            </a: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Інтернет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речей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концепція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побудови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інформаційно-комунікаційного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середовища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у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якому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фізичні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об’єкти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сенсори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мають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можливість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ідентифікуватися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збирати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обмінюватися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ними через мережу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виконувати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визначені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функції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без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постійного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безпосереднього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втручання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людини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інфраструктура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підприємства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сукупність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фізичних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сенсорів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контролерів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мережевих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засобів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шлюзів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серверів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хмарних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платформ і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прикладних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систем,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забезпечують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збір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передавання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оброблення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зберігання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використання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отриманих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об’єктів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фізичного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середовища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відміну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традиційної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корпоративної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ІТ-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поєднує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цифровий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фізичний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світи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отримана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сенсорів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не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лише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використовуватися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аналітики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а й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безпосередньо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впливати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фізичні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процеси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через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виконавчі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механізми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контролери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Загальну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архітектуру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підприємства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доцільно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представити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у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вигляді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послідовності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Фізичне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середовище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→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сенсори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→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контролери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→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шлюзи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→ мережа →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сервери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платформи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→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хмарні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сервіси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→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прикладні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системи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Рівень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пристроїв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сенсорів</a:t>
            </a:r>
            <a:endParaRPr lang="ru-RU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пристрій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фізичний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пристрій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обладнаний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засобами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збору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оброблення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передавання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команд і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здатний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взаємодіяти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іншими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компонентами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Сенсор (датчик)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пристрій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призначений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вимірювання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фізичної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величини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параметра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навколишнього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перетворення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форму,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придатну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подальшого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цифрового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оброблення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857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78"/>
            <a:ext cx="16256000" cy="9226378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203200" y="152400"/>
            <a:ext cx="15392400" cy="8556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сенсорів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можуть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належати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датчики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температури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вологості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тиску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освітленості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руху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вібрації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рідини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положення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інших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параметрів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підприємствах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застосовуються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моніторингу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обладнання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контролю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виробничих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процесів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енергоспоживанням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відстеження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транспортних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засобів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вантажів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контролю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умов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зберігання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продукції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автоматизації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складських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операцій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фізичної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безпеки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джерелом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первинної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тому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його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компрометація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призвести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лише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втрати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й до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формування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помилкової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картини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стану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фізичного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об’єкта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Наприклад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скомпрометований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температурний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сенсор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передавати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неправдиві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унаслідок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чого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автоматизована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прийматиме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некоректні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рішення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контролерів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спеціалізований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програмно-апаратний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пристрій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здійснює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оброблення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сенсорів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формує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виконавчих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механізмів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відповідно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заданого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алгоритму.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промислових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системах широко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використовуються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програмовані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логічні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контролери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PLC 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Logic Controller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Контролер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виконувати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функції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отримання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оброблення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прийняття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локального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рішення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формування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керуючої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чином, контролер є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проміжною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ланкою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фізичним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середовищем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інформаційною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інфраструктурою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 точки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зору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кібербезпеки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особливу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небезпеку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становить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несанкціонована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зміна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логіки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контролера.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Якщо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зловмисник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отримує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контроль над ним,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наслідком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бути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порушення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технологічного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фізичне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пошкодження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обладнання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930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05" y="-82378"/>
            <a:ext cx="16256000" cy="9226378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203200" y="152400"/>
            <a:ext cx="15925800" cy="8556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шлюзів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-шлюз (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Gateway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мережевий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програмно-апаратний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компонент,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взаємодію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пристроями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мережевою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серверною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хмарною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інфраструктурою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Шлюз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виконує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функцію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проміжного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вузла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комунікації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оброблення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Основними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функціями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-шлюза є: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агрегація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великої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кількості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перетворення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мережевих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протоколів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первинне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оброблення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фільтрація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автентифікація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пристроїв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шифрування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передавання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серверів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хмарних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платформ;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локальне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виконання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окремих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Шлюз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важливе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кібербезпеки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оскільки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часто є 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точкою переходу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різними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мережевими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сегментами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Компрометація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шлюза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потенційно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дозволяє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отримати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одразу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значної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кількості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підключених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Мережевий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-мережа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сукупність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комунікаційних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протоколів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забезпечують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передавання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пристроями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шлюзами, серверами та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хмарними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платформами.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Залежно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призначення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можуть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використовуватися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Ethernet;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Energy;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Zigbee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LoRaWAN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NB-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4G/5G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промислові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мережеві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протоколи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Вибір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технології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залежить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дальності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передачі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пропускної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здатності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енергоспоживання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кількості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вимог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надійності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позицій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кібербезпеки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мережевий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повинен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забезпечувати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конфіденційність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цілісність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доступність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передаваних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Основними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механізмами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захисту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шифрування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каналів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зв’язку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автентифікація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сегментування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контроль доступу та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моніторинг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мережевого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трафіку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227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292" y="-182695"/>
            <a:ext cx="16256000" cy="9226378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203200" y="152400"/>
            <a:ext cx="15925800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платформи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-сервер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обчислювальна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призначена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централізованого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приймання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оброблення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надходять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-платформа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комплекс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апаратних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засобів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повний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частковий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цикл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пристроями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їх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реєстрацію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ідентифікацію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керування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збір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аналітичне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оброблення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інтеграцію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прикладними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системами.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-платформа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виконувати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реєстрація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пристроїв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автентифікація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збір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зберігання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аналітика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керування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пристроями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цьому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рівні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можуть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реалізовуватися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механізми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централізованого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життєвим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циклом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оновлення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контролю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їхнього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стану.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Хмарні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платформи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Хмарна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-платформа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набір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обчислювальних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сервісів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призначених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масштабованого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оброблення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великої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кількості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дозволяє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підприємству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централізувати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значні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обсяги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застосовувати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засоби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аналітики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машинного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навчання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штучного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інтелекту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Типовий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потік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вигляд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пристрій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шлюз → мережа →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-платформа →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сховище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аналітична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Водночас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концентрація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обсягів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хмарному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створює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додаткові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вимоги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автентифікації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доступом,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шифрування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моніторингу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962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1" y="16476"/>
            <a:ext cx="16252568" cy="89751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38" y="0"/>
            <a:ext cx="16129000" cy="92964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508000" y="762000"/>
            <a:ext cx="15163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Точка контролю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безпеки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елемент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технологічний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механізм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за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допомогою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здійснюється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перевірка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обмеження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реєстрація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моніторинг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доступу до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ресурсів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Основними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точками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контролю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є: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430917"/>
              </p:ext>
            </p:extLst>
          </p:nvPr>
        </p:nvGraphicFramePr>
        <p:xfrm>
          <a:off x="508000" y="2224810"/>
          <a:ext cx="15011400" cy="3130808"/>
        </p:xfrm>
        <a:graphic>
          <a:graphicData uri="http://schemas.openxmlformats.org/drawingml/2006/table">
            <a:tbl>
              <a:tblPr firstRow="1" firstCol="1" bandRow="1">
                <a:tableStyleId>{22838BEF-8BB2-4498-84A7-C5851F593DF1}</a:tableStyleId>
              </a:tblPr>
              <a:tblGrid>
                <a:gridCol w="6248400">
                  <a:extLst>
                    <a:ext uri="{9D8B030D-6E8A-4147-A177-3AD203B41FA5}">
                      <a16:colId xmlns:a16="http://schemas.microsoft.com/office/drawing/2014/main" val="1021878426"/>
                    </a:ext>
                  </a:extLst>
                </a:gridCol>
                <a:gridCol w="8763000">
                  <a:extLst>
                    <a:ext uri="{9D8B030D-6E8A-4147-A177-3AD203B41FA5}">
                      <a16:colId xmlns:a16="http://schemas.microsoft.com/office/drawing/2014/main" val="29989340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Рівень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Основні точки контролю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0323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Кінцеві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пристрої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EDR, антивірус, контроль застосунків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1497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Робочі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станції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автентифікація, MFA, політики доступу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111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Мережа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Firewall, ACL, IDS/IPS, VLAN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7367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Сервери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IAM, контроль привілеїв, журналювання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5840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Сховища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шифрування, резервне копіювання, контроль доступу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2901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Хмара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IAM, MFA, Cloud Security,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моніторинг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086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автентифікація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пристроїв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шифрування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сегментація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9572821"/>
                  </a:ext>
                </a:extLst>
              </a:tr>
            </a:tbl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279400" y="6400800"/>
            <a:ext cx="1539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Отже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архітектура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кібербезпеки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повинна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забезпечувати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контроль на кожному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рівні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корпоративної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ІТ-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Відсутність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контролю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хоча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б на одному з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критичних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рівнів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створити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умови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для обходу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інших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механізмів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захисту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формує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основу для переходу до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наступного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питання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лекції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архітектури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інфраструктури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підприємства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особливостей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захисту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взаємодії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пристроїв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шлюзів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мереж,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серверів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і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хмарних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платформ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161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0"/>
            <a:ext cx="1620245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16129000" cy="89586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3937000" y="2892511"/>
            <a:ext cx="10287000" cy="32766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uk-UA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5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ВЗАЄМОДІЯ </a:t>
            </a:r>
            <a:r>
              <a:rPr lang="en-US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IT, OT </a:t>
            </a:r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en-US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</a:p>
          <a:p>
            <a:endParaRPr lang="en-US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742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16129000" cy="92964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45413" y="1295400"/>
            <a:ext cx="1503817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Поняття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endParaRPr lang="ru-RU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Інтернет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речей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концепція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побудови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інформаційно-комунікаційного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у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якому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фізичні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об’єкти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сенсори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мають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можливість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ідентифікуватися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збирати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обмінюватися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ними через мережу та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виконувати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визначені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без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постійного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безпосереднього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втручання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людини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інфраструктура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сукупність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фізичних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сенсорів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контролерів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засобів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шлюзів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платформ і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забезпечують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збір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передавання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оброблення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об’єктів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фізичного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відміну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традиційної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корпоративної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ІТ-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поєднує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цифровий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фізичний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світи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сенсорів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лише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використовуватися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аналітики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й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безпосередньо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впливати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фізичні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через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виконавчі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механізми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контролери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Загальну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доцільно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представити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вигляді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послідовності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Фізичне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сенсори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контролери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шлюзи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мережа →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хмарні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сервіси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прикладні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632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6129000" cy="899160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8"/>
            <a:ext cx="16050004" cy="913782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6" y="22654"/>
            <a:ext cx="16153106" cy="896894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136" cy="885567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16256000" cy="92964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45413" y="1295400"/>
            <a:ext cx="150381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17500" y="393184"/>
            <a:ext cx="15163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Кожен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рівень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є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потенційною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точкою атаки, тому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захист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здійснюватися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комплексно: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973305"/>
              </p:ext>
            </p:extLst>
          </p:nvPr>
        </p:nvGraphicFramePr>
        <p:xfrm>
          <a:off x="1041400" y="1453830"/>
          <a:ext cx="13411200" cy="4696208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470400">
                  <a:extLst>
                    <a:ext uri="{9D8B030D-6E8A-4147-A177-3AD203B41FA5}">
                      <a16:colId xmlns:a16="http://schemas.microsoft.com/office/drawing/2014/main" val="3605674831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82243982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1538969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Рівень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Основні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ризики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Засоби захисту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3983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IoT-пристрої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компрометація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слабкі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паролі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вразливості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прошивки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автентифікація, оновлення, secure boot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4078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Контролери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зміна логіки керування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контроль доступу, сегментація, моніторинг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0068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Шлюзи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несанкціонований доступ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Firewall, MFA, шифрування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0429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Мережа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перехоплення та модифікація трафіку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TLS, VPN, сегментація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6822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IoT-сервери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компрометація даних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IAM, IDS/IPS, журналювання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0834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Хмара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витік або несанкціонований доступ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IAM, MFA, шифрування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7559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Прикладні системи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компрометація бізнес-даних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RBAC, API Security,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аудит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6170058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545413" y="6462309"/>
            <a:ext cx="154524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Таким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чином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IoT-інфраструктура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підприємства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є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багаторівневою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кіберфізичною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системою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у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якій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кожен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рівень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виконує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визначені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функції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а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інформаційні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потоки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забезпечують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взаємодію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фізичних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об’єктів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із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цифровими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сервісами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Головною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вимогою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її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архітектури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є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забезпечення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конфіденційності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цілісності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доступності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даних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а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також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безпечного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керування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фізичними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процесами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Саме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багаторівнева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структура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зумовлює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необхідність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застосування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комплексного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підходу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кіберзахисту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який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буде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розглянуто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далі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через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взаємодію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IT, OT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IoT-середовищ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8015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76200"/>
            <a:ext cx="16164515" cy="8763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157202" cy="8991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78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2413000" y="2895600"/>
            <a:ext cx="11734800" cy="32766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uk-UA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ЗАГРОЗИ ТА ВРАЗЛИВОСТІ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IOT-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5497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6383046" cy="890716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78"/>
            <a:ext cx="16256000" cy="9226378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127000" y="1063347"/>
            <a:ext cx="157734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інфраструктура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характеризується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значною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кількістю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взаємопов’язаних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розподіленістю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використанням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різноманітних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мережевих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технологій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постійним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обміном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даними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між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фізичними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об’єктами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мережевими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вузлами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серверами і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хмарними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платформами.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Така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структура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забезпечує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високий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рівень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автоматизації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оперативного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отримання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однак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одночасно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розширює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поверхню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кіберзагроз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підприємства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поверхнею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кіберзагроз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розуміють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сукупність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усіх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інтерфейсів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мережевих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з’єднань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і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точок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доступу,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потенційно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можуть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бути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використані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зловмисником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здійснення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атаки.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Вразливість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недолік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слабке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місце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апаратному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забезпеченні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програмному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забезпеченні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конфігурації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мережевій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архітектурі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організації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процесів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безпеки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яке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бути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використане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порушення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конфіденційності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цілісності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доступності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систем. Для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середовища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характерною проблемою є те,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що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значна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кількість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розробляється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з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обмеженими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обчислювальними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ресурсами,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тривалим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життєвим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циклом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недостатніми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можливостями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реалізації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сучасних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механізмів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захисту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Однією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з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найбільш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поширених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загроз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є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компрометація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Компрометація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означає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отримання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зловмисником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несанкціонованого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контролю над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пристроєм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програмним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забезпеченням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обліковими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даними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Після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отримання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контролю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пристрій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бути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використаний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збору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конфіденційної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зміни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параметрів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функціонування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прихованого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спостереження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поширення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шкідливого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програмного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здійснення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подальших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атак на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інші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корпоративної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Особливу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небезпеку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становлять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мають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прямий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опосередкований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доступ до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серверів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технологічних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систем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критичних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ресурсів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4271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78"/>
            <a:ext cx="16256000" cy="9226378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584200" y="1063347"/>
            <a:ext cx="15240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Важливим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фактором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ризику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є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слабка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автентифікація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Автентифікація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являє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собою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процес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перевірки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ідентичності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користувача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пристрою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іншого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суб’єкта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взаємодії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Використання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стандартних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паролів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однакових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облікових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великої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кількості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коротких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паролів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відсутність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механізмів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багатофакторної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автентифікації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значно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спрощують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несанкціонований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доступ.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Якщо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однакові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облікові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застосовуються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значній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кількості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компрометація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одного пристрою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створити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передумови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отримання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доступу до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інших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Суттєву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загрозу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становить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також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використання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незахищених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протоколів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передачі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Передавання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без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криптографічного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захисту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створити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можливість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її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перехоплення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модифікації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повторного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відтворення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Для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-систем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особливо критично,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оскільки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через мережу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можуть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передаватися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не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лише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показники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сенсорів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а й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команди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керування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фізичними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процесами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Використання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захищених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протоколів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зокрема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TLS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змогу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забезпечити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шифрування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каналу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зв’язку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зменшити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ризик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компрометації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час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її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передавання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Окрему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групу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ризиків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формують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вразливості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програмно-апаратного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забезпечення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прошивки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Прошивка є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програмним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забезпеченням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яке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забезпечує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базове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функціонування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пристрою та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взаємодію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апаратних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компонентів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Наявність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у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ній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відомих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вразливостей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дозволити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зловмиснику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виконати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несанкціонований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код,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змінити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конфігурацію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пристрою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отримати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підвищені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привілеї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Проблема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посилюється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у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випадках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коли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виробник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не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забезпечує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регулярне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оновлення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прошивки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пристрій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протягом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тривалого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часу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експлуатується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без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встановлення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актуальних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виправлень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безпеки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511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78"/>
            <a:ext cx="16256000" cy="922637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69900" y="914400"/>
            <a:ext cx="15316200" cy="689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Особливе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місце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архітектурі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займають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шлюзи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забезпечують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взаємодію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між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пристроями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іншими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мережевими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сегментами.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Компрометація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-шлюзу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може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мати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значно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серйозніші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наслідки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ніж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компрометація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одного сенсора,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оскільки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шлюз часто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обслуговує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одночасно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десятки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сотні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пристроїв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Отримавши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контроль над шлюзом,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зловмисник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потенційно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може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здійснювати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моніторинг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трафіку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змінювати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маршрутизацію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блокувати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передачу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використовувати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шлюз як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проміжну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точку для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проникнення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корпоративної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технологічної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мережі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менш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критичним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є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захист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серверів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і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хмарних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платформ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на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централізовано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накопичуються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обробляються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великої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кількості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пристроїв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Компрометація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такого компонента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може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призвести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 масштабного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витоку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інформації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зміни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параметрів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пристроїв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формування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неправдивих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команд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керування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На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відміну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від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локального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-пристрою, сервер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хмарна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платформа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може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забезпечувати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доступ до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великої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кількості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підключених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об’єктів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тому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їх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захист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має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розглядатися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як один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із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ключових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елементів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загальної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архітектури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кібербезпеки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підприємства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Важливою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загрозою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є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перехоплення</a:t>
            </a:r>
            <a:r>
              <a:rPr lang="ru-RU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яке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полягає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отриманні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зловмисником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інформації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під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час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її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передавання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між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пристроями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шлюзами, серверами та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хмарними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платформами. У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перехоплення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можуть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бути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скомпрометовані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показники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сенсорів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ідентифікаційні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службова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або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команди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керування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Якщо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передається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без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належного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шифрування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перевірки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її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цілісності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зловмисник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може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не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лише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отримати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доступ до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даних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а й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модифікувати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їх</a:t>
            </a:r>
            <a:r>
              <a:rPr lang="ru-RU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1834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78"/>
            <a:ext cx="16256000" cy="922637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31800" y="1340346"/>
            <a:ext cx="15392400" cy="689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характерною є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також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загроза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-атак (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Denial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розподілених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атак на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відмову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обслуговуванні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метою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яких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надмірного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навантаження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мережевий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ресурс, сервер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інший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компонент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інформаційної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Особливість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полягає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тому,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велика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кількість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недостатньо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захищених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пристроїв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бути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об’єднана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зловмисником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ботнет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використана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одночасного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генерування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великого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обсягу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мережевого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трафіку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У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результаті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бути порушена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доступність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корпоративних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сервісів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окремих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сегментів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мережі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Особливо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небезпечним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наслідком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компрометації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-пристрою є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латеральне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переміщення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lateral movement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Цим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терміном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позначають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переміщення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зловмисника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початково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скомпрометованого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ресурсу до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інших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 і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мережевих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сегментів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метою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розширення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контролю над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інфраструктурою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Наприклад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зловмисник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спочатку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отримати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 до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недостатньо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захищеного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-пристрою,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після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чого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використати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його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мережеве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підключення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внутрішньої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мережі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компрометації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сервера,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облікових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подальшого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проникнення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корпоративних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-систем.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чином,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головна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небезпека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полягає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лише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можливості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компрометації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окремого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пристрою, а в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потенційній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можливості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перетворення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одного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вразливого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компонента на точку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проникнення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всієї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корпоративної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кіберфізичної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Особливо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критичним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стає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умовах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інтеграції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коли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порушення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безпеки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одному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рівні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вплинути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функціонування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інших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рівнів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070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7" y="0"/>
            <a:ext cx="16226247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76"/>
            <a:ext cx="16176347" cy="912752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60600" y="603976"/>
            <a:ext cx="1038267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МІНІСТЕРСТВО ОСВІТИ І НАУКИ УКРАЇНИ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ctr" fontAlgn="base"/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Київський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національний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університет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імені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Тараса </a:t>
            </a:r>
            <a:r>
              <a:rPr lang="ru-RU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ШЕВЧЕНКА </a:t>
            </a:r>
            <a:r>
              <a:rPr lang="en-US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 та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endParaRPr lang="ru-RU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6"/>
          <p:cNvSpPr/>
          <p:nvPr/>
        </p:nvSpPr>
        <p:spPr>
          <a:xfrm>
            <a:off x="13766800" y="381000"/>
            <a:ext cx="1710288" cy="1754141"/>
          </a:xfrm>
          <a:custGeom>
            <a:avLst/>
            <a:gdLst/>
            <a:ahLst/>
            <a:cxnLst/>
            <a:rect l="l" t="t" r="r" b="b"/>
            <a:pathLst>
              <a:path w="1710288" h="1754141">
                <a:moveTo>
                  <a:pt x="0" y="0"/>
                </a:moveTo>
                <a:lnTo>
                  <a:pt x="1710288" y="0"/>
                </a:lnTo>
                <a:lnTo>
                  <a:pt x="1710288" y="1754141"/>
                </a:lnTo>
                <a:lnTo>
                  <a:pt x="0" y="1754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498600" y="2861810"/>
            <a:ext cx="13792200" cy="1049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КІБЕРНЕТИЧНА БЕЗПЕКА ПІДПРИЄМСТВА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803400" y="4783865"/>
            <a:ext cx="12649200" cy="1732005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ЛЕКЦІЯ 2.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 КІБЕРБЕЗПЕКИ ПІДПРИЄМСТВА ТА ЗАХИСТ IOT-ІНФРАСТРУКТУРИ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одзаголовок 3"/>
          <p:cNvSpPr txBox="1">
            <a:spLocks/>
          </p:cNvSpPr>
          <p:nvPr/>
        </p:nvSpPr>
        <p:spPr>
          <a:xfrm>
            <a:off x="7594600" y="6575457"/>
            <a:ext cx="7253654" cy="86142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к. т. н. , доцент кафедри ІСТ  Ірина Борисенко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631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CE969D0E7CF8B45BF82E61A64A9492C" ma:contentTypeVersion="7" ma:contentTypeDescription="Створення нового документа." ma:contentTypeScope="" ma:versionID="a478701e8ede3afbd4a6882c32eef1aa">
  <xsd:schema xmlns:xsd="http://www.w3.org/2001/XMLSchema" xmlns:xs="http://www.w3.org/2001/XMLSchema" xmlns:p="http://schemas.microsoft.com/office/2006/metadata/properties" xmlns:ns2="3695f620-fbe1-4a7a-bb91-0c71b98b2fd0" targetNamespace="http://schemas.microsoft.com/office/2006/metadata/properties" ma:root="true" ma:fieldsID="46f421d175458475962a97513df97c04" ns2:_="">
    <xsd:import namespace="3695f620-fbe1-4a7a-bb91-0c71b98b2f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95f620-fbe1-4a7a-bb91-0c71b98b2f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B803CE-B00F-4768-9345-0A859441471F}"/>
</file>

<file path=customXml/itemProps2.xml><?xml version="1.0" encoding="utf-8"?>
<ds:datastoreItem xmlns:ds="http://schemas.openxmlformats.org/officeDocument/2006/customXml" ds:itemID="{0E79F3C0-13C5-4FC2-B5C7-405D9FA796F8}"/>
</file>

<file path=customXml/itemProps3.xml><?xml version="1.0" encoding="utf-8"?>
<ds:datastoreItem xmlns:ds="http://schemas.openxmlformats.org/officeDocument/2006/customXml" ds:itemID="{A580A6BC-7994-44DE-940E-26C55A065B2C}"/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3393</Words>
  <Application>Microsoft Office PowerPoint</Application>
  <PresentationFormat>Произвольный</PresentationFormat>
  <Paragraphs>207</Paragraphs>
  <Slides>37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3" baseType="lpstr">
      <vt:lpstr>Arial</vt:lpstr>
      <vt:lpstr>Calibri</vt:lpstr>
      <vt:lpstr>Symbol</vt:lpstr>
      <vt:lpstr>Times New Roman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 O M E</dc:creator>
  <cp:lastModifiedBy>Ірина Борисенко</cp:lastModifiedBy>
  <cp:revision>12</cp:revision>
  <dcterms:created xsi:type="dcterms:W3CDTF">2006-08-16T00:00:00Z</dcterms:created>
  <dcterms:modified xsi:type="dcterms:W3CDTF">2026-09-02T16:21:54Z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0x010100CCE969D0E7CF8B45BF82E61A64A9492C</vt:lpwstr>
  </property>
</Properties>
</file>