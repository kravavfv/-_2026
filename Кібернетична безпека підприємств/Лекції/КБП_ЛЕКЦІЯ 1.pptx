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3.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3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72" r:id="rId4"/>
    <p:sldId id="257" r:id="rId5"/>
    <p:sldId id="274" r:id="rId6"/>
    <p:sldId id="275" r:id="rId7"/>
    <p:sldId id="276" r:id="rId8"/>
    <p:sldId id="277" r:id="rId9"/>
    <p:sldId id="278" r:id="rId10"/>
    <p:sldId id="258" r:id="rId11"/>
    <p:sldId id="279" r:id="rId12"/>
    <p:sldId id="280" r:id="rId13"/>
    <p:sldId id="281" r:id="rId14"/>
    <p:sldId id="282" r:id="rId15"/>
    <p:sldId id="259" r:id="rId16"/>
    <p:sldId id="260" r:id="rId17"/>
    <p:sldId id="283" r:id="rId18"/>
    <p:sldId id="284" r:id="rId19"/>
    <p:sldId id="261" r:id="rId20"/>
    <p:sldId id="262" r:id="rId21"/>
    <p:sldId id="285" r:id="rId22"/>
    <p:sldId id="286" r:id="rId23"/>
    <p:sldId id="263" r:id="rId24"/>
    <p:sldId id="264" r:id="rId25"/>
    <p:sldId id="287" r:id="rId26"/>
    <p:sldId id="265" r:id="rId27"/>
    <p:sldId id="288" r:id="rId28"/>
    <p:sldId id="289" r:id="rId29"/>
    <p:sldId id="290" r:id="rId30"/>
    <p:sldId id="291" r:id="rId31"/>
    <p:sldId id="266" r:id="rId32"/>
    <p:sldId id="267" r:id="rId33"/>
    <p:sldId id="268" r:id="rId34"/>
    <p:sldId id="293" r:id="rId35"/>
    <p:sldId id="292" r:id="rId36"/>
    <p:sldId id="269" r:id="rId37"/>
    <p:sldId id="270" r:id="rId38"/>
    <p:sldId id="295" r:id="rId39"/>
    <p:sldId id="294" r:id="rId40"/>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6"/>
    <a:srgbClr val="E0E0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2" d="100"/>
          <a:sy n="62" d="100"/>
        </p:scale>
        <p:origin x="66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0" y="20594"/>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Прямоугольник 3"/>
          <p:cNvSpPr/>
          <p:nvPr/>
        </p:nvSpPr>
        <p:spPr>
          <a:xfrm>
            <a:off x="2260600" y="603976"/>
            <a:ext cx="10382678" cy="1384995"/>
          </a:xfrm>
          <a:prstGeom prst="rect">
            <a:avLst/>
          </a:prstGeom>
        </p:spPr>
        <p:txBody>
          <a:bodyPr wrap="square">
            <a:spAutoFit/>
          </a:bodyPr>
          <a:lstStyle/>
          <a:p>
            <a:pPr algn="ctr" fontAlgn="base"/>
            <a:r>
              <a:rPr lang="ru-RU" sz="2800" dirty="0">
                <a:solidFill>
                  <a:srgbClr val="000000"/>
                </a:solidFill>
                <a:latin typeface="Times New Roman" panose="02020603050405020304" pitchFamily="18" charset="0"/>
                <a:cs typeface="Times New Roman" panose="02020603050405020304" pitchFamily="18" charset="0"/>
              </a:rPr>
              <a:t>МІНІСТЕРСТВО ОСВІТИ І НАУКИ УКРАЇНИ </a:t>
            </a:r>
            <a:r>
              <a:rPr lang="en-US" sz="2800" dirty="0">
                <a:solidFill>
                  <a:srgbClr val="000000"/>
                </a:solidFill>
                <a:latin typeface="Times New Roman" panose="02020603050405020304" pitchFamily="18" charset="0"/>
                <a:cs typeface="Times New Roman" panose="02020603050405020304" pitchFamily="18" charset="0"/>
              </a:rPr>
              <a:t>​</a:t>
            </a:r>
          </a:p>
          <a:p>
            <a:pPr algn="ctr" fontAlgn="base"/>
            <a:r>
              <a:rPr lang="ru-RU" sz="2800" dirty="0" err="1">
                <a:solidFill>
                  <a:srgbClr val="000000"/>
                </a:solidFill>
                <a:latin typeface="Times New Roman" panose="02020603050405020304" pitchFamily="18" charset="0"/>
                <a:cs typeface="Times New Roman" panose="02020603050405020304" pitchFamily="18" charset="0"/>
              </a:rPr>
              <a:t>Київський</a:t>
            </a:r>
            <a:r>
              <a:rPr lang="ru-RU" sz="2800" dirty="0">
                <a:solidFill>
                  <a:srgbClr val="000000"/>
                </a:solidFill>
                <a:latin typeface="Times New Roman" panose="02020603050405020304" pitchFamily="18" charset="0"/>
                <a:cs typeface="Times New Roman" panose="02020603050405020304" pitchFamily="18" charset="0"/>
              </a:rPr>
              <a:t> </a:t>
            </a:r>
            <a:r>
              <a:rPr lang="ru-RU" sz="2800" dirty="0" err="1">
                <a:solidFill>
                  <a:srgbClr val="000000"/>
                </a:solidFill>
                <a:latin typeface="Times New Roman" panose="02020603050405020304" pitchFamily="18" charset="0"/>
                <a:cs typeface="Times New Roman" panose="02020603050405020304" pitchFamily="18" charset="0"/>
              </a:rPr>
              <a:t>національний</a:t>
            </a:r>
            <a:r>
              <a:rPr lang="ru-RU" sz="2800" dirty="0">
                <a:solidFill>
                  <a:srgbClr val="000000"/>
                </a:solidFill>
                <a:latin typeface="Times New Roman" panose="02020603050405020304" pitchFamily="18" charset="0"/>
                <a:cs typeface="Times New Roman" panose="02020603050405020304" pitchFamily="18" charset="0"/>
              </a:rPr>
              <a:t> </a:t>
            </a:r>
            <a:r>
              <a:rPr lang="ru-RU" sz="2800" dirty="0" err="1">
                <a:solidFill>
                  <a:srgbClr val="000000"/>
                </a:solidFill>
                <a:latin typeface="Times New Roman" panose="02020603050405020304" pitchFamily="18" charset="0"/>
                <a:cs typeface="Times New Roman" panose="02020603050405020304" pitchFamily="18" charset="0"/>
              </a:rPr>
              <a:t>університет</a:t>
            </a:r>
            <a:r>
              <a:rPr lang="ru-RU" sz="2800" dirty="0">
                <a:solidFill>
                  <a:srgbClr val="000000"/>
                </a:solidFill>
                <a:latin typeface="Times New Roman" panose="02020603050405020304" pitchFamily="18" charset="0"/>
                <a:cs typeface="Times New Roman" panose="02020603050405020304" pitchFamily="18" charset="0"/>
              </a:rPr>
              <a:t> </a:t>
            </a:r>
            <a:r>
              <a:rPr lang="ru-RU" sz="2800" dirty="0" err="1">
                <a:solidFill>
                  <a:srgbClr val="000000"/>
                </a:solidFill>
                <a:latin typeface="Times New Roman" panose="02020603050405020304" pitchFamily="18" charset="0"/>
                <a:cs typeface="Times New Roman" panose="02020603050405020304" pitchFamily="18" charset="0"/>
              </a:rPr>
              <a:t>імені</a:t>
            </a:r>
            <a:r>
              <a:rPr lang="ru-RU" sz="2800" dirty="0">
                <a:solidFill>
                  <a:srgbClr val="000000"/>
                </a:solidFill>
                <a:latin typeface="Times New Roman" panose="02020603050405020304" pitchFamily="18" charset="0"/>
                <a:cs typeface="Times New Roman" panose="02020603050405020304" pitchFamily="18" charset="0"/>
              </a:rPr>
              <a:t> </a:t>
            </a:r>
            <a:r>
              <a:rPr lang="ru-RU" sz="2800">
                <a:solidFill>
                  <a:srgbClr val="000000"/>
                </a:solidFill>
                <a:latin typeface="Times New Roman" panose="02020603050405020304" pitchFamily="18" charset="0"/>
                <a:cs typeface="Times New Roman" panose="02020603050405020304" pitchFamily="18" charset="0"/>
              </a:rPr>
              <a:t>Тараса </a:t>
            </a:r>
            <a:r>
              <a:rPr lang="ru-RU" sz="2800" smtClean="0">
                <a:solidFill>
                  <a:srgbClr val="000000"/>
                </a:solidFill>
                <a:latin typeface="Times New Roman" panose="02020603050405020304" pitchFamily="18" charset="0"/>
                <a:cs typeface="Times New Roman" panose="02020603050405020304" pitchFamily="18" charset="0"/>
              </a:rPr>
              <a:t>ШЕВЧЕНКА </a:t>
            </a:r>
            <a:r>
              <a:rPr lang="en-US" sz="2800" smtClean="0">
                <a:solidFill>
                  <a:srgbClr val="000000"/>
                </a:solidFill>
                <a:latin typeface="Times New Roman" panose="02020603050405020304" pitchFamily="18" charset="0"/>
                <a:cs typeface="Times New Roman" panose="02020603050405020304" pitchFamily="18" charset="0"/>
              </a:rPr>
              <a:t>​</a:t>
            </a:r>
            <a:endParaRPr lang="en-US" sz="2800" dirty="0">
              <a:solidFill>
                <a:srgbClr val="000000"/>
              </a:solidFill>
              <a:latin typeface="Times New Roman" panose="02020603050405020304" pitchFamily="18" charset="0"/>
              <a:cs typeface="Times New Roman" panose="02020603050405020304" pitchFamily="18" charset="0"/>
            </a:endParaRPr>
          </a:p>
          <a:p>
            <a:pPr algn="ctr" fontAlgn="base"/>
            <a:r>
              <a:rPr lang="ru-RU" sz="2800" dirty="0">
                <a:solidFill>
                  <a:srgbClr val="000000"/>
                </a:solidFill>
                <a:latin typeface="Times New Roman" panose="02020603050405020304" pitchFamily="18" charset="0"/>
                <a:cs typeface="Times New Roman" panose="02020603050405020304" pitchFamily="18" charset="0"/>
              </a:rPr>
              <a:t>Кафедра </a:t>
            </a:r>
            <a:r>
              <a:rPr lang="ru-RU" sz="2800" dirty="0" err="1">
                <a:solidFill>
                  <a:srgbClr val="000000"/>
                </a:solidFill>
                <a:latin typeface="Times New Roman" panose="02020603050405020304" pitchFamily="18" charset="0"/>
                <a:cs typeface="Times New Roman" panose="02020603050405020304" pitchFamily="18" charset="0"/>
              </a:rPr>
              <a:t>інформаційних</a:t>
            </a:r>
            <a:r>
              <a:rPr lang="ru-RU" sz="2800" dirty="0">
                <a:solidFill>
                  <a:srgbClr val="000000"/>
                </a:solidFill>
                <a:latin typeface="Times New Roman" panose="02020603050405020304" pitchFamily="18" charset="0"/>
                <a:cs typeface="Times New Roman" panose="02020603050405020304" pitchFamily="18" charset="0"/>
              </a:rPr>
              <a:t> систем та </a:t>
            </a:r>
            <a:r>
              <a:rPr lang="ru-RU" sz="2800" dirty="0" err="1">
                <a:solidFill>
                  <a:srgbClr val="000000"/>
                </a:solidFill>
                <a:latin typeface="Times New Roman" panose="02020603050405020304" pitchFamily="18" charset="0"/>
                <a:cs typeface="Times New Roman" panose="02020603050405020304" pitchFamily="18" charset="0"/>
              </a:rPr>
              <a:t>технологій</a:t>
            </a:r>
            <a:endParaRPr lang="ru-RU" sz="2800" b="0" i="0" dirty="0">
              <a:solidFill>
                <a:srgbClr val="000000"/>
              </a:solidFill>
              <a:effectLst/>
              <a:latin typeface="Times New Roman" panose="02020603050405020304" pitchFamily="18" charset="0"/>
              <a:cs typeface="Times New Roman" panose="02020603050405020304" pitchFamily="18" charset="0"/>
            </a:endParaRPr>
          </a:p>
        </p:txBody>
      </p:sp>
      <p:sp>
        <p:nvSpPr>
          <p:cNvPr id="5" name="Freeform 6"/>
          <p:cNvSpPr/>
          <p:nvPr/>
        </p:nvSpPr>
        <p:spPr>
          <a:xfrm>
            <a:off x="13766800" y="381000"/>
            <a:ext cx="1710288" cy="1754141"/>
          </a:xfrm>
          <a:custGeom>
            <a:avLst/>
            <a:gdLst/>
            <a:ahLst/>
            <a:cxnLst/>
            <a:rect l="l" t="t" r="r" b="b"/>
            <a:pathLst>
              <a:path w="1710288" h="1754141">
                <a:moveTo>
                  <a:pt x="0" y="0"/>
                </a:moveTo>
                <a:lnTo>
                  <a:pt x="1710288" y="0"/>
                </a:lnTo>
                <a:lnTo>
                  <a:pt x="1710288" y="1754141"/>
                </a:lnTo>
                <a:lnTo>
                  <a:pt x="0" y="1754141"/>
                </a:lnTo>
                <a:lnTo>
                  <a:pt x="0" y="0"/>
                </a:lnTo>
                <a:close/>
              </a:path>
            </a:pathLst>
          </a:custGeom>
          <a:blipFill>
            <a:blip r:embed="rId2"/>
            <a:stretch>
              <a:fillRect/>
            </a:stretch>
          </a:blipFill>
        </p:spPr>
        <p:txBody>
          <a:bodyPr/>
          <a:lstStyle/>
          <a:p>
            <a:endParaRPr lang="en-UA"/>
          </a:p>
        </p:txBody>
      </p:sp>
      <p:sp>
        <p:nvSpPr>
          <p:cNvPr id="6" name="Заголовок 1">
            <a:extLst>
              <a:ext uri="{FF2B5EF4-FFF2-40B4-BE49-F238E27FC236}">
                <a16:creationId xmlns:a16="http://schemas.microsoft.com/office/drawing/2014/main" id="{3D30D32A-359B-41BB-9746-2CF3A21EEFFC}"/>
              </a:ext>
            </a:extLst>
          </p:cNvPr>
          <p:cNvSpPr txBox="1">
            <a:spLocks/>
          </p:cNvSpPr>
          <p:nvPr/>
        </p:nvSpPr>
        <p:spPr>
          <a:xfrm>
            <a:off x="1498600" y="2861810"/>
            <a:ext cx="13792200" cy="104921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uk-UA" sz="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КІБЕРНЕТИЧНА БЕЗПЕКА ПІДПРИЄМСТВА</a:t>
            </a:r>
            <a:endParaRPr lang="en-US"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1803400" y="4783865"/>
            <a:ext cx="12649200" cy="1732005"/>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uk-UA" sz="3200" b="1" dirty="0" smtClean="0">
                <a:latin typeface="Times New Roman" panose="02020603050405020304" pitchFamily="18" charset="0"/>
                <a:cs typeface="Times New Roman" panose="02020603050405020304" pitchFamily="18" charset="0"/>
              </a:rPr>
              <a:t>ЛЕКЦІЯ 1. </a:t>
            </a:r>
            <a:r>
              <a:rPr lang="ru-RU" sz="3200" b="1" dirty="0" smtClean="0">
                <a:latin typeface="Times New Roman" panose="02020603050405020304" pitchFamily="18" charset="0"/>
                <a:cs typeface="Times New Roman" panose="02020603050405020304" pitchFamily="18" charset="0"/>
              </a:rPr>
              <a:t>КІБЕРНЕТИЧНА БЕЗПЕКА ПІДПРИЄМСТВА: ПОНЯТТЯ, ПРИНЦИПИ ТА СУЧАСНІ ВИКЛИКИ</a:t>
            </a:r>
            <a:endParaRPr lang="en-US" sz="2200" dirty="0">
              <a:latin typeface="Times New Roman" panose="02020603050405020304" pitchFamily="18" charset="0"/>
              <a:cs typeface="Times New Roman" panose="02020603050405020304" pitchFamily="18" charset="0"/>
            </a:endParaRPr>
          </a:p>
        </p:txBody>
      </p:sp>
      <p:sp>
        <p:nvSpPr>
          <p:cNvPr id="9" name="Подзаголовок 3"/>
          <p:cNvSpPr txBox="1">
            <a:spLocks/>
          </p:cNvSpPr>
          <p:nvPr/>
        </p:nvSpPr>
        <p:spPr>
          <a:xfrm>
            <a:off x="7594600" y="6575457"/>
            <a:ext cx="7253654" cy="86142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uk-UA" sz="2800" dirty="0" smtClean="0">
                <a:latin typeface="Times New Roman" panose="02020603050405020304" pitchFamily="18" charset="0"/>
                <a:cs typeface="Times New Roman" panose="02020603050405020304" pitchFamily="18" charset="0"/>
              </a:rPr>
              <a:t>к. т. н. , доцент кафедри ІСТ  Ірина Борисенко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2413000" y="3048000"/>
            <a:ext cx="13030200" cy="3276600"/>
          </a:xfrm>
          <a:prstGeom prst="rect">
            <a:avLst/>
          </a:prstGeom>
        </p:spPr>
        <p:txBody>
          <a:bodyPr rtlCol="0">
            <a:normAutofit fontScale="7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marL="914400" indent="-914400" algn="just">
              <a:buAutoNum type="arabicPeriod"/>
            </a:pPr>
            <a:r>
              <a:rPr lang="ru-RU" sz="5100" dirty="0" err="1" smtClean="0">
                <a:latin typeface="Times New Roman" panose="02020603050405020304" pitchFamily="18" charset="0"/>
                <a:cs typeface="Times New Roman" panose="02020603050405020304" pitchFamily="18" charset="0"/>
              </a:rPr>
              <a:t>Поняття</a:t>
            </a:r>
            <a:r>
              <a:rPr lang="ru-RU" sz="5100" dirty="0">
                <a:latin typeface="Times New Roman" panose="02020603050405020304" pitchFamily="18" charset="0"/>
                <a:cs typeface="Times New Roman" panose="02020603050405020304" pitchFamily="18" charset="0"/>
              </a:rPr>
              <a:t>, </a:t>
            </a:r>
            <a:r>
              <a:rPr lang="ru-RU" sz="5100" dirty="0" err="1">
                <a:latin typeface="Times New Roman" panose="02020603050405020304" pitchFamily="18" charset="0"/>
                <a:cs typeface="Times New Roman" panose="02020603050405020304" pitchFamily="18" charset="0"/>
              </a:rPr>
              <a:t>цілі</a:t>
            </a:r>
            <a:r>
              <a:rPr lang="ru-RU" sz="5100" dirty="0">
                <a:latin typeface="Times New Roman" panose="02020603050405020304" pitchFamily="18" charset="0"/>
                <a:cs typeface="Times New Roman" panose="02020603050405020304" pitchFamily="18" charset="0"/>
              </a:rPr>
              <a:t> та </a:t>
            </a:r>
            <a:r>
              <a:rPr lang="ru-RU" sz="5100" dirty="0" err="1">
                <a:latin typeface="Times New Roman" panose="02020603050405020304" pitchFamily="18" charset="0"/>
                <a:cs typeface="Times New Roman" panose="02020603050405020304" pitchFamily="18" charset="0"/>
              </a:rPr>
              <a:t>основні</a:t>
            </a:r>
            <a:r>
              <a:rPr lang="ru-RU" sz="5100" dirty="0">
                <a:latin typeface="Times New Roman" panose="02020603050405020304" pitchFamily="18" charset="0"/>
                <a:cs typeface="Times New Roman" panose="02020603050405020304" pitchFamily="18" charset="0"/>
              </a:rPr>
              <a:t> </a:t>
            </a:r>
            <a:r>
              <a:rPr lang="ru-RU" sz="5100" dirty="0" err="1">
                <a:latin typeface="Times New Roman" panose="02020603050405020304" pitchFamily="18" charset="0"/>
                <a:cs typeface="Times New Roman" panose="02020603050405020304" pitchFamily="18" charset="0"/>
              </a:rPr>
              <a:t>принципи</a:t>
            </a:r>
            <a:r>
              <a:rPr lang="ru-RU" sz="5100" dirty="0">
                <a:latin typeface="Times New Roman" panose="02020603050405020304" pitchFamily="18" charset="0"/>
                <a:cs typeface="Times New Roman" panose="02020603050405020304" pitchFamily="18" charset="0"/>
              </a:rPr>
              <a:t> </a:t>
            </a:r>
            <a:r>
              <a:rPr lang="ru-RU" sz="5100" dirty="0" err="1">
                <a:latin typeface="Times New Roman" panose="02020603050405020304" pitchFamily="18" charset="0"/>
                <a:cs typeface="Times New Roman" panose="02020603050405020304" pitchFamily="18" charset="0"/>
              </a:rPr>
              <a:t>кібернетичної</a:t>
            </a:r>
            <a:r>
              <a:rPr lang="ru-RU" sz="5100" dirty="0">
                <a:latin typeface="Times New Roman" panose="02020603050405020304" pitchFamily="18" charset="0"/>
                <a:cs typeface="Times New Roman" panose="02020603050405020304" pitchFamily="18" charset="0"/>
              </a:rPr>
              <a:t> </a:t>
            </a:r>
            <a:r>
              <a:rPr lang="ru-RU" sz="5100" dirty="0" err="1" smtClean="0">
                <a:latin typeface="Times New Roman" panose="02020603050405020304" pitchFamily="18" charset="0"/>
                <a:cs typeface="Times New Roman" panose="02020603050405020304" pitchFamily="18" charset="0"/>
              </a:rPr>
              <a:t>безпеки</a:t>
            </a:r>
            <a:r>
              <a:rPr lang="ru-RU" sz="5100" dirty="0" smtClean="0">
                <a:latin typeface="Times New Roman" panose="02020603050405020304" pitchFamily="18" charset="0"/>
                <a:cs typeface="Times New Roman" panose="02020603050405020304" pitchFamily="18" charset="0"/>
              </a:rPr>
              <a:t> </a:t>
            </a:r>
            <a:r>
              <a:rPr lang="ru-RU" sz="5100" dirty="0" err="1" smtClean="0">
                <a:latin typeface="Times New Roman" panose="02020603050405020304" pitchFamily="18" charset="0"/>
                <a:cs typeface="Times New Roman" panose="02020603050405020304" pitchFamily="18" charset="0"/>
              </a:rPr>
              <a:t>підприємства</a:t>
            </a:r>
            <a:endParaRPr lang="ru-RU" sz="5100" dirty="0" smtClean="0">
              <a:latin typeface="Times New Roman" panose="02020603050405020304" pitchFamily="18" charset="0"/>
              <a:cs typeface="Times New Roman" panose="02020603050405020304" pitchFamily="18" charset="0"/>
            </a:endParaRPr>
          </a:p>
          <a:p>
            <a:pPr algn="just"/>
            <a:r>
              <a:rPr lang="uk-UA" sz="5100" dirty="0" smtClean="0">
                <a:latin typeface="Times New Roman" panose="02020603050405020304" pitchFamily="18" charset="0"/>
                <a:cs typeface="Times New Roman" panose="02020603050405020304" pitchFamily="18" charset="0"/>
              </a:rPr>
              <a:t>2.     Кібернетична </a:t>
            </a:r>
            <a:r>
              <a:rPr lang="uk-UA" sz="5100" dirty="0">
                <a:latin typeface="Times New Roman" panose="02020603050405020304" pitchFamily="18" charset="0"/>
                <a:cs typeface="Times New Roman" panose="02020603050405020304" pitchFamily="18" charset="0"/>
              </a:rPr>
              <a:t>інфраструктура сучасного підприємства</a:t>
            </a:r>
          </a:p>
          <a:p>
            <a:pPr algn="just"/>
            <a:r>
              <a:rPr lang="ru-RU" sz="5100" dirty="0" smtClean="0">
                <a:latin typeface="Times New Roman" panose="02020603050405020304" pitchFamily="18" charset="0"/>
                <a:cs typeface="Times New Roman" panose="02020603050405020304" pitchFamily="18" charset="0"/>
              </a:rPr>
              <a:t>3.     </a:t>
            </a:r>
            <a:r>
              <a:rPr lang="ru-RU" sz="5100" dirty="0" err="1" smtClean="0">
                <a:latin typeface="Times New Roman" panose="02020603050405020304" pitchFamily="18" charset="0"/>
                <a:cs typeface="Times New Roman" panose="02020603050405020304" pitchFamily="18" charset="0"/>
              </a:rPr>
              <a:t>Основні</a:t>
            </a:r>
            <a:r>
              <a:rPr lang="ru-RU" sz="5100" dirty="0" smtClean="0">
                <a:latin typeface="Times New Roman" panose="02020603050405020304" pitchFamily="18" charset="0"/>
                <a:cs typeface="Times New Roman" panose="02020603050405020304" pitchFamily="18" charset="0"/>
              </a:rPr>
              <a:t> </a:t>
            </a:r>
            <a:r>
              <a:rPr lang="ru-RU" sz="5100" dirty="0" err="1">
                <a:latin typeface="Times New Roman" panose="02020603050405020304" pitchFamily="18" charset="0"/>
                <a:cs typeface="Times New Roman" panose="02020603050405020304" pitchFamily="18" charset="0"/>
              </a:rPr>
              <a:t>кіберзагрози</a:t>
            </a:r>
            <a:r>
              <a:rPr lang="ru-RU" sz="5100" dirty="0">
                <a:latin typeface="Times New Roman" panose="02020603050405020304" pitchFamily="18" charset="0"/>
                <a:cs typeface="Times New Roman" panose="02020603050405020304" pitchFamily="18" charset="0"/>
              </a:rPr>
              <a:t> та </a:t>
            </a:r>
            <a:r>
              <a:rPr lang="ru-RU" sz="5100" dirty="0" err="1">
                <a:latin typeface="Times New Roman" panose="02020603050405020304" pitchFamily="18" charset="0"/>
                <a:cs typeface="Times New Roman" panose="02020603050405020304" pitchFamily="18" charset="0"/>
              </a:rPr>
              <a:t>сучасні</a:t>
            </a:r>
            <a:r>
              <a:rPr lang="ru-RU" sz="5100" dirty="0">
                <a:latin typeface="Times New Roman" panose="02020603050405020304" pitchFamily="18" charset="0"/>
                <a:cs typeface="Times New Roman" panose="02020603050405020304" pitchFamily="18" charset="0"/>
              </a:rPr>
              <a:t> </a:t>
            </a:r>
            <a:r>
              <a:rPr lang="ru-RU" sz="5100" dirty="0" err="1">
                <a:latin typeface="Times New Roman" panose="02020603050405020304" pitchFamily="18" charset="0"/>
                <a:cs typeface="Times New Roman" panose="02020603050405020304" pitchFamily="18" charset="0"/>
              </a:rPr>
              <a:t>виклики</a:t>
            </a:r>
            <a:r>
              <a:rPr lang="ru-RU" sz="5100" dirty="0">
                <a:latin typeface="Times New Roman" panose="02020603050405020304" pitchFamily="18" charset="0"/>
                <a:cs typeface="Times New Roman" panose="02020603050405020304" pitchFamily="18" charset="0"/>
              </a:rPr>
              <a:t> для </a:t>
            </a:r>
            <a:r>
              <a:rPr lang="ru-RU" sz="5100" dirty="0" err="1">
                <a:latin typeface="Times New Roman" panose="02020603050405020304" pitchFamily="18" charset="0"/>
                <a:cs typeface="Times New Roman" panose="02020603050405020304" pitchFamily="18" charset="0"/>
              </a:rPr>
              <a:t>підприємства</a:t>
            </a:r>
            <a:endParaRPr lang="ru-RU" sz="5100"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4.     </a:t>
            </a:r>
            <a:r>
              <a:rPr lang="ru-RU" sz="5100" dirty="0" err="1" smtClean="0">
                <a:latin typeface="Times New Roman" panose="02020603050405020304" pitchFamily="18" charset="0"/>
                <a:cs typeface="Times New Roman" panose="02020603050405020304" pitchFamily="18" charset="0"/>
              </a:rPr>
              <a:t>Формування</a:t>
            </a:r>
            <a:r>
              <a:rPr lang="ru-RU" sz="5100" dirty="0" smtClean="0">
                <a:latin typeface="Times New Roman" panose="02020603050405020304" pitchFamily="18" charset="0"/>
                <a:cs typeface="Times New Roman" panose="02020603050405020304" pitchFamily="18" charset="0"/>
              </a:rPr>
              <a:t> </a:t>
            </a:r>
            <a:r>
              <a:rPr lang="ru-RU" sz="5100" dirty="0" err="1">
                <a:latin typeface="Times New Roman" panose="02020603050405020304" pitchFamily="18" charset="0"/>
                <a:cs typeface="Times New Roman" panose="02020603050405020304" pitchFamily="18" charset="0"/>
              </a:rPr>
              <a:t>системи</a:t>
            </a:r>
            <a:r>
              <a:rPr lang="ru-RU" sz="5100" dirty="0">
                <a:latin typeface="Times New Roman" panose="02020603050405020304" pitchFamily="18" charset="0"/>
                <a:cs typeface="Times New Roman" panose="02020603050405020304" pitchFamily="18" charset="0"/>
              </a:rPr>
              <a:t> </a:t>
            </a:r>
            <a:r>
              <a:rPr lang="ru-RU" sz="5100" dirty="0" err="1">
                <a:latin typeface="Times New Roman" panose="02020603050405020304" pitchFamily="18" charset="0"/>
                <a:cs typeface="Times New Roman" panose="02020603050405020304" pitchFamily="18" charset="0"/>
              </a:rPr>
              <a:t>кібернетичної</a:t>
            </a:r>
            <a:r>
              <a:rPr lang="ru-RU" sz="5100" dirty="0">
                <a:latin typeface="Times New Roman" panose="02020603050405020304" pitchFamily="18" charset="0"/>
                <a:cs typeface="Times New Roman" panose="02020603050405020304" pitchFamily="18" charset="0"/>
              </a:rPr>
              <a:t> </a:t>
            </a:r>
            <a:r>
              <a:rPr lang="ru-RU" sz="5100" dirty="0" err="1">
                <a:latin typeface="Times New Roman" panose="02020603050405020304" pitchFamily="18" charset="0"/>
                <a:cs typeface="Times New Roman" panose="02020603050405020304" pitchFamily="18" charset="0"/>
              </a:rPr>
              <a:t>безпеки</a:t>
            </a:r>
            <a:r>
              <a:rPr lang="ru-RU" sz="5100" dirty="0">
                <a:latin typeface="Times New Roman" panose="02020603050405020304" pitchFamily="18" charset="0"/>
                <a:cs typeface="Times New Roman" panose="02020603050405020304" pitchFamily="18" charset="0"/>
              </a:rPr>
              <a:t> </a:t>
            </a:r>
            <a:r>
              <a:rPr lang="ru-RU" sz="5100" dirty="0" err="1">
                <a:latin typeface="Times New Roman" panose="02020603050405020304" pitchFamily="18" charset="0"/>
                <a:cs typeface="Times New Roman" panose="02020603050405020304" pitchFamily="18" charset="0"/>
              </a:rPr>
              <a:t>підприємства</a:t>
            </a:r>
            <a:endParaRPr lang="uk-UA" sz="5100" dirty="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stretch>
            <a:fillRect/>
          </a:stretch>
        </p:blipFill>
        <p:spPr>
          <a:xfrm>
            <a:off x="6299200" y="1447800"/>
            <a:ext cx="3731075" cy="963251"/>
          </a:xfrm>
          <a:prstGeom prst="rect">
            <a:avLst/>
          </a:prstGeom>
        </p:spPr>
      </p:pic>
    </p:spTree>
    <p:extLst>
      <p:ext uri="{BB962C8B-B14F-4D97-AF65-F5344CB8AC3E}">
        <p14:creationId xmlns:p14="http://schemas.microsoft.com/office/powerpoint/2010/main" val="91022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fontScale="5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r>
              <a:rPr lang="uk-UA" sz="6700" dirty="0" smtClean="0">
                <a:latin typeface="Times New Roman" panose="02020603050405020304" pitchFamily="18" charset="0"/>
                <a:cs typeface="Times New Roman" panose="02020603050405020304" pitchFamily="18" charset="0"/>
              </a:rPr>
              <a:t>Цифрова трансформація призвела до того, що сучасне підприємство неможливо розглядати лише як сукупність фізичних ресурсів, обладнання та персоналу. Значна частина його діяльності залежить від інформаційних систем, програмного забезпечення, комп'ютерних мереж, хмарних платформ, мобільних пристроїв та технологій Інтернету речей.</a:t>
            </a:r>
          </a:p>
          <a:p>
            <a:pPr algn="just"/>
            <a:endParaRPr lang="uk-UA" sz="6700" dirty="0" smtClean="0">
              <a:latin typeface="Times New Roman" panose="02020603050405020304" pitchFamily="18" charset="0"/>
              <a:cs typeface="Times New Roman" panose="02020603050405020304" pitchFamily="18" charset="0"/>
            </a:endParaRPr>
          </a:p>
          <a:p>
            <a:pPr algn="just"/>
            <a:r>
              <a:rPr lang="uk-UA" sz="6700" dirty="0" smtClean="0">
                <a:latin typeface="Times New Roman" panose="02020603050405020304" pitchFamily="18" charset="0"/>
                <a:cs typeface="Times New Roman" panose="02020603050405020304" pitchFamily="18" charset="0"/>
              </a:rPr>
              <a:t>У результаті виникає новий тип середовища - </a:t>
            </a:r>
            <a:r>
              <a:rPr lang="uk-UA" sz="6700" b="1" dirty="0" smtClean="0">
                <a:latin typeface="Times New Roman" panose="02020603050405020304" pitchFamily="18" charset="0"/>
                <a:cs typeface="Times New Roman" panose="02020603050405020304" pitchFamily="18" charset="0"/>
              </a:rPr>
              <a:t>кібернетичне середовище підприємства</a:t>
            </a:r>
            <a:r>
              <a:rPr lang="uk-UA" sz="6700" dirty="0" smtClean="0">
                <a:latin typeface="Times New Roman" panose="02020603050405020304" pitchFamily="18" charset="0"/>
                <a:cs typeface="Times New Roman" panose="02020603050405020304" pitchFamily="18" charset="0"/>
              </a:rPr>
              <a:t>, у якому фізичні процеси тісно пов'язані з цифровими технологіями.</a:t>
            </a:r>
          </a:p>
          <a:p>
            <a:pPr algn="just"/>
            <a:r>
              <a:rPr lang="uk-UA" sz="6700" dirty="0" err="1" smtClean="0">
                <a:latin typeface="Times New Roman" panose="02020603050405020304" pitchFamily="18" charset="0"/>
                <a:cs typeface="Times New Roman" panose="02020603050405020304" pitchFamily="18" charset="0"/>
              </a:rPr>
              <a:t>Кібербезпека</a:t>
            </a:r>
            <a:r>
              <a:rPr lang="uk-UA" sz="6700" dirty="0" smtClean="0">
                <a:latin typeface="Times New Roman" panose="02020603050405020304" pitchFamily="18" charset="0"/>
                <a:cs typeface="Times New Roman" panose="02020603050405020304" pitchFamily="18" charset="0"/>
              </a:rPr>
              <a:t> підприємства можна визначити як </a:t>
            </a:r>
            <a:r>
              <a:rPr lang="uk-UA" sz="6700" b="1" dirty="0" smtClean="0">
                <a:latin typeface="Times New Roman" panose="02020603050405020304" pitchFamily="18" charset="0"/>
                <a:cs typeface="Times New Roman" panose="02020603050405020304" pitchFamily="18" charset="0"/>
              </a:rPr>
              <a:t>сукупність організаційних, правових, програмно-технічних та технологічних заходів, спрямованих на захист інформації, інформаційних систем, мереж, програмного забезпечення, </a:t>
            </a:r>
            <a:r>
              <a:rPr lang="uk-UA" sz="6700" b="1" dirty="0" err="1" smtClean="0">
                <a:latin typeface="Times New Roman" panose="02020603050405020304" pitchFamily="18" charset="0"/>
                <a:cs typeface="Times New Roman" panose="02020603050405020304" pitchFamily="18" charset="0"/>
              </a:rPr>
              <a:t>IoT</a:t>
            </a:r>
            <a:r>
              <a:rPr lang="uk-UA" sz="6700" b="1" dirty="0" smtClean="0">
                <a:latin typeface="Times New Roman" panose="02020603050405020304" pitchFamily="18" charset="0"/>
                <a:cs typeface="Times New Roman" panose="02020603050405020304" pitchFamily="18" charset="0"/>
              </a:rPr>
              <a:t>-пристроїв та бізнес-процесів підприємства від </a:t>
            </a:r>
            <a:r>
              <a:rPr lang="uk-UA" sz="6700" b="1" dirty="0" err="1" smtClean="0">
                <a:latin typeface="Times New Roman" panose="02020603050405020304" pitchFamily="18" charset="0"/>
                <a:cs typeface="Times New Roman" panose="02020603050405020304" pitchFamily="18" charset="0"/>
              </a:rPr>
              <a:t>кіберзагроз</a:t>
            </a:r>
            <a:r>
              <a:rPr lang="uk-UA" sz="6700" dirty="0" smtClean="0">
                <a:latin typeface="Times New Roman" panose="02020603050405020304" pitchFamily="18" charset="0"/>
                <a:cs typeface="Times New Roman" panose="02020603050405020304" pitchFamily="18" charset="0"/>
              </a:rPr>
              <a:t>.</a:t>
            </a:r>
          </a:p>
          <a:p>
            <a:pPr algn="just"/>
            <a:r>
              <a:rPr lang="uk-UA" sz="6700" dirty="0">
                <a:latin typeface="Times New Roman" panose="02020603050405020304" pitchFamily="18" charset="0"/>
                <a:cs typeface="Times New Roman" panose="02020603050405020304" pitchFamily="18" charset="0"/>
              </a:rPr>
              <a:t>Важливо розуміти, що </a:t>
            </a:r>
            <a:r>
              <a:rPr lang="uk-UA" sz="6700" dirty="0" err="1">
                <a:latin typeface="Times New Roman" panose="02020603050405020304" pitchFamily="18" charset="0"/>
                <a:cs typeface="Times New Roman" panose="02020603050405020304" pitchFamily="18" charset="0"/>
              </a:rPr>
              <a:t>кібербезпека</a:t>
            </a:r>
            <a:r>
              <a:rPr lang="uk-UA" sz="6700" dirty="0">
                <a:latin typeface="Times New Roman" panose="02020603050405020304" pitchFamily="18" charset="0"/>
                <a:cs typeface="Times New Roman" panose="02020603050405020304" pitchFamily="18" charset="0"/>
              </a:rPr>
              <a:t> </a:t>
            </a:r>
            <a:r>
              <a:rPr lang="uk-UA" sz="6700" dirty="0" smtClean="0">
                <a:latin typeface="Times New Roman" panose="02020603050405020304" pitchFamily="18" charset="0"/>
                <a:cs typeface="Times New Roman" panose="02020603050405020304" pitchFamily="18" charset="0"/>
              </a:rPr>
              <a:t>- </a:t>
            </a:r>
            <a:r>
              <a:rPr lang="uk-UA" sz="6700" dirty="0">
                <a:latin typeface="Times New Roman" panose="02020603050405020304" pitchFamily="18" charset="0"/>
                <a:cs typeface="Times New Roman" panose="02020603050405020304" pitchFamily="18" charset="0"/>
              </a:rPr>
              <a:t>це не один програмний продукт і не окремий технічний засіб.</a:t>
            </a:r>
          </a:p>
          <a:p>
            <a:pPr algn="just"/>
            <a:r>
              <a:rPr lang="uk-UA" sz="6700" dirty="0">
                <a:latin typeface="Times New Roman" panose="02020603050405020304" pitchFamily="18" charset="0"/>
                <a:cs typeface="Times New Roman" panose="02020603050405020304" pitchFamily="18" charset="0"/>
              </a:rPr>
              <a:t>Наприклад, </a:t>
            </a:r>
            <a:r>
              <a:rPr lang="en-US" sz="6700" dirty="0">
                <a:latin typeface="Times New Roman" panose="02020603050405020304" pitchFamily="18" charset="0"/>
                <a:cs typeface="Times New Roman" panose="02020603050405020304" pitchFamily="18" charset="0"/>
              </a:rPr>
              <a:t>Firewall </a:t>
            </a:r>
            <a:r>
              <a:rPr lang="uk-UA" sz="6700" dirty="0">
                <a:latin typeface="Times New Roman" panose="02020603050405020304" pitchFamily="18" charset="0"/>
                <a:cs typeface="Times New Roman" panose="02020603050405020304" pitchFamily="18" charset="0"/>
              </a:rPr>
              <a:t>захищає мережевий периметр, антивірус </a:t>
            </a:r>
            <a:r>
              <a:rPr lang="uk-UA" sz="6700" dirty="0" smtClean="0">
                <a:latin typeface="Times New Roman" panose="02020603050405020304" pitchFamily="18" charset="0"/>
                <a:cs typeface="Times New Roman" panose="02020603050405020304" pitchFamily="18" charset="0"/>
              </a:rPr>
              <a:t>- </a:t>
            </a:r>
            <a:r>
              <a:rPr lang="uk-UA" sz="6700" dirty="0">
                <a:latin typeface="Times New Roman" panose="02020603050405020304" pitchFamily="18" charset="0"/>
                <a:cs typeface="Times New Roman" panose="02020603050405020304" pitchFamily="18" charset="0"/>
              </a:rPr>
              <a:t>кінцевий пристрій, система </a:t>
            </a:r>
            <a:r>
              <a:rPr lang="en-US" sz="6700" dirty="0">
                <a:latin typeface="Times New Roman" panose="02020603050405020304" pitchFamily="18" charset="0"/>
                <a:cs typeface="Times New Roman" panose="02020603050405020304" pitchFamily="18" charset="0"/>
              </a:rPr>
              <a:t>SIEM </a:t>
            </a:r>
            <a:r>
              <a:rPr lang="uk-UA" sz="6700" dirty="0" smtClean="0">
                <a:latin typeface="Times New Roman" panose="02020603050405020304" pitchFamily="18" charset="0"/>
                <a:cs typeface="Times New Roman" panose="02020603050405020304" pitchFamily="18" charset="0"/>
              </a:rPr>
              <a:t>-</a:t>
            </a:r>
            <a:r>
              <a:rPr lang="en-US" sz="6700" dirty="0" smtClean="0">
                <a:latin typeface="Times New Roman" panose="02020603050405020304" pitchFamily="18" charset="0"/>
                <a:cs typeface="Times New Roman" panose="02020603050405020304" pitchFamily="18" charset="0"/>
              </a:rPr>
              <a:t> </a:t>
            </a:r>
            <a:r>
              <a:rPr lang="uk-UA" sz="6700" dirty="0">
                <a:latin typeface="Times New Roman" panose="02020603050405020304" pitchFamily="18" charset="0"/>
                <a:cs typeface="Times New Roman" panose="02020603050405020304" pitchFamily="18" charset="0"/>
              </a:rPr>
              <a:t>збирає та аналізує події безпеки. Проте жоден із цих компонентів окремо не забезпечує повноцінного захисту підприємства.</a:t>
            </a:r>
          </a:p>
          <a:p>
            <a:pPr algn="just"/>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0308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101600" y="0"/>
            <a:ext cx="16364755" cy="914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pic>
        <p:nvPicPr>
          <p:cNvPr id="2" name="Рисунок 1"/>
          <p:cNvPicPr>
            <a:picLocks noChangeAspect="1"/>
          </p:cNvPicPr>
          <p:nvPr/>
        </p:nvPicPr>
        <p:blipFill>
          <a:blip r:embed="rId2"/>
          <a:stretch>
            <a:fillRect/>
          </a:stretch>
        </p:blipFill>
        <p:spPr>
          <a:xfrm>
            <a:off x="355600" y="152400"/>
            <a:ext cx="14706600" cy="8540660"/>
          </a:xfrm>
          <a:prstGeom prst="rect">
            <a:avLst/>
          </a:prstGeom>
        </p:spPr>
      </p:pic>
    </p:spTree>
    <p:extLst>
      <p:ext uri="{BB962C8B-B14F-4D97-AF65-F5344CB8AC3E}">
        <p14:creationId xmlns:p14="http://schemas.microsoft.com/office/powerpoint/2010/main" val="430952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pic>
        <p:nvPicPr>
          <p:cNvPr id="2" name="Рисунок 1"/>
          <p:cNvPicPr>
            <a:picLocks noChangeAspect="1"/>
          </p:cNvPicPr>
          <p:nvPr/>
        </p:nvPicPr>
        <p:blipFill>
          <a:blip r:embed="rId2"/>
          <a:stretch>
            <a:fillRect/>
          </a:stretch>
        </p:blipFill>
        <p:spPr>
          <a:xfrm>
            <a:off x="1193800" y="457200"/>
            <a:ext cx="13639800" cy="8342791"/>
          </a:xfrm>
          <a:prstGeom prst="rect">
            <a:avLst/>
          </a:prstGeom>
        </p:spPr>
      </p:pic>
    </p:spTree>
    <p:extLst>
      <p:ext uri="{BB962C8B-B14F-4D97-AF65-F5344CB8AC3E}">
        <p14:creationId xmlns:p14="http://schemas.microsoft.com/office/powerpoint/2010/main" val="43355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pic>
        <p:nvPicPr>
          <p:cNvPr id="2" name="Рисунок 1"/>
          <p:cNvPicPr>
            <a:picLocks noChangeAspect="1"/>
          </p:cNvPicPr>
          <p:nvPr/>
        </p:nvPicPr>
        <p:blipFill>
          <a:blip r:embed="rId2"/>
          <a:stretch>
            <a:fillRect/>
          </a:stretch>
        </p:blipFill>
        <p:spPr>
          <a:xfrm>
            <a:off x="36737" y="4119"/>
            <a:ext cx="16219263" cy="9063680"/>
          </a:xfrm>
          <a:prstGeom prst="rect">
            <a:avLst/>
          </a:prstGeom>
        </p:spPr>
      </p:pic>
    </p:spTree>
    <p:extLst>
      <p:ext uri="{BB962C8B-B14F-4D97-AF65-F5344CB8AC3E}">
        <p14:creationId xmlns:p14="http://schemas.microsoft.com/office/powerpoint/2010/main" val="1726007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stretch>
            <a:fillRect/>
          </a:stretch>
        </p:blipFill>
        <p:spPr>
          <a:xfrm>
            <a:off x="1422400" y="228600"/>
            <a:ext cx="13792200" cy="8677303"/>
          </a:xfrm>
          <a:prstGeom prst="rect">
            <a:avLst/>
          </a:prstGeom>
        </p:spPr>
      </p:pic>
    </p:spTree>
    <p:extLst>
      <p:ext uri="{BB962C8B-B14F-4D97-AF65-F5344CB8AC3E}">
        <p14:creationId xmlns:p14="http://schemas.microsoft.com/office/powerpoint/2010/main" val="1681491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pic>
        <p:nvPicPr>
          <p:cNvPr id="7" name="Рисунок 6"/>
          <p:cNvPicPr>
            <a:picLocks noChangeAspect="1"/>
          </p:cNvPicPr>
          <p:nvPr/>
        </p:nvPicPr>
        <p:blipFill>
          <a:blip r:embed="rId2"/>
          <a:stretch>
            <a:fillRect/>
          </a:stretch>
        </p:blipFill>
        <p:spPr>
          <a:xfrm>
            <a:off x="2108200" y="609600"/>
            <a:ext cx="11778274" cy="7801028"/>
          </a:xfrm>
          <a:prstGeom prst="rect">
            <a:avLst/>
          </a:prstGeom>
        </p:spPr>
      </p:pic>
      <p:pic>
        <p:nvPicPr>
          <p:cNvPr id="9" name="Рисунок 8"/>
          <p:cNvPicPr>
            <a:picLocks noChangeAspect="1"/>
          </p:cNvPicPr>
          <p:nvPr/>
        </p:nvPicPr>
        <p:blipFill>
          <a:blip r:embed="rId3"/>
          <a:stretch>
            <a:fillRect/>
          </a:stretch>
        </p:blipFill>
        <p:spPr>
          <a:xfrm>
            <a:off x="812800" y="545756"/>
            <a:ext cx="3886200" cy="3921853"/>
          </a:xfrm>
          <a:prstGeom prst="rect">
            <a:avLst/>
          </a:prstGeom>
        </p:spPr>
      </p:pic>
    </p:spTree>
    <p:extLst>
      <p:ext uri="{BB962C8B-B14F-4D97-AF65-F5344CB8AC3E}">
        <p14:creationId xmlns:p14="http://schemas.microsoft.com/office/powerpoint/2010/main" val="1454276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1" y="-30893"/>
            <a:ext cx="16256000" cy="91748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pic>
        <p:nvPicPr>
          <p:cNvPr id="5" name="Рисунок 4"/>
          <p:cNvPicPr/>
          <p:nvPr/>
        </p:nvPicPr>
        <p:blipFill>
          <a:blip r:embed="rId2"/>
          <a:stretch>
            <a:fillRect/>
          </a:stretch>
        </p:blipFill>
        <p:spPr>
          <a:xfrm>
            <a:off x="2260600" y="457200"/>
            <a:ext cx="11305857" cy="8382000"/>
          </a:xfrm>
          <a:prstGeom prst="rect">
            <a:avLst/>
          </a:prstGeom>
        </p:spPr>
      </p:pic>
    </p:spTree>
    <p:extLst>
      <p:ext uri="{BB962C8B-B14F-4D97-AF65-F5344CB8AC3E}">
        <p14:creationId xmlns:p14="http://schemas.microsoft.com/office/powerpoint/2010/main" val="1286193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2" name="Прямоугольник 1"/>
          <p:cNvSpPr/>
          <p:nvPr/>
        </p:nvSpPr>
        <p:spPr>
          <a:xfrm>
            <a:off x="355600" y="457200"/>
            <a:ext cx="15544800" cy="8279190"/>
          </a:xfrm>
          <a:prstGeom prst="rect">
            <a:avLst/>
          </a:prstGeom>
        </p:spPr>
        <p:txBody>
          <a:bodyPr wrap="square">
            <a:spAutoFit/>
          </a:bodyPr>
          <a:lstStyle/>
          <a:p>
            <a:pPr indent="450215" algn="just">
              <a:spcAft>
                <a:spcPts val="0"/>
              </a:spcAft>
              <a:tabLst>
                <a:tab pos="90170" algn="l"/>
              </a:tabLst>
            </a:pPr>
            <a:r>
              <a:rPr lang="en-US" sz="2800" b="1" dirty="0" err="1">
                <a:latin typeface="Times New Roman" panose="02020603050405020304" pitchFamily="18" charset="0"/>
                <a:ea typeface="Times New Roman" panose="02020603050405020304" pitchFamily="18" charset="0"/>
              </a:rPr>
              <a:t>Бізнес-процеси</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як</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об’єкт</a:t>
            </a:r>
            <a:r>
              <a:rPr lang="en-US" sz="2800" b="1" dirty="0">
                <a:latin typeface="Times New Roman" panose="02020603050405020304" pitchFamily="18" charset="0"/>
                <a:ea typeface="Times New Roman" panose="02020603050405020304" pitchFamily="18" charset="0"/>
              </a:rPr>
              <a:t> </a:t>
            </a:r>
            <a:r>
              <a:rPr lang="en-US" sz="2800" b="1" dirty="0" err="1" smtClean="0">
                <a:latin typeface="Times New Roman" panose="02020603050405020304" pitchFamily="18" charset="0"/>
                <a:ea typeface="Times New Roman" panose="02020603050405020304" pitchFamily="18" charset="0"/>
              </a:rPr>
              <a:t>кібербезпеки</a:t>
            </a:r>
            <a:endParaRPr lang="uk-UA" sz="2800" b="1" dirty="0" smtClean="0">
              <a:latin typeface="Times New Roman" panose="02020603050405020304" pitchFamily="18" charset="0"/>
              <a:ea typeface="Times New Roman" panose="02020603050405020304" pitchFamily="18" charset="0"/>
            </a:endParaRPr>
          </a:p>
          <a:p>
            <a:pPr indent="450215" algn="just">
              <a:spcAft>
                <a:spcPts val="0"/>
              </a:spcAft>
              <a:tabLst>
                <a:tab pos="90170" algn="l"/>
              </a:tabLst>
            </a:pPr>
            <a:endParaRPr lang="en-US" sz="2800" b="1" dirty="0">
              <a:latin typeface="Times New Roman" panose="02020603050405020304" pitchFamily="18" charset="0"/>
              <a:ea typeface="Times New Roman" panose="02020603050405020304" pitchFamily="18" charset="0"/>
            </a:endParaRPr>
          </a:p>
          <a:p>
            <a:pPr indent="450215" algn="just">
              <a:spcAft>
                <a:spcPts val="0"/>
              </a:spcAft>
              <a:tabLst>
                <a:tab pos="90170" algn="l"/>
              </a:tabLst>
            </a:pPr>
            <a:r>
              <a:rPr lang="en-US" sz="2800" dirty="0" err="1">
                <a:latin typeface="Times New Roman" panose="02020603050405020304" pitchFamily="18" charset="0"/>
                <a:ea typeface="Times New Roman" panose="02020603050405020304" pitchFamily="18" charset="0"/>
              </a:rPr>
              <a:t>Особливістю</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сучасної</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кібербезпеки</a:t>
            </a:r>
            <a:r>
              <a:rPr lang="en-US" sz="2800" dirty="0">
                <a:latin typeface="Times New Roman" panose="02020603050405020304" pitchFamily="18" charset="0"/>
                <a:ea typeface="Times New Roman" panose="02020603050405020304" pitchFamily="18" charset="0"/>
              </a:rPr>
              <a:t> є </a:t>
            </a:r>
            <a:r>
              <a:rPr lang="en-US" sz="2800" dirty="0" err="1">
                <a:latin typeface="Times New Roman" panose="02020603050405020304" pitchFamily="18" charset="0"/>
                <a:ea typeface="Times New Roman" panose="02020603050405020304" pitchFamily="18" charset="0"/>
              </a:rPr>
              <a:t>те</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що</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об’єктом</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захисту</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виступає</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не</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лише</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інформація</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як</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сукупність</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даних</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документів</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та</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відомостей</a:t>
            </a:r>
            <a:r>
              <a:rPr lang="en-US" sz="2800" dirty="0">
                <a:latin typeface="Times New Roman" panose="02020603050405020304" pitchFamily="18" charset="0"/>
                <a:ea typeface="Times New Roman" panose="02020603050405020304" pitchFamily="18" charset="0"/>
              </a:rPr>
              <a:t>, а й </a:t>
            </a:r>
            <a:r>
              <a:rPr lang="en-US" sz="2800" b="1" dirty="0" err="1">
                <a:latin typeface="Times New Roman" panose="02020603050405020304" pitchFamily="18" charset="0"/>
                <a:ea typeface="Times New Roman" panose="02020603050405020304" pitchFamily="18" charset="0"/>
              </a:rPr>
              <a:t>бізнес-процеси</a:t>
            </a:r>
            <a:r>
              <a:rPr lang="en-US" sz="2800" b="1" dirty="0">
                <a:latin typeface="Times New Roman" panose="02020603050405020304" pitchFamily="18" charset="0"/>
                <a:ea typeface="Times New Roman" panose="02020603050405020304" pitchFamily="18" charset="0"/>
              </a:rPr>
              <a:t>, у </a:t>
            </a:r>
            <a:r>
              <a:rPr lang="en-US" sz="2800" b="1" dirty="0" err="1">
                <a:latin typeface="Times New Roman" panose="02020603050405020304" pitchFamily="18" charset="0"/>
                <a:ea typeface="Times New Roman" panose="02020603050405020304" pitchFamily="18" charset="0"/>
              </a:rPr>
              <a:t>межах</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яких</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ця</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інформація</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створюється</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передається</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обробляється</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зберігається</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та</a:t>
            </a:r>
            <a:r>
              <a:rPr lang="en-US" sz="2800" b="1" dirty="0">
                <a:latin typeface="Times New Roman" panose="02020603050405020304" pitchFamily="18" charset="0"/>
                <a:ea typeface="Times New Roman" panose="02020603050405020304" pitchFamily="18" charset="0"/>
              </a:rPr>
              <a:t> </a:t>
            </a:r>
            <a:r>
              <a:rPr lang="en-US" sz="2800" b="1" dirty="0" err="1">
                <a:latin typeface="Times New Roman" panose="02020603050405020304" pitchFamily="18" charset="0"/>
                <a:ea typeface="Times New Roman" panose="02020603050405020304" pitchFamily="18" charset="0"/>
              </a:rPr>
              <a:t>використовується</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Порушення</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безпеки</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окремого</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процесу</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може</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безпосередньо</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вплинути</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на</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фінансовий</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стан</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підприємства</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якість</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продукції</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або</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послуг</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взаємодію</a:t>
            </a:r>
            <a:r>
              <a:rPr lang="en-US" sz="2800" dirty="0">
                <a:latin typeface="Times New Roman" panose="02020603050405020304" pitchFamily="18" charset="0"/>
                <a:ea typeface="Times New Roman" panose="02020603050405020304" pitchFamily="18" charset="0"/>
              </a:rPr>
              <a:t> з </a:t>
            </a:r>
            <a:r>
              <a:rPr lang="en-US" sz="2800" dirty="0" err="1">
                <a:latin typeface="Times New Roman" panose="02020603050405020304" pitchFamily="18" charset="0"/>
                <a:ea typeface="Times New Roman" panose="02020603050405020304" pitchFamily="18" charset="0"/>
              </a:rPr>
              <a:t>клієнтами</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репутацію</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організації</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та</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здатність</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продовжувати</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свою</a:t>
            </a:r>
            <a:r>
              <a:rPr lang="en-US" sz="2800" dirty="0">
                <a:latin typeface="Times New Roman" panose="02020603050405020304" pitchFamily="18" charset="0"/>
                <a:ea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rPr>
              <a:t>діяльність</a:t>
            </a:r>
            <a:r>
              <a:rPr lang="en-US" sz="2800" dirty="0">
                <a:latin typeface="Times New Roman" panose="02020603050405020304" pitchFamily="18" charset="0"/>
                <a:ea typeface="Times New Roman" panose="02020603050405020304" pitchFamily="18" charset="0"/>
              </a:rPr>
              <a:t>.</a:t>
            </a:r>
          </a:p>
          <a:p>
            <a:pPr indent="450215" algn="just">
              <a:spcAft>
                <a:spcPts val="0"/>
              </a:spcAft>
              <a:tabLst>
                <a:tab pos="90170" algn="l"/>
              </a:tabLst>
            </a:pPr>
            <a:r>
              <a:rPr lang="ru-RU" sz="2800" dirty="0" err="1">
                <a:latin typeface="Times New Roman" panose="02020603050405020304" pitchFamily="18" charset="0"/>
                <a:ea typeface="Times New Roman" panose="02020603050405020304" pitchFamily="18" charset="0"/>
              </a:rPr>
              <a:t>Бізнес-процес</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можна</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визначити</a:t>
            </a:r>
            <a:r>
              <a:rPr lang="ru-RU" sz="2800" dirty="0">
                <a:latin typeface="Times New Roman" panose="02020603050405020304" pitchFamily="18" charset="0"/>
                <a:ea typeface="Times New Roman" panose="02020603050405020304" pitchFamily="18" charset="0"/>
              </a:rPr>
              <a:t> як </a:t>
            </a:r>
            <a:r>
              <a:rPr lang="ru-RU" sz="2800" dirty="0" err="1">
                <a:latin typeface="Times New Roman" panose="02020603050405020304" pitchFamily="18" charset="0"/>
                <a:ea typeface="Times New Roman" panose="02020603050405020304" pitchFamily="18" charset="0"/>
              </a:rPr>
              <a:t>сукупність</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взаємопов’язаних</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дій</a:t>
            </a:r>
            <a:r>
              <a:rPr lang="ru-RU" sz="2800" dirty="0">
                <a:latin typeface="Times New Roman" panose="02020603050405020304" pitchFamily="18" charset="0"/>
                <a:ea typeface="Times New Roman" panose="02020603050405020304" pitchFamily="18" charset="0"/>
              </a:rPr>
              <a:t> і процедур, </a:t>
            </a:r>
            <a:r>
              <a:rPr lang="ru-RU" sz="2800" dirty="0" err="1">
                <a:latin typeface="Times New Roman" panose="02020603050405020304" pitchFamily="18" charset="0"/>
                <a:ea typeface="Times New Roman" panose="02020603050405020304" pitchFamily="18" charset="0"/>
              </a:rPr>
              <a:t>спрямованих</a:t>
            </a:r>
            <a:r>
              <a:rPr lang="ru-RU" sz="2800" dirty="0">
                <a:latin typeface="Times New Roman" panose="02020603050405020304" pitchFamily="18" charset="0"/>
                <a:ea typeface="Times New Roman" panose="02020603050405020304" pitchFamily="18" charset="0"/>
              </a:rPr>
              <a:t> на </a:t>
            </a:r>
            <a:r>
              <a:rPr lang="ru-RU" sz="2800" dirty="0" err="1">
                <a:latin typeface="Times New Roman" panose="02020603050405020304" pitchFamily="18" charset="0"/>
                <a:ea typeface="Times New Roman" panose="02020603050405020304" pitchFamily="18" charset="0"/>
              </a:rPr>
              <a:t>досягнення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визначеного</a:t>
            </a:r>
            <a:r>
              <a:rPr lang="ru-RU" sz="2800" dirty="0">
                <a:latin typeface="Times New Roman" panose="02020603050405020304" pitchFamily="18" charset="0"/>
                <a:ea typeface="Times New Roman" panose="02020603050405020304" pitchFamily="18" charset="0"/>
              </a:rPr>
              <a:t> результату. У </a:t>
            </a:r>
            <a:r>
              <a:rPr lang="ru-RU" sz="2800" dirty="0" err="1">
                <a:latin typeface="Times New Roman" panose="02020603050405020304" pitchFamily="18" charset="0"/>
                <a:ea typeface="Times New Roman" panose="02020603050405020304" pitchFamily="18" charset="0"/>
              </a:rPr>
              <a:t>сучасному</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підприємстві</a:t>
            </a:r>
            <a:r>
              <a:rPr lang="ru-RU" sz="2800" dirty="0">
                <a:latin typeface="Times New Roman" panose="02020603050405020304" pitchFamily="18" charset="0"/>
                <a:ea typeface="Times New Roman" panose="02020603050405020304" pitchFamily="18" charset="0"/>
              </a:rPr>
              <a:t> практично </a:t>
            </a:r>
            <a:r>
              <a:rPr lang="ru-RU" sz="2800" dirty="0" err="1">
                <a:latin typeface="Times New Roman" panose="02020603050405020304" pitchFamily="18" charset="0"/>
                <a:ea typeface="Times New Roman" panose="02020603050405020304" pitchFamily="18" charset="0"/>
              </a:rPr>
              <a:t>кожен</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процес</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залежить</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від</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інформаційних</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технологій</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Управління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фінансами</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здійснюється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із</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використанням</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бухгалтерських</a:t>
            </a:r>
            <a:r>
              <a:rPr lang="ru-RU" sz="2800" dirty="0">
                <a:latin typeface="Times New Roman" panose="02020603050405020304" pitchFamily="18" charset="0"/>
                <a:ea typeface="Times New Roman" panose="02020603050405020304" pitchFamily="18" charset="0"/>
              </a:rPr>
              <a:t> та </a:t>
            </a:r>
            <a:r>
              <a:rPr lang="ru-RU" sz="2800" dirty="0" err="1">
                <a:latin typeface="Times New Roman" panose="02020603050405020304" pitchFamily="18" charset="0"/>
                <a:ea typeface="Times New Roman" panose="02020603050405020304" pitchFamily="18" charset="0"/>
              </a:rPr>
              <a:t>банківських</a:t>
            </a:r>
            <a:r>
              <a:rPr lang="ru-RU" sz="2800" dirty="0">
                <a:latin typeface="Times New Roman" panose="02020603050405020304" pitchFamily="18" charset="0"/>
                <a:ea typeface="Times New Roman" panose="02020603050405020304" pitchFamily="18" charset="0"/>
              </a:rPr>
              <a:t> систем, робота з </a:t>
            </a:r>
            <a:r>
              <a:rPr lang="ru-RU" sz="2800" dirty="0" err="1">
                <a:latin typeface="Times New Roman" panose="02020603050405020304" pitchFamily="18" charset="0"/>
                <a:ea typeface="Times New Roman" panose="02020603050405020304" pitchFamily="18" charset="0"/>
              </a:rPr>
              <a:t>клієнтами</a:t>
            </a:r>
            <a:r>
              <a:rPr lang="ru-RU" sz="2800" dirty="0">
                <a:latin typeface="Times New Roman" panose="02020603050405020304" pitchFamily="18" charset="0"/>
                <a:ea typeface="Times New Roman" panose="02020603050405020304" pitchFamily="18" charset="0"/>
              </a:rPr>
              <a:t> — через </a:t>
            </a:r>
            <a:r>
              <a:rPr lang="en-US" sz="2800" dirty="0">
                <a:latin typeface="Times New Roman" panose="02020603050405020304" pitchFamily="18" charset="0"/>
                <a:ea typeface="Times New Roman" panose="02020603050405020304" pitchFamily="18" charset="0"/>
              </a:rPr>
              <a:t>CRM</a:t>
            </a:r>
            <a:r>
              <a:rPr lang="ru-RU" sz="2800" dirty="0">
                <a:latin typeface="Times New Roman" panose="02020603050405020304" pitchFamily="18" charset="0"/>
                <a:ea typeface="Times New Roman" panose="02020603050405020304" pitchFamily="18" charset="0"/>
              </a:rPr>
              <a:t>-</a:t>
            </a:r>
            <a:r>
              <a:rPr lang="ru-RU" sz="2800" dirty="0" err="1">
                <a:latin typeface="Times New Roman" panose="02020603050405020304" pitchFamily="18" charset="0"/>
                <a:ea typeface="Times New Roman" panose="02020603050405020304" pitchFamily="18" charset="0"/>
              </a:rPr>
              <a:t>платформи</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виробничі</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операції</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можуть</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контролюватися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автоматизованими</a:t>
            </a:r>
            <a:r>
              <a:rPr lang="ru-RU" sz="2800" dirty="0">
                <a:latin typeface="Times New Roman" panose="02020603050405020304" pitchFamily="18" charset="0"/>
                <a:ea typeface="Times New Roman" panose="02020603050405020304" pitchFamily="18" charset="0"/>
              </a:rPr>
              <a:t> системами, а </a:t>
            </a:r>
            <a:r>
              <a:rPr lang="ru-RU" sz="2800" dirty="0" err="1">
                <a:latin typeface="Times New Roman" panose="02020603050405020304" pitchFamily="18" charset="0"/>
                <a:ea typeface="Times New Roman" panose="02020603050405020304" pitchFamily="18" charset="0"/>
              </a:rPr>
              <a:t>документообіг</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реалізується</a:t>
            </a:r>
            <a:r>
              <a:rPr lang="ru-RU" sz="2800" dirty="0">
                <a:latin typeface="Times New Roman" panose="02020603050405020304" pitchFamily="18" charset="0"/>
                <a:ea typeface="Times New Roman" panose="02020603050405020304" pitchFamily="18" charset="0"/>
              </a:rPr>
              <a:t> за </a:t>
            </a:r>
            <a:r>
              <a:rPr lang="ru-RU" sz="2800" dirty="0" err="1">
                <a:latin typeface="Times New Roman" panose="02020603050405020304" pitchFamily="18" charset="0"/>
                <a:ea typeface="Times New Roman" panose="02020603050405020304" pitchFamily="18" charset="0"/>
              </a:rPr>
              <a:t>допомогою</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електронних</a:t>
            </a:r>
            <a:r>
              <a:rPr lang="ru-RU" sz="2800" dirty="0">
                <a:latin typeface="Times New Roman" panose="02020603050405020304" pitchFamily="18" charset="0"/>
                <a:ea typeface="Times New Roman" panose="02020603050405020304" pitchFamily="18" charset="0"/>
              </a:rPr>
              <a:t> систем </a:t>
            </a:r>
            <a:r>
              <a:rPr lang="ru-RU" sz="2800" dirty="0" err="1">
                <a:latin typeface="Times New Roman" panose="02020603050405020304" pitchFamily="18" charset="0"/>
                <a:ea typeface="Times New Roman" panose="02020603050405020304" pitchFamily="18" charset="0"/>
              </a:rPr>
              <a:t>управління</a:t>
            </a:r>
            <a:r>
              <a:rPr lang="ru-RU" sz="2800" dirty="0">
                <a:latin typeface="Times New Roman" panose="02020603050405020304" pitchFamily="18" charset="0"/>
                <a:ea typeface="Times New Roman" panose="02020603050405020304" pitchFamily="18" charset="0"/>
              </a:rPr>
              <a:t> документами. </a:t>
            </a:r>
            <a:r>
              <a:rPr lang="ru-RU" sz="2800" dirty="0" err="1">
                <a:latin typeface="Times New Roman" panose="02020603050405020304" pitchFamily="18" charset="0"/>
                <a:ea typeface="Times New Roman" panose="02020603050405020304" pitchFamily="18" charset="0"/>
              </a:rPr>
              <a:t>Відповідно</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порушення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функціонування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інформаційних</a:t>
            </a:r>
            <a:r>
              <a:rPr lang="ru-RU" sz="2800" dirty="0">
                <a:latin typeface="Times New Roman" panose="02020603050405020304" pitchFamily="18" charset="0"/>
                <a:ea typeface="Times New Roman" panose="02020603050405020304" pitchFamily="18" charset="0"/>
              </a:rPr>
              <a:t> систем </a:t>
            </a:r>
            <a:r>
              <a:rPr lang="ru-RU" sz="2800" dirty="0" err="1">
                <a:latin typeface="Times New Roman" panose="02020603050405020304" pitchFamily="18" charset="0"/>
                <a:ea typeface="Times New Roman" panose="02020603050405020304" pitchFamily="18" charset="0"/>
              </a:rPr>
              <a:t>може</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призвести</a:t>
            </a:r>
            <a:r>
              <a:rPr lang="ru-RU" sz="2800" dirty="0">
                <a:latin typeface="Times New Roman" panose="02020603050405020304" pitchFamily="18" charset="0"/>
                <a:ea typeface="Times New Roman" panose="02020603050405020304" pitchFamily="18" charset="0"/>
              </a:rPr>
              <a:t> до </a:t>
            </a:r>
            <a:r>
              <a:rPr lang="ru-RU" sz="2800" dirty="0" err="1">
                <a:latin typeface="Times New Roman" panose="02020603050405020304" pitchFamily="18" charset="0"/>
                <a:ea typeface="Times New Roman" panose="02020603050405020304" pitchFamily="18" charset="0"/>
              </a:rPr>
              <a:t>порушення</a:t>
            </a:r>
            <a:r>
              <a:rPr lang="ru-RU" sz="2800" dirty="0">
                <a:latin typeface="Times New Roman" panose="02020603050405020304" pitchFamily="18" charset="0"/>
                <a:ea typeface="Times New Roman" panose="02020603050405020304" pitchFamily="18" charset="0"/>
              </a:rPr>
              <a:t> самого </a:t>
            </a:r>
            <a:r>
              <a:rPr lang="ru-RU" sz="2800" dirty="0" err="1">
                <a:latin typeface="Times New Roman" panose="02020603050405020304" pitchFamily="18" charset="0"/>
                <a:ea typeface="Times New Roman" panose="02020603050405020304" pitchFamily="18" charset="0"/>
              </a:rPr>
              <a:t>бізнес-процесу</a:t>
            </a:r>
            <a:r>
              <a:rPr lang="ru-RU" sz="2800" dirty="0">
                <a:latin typeface="Times New Roman" panose="02020603050405020304" pitchFamily="18" charset="0"/>
                <a:ea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endParaRPr>
          </a:p>
          <a:p>
            <a:pPr indent="450215" algn="just">
              <a:spcAft>
                <a:spcPts val="0"/>
              </a:spcAft>
              <a:tabLst>
                <a:tab pos="90170" algn="l"/>
              </a:tabLst>
            </a:pPr>
            <a:r>
              <a:rPr lang="ru-RU" sz="2800" dirty="0">
                <a:latin typeface="Times New Roman" panose="02020603050405020304" pitchFamily="18" charset="0"/>
                <a:ea typeface="Times New Roman" panose="02020603050405020304" pitchFamily="18" charset="0"/>
              </a:rPr>
              <a:t>З </a:t>
            </a:r>
            <a:r>
              <a:rPr lang="ru-RU" sz="2800" dirty="0" err="1">
                <a:latin typeface="Times New Roman" panose="02020603050405020304" pitchFamily="18" charset="0"/>
                <a:ea typeface="Times New Roman" panose="02020603050405020304" pitchFamily="18" charset="0"/>
              </a:rPr>
              <a:t>позиції</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кібербезпеки</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необхідно</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забезпечувати</a:t>
            </a:r>
            <a:r>
              <a:rPr lang="ru-RU" sz="2800" dirty="0">
                <a:latin typeface="Times New Roman" panose="02020603050405020304" pitchFamily="18" charset="0"/>
                <a:ea typeface="Times New Roman" panose="02020603050405020304" pitchFamily="18" charset="0"/>
              </a:rPr>
              <a:t> </a:t>
            </a:r>
            <a:r>
              <a:rPr lang="ru-RU" sz="2800" b="1" dirty="0" err="1">
                <a:latin typeface="Times New Roman" panose="02020603050405020304" pitchFamily="18" charset="0"/>
                <a:ea typeface="Times New Roman" panose="02020603050405020304" pitchFamily="18" charset="0"/>
              </a:rPr>
              <a:t>конфіденційність</a:t>
            </a:r>
            <a:r>
              <a:rPr lang="ru-RU" sz="2800" b="1" dirty="0">
                <a:latin typeface="Times New Roman" panose="02020603050405020304" pitchFamily="18" charset="0"/>
                <a:ea typeface="Times New Roman" panose="02020603050405020304" pitchFamily="18" charset="0"/>
              </a:rPr>
              <a:t>, </a:t>
            </a:r>
            <a:r>
              <a:rPr lang="ru-RU" sz="2800" b="1" dirty="0" err="1">
                <a:latin typeface="Times New Roman" panose="02020603050405020304" pitchFamily="18" charset="0"/>
                <a:ea typeface="Times New Roman" panose="02020603050405020304" pitchFamily="18" charset="0"/>
              </a:rPr>
              <a:t>цілісність</a:t>
            </a:r>
            <a:r>
              <a:rPr lang="ru-RU" sz="2800" b="1" dirty="0">
                <a:latin typeface="Times New Roman" panose="02020603050405020304" pitchFamily="18" charset="0"/>
                <a:ea typeface="Times New Roman" panose="02020603050405020304" pitchFamily="18" charset="0"/>
              </a:rPr>
              <a:t> і </a:t>
            </a:r>
            <a:r>
              <a:rPr lang="ru-RU" sz="2800" b="1" dirty="0" err="1">
                <a:latin typeface="Times New Roman" panose="02020603050405020304" pitchFamily="18" charset="0"/>
                <a:ea typeface="Times New Roman" panose="02020603050405020304" pitchFamily="18" charset="0"/>
              </a:rPr>
              <a:t>доступність</a:t>
            </a:r>
            <a:r>
              <a:rPr lang="ru-RU" sz="2800" dirty="0">
                <a:latin typeface="Times New Roman" panose="02020603050405020304" pitchFamily="18" charset="0"/>
                <a:ea typeface="Times New Roman" panose="02020603050405020304" pitchFamily="18" charset="0"/>
              </a:rPr>
              <a:t> не </a:t>
            </a:r>
            <a:r>
              <a:rPr lang="ru-RU" sz="2800" dirty="0" err="1">
                <a:latin typeface="Times New Roman" panose="02020603050405020304" pitchFamily="18" charset="0"/>
                <a:ea typeface="Times New Roman" panose="02020603050405020304" pitchFamily="18" charset="0"/>
              </a:rPr>
              <a:t>тільки</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інформаційних</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ресурсів</a:t>
            </a:r>
            <a:r>
              <a:rPr lang="ru-RU" sz="2800" dirty="0">
                <a:latin typeface="Times New Roman" panose="02020603050405020304" pitchFamily="18" charset="0"/>
                <a:ea typeface="Times New Roman" panose="02020603050405020304" pitchFamily="18" charset="0"/>
              </a:rPr>
              <a:t>, а й </a:t>
            </a:r>
            <a:r>
              <a:rPr lang="ru-RU" sz="2800" dirty="0" err="1">
                <a:latin typeface="Times New Roman" panose="02020603050405020304" pitchFamily="18" charset="0"/>
                <a:ea typeface="Times New Roman" panose="02020603050405020304" pitchFamily="18" charset="0"/>
              </a:rPr>
              <a:t>критичних</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операцій</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підприємства</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Наприклад</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якщо</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зловмисник</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отримує</a:t>
            </a:r>
            <a:r>
              <a:rPr lang="ru-RU" sz="2800" dirty="0">
                <a:latin typeface="Times New Roman" panose="02020603050405020304" pitchFamily="18" charset="0"/>
                <a:ea typeface="Times New Roman" panose="02020603050405020304" pitchFamily="18" charset="0"/>
              </a:rPr>
              <a:t> доступ до </a:t>
            </a:r>
            <a:r>
              <a:rPr lang="ru-RU" sz="2800" dirty="0" err="1">
                <a:latin typeface="Times New Roman" panose="02020603050405020304" pitchFamily="18" charset="0"/>
                <a:ea typeface="Times New Roman" panose="02020603050405020304" pitchFamily="18" charset="0"/>
              </a:rPr>
              <a:t>системи</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управління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замовленнями</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наслідком</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може</a:t>
            </a:r>
            <a:r>
              <a:rPr lang="ru-RU" sz="2800" dirty="0">
                <a:latin typeface="Times New Roman" panose="02020603050405020304" pitchFamily="18" charset="0"/>
                <a:ea typeface="Times New Roman" panose="02020603050405020304" pitchFamily="18" charset="0"/>
              </a:rPr>
              <a:t> бути не </a:t>
            </a:r>
            <a:r>
              <a:rPr lang="ru-RU" sz="2800" dirty="0" err="1">
                <a:latin typeface="Times New Roman" panose="02020603050405020304" pitchFamily="18" charset="0"/>
                <a:ea typeface="Times New Roman" panose="02020603050405020304" pitchFamily="18" charset="0"/>
              </a:rPr>
              <a:t>лише</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розголошення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даних</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клієнтів</a:t>
            </a:r>
            <a:r>
              <a:rPr lang="ru-RU" sz="2800" dirty="0">
                <a:latin typeface="Times New Roman" panose="02020603050405020304" pitchFamily="18" charset="0"/>
                <a:ea typeface="Times New Roman" panose="02020603050405020304" pitchFamily="18" charset="0"/>
              </a:rPr>
              <a:t>, а й </a:t>
            </a:r>
            <a:r>
              <a:rPr lang="ru-RU" sz="2800" dirty="0" err="1">
                <a:latin typeface="Times New Roman" panose="02020603050405020304" pitchFamily="18" charset="0"/>
                <a:ea typeface="Times New Roman" panose="02020603050405020304" pitchFamily="18" charset="0"/>
              </a:rPr>
              <a:t>зміна</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замовлень</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підміна</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реквізитів</a:t>
            </a:r>
            <a:r>
              <a:rPr lang="ru-RU" sz="2800" dirty="0">
                <a:latin typeface="Times New Roman" panose="02020603050405020304" pitchFamily="18" charset="0"/>
                <a:ea typeface="Times New Roman" panose="02020603050405020304" pitchFamily="18" charset="0"/>
              </a:rPr>
              <a:t> оплати, </a:t>
            </a:r>
            <a:r>
              <a:rPr lang="ru-RU" sz="2800" dirty="0" err="1">
                <a:latin typeface="Times New Roman" panose="02020603050405020304" pitchFamily="18" charset="0"/>
                <a:ea typeface="Times New Roman" panose="02020603050405020304" pitchFamily="18" charset="0"/>
              </a:rPr>
              <a:t>блокування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оброблення</a:t>
            </a:r>
            <a:r>
              <a:rPr lang="ru-RU" sz="2800" dirty="0">
                <a:latin typeface="Times New Roman" panose="02020603050405020304" pitchFamily="18" charset="0"/>
                <a:ea typeface="Times New Roman" panose="02020603050405020304" pitchFamily="18" charset="0"/>
              </a:rPr>
              <a:t> заявок </a:t>
            </a:r>
            <a:r>
              <a:rPr lang="ru-RU" sz="2800" dirty="0" err="1">
                <a:latin typeface="Times New Roman" panose="02020603050405020304" pitchFamily="18" charset="0"/>
                <a:ea typeface="Times New Roman" panose="02020603050405020304" pitchFamily="18" charset="0"/>
              </a:rPr>
              <a:t>або</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порушення</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роботи</a:t>
            </a:r>
            <a:r>
              <a:rPr lang="ru-RU" sz="2800" dirty="0">
                <a:latin typeface="Times New Roman" panose="02020603050405020304" pitchFamily="18" charset="0"/>
                <a:ea typeface="Times New Roman" panose="02020603050405020304" pitchFamily="18" charset="0"/>
              </a:rPr>
              <a:t> </a:t>
            </a:r>
            <a:r>
              <a:rPr lang="ru-RU" sz="2800" dirty="0" err="1">
                <a:latin typeface="Times New Roman" panose="02020603050405020304" pitchFamily="18" charset="0"/>
                <a:ea typeface="Times New Roman" panose="02020603050405020304" pitchFamily="18" charset="0"/>
              </a:rPr>
              <a:t>служби</a:t>
            </a:r>
            <a:r>
              <a:rPr lang="ru-RU" sz="2800" dirty="0">
                <a:latin typeface="Times New Roman" panose="02020603050405020304" pitchFamily="18" charset="0"/>
                <a:ea typeface="Times New Roman" panose="02020603050405020304" pitchFamily="18" charset="0"/>
              </a:rPr>
              <a:t> доставки.</a:t>
            </a:r>
            <a:endParaRPr lang="en-US"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99753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2" name="Прямоугольник 1"/>
          <p:cNvSpPr/>
          <p:nvPr/>
        </p:nvSpPr>
        <p:spPr>
          <a:xfrm>
            <a:off x="279400" y="152400"/>
            <a:ext cx="15976600" cy="8463855"/>
          </a:xfrm>
          <a:prstGeom prst="rect">
            <a:avLst/>
          </a:prstGeom>
        </p:spPr>
        <p:txBody>
          <a:bodyPr wrap="square">
            <a:spAutoFit/>
          </a:bodyPr>
          <a:lstStyle/>
          <a:p>
            <a:pPr algn="just"/>
            <a:r>
              <a:rPr lang="ru-RU" sz="3200" dirty="0">
                <a:latin typeface="Times New Roman" panose="02020603050405020304" pitchFamily="18" charset="0"/>
                <a:cs typeface="Times New Roman" panose="02020603050405020304" pitchFamily="18" charset="0"/>
              </a:rPr>
              <a:t>Особливого </a:t>
            </a:r>
            <a:r>
              <a:rPr lang="ru-RU" sz="3200" dirty="0" err="1">
                <a:latin typeface="Times New Roman" panose="02020603050405020304" pitchFamily="18" charset="0"/>
                <a:cs typeface="Times New Roman" panose="02020603050405020304" pitchFamily="18" charset="0"/>
              </a:rPr>
              <a:t>значення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набуває</a:t>
            </a:r>
            <a:r>
              <a:rPr lang="ru-RU" sz="3200"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забезпечення</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безперервності</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бізнес-процесів</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Кіберінцидент</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такий</a:t>
            </a:r>
            <a:r>
              <a:rPr lang="ru-RU" sz="3200" dirty="0">
                <a:latin typeface="Times New Roman" panose="02020603050405020304" pitchFamily="18" charset="0"/>
                <a:cs typeface="Times New Roman" panose="02020603050405020304" pitchFamily="18" charset="0"/>
              </a:rPr>
              <a:t> як атака </a:t>
            </a:r>
            <a:r>
              <a:rPr lang="ru-RU" sz="3200" dirty="0" err="1">
                <a:latin typeface="Times New Roman" panose="02020603050405020304" pitchFamily="18" charset="0"/>
                <a:cs typeface="Times New Roman" panose="02020603050405020304" pitchFamily="18" charset="0"/>
              </a:rPr>
              <a:t>програм-вимагачів</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відмова</a:t>
            </a:r>
            <a:r>
              <a:rPr lang="ru-RU" sz="3200" dirty="0">
                <a:latin typeface="Times New Roman" panose="02020603050405020304" pitchFamily="18" charset="0"/>
                <a:cs typeface="Times New Roman" panose="02020603050405020304" pitchFamily="18" charset="0"/>
              </a:rPr>
              <a:t> сервера, </a:t>
            </a:r>
            <a:r>
              <a:rPr lang="ru-RU" sz="3200" dirty="0" err="1">
                <a:latin typeface="Times New Roman" panose="02020603050405020304" pitchFamily="18" charset="0"/>
                <a:cs typeface="Times New Roman" panose="02020603050405020304" pitchFamily="18" charset="0"/>
              </a:rPr>
              <a:t>компрометація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облікового</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запису</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адміністратора</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або</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порушення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роботи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мережевої</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інфраструктури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може</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призвести</a:t>
            </a:r>
            <a:r>
              <a:rPr lang="ru-RU" sz="3200" dirty="0">
                <a:latin typeface="Times New Roman" panose="02020603050405020304" pitchFamily="18" charset="0"/>
                <a:cs typeface="Times New Roman" panose="02020603050405020304" pitchFamily="18" charset="0"/>
              </a:rPr>
              <a:t> до </a:t>
            </a:r>
            <a:r>
              <a:rPr lang="ru-RU" sz="3200" dirty="0" err="1">
                <a:latin typeface="Times New Roman" panose="02020603050405020304" pitchFamily="18" charset="0"/>
                <a:cs typeface="Times New Roman" panose="02020603050405020304" pitchFamily="18" charset="0"/>
              </a:rPr>
              <a:t>зупинення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окремих</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операцій</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або</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діяльності</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підприємства</a:t>
            </a:r>
            <a:r>
              <a:rPr lang="ru-RU" sz="3200" dirty="0">
                <a:latin typeface="Times New Roman" panose="02020603050405020304" pitchFamily="18" charset="0"/>
                <a:cs typeface="Times New Roman" panose="02020603050405020304" pitchFamily="18" charset="0"/>
              </a:rPr>
              <a:t> в </a:t>
            </a:r>
            <a:r>
              <a:rPr lang="ru-RU" sz="3200" dirty="0" err="1">
                <a:latin typeface="Times New Roman" panose="02020603050405020304" pitchFamily="18" charset="0"/>
                <a:cs typeface="Times New Roman" panose="02020603050405020304" pitchFamily="18" charset="0"/>
              </a:rPr>
              <a:t>цілому</a:t>
            </a:r>
            <a:r>
              <a:rPr lang="ru-RU" sz="3200" dirty="0">
                <a:latin typeface="Times New Roman" panose="02020603050405020304" pitchFamily="18" charset="0"/>
                <a:cs typeface="Times New Roman" panose="02020603050405020304" pitchFamily="18" charset="0"/>
              </a:rPr>
              <a:t>. Тому система </a:t>
            </a:r>
            <a:r>
              <a:rPr lang="ru-RU" sz="3200" dirty="0" err="1">
                <a:latin typeface="Times New Roman" panose="02020603050405020304" pitchFamily="18" charset="0"/>
                <a:cs typeface="Times New Roman" panose="02020603050405020304" pitchFamily="18" charset="0"/>
              </a:rPr>
              <a:t>кібербезпеки</a:t>
            </a:r>
            <a:r>
              <a:rPr lang="ru-RU" sz="3200" dirty="0">
                <a:latin typeface="Times New Roman" panose="02020603050405020304" pitchFamily="18" charset="0"/>
                <a:cs typeface="Times New Roman" panose="02020603050405020304" pitchFamily="18" charset="0"/>
              </a:rPr>
              <a:t> повинна </a:t>
            </a:r>
            <a:r>
              <a:rPr lang="ru-RU" sz="3200" dirty="0" err="1">
                <a:latin typeface="Times New Roman" panose="02020603050405020304" pitchFamily="18" charset="0"/>
                <a:cs typeface="Times New Roman" panose="02020603050405020304" pitchFamily="18" charset="0"/>
              </a:rPr>
              <a:t>передбачати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механізми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резервування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відновлення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аварійного</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перемикання</a:t>
            </a:r>
            <a:r>
              <a:rPr lang="ru-RU" sz="3200" dirty="0">
                <a:latin typeface="Times New Roman" panose="02020603050405020304" pitchFamily="18" charset="0"/>
                <a:cs typeface="Times New Roman" panose="02020603050405020304" pitchFamily="18" charset="0"/>
              </a:rPr>
              <a:t> та </a:t>
            </a:r>
            <a:r>
              <a:rPr lang="ru-RU" sz="3200" dirty="0" err="1">
                <a:latin typeface="Times New Roman" panose="02020603050405020304" pitchFamily="18" charset="0"/>
                <a:cs typeface="Times New Roman" panose="02020603050405020304" pitchFamily="18" charset="0"/>
              </a:rPr>
              <a:t>реагування</a:t>
            </a:r>
            <a:r>
              <a:rPr lang="ru-RU" sz="3200" dirty="0">
                <a:latin typeface="Times New Roman" panose="02020603050405020304" pitchFamily="18" charset="0"/>
                <a:cs typeface="Times New Roman" panose="02020603050405020304" pitchFamily="18" charset="0"/>
              </a:rPr>
              <a:t> на </a:t>
            </a:r>
            <a:r>
              <a:rPr lang="ru-RU" sz="3200" dirty="0" err="1">
                <a:latin typeface="Times New Roman" panose="02020603050405020304" pitchFamily="18" charset="0"/>
                <a:cs typeface="Times New Roman" panose="02020603050405020304" pitchFamily="18" charset="0"/>
              </a:rPr>
              <a:t>інциденти</a:t>
            </a:r>
            <a:r>
              <a:rPr lang="ru-RU" sz="3200" dirty="0" smtClean="0">
                <a:latin typeface="Times New Roman" panose="02020603050405020304" pitchFamily="18" charset="0"/>
                <a:cs typeface="Times New Roman" panose="02020603050405020304" pitchFamily="18" charset="0"/>
              </a:rPr>
              <a:t>.</a:t>
            </a:r>
          </a:p>
          <a:p>
            <a:pPr algn="just"/>
            <a:endParaRPr lang="en-US" sz="3200" dirty="0">
              <a:latin typeface="Times New Roman" panose="02020603050405020304" pitchFamily="18" charset="0"/>
              <a:cs typeface="Times New Roman" panose="02020603050405020304" pitchFamily="18" charset="0"/>
            </a:endParaRPr>
          </a:p>
          <a:p>
            <a:pPr algn="just"/>
            <a:r>
              <a:rPr lang="ru-RU" sz="3200" dirty="0" err="1">
                <a:latin typeface="Times New Roman" panose="02020603050405020304" pitchFamily="18" charset="0"/>
                <a:cs typeface="Times New Roman" panose="02020603050405020304" pitchFamily="18" charset="0"/>
              </a:rPr>
              <a:t>Важливим</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напрямом</a:t>
            </a:r>
            <a:r>
              <a:rPr lang="ru-RU" sz="3200" dirty="0">
                <a:latin typeface="Times New Roman" panose="02020603050405020304" pitchFamily="18" charset="0"/>
                <a:cs typeface="Times New Roman" panose="02020603050405020304" pitchFamily="18" charset="0"/>
              </a:rPr>
              <a:t> є </a:t>
            </a:r>
            <a:r>
              <a:rPr lang="ru-RU" sz="3200" dirty="0" err="1">
                <a:latin typeface="Times New Roman" panose="02020603050405020304" pitchFamily="18" charset="0"/>
                <a:cs typeface="Times New Roman" panose="02020603050405020304" pitchFamily="18" charset="0"/>
              </a:rPr>
              <a:t>захист</a:t>
            </a:r>
            <a:r>
              <a:rPr lang="ru-RU" sz="3200"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процесів</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управління</a:t>
            </a:r>
            <a:r>
              <a:rPr lang="ru-RU" sz="3200" b="1" dirty="0">
                <a:latin typeface="Times New Roman" panose="02020603050405020304" pitchFamily="18" charset="0"/>
                <a:cs typeface="Times New Roman" panose="02020603050405020304" pitchFamily="18" charset="0"/>
              </a:rPr>
              <a:t> та </a:t>
            </a:r>
            <a:r>
              <a:rPr lang="ru-RU" sz="3200" b="1" dirty="0" err="1">
                <a:latin typeface="Times New Roman" panose="02020603050405020304" pitchFamily="18" charset="0"/>
                <a:cs typeface="Times New Roman" panose="02020603050405020304" pitchFamily="18" charset="0"/>
              </a:rPr>
              <a:t>прийняття</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рішень</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Несанкціонована</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зміна</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управлінської</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інформації</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фінансових</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показників</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аналітичних</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звітів</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або</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прогнозних</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даних</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може</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спричинити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прийняття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неправильних</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рішень</a:t>
            </a:r>
            <a:r>
              <a:rPr lang="ru-RU" sz="3200" dirty="0">
                <a:latin typeface="Times New Roman" panose="02020603050405020304" pitchFamily="18" charset="0"/>
                <a:cs typeface="Times New Roman" panose="02020603050405020304" pitchFamily="18" charset="0"/>
              </a:rPr>
              <a:t>. У </a:t>
            </a:r>
            <a:r>
              <a:rPr lang="ru-RU" sz="3200" dirty="0" err="1">
                <a:latin typeface="Times New Roman" panose="02020603050405020304" pitchFamily="18" charset="0"/>
                <a:cs typeface="Times New Roman" panose="02020603050405020304" pitchFamily="18" charset="0"/>
              </a:rPr>
              <a:t>цьому</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випадку</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навіть</a:t>
            </a:r>
            <a:r>
              <a:rPr lang="ru-RU" sz="3200" dirty="0">
                <a:latin typeface="Times New Roman" panose="02020603050405020304" pitchFamily="18" charset="0"/>
                <a:cs typeface="Times New Roman" panose="02020603050405020304" pitchFamily="18" charset="0"/>
              </a:rPr>
              <a:t> за </a:t>
            </a:r>
            <a:r>
              <a:rPr lang="ru-RU" sz="3200" dirty="0" err="1">
                <a:latin typeface="Times New Roman" panose="02020603050405020304" pitchFamily="18" charset="0"/>
                <a:cs typeface="Times New Roman" panose="02020603050405020304" pitchFamily="18" charset="0"/>
              </a:rPr>
              <a:t>умови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збереження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конфіденційності</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інформації</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порушення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її</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цілісності</a:t>
            </a:r>
            <a:r>
              <a:rPr lang="ru-RU" sz="3200" dirty="0">
                <a:latin typeface="Times New Roman" panose="02020603050405020304" pitchFamily="18" charset="0"/>
                <a:cs typeface="Times New Roman" panose="02020603050405020304" pitchFamily="18" charset="0"/>
              </a:rPr>
              <a:t> становить </a:t>
            </a:r>
            <a:r>
              <a:rPr lang="ru-RU" sz="3200" dirty="0" err="1">
                <a:latin typeface="Times New Roman" panose="02020603050405020304" pitchFamily="18" charset="0"/>
                <a:cs typeface="Times New Roman" panose="02020603050405020304" pitchFamily="18" charset="0"/>
              </a:rPr>
              <a:t>серйозну</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кібернетичну</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загрозу</a:t>
            </a:r>
            <a:r>
              <a:rPr lang="ru-RU"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algn="just"/>
            <a:r>
              <a:rPr lang="ru-RU" sz="3200" dirty="0" err="1">
                <a:latin typeface="Times New Roman" panose="02020603050405020304" pitchFamily="18" charset="0"/>
                <a:cs typeface="Times New Roman" panose="02020603050405020304" pitchFamily="18" charset="0"/>
              </a:rPr>
              <a:t>Захист</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потребують</a:t>
            </a:r>
            <a:r>
              <a:rPr lang="ru-RU" sz="3200" dirty="0">
                <a:latin typeface="Times New Roman" panose="02020603050405020304" pitchFamily="18" charset="0"/>
                <a:cs typeface="Times New Roman" panose="02020603050405020304" pitchFamily="18" charset="0"/>
              </a:rPr>
              <a:t> і </a:t>
            </a:r>
            <a:r>
              <a:rPr lang="ru-RU" sz="3200" b="1" dirty="0" err="1">
                <a:latin typeface="Times New Roman" panose="02020603050405020304" pitchFamily="18" charset="0"/>
                <a:cs typeface="Times New Roman" panose="02020603050405020304" pitchFamily="18" charset="0"/>
              </a:rPr>
              <a:t>фінансові</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процеси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пов’язані</a:t>
            </a:r>
            <a:r>
              <a:rPr lang="ru-RU" sz="3200" dirty="0">
                <a:latin typeface="Times New Roman" panose="02020603050405020304" pitchFamily="18" charset="0"/>
                <a:cs typeface="Times New Roman" panose="02020603050405020304" pitchFamily="18" charset="0"/>
              </a:rPr>
              <a:t> з платежами, </a:t>
            </a:r>
            <a:r>
              <a:rPr lang="ru-RU" sz="3200" dirty="0" err="1">
                <a:latin typeface="Times New Roman" panose="02020603050405020304" pitchFamily="18" charset="0"/>
                <a:cs typeface="Times New Roman" panose="02020603050405020304" pitchFamily="18" charset="0"/>
              </a:rPr>
              <a:t>бухгалтерським</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обліком</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бюджетуванням</a:t>
            </a:r>
            <a:r>
              <a:rPr lang="ru-RU" sz="3200" dirty="0">
                <a:latin typeface="Times New Roman" panose="02020603050405020304" pitchFamily="18" charset="0"/>
                <a:cs typeface="Times New Roman" panose="02020603050405020304" pitchFamily="18" charset="0"/>
              </a:rPr>
              <a:t> та </a:t>
            </a:r>
            <a:r>
              <a:rPr lang="ru-RU" sz="3200" dirty="0" err="1">
                <a:latin typeface="Times New Roman" panose="02020603050405020304" pitchFamily="18" charset="0"/>
                <a:cs typeface="Times New Roman" panose="02020603050405020304" pitchFamily="18" charset="0"/>
              </a:rPr>
              <a:t>фінансовою</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звітністю</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Кіберзлочинці</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можуть</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використовувати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компрометацію</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облікових</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записів</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фішинг</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соціальну</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інженерію</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або</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шкідливе</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програмне</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забезпечення</a:t>
            </a:r>
            <a:r>
              <a:rPr lang="ru-RU" sz="3200" dirty="0">
                <a:latin typeface="Times New Roman" panose="02020603050405020304" pitchFamily="18" charset="0"/>
                <a:cs typeface="Times New Roman" panose="02020603050405020304" pitchFamily="18" charset="0"/>
              </a:rPr>
              <a:t> для </a:t>
            </a:r>
            <a:r>
              <a:rPr lang="ru-RU" sz="3200" dirty="0" err="1">
                <a:latin typeface="Times New Roman" panose="02020603050405020304" pitchFamily="18" charset="0"/>
                <a:cs typeface="Times New Roman" panose="02020603050405020304" pitchFamily="18" charset="0"/>
              </a:rPr>
              <a:t>зміни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платіжних</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реквізитів</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здійснення</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несанкціонованих</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операцій</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чи</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отримання</a:t>
            </a:r>
            <a:r>
              <a:rPr lang="ru-RU" sz="3200" dirty="0">
                <a:latin typeface="Times New Roman" panose="02020603050405020304" pitchFamily="18" charset="0"/>
                <a:cs typeface="Times New Roman" panose="02020603050405020304" pitchFamily="18" charset="0"/>
              </a:rPr>
              <a:t> доступу до </a:t>
            </a:r>
            <a:r>
              <a:rPr lang="ru-RU" sz="3200" dirty="0" err="1">
                <a:latin typeface="Times New Roman" panose="02020603050405020304" pitchFamily="18" charset="0"/>
                <a:cs typeface="Times New Roman" panose="02020603050405020304" pitchFamily="18" charset="0"/>
              </a:rPr>
              <a:t>фінансової</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інформації</a:t>
            </a:r>
            <a:r>
              <a:rPr lang="ru-RU" sz="3200" dirty="0" smtClean="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212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36737" y="0"/>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46347" y="55604"/>
            <a:ext cx="16246389" cy="9510296"/>
          </a:xfrm>
          <a:prstGeom prst="rect">
            <a:avLst/>
          </a:prstGeom>
        </p:spPr>
        <p:txBody>
          <a:bodyPr wrap="square">
            <a:spAutoFit/>
          </a:bodyPr>
          <a:lstStyle/>
          <a:p>
            <a:pPr indent="450215" algn="just">
              <a:spcAft>
                <a:spcPts val="0"/>
              </a:spcAft>
              <a:tabLst>
                <a:tab pos="90170" algn="l"/>
              </a:tabLst>
            </a:pPr>
            <a:r>
              <a:rPr lang="uk-UA" sz="2600" dirty="0" smtClean="0">
                <a:latin typeface="Times New Roman" panose="02020603050405020304" pitchFamily="18" charset="0"/>
                <a:ea typeface="Times New Roman" panose="02020603050405020304" pitchFamily="18" charset="0"/>
              </a:rPr>
              <a:t>Окрему категорію становлять </a:t>
            </a:r>
            <a:r>
              <a:rPr lang="uk-UA" sz="2600" b="1" dirty="0" smtClean="0">
                <a:latin typeface="Times New Roman" panose="02020603050405020304" pitchFamily="18" charset="0"/>
                <a:ea typeface="Times New Roman" panose="02020603050405020304" pitchFamily="18" charset="0"/>
              </a:rPr>
              <a:t>процеси управління персоналом</a:t>
            </a:r>
            <a:r>
              <a:rPr lang="uk-UA" sz="2600" dirty="0" smtClean="0">
                <a:latin typeface="Times New Roman" panose="02020603050405020304" pitchFamily="18" charset="0"/>
                <a:ea typeface="Times New Roman" panose="02020603050405020304" pitchFamily="18" charset="0"/>
              </a:rPr>
              <a:t>. Вони передбачають оброблення персональних даних працівників, кадрової документації, інформації про оплату праці, трудові відносини та права доступу до корпоративних ресурсів. Порушення безпеки таких процесів може призвести до витоку персональних даних або використання скомпрометованих облікових записів для подальшого проникнення в інформаційну інфраструктуру.</a:t>
            </a:r>
          </a:p>
          <a:p>
            <a:pPr indent="450215" algn="just">
              <a:spcAft>
                <a:spcPts val="0"/>
              </a:spcAft>
              <a:tabLst>
                <a:tab pos="90170" algn="l"/>
              </a:tabLst>
            </a:pPr>
            <a:r>
              <a:rPr lang="uk-UA" sz="2600" dirty="0" smtClean="0">
                <a:latin typeface="Times New Roman" panose="02020603050405020304" pitchFamily="18" charset="0"/>
                <a:ea typeface="Times New Roman" panose="02020603050405020304" pitchFamily="18" charset="0"/>
              </a:rPr>
              <a:t>Не менш важливими є </a:t>
            </a:r>
            <a:r>
              <a:rPr lang="uk-UA" sz="2600" b="1" dirty="0" smtClean="0">
                <a:latin typeface="Times New Roman" panose="02020603050405020304" pitchFamily="18" charset="0"/>
                <a:ea typeface="Times New Roman" panose="02020603050405020304" pitchFamily="18" charset="0"/>
              </a:rPr>
              <a:t>процеси взаємодії з клієнтами та партнерами</a:t>
            </a:r>
            <a:r>
              <a:rPr lang="uk-UA" sz="2600" dirty="0" smtClean="0">
                <a:latin typeface="Times New Roman" panose="02020603050405020304" pitchFamily="18" charset="0"/>
                <a:ea typeface="Times New Roman" panose="02020603050405020304" pitchFamily="18" charset="0"/>
              </a:rPr>
              <a:t>. Вони охоплюють реєстрацію клієнтів, оформлення замовлень, укладання договорів, проведення платежів, обслуговування та </a:t>
            </a:r>
            <a:r>
              <a:rPr lang="uk-UA" sz="2600" dirty="0" err="1" smtClean="0">
                <a:latin typeface="Times New Roman" panose="02020603050405020304" pitchFamily="18" charset="0"/>
                <a:ea typeface="Times New Roman" panose="02020603050405020304" pitchFamily="18" charset="0"/>
              </a:rPr>
              <a:t>післяпродажну</a:t>
            </a:r>
            <a:r>
              <a:rPr lang="uk-UA" sz="2600" dirty="0" smtClean="0">
                <a:latin typeface="Times New Roman" panose="02020603050405020304" pitchFamily="18" charset="0"/>
                <a:ea typeface="Times New Roman" panose="02020603050405020304" pitchFamily="18" charset="0"/>
              </a:rPr>
              <a:t> підтримку. </a:t>
            </a:r>
            <a:r>
              <a:rPr lang="uk-UA" sz="2600" dirty="0" err="1" smtClean="0">
                <a:latin typeface="Times New Roman" panose="02020603050405020304" pitchFamily="18" charset="0"/>
                <a:ea typeface="Times New Roman" panose="02020603050405020304" pitchFamily="18" charset="0"/>
              </a:rPr>
              <a:t>Кібербезпека</a:t>
            </a:r>
            <a:r>
              <a:rPr lang="uk-UA" sz="2600" dirty="0" smtClean="0">
                <a:latin typeface="Times New Roman" panose="02020603050405020304" pitchFamily="18" charset="0"/>
                <a:ea typeface="Times New Roman" panose="02020603050405020304" pitchFamily="18" charset="0"/>
              </a:rPr>
              <a:t> повинна забезпечувати достовірність інформації на всіх етапах такої взаємодії та запобігати несанкціонованій зміні даних.</a:t>
            </a:r>
          </a:p>
          <a:p>
            <a:pPr indent="450215" algn="just">
              <a:spcAft>
                <a:spcPts val="0"/>
              </a:spcAft>
              <a:tabLst>
                <a:tab pos="90170" algn="l"/>
              </a:tabLst>
            </a:pPr>
            <a:r>
              <a:rPr lang="uk-UA" sz="2600" dirty="0" smtClean="0">
                <a:latin typeface="Times New Roman" panose="02020603050405020304" pitchFamily="18" charset="0"/>
                <a:ea typeface="Times New Roman" panose="02020603050405020304" pitchFamily="18" charset="0"/>
              </a:rPr>
              <a:t>У виробничих і технологічних середовищах </a:t>
            </a:r>
            <a:r>
              <a:rPr lang="uk-UA" sz="2600" dirty="0" err="1" smtClean="0">
                <a:latin typeface="Times New Roman" panose="02020603050405020304" pitchFamily="18" charset="0"/>
                <a:ea typeface="Times New Roman" panose="02020603050405020304" pitchFamily="18" charset="0"/>
              </a:rPr>
              <a:t>кіберзагрози</a:t>
            </a:r>
            <a:r>
              <a:rPr lang="uk-UA" sz="2600" dirty="0" smtClean="0">
                <a:latin typeface="Times New Roman" panose="02020603050405020304" pitchFamily="18" charset="0"/>
                <a:ea typeface="Times New Roman" panose="02020603050405020304" pitchFamily="18" charset="0"/>
              </a:rPr>
              <a:t> можуть впливати безпосередньо на </a:t>
            </a:r>
            <a:r>
              <a:rPr lang="uk-UA" sz="2600" b="1" dirty="0" smtClean="0">
                <a:latin typeface="Times New Roman" panose="02020603050405020304" pitchFamily="18" charset="0"/>
                <a:ea typeface="Times New Roman" panose="02020603050405020304" pitchFamily="18" charset="0"/>
              </a:rPr>
              <a:t>фізичні процеси</a:t>
            </a:r>
            <a:r>
              <a:rPr lang="uk-UA" sz="2600" dirty="0" smtClean="0">
                <a:latin typeface="Times New Roman" panose="02020603050405020304" pitchFamily="18" charset="0"/>
                <a:ea typeface="Times New Roman" panose="02020603050405020304" pitchFamily="18" charset="0"/>
              </a:rPr>
              <a:t>. Компрометація промислових контролерів, </a:t>
            </a:r>
            <a:r>
              <a:rPr lang="uk-UA" sz="2600" dirty="0" err="1" smtClean="0">
                <a:latin typeface="Times New Roman" panose="02020603050405020304" pitchFamily="18" charset="0"/>
                <a:ea typeface="Times New Roman" panose="02020603050405020304" pitchFamily="18" charset="0"/>
              </a:rPr>
              <a:t>IoT</a:t>
            </a:r>
            <a:r>
              <a:rPr lang="uk-UA" sz="2600" dirty="0" smtClean="0">
                <a:latin typeface="Times New Roman" panose="02020603050405020304" pitchFamily="18" charset="0"/>
                <a:ea typeface="Times New Roman" panose="02020603050405020304" pitchFamily="18" charset="0"/>
              </a:rPr>
              <a:t>-пристроїв або автоматизованих систем управління здатна спричинити порушення технологічного режиму, зупинку обладнання або створити загрозу для безпеки працівників. Тому для сучасних підприємств важливим стає поєднання </a:t>
            </a:r>
            <a:r>
              <a:rPr lang="uk-UA" sz="2600" dirty="0" err="1" smtClean="0">
                <a:latin typeface="Times New Roman" panose="02020603050405020304" pitchFamily="18" charset="0"/>
                <a:ea typeface="Times New Roman" panose="02020603050405020304" pitchFamily="18" charset="0"/>
              </a:rPr>
              <a:t>кібербезпеки</a:t>
            </a:r>
            <a:r>
              <a:rPr lang="uk-UA" sz="2600" dirty="0" smtClean="0">
                <a:latin typeface="Times New Roman" panose="02020603050405020304" pitchFamily="18" charset="0"/>
                <a:ea typeface="Times New Roman" panose="02020603050405020304" pitchFamily="18" charset="0"/>
              </a:rPr>
              <a:t> інформаційних систем із безпекою технологічної інфраструктури.</a:t>
            </a:r>
          </a:p>
          <a:p>
            <a:pPr algn="just"/>
            <a:r>
              <a:rPr lang="ru-RU" sz="2600" dirty="0" err="1">
                <a:latin typeface="Times New Roman" panose="02020603050405020304" pitchFamily="18" charset="0"/>
                <a:cs typeface="Times New Roman" panose="02020603050405020304" pitchFamily="18" charset="0"/>
              </a:rPr>
              <a:t>С</a:t>
            </a:r>
            <a:r>
              <a:rPr lang="ru-RU" sz="2600" dirty="0" err="1" smtClean="0">
                <a:latin typeface="Times New Roman" panose="02020603050405020304" pitchFamily="18" charset="0"/>
                <a:cs typeface="Times New Roman" panose="02020603050405020304" pitchFamily="18" charset="0"/>
              </a:rPr>
              <a:t>учасний</a:t>
            </a:r>
            <a:r>
              <a:rPr lang="ru-RU" sz="2600" dirty="0" smtClean="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підхід</a:t>
            </a:r>
            <a:r>
              <a:rPr lang="ru-RU" sz="2600" dirty="0">
                <a:latin typeface="Times New Roman" panose="02020603050405020304" pitchFamily="18" charset="0"/>
                <a:cs typeface="Times New Roman" panose="02020603050405020304" pitchFamily="18" charset="0"/>
              </a:rPr>
              <a:t> до </a:t>
            </a:r>
            <a:r>
              <a:rPr lang="ru-RU" sz="2600" dirty="0" err="1">
                <a:latin typeface="Times New Roman" panose="02020603050405020304" pitchFamily="18" charset="0"/>
                <a:cs typeface="Times New Roman" panose="02020603050405020304" pitchFamily="18" charset="0"/>
              </a:rPr>
              <a:t>кібербезпеки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передбачає</a:t>
            </a:r>
            <a:r>
              <a:rPr lang="ru-RU" sz="2600"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процесно-орієнтований</a:t>
            </a:r>
            <a:r>
              <a:rPr lang="ru-RU" sz="2600" b="1"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захист</a:t>
            </a:r>
            <a:r>
              <a:rPr lang="ru-RU" sz="2600" dirty="0">
                <a:latin typeface="Times New Roman" panose="02020603050405020304" pitchFamily="18" charset="0"/>
                <a:cs typeface="Times New Roman" panose="02020603050405020304" pitchFamily="18" charset="0"/>
              </a:rPr>
              <a:t>, за </a:t>
            </a:r>
            <a:r>
              <a:rPr lang="ru-RU" sz="2600" dirty="0" err="1">
                <a:latin typeface="Times New Roman" panose="02020603050405020304" pitchFamily="18" charset="0"/>
                <a:cs typeface="Times New Roman" panose="02020603050405020304" pitchFamily="18" charset="0"/>
              </a:rPr>
              <a:t>якого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визначаються</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критичні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бізнес-процеси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інформаційні</a:t>
            </a:r>
            <a:r>
              <a:rPr lang="ru-RU" sz="2600" dirty="0">
                <a:latin typeface="Times New Roman" panose="02020603050405020304" pitchFamily="18" charset="0"/>
                <a:cs typeface="Times New Roman" panose="02020603050405020304" pitchFamily="18" charset="0"/>
              </a:rPr>
              <a:t> та </a:t>
            </a:r>
            <a:r>
              <a:rPr lang="ru-RU" sz="2600" dirty="0" err="1">
                <a:latin typeface="Times New Roman" panose="02020603050405020304" pitchFamily="18" charset="0"/>
                <a:cs typeface="Times New Roman" panose="02020603050405020304" pitchFamily="18" charset="0"/>
              </a:rPr>
              <a:t>апаратно-програмні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ресурси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від</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яких</a:t>
            </a:r>
            <a:r>
              <a:rPr lang="ru-RU" sz="2600" dirty="0">
                <a:latin typeface="Times New Roman" panose="02020603050405020304" pitchFamily="18" charset="0"/>
                <a:cs typeface="Times New Roman" panose="02020603050405020304" pitchFamily="18" charset="0"/>
              </a:rPr>
              <a:t> вони </a:t>
            </a:r>
            <a:r>
              <a:rPr lang="ru-RU" sz="2600" dirty="0" err="1">
                <a:latin typeface="Times New Roman" panose="02020603050405020304" pitchFamily="18" charset="0"/>
                <a:cs typeface="Times New Roman" panose="02020603050405020304" pitchFamily="18" charset="0"/>
              </a:rPr>
              <a:t>залежать</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потенційні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загрози</a:t>
            </a:r>
            <a:r>
              <a:rPr lang="ru-RU" sz="2600" dirty="0">
                <a:latin typeface="Times New Roman" panose="02020603050405020304" pitchFamily="18" charset="0"/>
                <a:cs typeface="Times New Roman" panose="02020603050405020304" pitchFamily="18" charset="0"/>
              </a:rPr>
              <a:t> та </a:t>
            </a:r>
            <a:r>
              <a:rPr lang="ru-RU" sz="2600" dirty="0" err="1">
                <a:latin typeface="Times New Roman" panose="02020603050405020304" pitchFamily="18" charset="0"/>
                <a:cs typeface="Times New Roman" panose="02020603050405020304" pitchFamily="18" charset="0"/>
              </a:rPr>
              <a:t>можливі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наслідки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їх</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порушення</a:t>
            </a:r>
            <a:r>
              <a:rPr lang="ru-RU" sz="2600" dirty="0">
                <a:latin typeface="Times New Roman" panose="02020603050405020304" pitchFamily="18" charset="0"/>
                <a:cs typeface="Times New Roman" panose="02020603050405020304" pitchFamily="18" charset="0"/>
              </a:rPr>
              <a:t>. Для кожного критичного </a:t>
            </a:r>
            <a:r>
              <a:rPr lang="ru-RU" sz="2600" dirty="0" err="1">
                <a:latin typeface="Times New Roman" panose="02020603050405020304" pitchFamily="18" charset="0"/>
                <a:cs typeface="Times New Roman" panose="02020603050405020304" pitchFamily="18" charset="0"/>
              </a:rPr>
              <a:t>процесу</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встановлюються</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вимоги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щодо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конфіденційності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цілісності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доступності</a:t>
            </a:r>
            <a:r>
              <a:rPr lang="ru-RU" sz="2600" dirty="0">
                <a:latin typeface="Times New Roman" panose="02020603050405020304" pitchFamily="18" charset="0"/>
                <a:cs typeface="Times New Roman" panose="02020603050405020304" pitchFamily="18" charset="0"/>
              </a:rPr>
              <a:t> та </a:t>
            </a:r>
            <a:r>
              <a:rPr lang="ru-RU" sz="2600" dirty="0" err="1">
                <a:latin typeface="Times New Roman" panose="02020603050405020304" pitchFamily="18" charset="0"/>
                <a:cs typeface="Times New Roman" panose="02020603050405020304" pitchFamily="18" charset="0"/>
              </a:rPr>
              <a:t>відновлення</a:t>
            </a:r>
            <a:r>
              <a:rPr lang="ru-RU" sz="2600"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algn="just"/>
            <a:r>
              <a:rPr lang="ru-RU" sz="2600" dirty="0" err="1" smtClean="0">
                <a:latin typeface="Times New Roman" panose="02020603050405020304" pitchFamily="18" charset="0"/>
                <a:cs typeface="Times New Roman" panose="02020603050405020304" pitchFamily="18" charset="0"/>
              </a:rPr>
              <a:t>кібербезпека</a:t>
            </a:r>
            <a:r>
              <a:rPr lang="ru-RU" sz="2600" dirty="0" smtClean="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підприємства</a:t>
            </a:r>
            <a:r>
              <a:rPr lang="ru-RU" sz="2600" dirty="0">
                <a:latin typeface="Times New Roman" panose="02020603050405020304" pitchFamily="18" charset="0"/>
                <a:cs typeface="Times New Roman" panose="02020603050405020304" pitchFamily="18" charset="0"/>
              </a:rPr>
              <a:t> повинна </a:t>
            </a:r>
            <a:r>
              <a:rPr lang="ru-RU" sz="2600" dirty="0" err="1">
                <a:latin typeface="Times New Roman" panose="02020603050405020304" pitchFamily="18" charset="0"/>
                <a:cs typeface="Times New Roman" panose="02020603050405020304" pitchFamily="18" charset="0"/>
              </a:rPr>
              <a:t>розглядатися</a:t>
            </a:r>
            <a:r>
              <a:rPr lang="ru-RU" sz="2600" dirty="0">
                <a:latin typeface="Times New Roman" panose="02020603050405020304" pitchFamily="18" charset="0"/>
                <a:cs typeface="Times New Roman" panose="02020603050405020304" pitchFamily="18" charset="0"/>
              </a:rPr>
              <a:t> не як </a:t>
            </a:r>
            <a:r>
              <a:rPr lang="ru-RU" sz="2600" dirty="0" err="1">
                <a:latin typeface="Times New Roman" panose="02020603050405020304" pitchFamily="18" charset="0"/>
                <a:cs typeface="Times New Roman" panose="02020603050405020304" pitchFamily="18" charset="0"/>
              </a:rPr>
              <a:t>сукупність</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окремих</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технічних</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засобів</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захисту</a:t>
            </a:r>
            <a:r>
              <a:rPr lang="ru-RU" sz="2600" dirty="0">
                <a:latin typeface="Times New Roman" panose="02020603050405020304" pitchFamily="18" charset="0"/>
                <a:cs typeface="Times New Roman" panose="02020603050405020304" pitchFamily="18" charset="0"/>
              </a:rPr>
              <a:t>, а як </a:t>
            </a:r>
            <a:r>
              <a:rPr lang="ru-RU" sz="2600" b="1" dirty="0">
                <a:latin typeface="Times New Roman" panose="02020603050405020304" pitchFamily="18" charset="0"/>
                <a:cs typeface="Times New Roman" panose="02020603050405020304" pitchFamily="18" charset="0"/>
              </a:rPr>
              <a:t>комплексна система </a:t>
            </a:r>
            <a:r>
              <a:rPr lang="ru-RU" sz="2600" b="1" dirty="0" err="1">
                <a:latin typeface="Times New Roman" panose="02020603050405020304" pitchFamily="18" charset="0"/>
                <a:cs typeface="Times New Roman" panose="02020603050405020304" pitchFamily="18" charset="0"/>
              </a:rPr>
              <a:t>забезпечення</a:t>
            </a:r>
            <a:r>
              <a:rPr lang="ru-RU" sz="2600" b="1"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стійкості</a:t>
            </a:r>
            <a:r>
              <a:rPr lang="ru-RU" sz="2600" b="1"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бізнес-процесів</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Її</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основним</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завданням</a:t>
            </a:r>
            <a:r>
              <a:rPr lang="ru-RU" sz="2600" dirty="0">
                <a:latin typeface="Times New Roman" panose="02020603050405020304" pitchFamily="18" charset="0"/>
                <a:cs typeface="Times New Roman" panose="02020603050405020304" pitchFamily="18" charset="0"/>
              </a:rPr>
              <a:t> є не </a:t>
            </a:r>
            <a:r>
              <a:rPr lang="ru-RU" sz="2600" dirty="0" err="1">
                <a:latin typeface="Times New Roman" panose="02020603050405020304" pitchFamily="18" charset="0"/>
                <a:cs typeface="Times New Roman" panose="02020603050405020304" pitchFamily="18" charset="0"/>
              </a:rPr>
              <a:t>лише</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запобігання</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витоку</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або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знищенню</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інформації</a:t>
            </a:r>
            <a:r>
              <a:rPr lang="ru-RU" sz="2600" dirty="0">
                <a:latin typeface="Times New Roman" panose="02020603050405020304" pitchFamily="18" charset="0"/>
                <a:cs typeface="Times New Roman" panose="02020603050405020304" pitchFamily="18" charset="0"/>
              </a:rPr>
              <a:t>, а й </a:t>
            </a:r>
            <a:r>
              <a:rPr lang="ru-RU" sz="2600" dirty="0" err="1">
                <a:latin typeface="Times New Roman" panose="02020603050405020304" pitchFamily="18" charset="0"/>
                <a:cs typeface="Times New Roman" panose="02020603050405020304" pitchFamily="18" charset="0"/>
              </a:rPr>
              <a:t>забезпечення</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здатності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підприємства</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безпечно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стабільно</a:t>
            </a:r>
            <a:r>
              <a:rPr lang="ru-RU" sz="2600" dirty="0">
                <a:latin typeface="Times New Roman" panose="02020603050405020304" pitchFamily="18" charset="0"/>
                <a:cs typeface="Times New Roman" panose="02020603050405020304" pitchFamily="18" charset="0"/>
              </a:rPr>
              <a:t> та </a:t>
            </a:r>
            <a:r>
              <a:rPr lang="ru-RU" sz="2600" dirty="0" err="1">
                <a:latin typeface="Times New Roman" panose="02020603050405020304" pitchFamily="18" charset="0"/>
                <a:cs typeface="Times New Roman" panose="02020603050405020304" pitchFamily="18" charset="0"/>
              </a:rPr>
              <a:t>безперервно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виконувати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свої</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функції</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навіть</a:t>
            </a:r>
            <a:r>
              <a:rPr lang="ru-RU" sz="2600" dirty="0">
                <a:latin typeface="Times New Roman" panose="02020603050405020304" pitchFamily="18" charset="0"/>
                <a:cs typeface="Times New Roman" panose="02020603050405020304" pitchFamily="18" charset="0"/>
              </a:rPr>
              <a:t> за умов </a:t>
            </a:r>
            <a:r>
              <a:rPr lang="ru-RU" sz="2600" dirty="0" err="1">
                <a:latin typeface="Times New Roman" panose="02020603050405020304" pitchFamily="18" charset="0"/>
                <a:cs typeface="Times New Roman" panose="02020603050405020304" pitchFamily="18" charset="0"/>
              </a:rPr>
              <a:t>реалізації</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кіберзагроз</a:t>
            </a:r>
            <a:r>
              <a:rPr lang="ru-RU" sz="2600"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indent="450215" algn="just">
              <a:spcAft>
                <a:spcPts val="0"/>
              </a:spcAft>
              <a:tabLst>
                <a:tab pos="90170" algn="l"/>
              </a:tabLst>
            </a:pPr>
            <a:endParaRPr lang="uk-UA"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00377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0" y="-1"/>
            <a:ext cx="16357600" cy="91440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11670" y="8238"/>
            <a:ext cx="16200052" cy="913576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01600" y="26773"/>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0" y="81296"/>
            <a:ext cx="16154400" cy="8710077"/>
          </a:xfrm>
          <a:prstGeom prst="rect">
            <a:avLst/>
          </a:prstGeom>
        </p:spPr>
        <p:txBody>
          <a:bodyPr wrap="square">
            <a:spAutoFit/>
          </a:bodyPr>
          <a:lstStyle/>
          <a:p>
            <a:pPr algn="just"/>
            <a:r>
              <a:rPr lang="ru-RU" sz="2800" dirty="0">
                <a:latin typeface="Times New Roman" panose="02020603050405020304" pitchFamily="18" charset="0"/>
                <a:cs typeface="Times New Roman" panose="02020603050405020304" pitchFamily="18" charset="0"/>
              </a:rPr>
              <a:t>Основу </a:t>
            </a:r>
            <a:r>
              <a:rPr lang="ru-RU" sz="2800" dirty="0" err="1">
                <a:latin typeface="Times New Roman" panose="02020603050405020304" pitchFamily="18" charset="0"/>
                <a:cs typeface="Times New Roman" panose="02020603050405020304" pitchFamily="18" charset="0"/>
              </a:rPr>
              <a:t>сучасної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концепції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кібербезпеки</a:t>
            </a:r>
            <a:r>
              <a:rPr lang="ru-RU" sz="2800" dirty="0">
                <a:latin typeface="Times New Roman" panose="02020603050405020304" pitchFamily="18" charset="0"/>
                <a:cs typeface="Times New Roman" panose="02020603050405020304" pitchFamily="18" charset="0"/>
              </a:rPr>
              <a:t> становить </a:t>
            </a:r>
            <a:r>
              <a:rPr lang="ru-RU" sz="2800" b="1" dirty="0">
                <a:latin typeface="Times New Roman" panose="02020603050405020304" pitchFamily="18" charset="0"/>
                <a:cs typeface="Times New Roman" panose="02020603050405020304" pitchFamily="18" charset="0"/>
              </a:rPr>
              <a:t>модель </a:t>
            </a:r>
            <a:r>
              <a:rPr lang="en-US" sz="2800" b="1" dirty="0">
                <a:latin typeface="Times New Roman" panose="02020603050405020304" pitchFamily="18" charset="0"/>
                <a:cs typeface="Times New Roman" panose="02020603050405020304" pitchFamily="18" charset="0"/>
              </a:rPr>
              <a:t>CIA</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Confidentiality</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Integrity</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Availability</a:t>
            </a:r>
            <a:r>
              <a:rPr lang="ru-RU" sz="2800" b="1"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 яка </a:t>
            </a:r>
            <a:r>
              <a:rPr lang="ru-RU" sz="2800" dirty="0" err="1">
                <a:latin typeface="Times New Roman" panose="02020603050405020304" pitchFamily="18" charset="0"/>
                <a:cs typeface="Times New Roman" panose="02020603050405020304" pitchFamily="18" charset="0"/>
              </a:rPr>
              <a:t>визначає</a:t>
            </a:r>
            <a:r>
              <a:rPr lang="ru-RU" sz="2800" dirty="0">
                <a:latin typeface="Times New Roman" panose="02020603050405020304" pitchFamily="18" charset="0"/>
                <a:cs typeface="Times New Roman" panose="02020603050405020304" pitchFamily="18" charset="0"/>
              </a:rPr>
              <a:t> три </a:t>
            </a:r>
            <a:r>
              <a:rPr lang="ru-RU" sz="2800" dirty="0" err="1">
                <a:latin typeface="Times New Roman" panose="02020603050405020304" pitchFamily="18" charset="0"/>
                <a:cs typeface="Times New Roman" panose="02020603050405020304" pitchFamily="18" charset="0"/>
              </a:rPr>
              <a:t>фундаментальні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систем: </a:t>
            </a:r>
            <a:r>
              <a:rPr lang="ru-RU" sz="2800" b="1" dirty="0" err="1">
                <a:latin typeface="Times New Roman" panose="02020603050405020304" pitchFamily="18" charset="0"/>
                <a:cs typeface="Times New Roman" panose="02020603050405020304" pitchFamily="18" charset="0"/>
              </a:rPr>
              <a:t>конфіденційність</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цілісність</a:t>
            </a:r>
            <a:r>
              <a:rPr lang="ru-RU" sz="2800" b="1" dirty="0">
                <a:latin typeface="Times New Roman" panose="02020603050405020304" pitchFamily="18" charset="0"/>
                <a:cs typeface="Times New Roman" panose="02020603050405020304" pitchFamily="18" charset="0"/>
              </a:rPr>
              <a:t> і </a:t>
            </a:r>
            <a:r>
              <a:rPr lang="ru-RU" sz="2800" b="1" dirty="0" err="1">
                <a:latin typeface="Times New Roman" panose="02020603050405020304" pitchFamily="18" charset="0"/>
                <a:cs typeface="Times New Roman" panose="02020603050405020304" pitchFamily="18" charset="0"/>
              </a:rPr>
              <a:t>доступність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Зазначені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формують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базову</a:t>
            </a:r>
            <a:r>
              <a:rPr lang="ru-RU" sz="2800" dirty="0">
                <a:latin typeface="Times New Roman" panose="02020603050405020304" pitchFamily="18" charset="0"/>
                <a:cs typeface="Times New Roman" panose="02020603050405020304" pitchFamily="18" charset="0"/>
              </a:rPr>
              <a:t> систему </a:t>
            </a:r>
            <a:r>
              <a:rPr lang="ru-RU" sz="2800" dirty="0" err="1">
                <a:latin typeface="Times New Roman" panose="02020603050405020304" pitchFamily="18" charset="0"/>
                <a:cs typeface="Times New Roman" panose="02020603050405020304" pitchFamily="18" charset="0"/>
              </a:rPr>
              <a:t>вимог</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захисту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ресурсів</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визначають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основні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напрями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організаційних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програмних</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технічних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заходів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безпеки</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Модель </a:t>
            </a:r>
            <a:r>
              <a:rPr lang="en-US" sz="2800" dirty="0">
                <a:latin typeface="Times New Roman" panose="02020603050405020304" pitchFamily="18" charset="0"/>
                <a:cs typeface="Times New Roman" panose="02020603050405020304" pitchFamily="18" charset="0"/>
              </a:rPr>
              <a:t>CIA</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застосовується</a:t>
            </a:r>
            <a:r>
              <a:rPr lang="ru-RU" sz="2800" dirty="0">
                <a:latin typeface="Times New Roman" panose="02020603050405020304" pitchFamily="18" charset="0"/>
                <a:cs typeface="Times New Roman" panose="02020603050405020304" pitchFamily="18" charset="0"/>
              </a:rPr>
              <a:t> не </a:t>
            </a:r>
            <a:r>
              <a:rPr lang="ru-RU" sz="2800" dirty="0" err="1">
                <a:latin typeface="Times New Roman" panose="02020603050405020304" pitchFamily="18" charset="0"/>
                <a:cs typeface="Times New Roman" panose="02020603050405020304" pitchFamily="18" charset="0"/>
              </a:rPr>
              <a:t>лише</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оцінювання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захищеності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а й для </a:t>
            </a:r>
            <a:r>
              <a:rPr lang="ru-RU" sz="2800" dirty="0" err="1">
                <a:latin typeface="Times New Roman" panose="02020603050405020304" pitchFamily="18" charset="0"/>
                <a:cs typeface="Times New Roman" panose="02020603050405020304" pitchFamily="18" charset="0"/>
              </a:rPr>
              <a:t>визначення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вимог</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функціонування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систем, мереж, </a:t>
            </a:r>
            <a:r>
              <a:rPr lang="ru-RU" sz="2800" dirty="0" err="1">
                <a:latin typeface="Times New Roman" panose="02020603050405020304" pitchFamily="18" charset="0"/>
                <a:cs typeface="Times New Roman" panose="02020603050405020304" pitchFamily="18" charset="0"/>
              </a:rPr>
              <a:t>програмного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апаратних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засобів</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бізнес-процесів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Порушення</a:t>
            </a:r>
            <a:r>
              <a:rPr lang="ru-RU" sz="2800" dirty="0">
                <a:latin typeface="Times New Roman" panose="02020603050405020304" pitchFamily="18" charset="0"/>
                <a:cs typeface="Times New Roman" panose="02020603050405020304" pitchFamily="18" charset="0"/>
              </a:rPr>
              <a:t> будь-</a:t>
            </a:r>
            <a:r>
              <a:rPr lang="ru-RU" sz="2800" dirty="0" err="1">
                <a:latin typeface="Times New Roman" panose="02020603050405020304" pitchFamily="18" charset="0"/>
                <a:cs typeface="Times New Roman" panose="02020603050405020304" pitchFamily="18" charset="0"/>
              </a:rPr>
              <a:t>якої</a:t>
            </a:r>
            <a:r>
              <a:rPr lang="ru-RU" sz="2800" dirty="0">
                <a:latin typeface="Times New Roman" panose="02020603050405020304" pitchFamily="18" charset="0"/>
                <a:cs typeface="Times New Roman" panose="02020603050405020304" pitchFamily="18" charset="0"/>
              </a:rPr>
              <a:t> з </a:t>
            </a:r>
            <a:r>
              <a:rPr lang="ru-RU" sz="2800" dirty="0" err="1">
                <a:latin typeface="Times New Roman" panose="02020603050405020304" pitchFamily="18" charset="0"/>
                <a:cs typeface="Times New Roman" panose="02020603050405020304" pitchFamily="18" charset="0"/>
              </a:rPr>
              <a:t>трьох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властивостей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спричинити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фінансові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організаційні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репутаційні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фізичні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наслідки</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сучасних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розподілених</a:t>
            </a:r>
            <a:r>
              <a:rPr lang="ru-RU" sz="2800" dirty="0">
                <a:latin typeface="Times New Roman" panose="02020603050405020304" pitchFamily="18" charset="0"/>
                <a:cs typeface="Times New Roman" panose="02020603050405020304" pitchFamily="18" charset="0"/>
              </a:rPr>
              <a:t> систем, </a:t>
            </a:r>
            <a:r>
              <a:rPr lang="ru-RU" sz="2800" dirty="0" err="1">
                <a:latin typeface="Times New Roman" panose="02020603050405020304" pitchFamily="18" charset="0"/>
                <a:cs typeface="Times New Roman" panose="02020603050405020304" pitchFamily="18" charset="0"/>
              </a:rPr>
              <a:t>зокрема</a:t>
            </a:r>
            <a:r>
              <a:rPr lang="ru-RU" sz="2800" dirty="0">
                <a:latin typeface="Times New Roman" panose="02020603050405020304" pitchFamily="18" charset="0"/>
                <a:cs typeface="Times New Roman" panose="02020603050405020304" pitchFamily="18" charset="0"/>
              </a:rPr>
              <a:t> систем </a:t>
            </a:r>
            <a:r>
              <a:rPr lang="ru-RU" sz="2800" dirty="0" err="1">
                <a:latin typeface="Times New Roman" panose="02020603050405020304" pitchFamily="18" charset="0"/>
                <a:cs typeface="Times New Roman" panose="02020603050405020304" pitchFamily="18" charset="0"/>
              </a:rPr>
              <a:t>Інтернету</a:t>
            </a:r>
            <a:r>
              <a:rPr lang="ru-RU" sz="2800" dirty="0">
                <a:latin typeface="Times New Roman" panose="02020603050405020304" pitchFamily="18" charset="0"/>
                <a:cs typeface="Times New Roman" panose="02020603050405020304" pitchFamily="18" charset="0"/>
              </a:rPr>
              <a:t> речей, </a:t>
            </a:r>
            <a:r>
              <a:rPr lang="ru-RU" sz="2800" dirty="0" err="1">
                <a:latin typeface="Times New Roman" panose="02020603050405020304" pitchFamily="18" charset="0"/>
                <a:cs typeface="Times New Roman" panose="02020603050405020304" pitchFamily="18" charset="0"/>
              </a:rPr>
              <a:t>критичної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інфраструктури</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корпоративних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систем, </a:t>
            </a:r>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CIA</a:t>
            </a:r>
            <a:r>
              <a:rPr lang="ru-RU" sz="2800" dirty="0">
                <a:latin typeface="Times New Roman" panose="02020603050405020304" pitchFamily="18" charset="0"/>
                <a:cs typeface="Times New Roman" panose="02020603050405020304" pitchFamily="18" charset="0"/>
              </a:rPr>
              <a:t>-</a:t>
            </a:r>
            <a:r>
              <a:rPr lang="ru-RU" sz="2800" dirty="0" err="1">
                <a:latin typeface="Times New Roman" panose="02020603050405020304" pitchFamily="18" charset="0"/>
                <a:cs typeface="Times New Roman" panose="02020603050405020304" pitchFamily="18" charset="0"/>
              </a:rPr>
              <a:t>принципів</a:t>
            </a:r>
            <a:r>
              <a:rPr lang="ru-RU" sz="2800" dirty="0">
                <a:latin typeface="Times New Roman" panose="02020603050405020304" pitchFamily="18" charset="0"/>
                <a:cs typeface="Times New Roman" panose="02020603050405020304" pitchFamily="18" charset="0"/>
              </a:rPr>
              <a:t> є </a:t>
            </a:r>
            <a:r>
              <a:rPr lang="ru-RU" sz="2800" dirty="0" err="1">
                <a:latin typeface="Times New Roman" panose="02020603050405020304" pitchFamily="18" charset="0"/>
                <a:cs typeface="Times New Roman" panose="02020603050405020304" pitchFamily="18" charset="0"/>
              </a:rPr>
              <a:t>необхідною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умовою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їх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надійного</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безпечного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функціонування</a:t>
            </a:r>
            <a:r>
              <a:rPr lang="ru-RU" sz="2800" dirty="0" smtClean="0">
                <a:latin typeface="Times New Roman" panose="02020603050405020304" pitchFamily="18" charset="0"/>
                <a:cs typeface="Times New Roman" panose="02020603050405020304" pitchFamily="18" charset="0"/>
              </a:rPr>
              <a:t>.</a:t>
            </a:r>
          </a:p>
          <a:p>
            <a:pPr algn="just"/>
            <a:r>
              <a:rPr lang="ru-RU" sz="2800" b="1" dirty="0" err="1">
                <a:latin typeface="Times New Roman" panose="02020603050405020304" pitchFamily="18" charset="0"/>
                <a:cs typeface="Times New Roman" panose="02020603050405020304" pitchFamily="18" charset="0"/>
              </a:rPr>
              <a:t>Конфіденційність</a:t>
            </a:r>
            <a:r>
              <a:rPr lang="ru-RU" sz="2800" dirty="0">
                <a:latin typeface="Times New Roman" panose="02020603050405020304" pitchFamily="18" charset="0"/>
                <a:cs typeface="Times New Roman" panose="02020603050405020304" pitchFamily="18" charset="0"/>
              </a:rPr>
              <a:t> </a:t>
            </a:r>
            <a:r>
              <a:rPr lang="ru-RU" sz="2800" dirty="0" smtClean="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яка </a:t>
            </a:r>
            <a:r>
              <a:rPr lang="ru-RU" sz="2800" dirty="0" err="1">
                <a:latin typeface="Times New Roman" panose="02020603050405020304" pitchFamily="18" charset="0"/>
                <a:cs typeface="Times New Roman" panose="02020603050405020304" pitchFamily="18" charset="0"/>
              </a:rPr>
              <a:t>полягає</a:t>
            </a:r>
            <a:r>
              <a:rPr lang="ru-RU" sz="2800" dirty="0">
                <a:latin typeface="Times New Roman" panose="02020603050405020304" pitchFamily="18" charset="0"/>
                <a:cs typeface="Times New Roman" panose="02020603050405020304" pitchFamily="18" charset="0"/>
              </a:rPr>
              <a:t> у </a:t>
            </a:r>
            <a:r>
              <a:rPr lang="ru-RU" sz="2800" dirty="0" err="1">
                <a:latin typeface="Times New Roman" panose="02020603050405020304" pitchFamily="18" charset="0"/>
                <a:cs typeface="Times New Roman" panose="02020603050405020304" pitchFamily="18" charset="0"/>
              </a:rPr>
              <a:t>забезпеченні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її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доступності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виключно</a:t>
            </a:r>
            <a:r>
              <a:rPr lang="ru-RU" sz="2800" dirty="0">
                <a:latin typeface="Times New Roman" panose="02020603050405020304" pitchFamily="18" charset="0"/>
                <a:cs typeface="Times New Roman" panose="02020603050405020304" pitchFamily="18" charset="0"/>
              </a:rPr>
              <a:t> для тих </a:t>
            </a:r>
            <a:r>
              <a:rPr lang="ru-RU" sz="2800" dirty="0" err="1">
                <a:latin typeface="Times New Roman" panose="02020603050405020304" pitchFamily="18" charset="0"/>
                <a:cs typeface="Times New Roman" panose="02020603050405020304" pitchFamily="18" charset="0"/>
              </a:rPr>
              <a:t>суб’єктів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систем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процесів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які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мають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відповідні</a:t>
            </a:r>
            <a:r>
              <a:rPr lang="ru-RU" sz="2800" dirty="0">
                <a:latin typeface="Times New Roman" panose="02020603050405020304" pitchFamily="18" charset="0"/>
                <a:cs typeface="Times New Roman" panose="02020603050405020304" pitchFamily="18" charset="0"/>
              </a:rPr>
              <a:t> права та </a:t>
            </a:r>
            <a:r>
              <a:rPr lang="ru-RU" sz="2800" dirty="0" err="1">
                <a:latin typeface="Times New Roman" panose="02020603050405020304" pitchFamily="18" charset="0"/>
                <a:cs typeface="Times New Roman" panose="02020603050405020304" pitchFamily="18" charset="0"/>
              </a:rPr>
              <a:t>повноваження</a:t>
            </a:r>
            <a:r>
              <a:rPr lang="ru-RU" sz="2800" dirty="0">
                <a:latin typeface="Times New Roman" panose="02020603050405020304" pitchFamily="18" charset="0"/>
                <a:cs typeface="Times New Roman" panose="02020603050405020304" pitchFamily="18" charset="0"/>
              </a:rPr>
              <a:t>. Основною метою </a:t>
            </a:r>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конфіденційності</a:t>
            </a:r>
            <a:r>
              <a:rPr lang="ru-RU" sz="2800" dirty="0">
                <a:latin typeface="Times New Roman" panose="02020603050405020304" pitchFamily="18" charset="0"/>
                <a:cs typeface="Times New Roman" panose="02020603050405020304" pitchFamily="18" charset="0"/>
              </a:rPr>
              <a:t> є </a:t>
            </a:r>
            <a:r>
              <a:rPr lang="ru-RU" sz="2800" dirty="0" err="1">
                <a:latin typeface="Times New Roman" panose="02020603050405020304" pitchFamily="18" charset="0"/>
                <a:cs typeface="Times New Roman" panose="02020603050405020304" pitchFamily="18" charset="0"/>
              </a:rPr>
              <a:t>недопущення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несанкціонованого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ознайомлення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копіювання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розголошення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використання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Конфіденційність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передбачає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встановлення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чітких</a:t>
            </a:r>
            <a:r>
              <a:rPr lang="ru-RU" sz="2800" dirty="0">
                <a:latin typeface="Times New Roman" panose="02020603050405020304" pitchFamily="18" charset="0"/>
                <a:cs typeface="Times New Roman" panose="02020603050405020304" pitchFamily="18" charset="0"/>
              </a:rPr>
              <a:t> правил </a:t>
            </a:r>
            <a:r>
              <a:rPr lang="ru-RU" sz="2800" dirty="0" err="1">
                <a:latin typeface="Times New Roman" panose="02020603050405020304" pitchFamily="18" charset="0"/>
                <a:cs typeface="Times New Roman" panose="02020603050405020304" pitchFamily="18" charset="0"/>
              </a:rPr>
              <a:t>щодо</a:t>
            </a:r>
            <a:r>
              <a:rPr lang="ru-RU" sz="2800" dirty="0">
                <a:latin typeface="Times New Roman" panose="02020603050405020304" pitchFamily="18" charset="0"/>
                <a:cs typeface="Times New Roman" panose="02020603050405020304" pitchFamily="18" charset="0"/>
              </a:rPr>
              <a:t> того, </a:t>
            </a:r>
            <a:r>
              <a:rPr lang="ru-RU" sz="2800" b="1" dirty="0" err="1">
                <a:latin typeface="Times New Roman" panose="02020603050405020304" pitchFamily="18" charset="0"/>
                <a:cs typeface="Times New Roman" panose="02020603050405020304" pitchFamily="18" charset="0"/>
              </a:rPr>
              <a:t>хто</a:t>
            </a:r>
            <a:r>
              <a:rPr lang="ru-RU" sz="2800" b="1" dirty="0">
                <a:latin typeface="Times New Roman" panose="02020603050405020304" pitchFamily="18" charset="0"/>
                <a:cs typeface="Times New Roman" panose="02020603050405020304" pitchFamily="18" charset="0"/>
              </a:rPr>
              <a:t>, до </a:t>
            </a:r>
            <a:r>
              <a:rPr lang="ru-RU" sz="2800" b="1" dirty="0" err="1">
                <a:latin typeface="Times New Roman" panose="02020603050405020304" pitchFamily="18" charset="0"/>
                <a:cs typeface="Times New Roman" panose="02020603050405020304" pitchFamily="18" charset="0"/>
              </a:rPr>
              <a:t>якої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інформації</a:t>
            </a:r>
            <a:r>
              <a:rPr lang="ru-RU" sz="2800" b="1" dirty="0">
                <a:latin typeface="Times New Roman" panose="02020603050405020304" pitchFamily="18" charset="0"/>
                <a:cs typeface="Times New Roman" panose="02020603050405020304" pitchFamily="18" charset="0"/>
              </a:rPr>
              <a:t>, у </a:t>
            </a:r>
            <a:r>
              <a:rPr lang="ru-RU" sz="2800" b="1" dirty="0" err="1">
                <a:latin typeface="Times New Roman" panose="02020603050405020304" pitchFamily="18" charset="0"/>
                <a:cs typeface="Times New Roman" panose="02020603050405020304" pitchFamily="18" charset="0"/>
              </a:rPr>
              <a:t>якому</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обсязі</a:t>
            </a:r>
            <a:r>
              <a:rPr lang="ru-RU" sz="2800" b="1" dirty="0">
                <a:latin typeface="Times New Roman" panose="02020603050405020304" pitchFamily="18" charset="0"/>
                <a:cs typeface="Times New Roman" panose="02020603050405020304" pitchFamily="18" charset="0"/>
              </a:rPr>
              <a:t> та за </a:t>
            </a:r>
            <a:r>
              <a:rPr lang="ru-RU" sz="2800" b="1" dirty="0" err="1">
                <a:latin typeface="Times New Roman" panose="02020603050405020304" pitchFamily="18" charset="0"/>
                <a:cs typeface="Times New Roman" panose="02020603050405020304" pitchFamily="18" charset="0"/>
              </a:rPr>
              <a:t>яких</a:t>
            </a:r>
            <a:r>
              <a:rPr lang="ru-RU" sz="2800" b="1" dirty="0">
                <a:latin typeface="Times New Roman" panose="02020603050405020304" pitchFamily="18" charset="0"/>
                <a:cs typeface="Times New Roman" panose="02020603050405020304" pitchFamily="18" charset="0"/>
              </a:rPr>
              <a:t> умов </a:t>
            </a:r>
            <a:r>
              <a:rPr lang="ru-RU" sz="2800" b="1" dirty="0" err="1">
                <a:latin typeface="Times New Roman" panose="02020603050405020304" pitchFamily="18" charset="0"/>
                <a:cs typeface="Times New Roman" panose="02020603050405020304" pitchFamily="18" charset="0"/>
              </a:rPr>
              <a:t>має</a:t>
            </a:r>
            <a:r>
              <a:rPr lang="ru-RU" sz="2800" b="1" dirty="0">
                <a:latin typeface="Times New Roman" panose="02020603050405020304" pitchFamily="18" charset="0"/>
                <a:cs typeface="Times New Roman" panose="02020603050405020304" pitchFamily="18" charset="0"/>
              </a:rPr>
              <a:t> право </a:t>
            </a:r>
            <a:r>
              <a:rPr lang="ru-RU" sz="2800" b="1" dirty="0" err="1">
                <a:latin typeface="Times New Roman" panose="02020603050405020304" pitchFamily="18" charset="0"/>
                <a:cs typeface="Times New Roman" panose="02020603050405020304" pitchFamily="18" charset="0"/>
              </a:rPr>
              <a:t>отримувати</a:t>
            </a:r>
            <a:r>
              <a:rPr lang="ru-RU" sz="2800" b="1" dirty="0">
                <a:latin typeface="Times New Roman" panose="02020603050405020304" pitchFamily="18" charset="0"/>
                <a:cs typeface="Times New Roman" panose="02020603050405020304" pitchFamily="18" charset="0"/>
              </a:rPr>
              <a:t> доступ</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захист</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конфіденційності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пов’язаний</a:t>
            </a:r>
            <a:r>
              <a:rPr lang="ru-RU" sz="2800" dirty="0">
                <a:latin typeface="Times New Roman" panose="02020603050405020304" pitchFamily="18" charset="0"/>
                <a:cs typeface="Times New Roman" panose="02020603050405020304" pitchFamily="18" charset="0"/>
              </a:rPr>
              <a:t> не </a:t>
            </a:r>
            <a:r>
              <a:rPr lang="ru-RU" sz="2800" dirty="0" err="1">
                <a:latin typeface="Times New Roman" panose="02020603050405020304" pitchFamily="18" charset="0"/>
                <a:cs typeface="Times New Roman" panose="02020603050405020304" pitchFamily="18" charset="0"/>
              </a:rPr>
              <a:t>лише</a:t>
            </a:r>
            <a:r>
              <a:rPr lang="ru-RU" sz="2800" dirty="0">
                <a:latin typeface="Times New Roman" panose="02020603050405020304" pitchFamily="18" charset="0"/>
                <a:cs typeface="Times New Roman" panose="02020603050405020304" pitchFamily="18" charset="0"/>
              </a:rPr>
              <a:t> з </a:t>
            </a:r>
            <a:r>
              <a:rPr lang="ru-RU" sz="2800" dirty="0" err="1">
                <a:latin typeface="Times New Roman" panose="02020603050405020304" pitchFamily="18" charset="0"/>
                <a:cs typeface="Times New Roman" panose="02020603050405020304" pitchFamily="18" charset="0"/>
              </a:rPr>
              <a:t>використанням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криптографічних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засобів</a:t>
            </a:r>
            <a:r>
              <a:rPr lang="ru-RU" sz="2800" dirty="0">
                <a:latin typeface="Times New Roman" panose="02020603050405020304" pitchFamily="18" charset="0"/>
                <a:cs typeface="Times New Roman" panose="02020603050405020304" pitchFamily="18" charset="0"/>
              </a:rPr>
              <a:t>, а й з </a:t>
            </a:r>
            <a:r>
              <a:rPr lang="ru-RU" sz="2800" dirty="0" err="1">
                <a:latin typeface="Times New Roman" panose="02020603050405020304" pitchFamily="18" charset="0"/>
                <a:cs typeface="Times New Roman" panose="02020603050405020304" pitchFamily="18" charset="0"/>
              </a:rPr>
              <a:t>організацією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ідентифікації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автентифікації</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авторизації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користувачів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123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01600" y="26773"/>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0" y="81296"/>
            <a:ext cx="16154400" cy="9140964"/>
          </a:xfrm>
          <a:prstGeom prst="rect">
            <a:avLst/>
          </a:prstGeom>
        </p:spPr>
        <p:txBody>
          <a:bodyPr wrap="square">
            <a:spAutoFit/>
          </a:bodyPr>
          <a:lstStyle/>
          <a:p>
            <a:pPr algn="just"/>
            <a:r>
              <a:rPr lang="ru-RU" sz="2800" dirty="0">
                <a:latin typeface="Times New Roman" panose="02020603050405020304" pitchFamily="18" charset="0"/>
                <a:cs typeface="Times New Roman" panose="02020603050405020304" pitchFamily="18" charset="0"/>
              </a:rPr>
              <a:t>Особливого </a:t>
            </a:r>
            <a:r>
              <a:rPr lang="ru-RU" sz="2800" dirty="0" err="1">
                <a:latin typeface="Times New Roman" panose="02020603050405020304" pitchFamily="18" charset="0"/>
                <a:cs typeface="Times New Roman" panose="02020603050405020304" pitchFamily="18" charset="0"/>
              </a:rPr>
              <a:t>значення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конфіденційність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набуває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під</a:t>
            </a:r>
            <a:r>
              <a:rPr lang="ru-RU" sz="2800" dirty="0">
                <a:latin typeface="Times New Roman" panose="02020603050405020304" pitchFamily="18" charset="0"/>
                <a:cs typeface="Times New Roman" panose="02020603050405020304" pitchFamily="18" charset="0"/>
              </a:rPr>
              <a:t> час </a:t>
            </a:r>
            <a:r>
              <a:rPr lang="ru-RU" sz="2800" dirty="0" err="1">
                <a:latin typeface="Times New Roman" panose="02020603050405020304" pitchFamily="18" charset="0"/>
                <a:cs typeface="Times New Roman" panose="02020603050405020304" pitchFamily="18" charset="0"/>
              </a:rPr>
              <a:t>оброблення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персональних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фінансової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комерційної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таємниці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облікових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користувачів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технологічної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документації</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іншої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з </a:t>
            </a:r>
            <a:r>
              <a:rPr lang="ru-RU" sz="2800" dirty="0" err="1">
                <a:latin typeface="Times New Roman" panose="02020603050405020304" pitchFamily="18" charset="0"/>
                <a:cs typeface="Times New Roman" panose="02020603050405020304" pitchFamily="18" charset="0"/>
              </a:rPr>
              <a:t>обмеженим</a:t>
            </a:r>
            <a:r>
              <a:rPr lang="ru-RU" sz="2800" dirty="0">
                <a:latin typeface="Times New Roman" panose="02020603050405020304" pitchFamily="18" charset="0"/>
                <a:cs typeface="Times New Roman" panose="02020603050405020304" pitchFamily="18" charset="0"/>
              </a:rPr>
              <a:t> доступом. </a:t>
            </a:r>
            <a:r>
              <a:rPr lang="ru-RU" sz="2800" dirty="0" err="1">
                <a:latin typeface="Times New Roman" panose="02020603050405020304" pitchFamily="18" charset="0"/>
                <a:cs typeface="Times New Roman" panose="02020603050405020304" pitchFamily="18" charset="0"/>
              </a:rPr>
              <a:t>Несанкціоноване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розкриття</a:t>
            </a:r>
            <a:r>
              <a:rPr lang="ru-RU" sz="2800" dirty="0">
                <a:latin typeface="Times New Roman" panose="02020603050405020304" pitchFamily="18" charset="0"/>
                <a:cs typeface="Times New Roman" panose="02020603050405020304" pitchFamily="18" charset="0"/>
              </a:rPr>
              <a:t> таких </a:t>
            </a:r>
            <a:r>
              <a:rPr lang="ru-RU" sz="2800" dirty="0" err="1">
                <a:latin typeface="Times New Roman" panose="02020603050405020304" pitchFamily="18" charset="0"/>
                <a:cs typeface="Times New Roman" panose="02020603050405020304" pitchFamily="18" charset="0"/>
              </a:rPr>
              <a:t>відомостей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призвести</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фінансових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збитків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порушення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договірних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зобов’язань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репутаційних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втрат</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інших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негативних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наслідків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Для </a:t>
            </a:r>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конфіденційності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застосовується</a:t>
            </a:r>
            <a:r>
              <a:rPr lang="ru-RU" sz="2800" dirty="0">
                <a:latin typeface="Times New Roman" panose="02020603050405020304" pitchFamily="18" charset="0"/>
                <a:cs typeface="Times New Roman" panose="02020603050405020304" pitchFamily="18" charset="0"/>
              </a:rPr>
              <a:t> комплекс </a:t>
            </a:r>
            <a:r>
              <a:rPr lang="ru-RU" sz="2800" dirty="0" err="1">
                <a:latin typeface="Times New Roman" panose="02020603050405020304" pitchFamily="18" charset="0"/>
                <a:cs typeface="Times New Roman" panose="02020603050405020304" pitchFamily="18" charset="0"/>
              </a:rPr>
              <a:t>взаємопов’язаних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заходів</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основних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із</a:t>
            </a:r>
            <a:r>
              <a:rPr lang="ru-RU" sz="2800" dirty="0">
                <a:latin typeface="Times New Roman" panose="02020603050405020304" pitchFamily="18" charset="0"/>
                <a:cs typeface="Times New Roman" panose="02020603050405020304" pitchFamily="18" charset="0"/>
              </a:rPr>
              <a:t> них належать </a:t>
            </a:r>
            <a:r>
              <a:rPr lang="ru-RU" sz="2800" b="1" dirty="0" err="1">
                <a:latin typeface="Times New Roman" panose="02020603050405020304" pitchFamily="18" charset="0"/>
                <a:cs typeface="Times New Roman" panose="02020603050405020304" pitchFamily="18" charset="0"/>
              </a:rPr>
              <a:t>ідентифікація</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автентифікація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користувачів</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авторизація</a:t>
            </a:r>
            <a:r>
              <a:rPr lang="ru-RU" sz="2800" b="1" dirty="0">
                <a:latin typeface="Times New Roman" panose="02020603050405020304" pitchFamily="18" charset="0"/>
                <a:cs typeface="Times New Roman" panose="02020603050405020304" pitchFamily="18" charset="0"/>
              </a:rPr>
              <a:t>, контроль доступу, </a:t>
            </a:r>
            <a:r>
              <a:rPr lang="ru-RU" sz="2800" b="1" dirty="0" err="1">
                <a:latin typeface="Times New Roman" panose="02020603050405020304" pitchFamily="18" charset="0"/>
                <a:cs typeface="Times New Roman" panose="02020603050405020304" pitchFamily="18" charset="0"/>
              </a:rPr>
              <a:t>криптографічний</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захист</a:t>
            </a:r>
            <a:r>
              <a:rPr lang="ru-RU" sz="2800" b="1" dirty="0">
                <a:latin typeface="Times New Roman" panose="02020603050405020304" pitchFamily="18" charset="0"/>
                <a:cs typeface="Times New Roman" panose="02020603050405020304" pitchFamily="18" charset="0"/>
              </a:rPr>
              <a:t> і </a:t>
            </a:r>
            <a:r>
              <a:rPr lang="ru-RU" sz="2800" b="1" dirty="0" err="1">
                <a:latin typeface="Times New Roman" panose="02020603050405020304" pitchFamily="18" charset="0"/>
                <a:cs typeface="Times New Roman" panose="02020603050405020304" pitchFamily="18" charset="0"/>
              </a:rPr>
              <a:t>шифрування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даних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сегментація</a:t>
            </a:r>
            <a:r>
              <a:rPr lang="ru-RU" sz="2800" b="1" dirty="0">
                <a:latin typeface="Times New Roman" panose="02020603050405020304" pitchFamily="18" charset="0"/>
                <a:cs typeface="Times New Roman" panose="02020603050405020304" pitchFamily="18" charset="0"/>
              </a:rPr>
              <a:t> мереж, </a:t>
            </a:r>
            <a:r>
              <a:rPr lang="ru-RU" sz="2800" b="1" dirty="0" err="1">
                <a:latin typeface="Times New Roman" panose="02020603050405020304" pitchFamily="18" charset="0"/>
                <a:cs typeface="Times New Roman" panose="02020603050405020304" pitchFamily="18" charset="0"/>
              </a:rPr>
              <a:t>захист</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облікових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даних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багатофакторна</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автентифікація</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моніторинг</a:t>
            </a:r>
            <a:r>
              <a:rPr lang="ru-RU" sz="2800" b="1" dirty="0">
                <a:latin typeface="Times New Roman" panose="02020603050405020304" pitchFamily="18" charset="0"/>
                <a:cs typeface="Times New Roman" panose="02020603050405020304" pitchFamily="18" charset="0"/>
              </a:rPr>
              <a:t> доступу до </a:t>
            </a:r>
            <a:r>
              <a:rPr lang="ru-RU" sz="2800" b="1" dirty="0" err="1">
                <a:latin typeface="Times New Roman" panose="02020603050405020304" pitchFamily="18" charset="0"/>
                <a:cs typeface="Times New Roman" panose="02020603050405020304" pitchFamily="18" charset="0"/>
              </a:rPr>
              <a:t>інформаційних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ресурсів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Важливим</a:t>
            </a:r>
            <a:r>
              <a:rPr lang="ru-RU" sz="2800" dirty="0">
                <a:latin typeface="Times New Roman" panose="02020603050405020304" pitchFamily="18" charset="0"/>
                <a:cs typeface="Times New Roman" panose="02020603050405020304" pitchFamily="18" charset="0"/>
              </a:rPr>
              <a:t> принципом є </a:t>
            </a:r>
            <a:r>
              <a:rPr lang="ru-RU" sz="2800" b="1" dirty="0" err="1">
                <a:latin typeface="Times New Roman" panose="02020603050405020304" pitchFamily="18" charset="0"/>
                <a:cs typeface="Times New Roman" panose="02020603050405020304" pitchFamily="18" charset="0"/>
              </a:rPr>
              <a:t>мінімізація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привілеїв</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Principle of Least Privilege</a:t>
            </a:r>
            <a:r>
              <a:rPr lang="ru-RU" sz="2800" b="1"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відповідно</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якого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користувач</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програмний</a:t>
            </a:r>
            <a:r>
              <a:rPr lang="ru-RU" sz="2800" dirty="0">
                <a:latin typeface="Times New Roman" panose="02020603050405020304" pitchFamily="18" charset="0"/>
                <a:cs typeface="Times New Roman" panose="02020603050405020304" pitchFamily="18" charset="0"/>
              </a:rPr>
              <a:t> компонент повинен </a:t>
            </a:r>
            <a:r>
              <a:rPr lang="ru-RU" sz="2800" dirty="0" err="1">
                <a:latin typeface="Times New Roman" panose="02020603050405020304" pitchFamily="18" charset="0"/>
                <a:cs typeface="Times New Roman" panose="02020603050405020304" pitchFamily="18" charset="0"/>
              </a:rPr>
              <a:t>отримувати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лише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ті</a:t>
            </a:r>
            <a:r>
              <a:rPr lang="ru-RU" sz="2800" dirty="0">
                <a:latin typeface="Times New Roman" panose="02020603050405020304" pitchFamily="18" charset="0"/>
                <a:cs typeface="Times New Roman" panose="02020603050405020304" pitchFamily="18" charset="0"/>
              </a:rPr>
              <a:t> права доступу, </a:t>
            </a:r>
            <a:r>
              <a:rPr lang="ru-RU" sz="2800" dirty="0" err="1">
                <a:latin typeface="Times New Roman" panose="02020603050405020304" pitchFamily="18" charset="0"/>
                <a:cs typeface="Times New Roman" panose="02020603050405020304" pitchFamily="18" charset="0"/>
              </a:rPr>
              <a:t>які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необхідні</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виконання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визначених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функцій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Реалізація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цього</a:t>
            </a:r>
            <a:r>
              <a:rPr lang="ru-RU" sz="2800" dirty="0">
                <a:latin typeface="Times New Roman" panose="02020603050405020304" pitchFamily="18" charset="0"/>
                <a:cs typeface="Times New Roman" panose="02020603050405020304" pitchFamily="18" charset="0"/>
              </a:rPr>
              <a:t> принципу </a:t>
            </a:r>
            <a:r>
              <a:rPr lang="ru-RU" sz="2800" dirty="0" err="1">
                <a:latin typeface="Times New Roman" panose="02020603050405020304" pitchFamily="18" charset="0"/>
                <a:cs typeface="Times New Roman" panose="02020603050405020304" pitchFamily="18" charset="0"/>
              </a:rPr>
              <a:t>зменшує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потенційні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наслідки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компрометації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облікового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запису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окремого</a:t>
            </a:r>
            <a:r>
              <a:rPr lang="ru-RU" sz="2800" dirty="0">
                <a:latin typeface="Times New Roman" panose="02020603050405020304" pitchFamily="18" charset="0"/>
                <a:cs typeface="Times New Roman" panose="02020603050405020304" pitchFamily="18" charset="0"/>
              </a:rPr>
              <a:t> компонента </a:t>
            </a:r>
            <a:r>
              <a:rPr lang="ru-RU" sz="2800" dirty="0" err="1">
                <a:latin typeface="Times New Roman" panose="02020603050405020304" pitchFamily="18" charset="0"/>
                <a:cs typeface="Times New Roman" panose="02020603050405020304" pitchFamily="18" charset="0"/>
              </a:rPr>
              <a:t>інформаційної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smtClean="0">
                <a:latin typeface="Times New Roman" panose="02020603050405020304" pitchFamily="18" charset="0"/>
                <a:cs typeface="Times New Roman" panose="02020603050405020304" pitchFamily="18" charset="0"/>
              </a:rPr>
              <a:t>.</a:t>
            </a:r>
          </a:p>
          <a:p>
            <a:pPr algn="just"/>
            <a:r>
              <a:rPr lang="ru-RU" sz="2800" b="1" dirty="0" err="1">
                <a:latin typeface="Times New Roman" panose="02020603050405020304" pitchFamily="18" charset="0"/>
                <a:cs typeface="Times New Roman" panose="02020603050405020304" pitchFamily="18" charset="0"/>
              </a:rPr>
              <a:t>Цілісність</a:t>
            </a:r>
            <a:r>
              <a:rPr lang="ru-RU" sz="2800" dirty="0">
                <a:latin typeface="Times New Roman" panose="02020603050405020304" pitchFamily="18" charset="0"/>
                <a:cs typeface="Times New Roman" panose="02020603050405020304" pitchFamily="18" charset="0"/>
              </a:rPr>
              <a:t> </a:t>
            </a:r>
            <a:r>
              <a:rPr lang="ru-RU" sz="2800" dirty="0" smtClean="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яка </a:t>
            </a:r>
            <a:r>
              <a:rPr lang="ru-RU" sz="2800" dirty="0" err="1">
                <a:latin typeface="Times New Roman" panose="02020603050405020304" pitchFamily="18" charset="0"/>
                <a:cs typeface="Times New Roman" panose="02020603050405020304" pitchFamily="18" charset="0"/>
              </a:rPr>
              <a:t>забезпечує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її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точність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повноту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достовірність</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незмінність</a:t>
            </a:r>
            <a:r>
              <a:rPr lang="ru-RU" sz="2800" dirty="0">
                <a:latin typeface="Times New Roman" panose="02020603050405020304" pitchFamily="18" charset="0"/>
                <a:cs typeface="Times New Roman" panose="02020603050405020304" pitchFamily="18" charset="0"/>
              </a:rPr>
              <a:t> у </a:t>
            </a:r>
            <a:r>
              <a:rPr lang="ru-RU" sz="2800" dirty="0" err="1">
                <a:latin typeface="Times New Roman" panose="02020603050405020304" pitchFamily="18" charset="0"/>
                <a:cs typeface="Times New Roman" panose="02020603050405020304" pitchFamily="18" charset="0"/>
              </a:rPr>
              <a:t>процесі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зберігання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передавання</a:t>
            </a:r>
            <a:r>
              <a:rPr lang="ru-RU" sz="2800" dirty="0">
                <a:latin typeface="Times New Roman" panose="02020603050405020304" pitchFamily="18" charset="0"/>
                <a:cs typeface="Times New Roman" panose="02020603050405020304" pitchFamily="18" charset="0"/>
              </a:rPr>
              <a:t> й </a:t>
            </a:r>
            <a:r>
              <a:rPr lang="ru-RU" sz="2800" dirty="0" err="1">
                <a:latin typeface="Times New Roman" panose="02020603050405020304" pitchFamily="18" charset="0"/>
                <a:cs typeface="Times New Roman" panose="02020603050405020304" pitchFamily="18" charset="0"/>
              </a:rPr>
              <a:t>оброблення</a:t>
            </a:r>
            <a:r>
              <a:rPr lang="ru-RU" sz="2800" dirty="0">
                <a:latin typeface="Times New Roman" panose="02020603050405020304" pitchFamily="18" charset="0"/>
                <a:cs typeface="Times New Roman" panose="02020603050405020304" pitchFamily="18" charset="0"/>
              </a:rPr>
              <a:t>, за </a:t>
            </a:r>
            <a:r>
              <a:rPr lang="ru-RU" sz="2800" dirty="0" err="1">
                <a:latin typeface="Times New Roman" panose="02020603050405020304" pitchFamily="18" charset="0"/>
                <a:cs typeface="Times New Roman" panose="02020603050405020304" pitchFamily="18" charset="0"/>
              </a:rPr>
              <a:t>винятком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змін</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які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виконуються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уповноваженими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суб’єктами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відповідно</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встановлених</a:t>
            </a:r>
            <a:r>
              <a:rPr lang="ru-RU" sz="2800" dirty="0">
                <a:latin typeface="Times New Roman" panose="02020603050405020304" pitchFamily="18" charset="0"/>
                <a:cs typeface="Times New Roman" panose="02020603050405020304" pitchFamily="18" charset="0"/>
              </a:rPr>
              <a:t> процедур.</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цілісності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передбачає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захист</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несанкціонованої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модифікації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підміни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пошкодження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знищення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або</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спотворення</a:t>
            </a:r>
            <a:r>
              <a:rPr lang="ru-RU" sz="2800" dirty="0">
                <a:latin typeface="Times New Roman" panose="02020603050405020304" pitchFamily="18" charset="0"/>
                <a:cs typeface="Times New Roman" panose="02020603050405020304" pitchFamily="18" charset="0"/>
              </a:rPr>
              <a:t>. При </a:t>
            </a:r>
            <a:r>
              <a:rPr lang="ru-RU" sz="2800" dirty="0" err="1">
                <a:latin typeface="Times New Roman" panose="02020603050405020304" pitchFamily="18" charset="0"/>
                <a:cs typeface="Times New Roman" panose="02020603050405020304" pitchFamily="18" charset="0"/>
              </a:rPr>
              <a:t>цьому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важливо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контролювати</a:t>
            </a:r>
            <a:r>
              <a:rPr lang="ru-RU" sz="2800" dirty="0">
                <a:latin typeface="Times New Roman" panose="02020603050405020304" pitchFamily="18" charset="0"/>
                <a:cs typeface="Times New Roman" panose="02020603050405020304" pitchFamily="18" charset="0"/>
              </a:rPr>
              <a:t> не </a:t>
            </a:r>
            <a:r>
              <a:rPr lang="ru-RU" sz="2800" dirty="0" err="1">
                <a:latin typeface="Times New Roman" panose="02020603050405020304" pitchFamily="18" charset="0"/>
                <a:cs typeface="Times New Roman" panose="02020603050405020304" pitchFamily="18" charset="0"/>
              </a:rPr>
              <a:t>тільки</a:t>
            </a:r>
            <a:r>
              <a:rPr lang="ru-RU" sz="2800" dirty="0">
                <a:latin typeface="Times New Roman" panose="02020603050405020304" pitchFamily="18" charset="0"/>
                <a:cs typeface="Times New Roman" panose="02020603050405020304" pitchFamily="18" charset="0"/>
              </a:rPr>
              <a:t> факт </a:t>
            </a:r>
            <a:r>
              <a:rPr lang="ru-RU" sz="2800" dirty="0" err="1">
                <a:latin typeface="Times New Roman" panose="02020603050405020304" pitchFamily="18" charset="0"/>
                <a:cs typeface="Times New Roman" panose="02020603050405020304" pitchFamily="18" charset="0"/>
              </a:rPr>
              <a:t>зміни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даних</a:t>
            </a:r>
            <a:r>
              <a:rPr lang="ru-RU" sz="2800" dirty="0">
                <a:latin typeface="Times New Roman" panose="02020603050405020304" pitchFamily="18" charset="0"/>
                <a:cs typeface="Times New Roman" panose="02020603050405020304" pitchFamily="18" charset="0"/>
              </a:rPr>
              <a:t>, а й </a:t>
            </a:r>
            <a:r>
              <a:rPr lang="ru-RU" sz="2800" dirty="0" err="1">
                <a:latin typeface="Times New Roman" panose="02020603050405020304" pitchFamily="18" charset="0"/>
                <a:cs typeface="Times New Roman" panose="02020603050405020304" pitchFamily="18" charset="0"/>
              </a:rPr>
              <a:t>джерело</a:t>
            </a:r>
            <a:r>
              <a:rPr lang="ru-RU" sz="2800" dirty="0">
                <a:latin typeface="Times New Roman" panose="02020603050405020304" pitchFamily="18" charset="0"/>
                <a:cs typeface="Times New Roman" panose="02020603050405020304" pitchFamily="18" charset="0"/>
              </a:rPr>
              <a:t>, час та </a:t>
            </a:r>
            <a:r>
              <a:rPr lang="ru-RU" sz="2800" dirty="0" err="1">
                <a:latin typeface="Times New Roman" panose="02020603050405020304" pitchFamily="18" charset="0"/>
                <a:cs typeface="Times New Roman" panose="02020603050405020304" pitchFamily="18" charset="0"/>
              </a:rPr>
              <a:t>правомірність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виконаної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операції</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5586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0" y="-16476"/>
            <a:ext cx="16256000" cy="916047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01600" y="26773"/>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0" y="81296"/>
            <a:ext cx="16154400" cy="9140964"/>
          </a:xfrm>
          <a:prstGeom prst="rect">
            <a:avLst/>
          </a:prstGeom>
        </p:spPr>
        <p:txBody>
          <a:bodyPr wrap="square">
            <a:spAutoFit/>
          </a:bodyPr>
          <a:lstStyle/>
          <a:p>
            <a:pPr algn="just"/>
            <a:r>
              <a:rPr lang="ru-RU" sz="2800" dirty="0">
                <a:latin typeface="Times New Roman" panose="02020603050405020304" pitchFamily="18" charset="0"/>
                <a:cs typeface="Times New Roman" panose="02020603050405020304" pitchFamily="18" charset="0"/>
              </a:rPr>
              <a:t>Особливого </a:t>
            </a:r>
            <a:r>
              <a:rPr lang="ru-RU" sz="2800" dirty="0" err="1">
                <a:latin typeface="Times New Roman" panose="02020603050405020304" pitchFamily="18" charset="0"/>
                <a:cs typeface="Times New Roman" panose="02020603050405020304" pitchFamily="18" charset="0"/>
              </a:rPr>
              <a:t>значення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конфіденційність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набуває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під</a:t>
            </a:r>
            <a:r>
              <a:rPr lang="ru-RU" sz="2800" dirty="0">
                <a:latin typeface="Times New Roman" panose="02020603050405020304" pitchFamily="18" charset="0"/>
                <a:cs typeface="Times New Roman" panose="02020603050405020304" pitchFamily="18" charset="0"/>
              </a:rPr>
              <a:t> час </a:t>
            </a:r>
            <a:r>
              <a:rPr lang="ru-RU" sz="2800" dirty="0" err="1">
                <a:latin typeface="Times New Roman" panose="02020603050405020304" pitchFamily="18" charset="0"/>
                <a:cs typeface="Times New Roman" panose="02020603050405020304" pitchFamily="18" charset="0"/>
              </a:rPr>
              <a:t>оброблення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персональних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фінансової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комерційної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таємниці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облікових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користувачів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технологічної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документації</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іншої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з </a:t>
            </a:r>
            <a:r>
              <a:rPr lang="ru-RU" sz="2800" dirty="0" err="1">
                <a:latin typeface="Times New Roman" panose="02020603050405020304" pitchFamily="18" charset="0"/>
                <a:cs typeface="Times New Roman" panose="02020603050405020304" pitchFamily="18" charset="0"/>
              </a:rPr>
              <a:t>обмеженим</a:t>
            </a:r>
            <a:r>
              <a:rPr lang="ru-RU" sz="2800" dirty="0">
                <a:latin typeface="Times New Roman" panose="02020603050405020304" pitchFamily="18" charset="0"/>
                <a:cs typeface="Times New Roman" panose="02020603050405020304" pitchFamily="18" charset="0"/>
              </a:rPr>
              <a:t> доступом. </a:t>
            </a:r>
            <a:r>
              <a:rPr lang="ru-RU" sz="2800" dirty="0" err="1">
                <a:latin typeface="Times New Roman" panose="02020603050405020304" pitchFamily="18" charset="0"/>
                <a:cs typeface="Times New Roman" panose="02020603050405020304" pitchFamily="18" charset="0"/>
              </a:rPr>
              <a:t>Несанкціоноване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розкриття</a:t>
            </a:r>
            <a:r>
              <a:rPr lang="ru-RU" sz="2800" dirty="0">
                <a:latin typeface="Times New Roman" panose="02020603050405020304" pitchFamily="18" charset="0"/>
                <a:cs typeface="Times New Roman" panose="02020603050405020304" pitchFamily="18" charset="0"/>
              </a:rPr>
              <a:t> таких </a:t>
            </a:r>
            <a:r>
              <a:rPr lang="ru-RU" sz="2800" dirty="0" err="1">
                <a:latin typeface="Times New Roman" panose="02020603050405020304" pitchFamily="18" charset="0"/>
                <a:cs typeface="Times New Roman" panose="02020603050405020304" pitchFamily="18" charset="0"/>
              </a:rPr>
              <a:t>відомостей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призвести</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фінансових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збитків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порушення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договірних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зобов’язань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репутаційних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втрат</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інших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негативних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наслідків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Для </a:t>
            </a:r>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конфіденційності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застосовується</a:t>
            </a:r>
            <a:r>
              <a:rPr lang="ru-RU" sz="2800" dirty="0">
                <a:latin typeface="Times New Roman" panose="02020603050405020304" pitchFamily="18" charset="0"/>
                <a:cs typeface="Times New Roman" panose="02020603050405020304" pitchFamily="18" charset="0"/>
              </a:rPr>
              <a:t> комплекс </a:t>
            </a:r>
            <a:r>
              <a:rPr lang="ru-RU" sz="2800" dirty="0" err="1">
                <a:latin typeface="Times New Roman" panose="02020603050405020304" pitchFamily="18" charset="0"/>
                <a:cs typeface="Times New Roman" panose="02020603050405020304" pitchFamily="18" charset="0"/>
              </a:rPr>
              <a:t>взаємопов’язаних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заходів</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основних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із</a:t>
            </a:r>
            <a:r>
              <a:rPr lang="ru-RU" sz="2800" dirty="0">
                <a:latin typeface="Times New Roman" panose="02020603050405020304" pitchFamily="18" charset="0"/>
                <a:cs typeface="Times New Roman" panose="02020603050405020304" pitchFamily="18" charset="0"/>
              </a:rPr>
              <a:t> них належать </a:t>
            </a:r>
            <a:r>
              <a:rPr lang="ru-RU" sz="2800" b="1" dirty="0" err="1">
                <a:latin typeface="Times New Roman" panose="02020603050405020304" pitchFamily="18" charset="0"/>
                <a:cs typeface="Times New Roman" panose="02020603050405020304" pitchFamily="18" charset="0"/>
              </a:rPr>
              <a:t>ідентифікація</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автентифікація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користувачів</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авторизація</a:t>
            </a:r>
            <a:r>
              <a:rPr lang="ru-RU" sz="2800" b="1" dirty="0">
                <a:latin typeface="Times New Roman" panose="02020603050405020304" pitchFamily="18" charset="0"/>
                <a:cs typeface="Times New Roman" panose="02020603050405020304" pitchFamily="18" charset="0"/>
              </a:rPr>
              <a:t>, контроль доступу, </a:t>
            </a:r>
            <a:r>
              <a:rPr lang="ru-RU" sz="2800" b="1" dirty="0" err="1">
                <a:latin typeface="Times New Roman" panose="02020603050405020304" pitchFamily="18" charset="0"/>
                <a:cs typeface="Times New Roman" panose="02020603050405020304" pitchFamily="18" charset="0"/>
              </a:rPr>
              <a:t>криптографічний</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захист</a:t>
            </a:r>
            <a:r>
              <a:rPr lang="ru-RU" sz="2800" b="1" dirty="0">
                <a:latin typeface="Times New Roman" panose="02020603050405020304" pitchFamily="18" charset="0"/>
                <a:cs typeface="Times New Roman" panose="02020603050405020304" pitchFamily="18" charset="0"/>
              </a:rPr>
              <a:t> і </a:t>
            </a:r>
            <a:r>
              <a:rPr lang="ru-RU" sz="2800" b="1" dirty="0" err="1">
                <a:latin typeface="Times New Roman" panose="02020603050405020304" pitchFamily="18" charset="0"/>
                <a:cs typeface="Times New Roman" panose="02020603050405020304" pitchFamily="18" charset="0"/>
              </a:rPr>
              <a:t>шифрування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даних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сегментація</a:t>
            </a:r>
            <a:r>
              <a:rPr lang="ru-RU" sz="2800" b="1" dirty="0">
                <a:latin typeface="Times New Roman" panose="02020603050405020304" pitchFamily="18" charset="0"/>
                <a:cs typeface="Times New Roman" panose="02020603050405020304" pitchFamily="18" charset="0"/>
              </a:rPr>
              <a:t> мереж, </a:t>
            </a:r>
            <a:r>
              <a:rPr lang="ru-RU" sz="2800" b="1" dirty="0" err="1">
                <a:latin typeface="Times New Roman" panose="02020603050405020304" pitchFamily="18" charset="0"/>
                <a:cs typeface="Times New Roman" panose="02020603050405020304" pitchFamily="18" charset="0"/>
              </a:rPr>
              <a:t>захист</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облікових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даних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багатофакторна</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автентифікація</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моніторинг</a:t>
            </a:r>
            <a:r>
              <a:rPr lang="ru-RU" sz="2800" b="1" dirty="0">
                <a:latin typeface="Times New Roman" panose="02020603050405020304" pitchFamily="18" charset="0"/>
                <a:cs typeface="Times New Roman" panose="02020603050405020304" pitchFamily="18" charset="0"/>
              </a:rPr>
              <a:t> доступу до </a:t>
            </a:r>
            <a:r>
              <a:rPr lang="ru-RU" sz="2800" b="1" dirty="0" err="1">
                <a:latin typeface="Times New Roman" panose="02020603050405020304" pitchFamily="18" charset="0"/>
                <a:cs typeface="Times New Roman" panose="02020603050405020304" pitchFamily="18" charset="0"/>
              </a:rPr>
              <a:t>інформаційних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ресурсів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Важливим</a:t>
            </a:r>
            <a:r>
              <a:rPr lang="ru-RU" sz="2800" dirty="0">
                <a:latin typeface="Times New Roman" panose="02020603050405020304" pitchFamily="18" charset="0"/>
                <a:cs typeface="Times New Roman" panose="02020603050405020304" pitchFamily="18" charset="0"/>
              </a:rPr>
              <a:t> принципом є </a:t>
            </a:r>
            <a:r>
              <a:rPr lang="ru-RU" sz="2800" b="1" dirty="0" err="1">
                <a:latin typeface="Times New Roman" panose="02020603050405020304" pitchFamily="18" charset="0"/>
                <a:cs typeface="Times New Roman" panose="02020603050405020304" pitchFamily="18" charset="0"/>
              </a:rPr>
              <a:t>мінімізація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привілеїв</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Principle of Least Privilege</a:t>
            </a:r>
            <a:r>
              <a:rPr lang="ru-RU" sz="2800" b="1"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відповідно</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якого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користувач</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програмний</a:t>
            </a:r>
            <a:r>
              <a:rPr lang="ru-RU" sz="2800" dirty="0">
                <a:latin typeface="Times New Roman" panose="02020603050405020304" pitchFamily="18" charset="0"/>
                <a:cs typeface="Times New Roman" panose="02020603050405020304" pitchFamily="18" charset="0"/>
              </a:rPr>
              <a:t> компонент повинен </a:t>
            </a:r>
            <a:r>
              <a:rPr lang="ru-RU" sz="2800" dirty="0" err="1">
                <a:latin typeface="Times New Roman" panose="02020603050405020304" pitchFamily="18" charset="0"/>
                <a:cs typeface="Times New Roman" panose="02020603050405020304" pitchFamily="18" charset="0"/>
              </a:rPr>
              <a:t>отримувати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лише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ті</a:t>
            </a:r>
            <a:r>
              <a:rPr lang="ru-RU" sz="2800" dirty="0">
                <a:latin typeface="Times New Roman" panose="02020603050405020304" pitchFamily="18" charset="0"/>
                <a:cs typeface="Times New Roman" panose="02020603050405020304" pitchFamily="18" charset="0"/>
              </a:rPr>
              <a:t> права доступу, </a:t>
            </a:r>
            <a:r>
              <a:rPr lang="ru-RU" sz="2800" dirty="0" err="1">
                <a:latin typeface="Times New Roman" panose="02020603050405020304" pitchFamily="18" charset="0"/>
                <a:cs typeface="Times New Roman" panose="02020603050405020304" pitchFamily="18" charset="0"/>
              </a:rPr>
              <a:t>які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необхідні</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виконання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визначених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функцій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Реалізація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цього</a:t>
            </a:r>
            <a:r>
              <a:rPr lang="ru-RU" sz="2800" dirty="0">
                <a:latin typeface="Times New Roman" panose="02020603050405020304" pitchFamily="18" charset="0"/>
                <a:cs typeface="Times New Roman" panose="02020603050405020304" pitchFamily="18" charset="0"/>
              </a:rPr>
              <a:t> принципу </a:t>
            </a:r>
            <a:r>
              <a:rPr lang="ru-RU" sz="2800" dirty="0" err="1">
                <a:latin typeface="Times New Roman" panose="02020603050405020304" pitchFamily="18" charset="0"/>
                <a:cs typeface="Times New Roman" panose="02020603050405020304" pitchFamily="18" charset="0"/>
              </a:rPr>
              <a:t>зменшує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потенційні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наслідки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компрометації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облікового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запису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окремого</a:t>
            </a:r>
            <a:r>
              <a:rPr lang="ru-RU" sz="2800" dirty="0">
                <a:latin typeface="Times New Roman" panose="02020603050405020304" pitchFamily="18" charset="0"/>
                <a:cs typeface="Times New Roman" panose="02020603050405020304" pitchFamily="18" charset="0"/>
              </a:rPr>
              <a:t> компонента </a:t>
            </a:r>
            <a:r>
              <a:rPr lang="ru-RU" sz="2800" dirty="0" err="1">
                <a:latin typeface="Times New Roman" panose="02020603050405020304" pitchFamily="18" charset="0"/>
                <a:cs typeface="Times New Roman" panose="02020603050405020304" pitchFamily="18" charset="0"/>
              </a:rPr>
              <a:t>інформаційної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smtClean="0">
                <a:latin typeface="Times New Roman" panose="02020603050405020304" pitchFamily="18" charset="0"/>
                <a:cs typeface="Times New Roman" panose="02020603050405020304" pitchFamily="18" charset="0"/>
              </a:rPr>
              <a:t>.</a:t>
            </a:r>
          </a:p>
          <a:p>
            <a:pPr algn="just"/>
            <a:r>
              <a:rPr lang="ru-RU" sz="2800" b="1" dirty="0" err="1">
                <a:latin typeface="Times New Roman" panose="02020603050405020304" pitchFamily="18" charset="0"/>
                <a:cs typeface="Times New Roman" panose="02020603050405020304" pitchFamily="18" charset="0"/>
              </a:rPr>
              <a:t>Цілісність</a:t>
            </a:r>
            <a:r>
              <a:rPr lang="ru-RU" sz="2800" dirty="0">
                <a:latin typeface="Times New Roman" panose="02020603050405020304" pitchFamily="18" charset="0"/>
                <a:cs typeface="Times New Roman" panose="02020603050405020304" pitchFamily="18" charset="0"/>
              </a:rPr>
              <a:t> </a:t>
            </a:r>
            <a:r>
              <a:rPr lang="ru-RU" sz="2800" dirty="0" smtClean="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яка </a:t>
            </a:r>
            <a:r>
              <a:rPr lang="ru-RU" sz="2800" dirty="0" err="1">
                <a:latin typeface="Times New Roman" panose="02020603050405020304" pitchFamily="18" charset="0"/>
                <a:cs typeface="Times New Roman" panose="02020603050405020304" pitchFamily="18" charset="0"/>
              </a:rPr>
              <a:t>забезпечує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її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точність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повноту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достовірність</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незмінність</a:t>
            </a:r>
            <a:r>
              <a:rPr lang="ru-RU" sz="2800" dirty="0">
                <a:latin typeface="Times New Roman" panose="02020603050405020304" pitchFamily="18" charset="0"/>
                <a:cs typeface="Times New Roman" panose="02020603050405020304" pitchFamily="18" charset="0"/>
              </a:rPr>
              <a:t> у </a:t>
            </a:r>
            <a:r>
              <a:rPr lang="ru-RU" sz="2800" dirty="0" err="1">
                <a:latin typeface="Times New Roman" panose="02020603050405020304" pitchFamily="18" charset="0"/>
                <a:cs typeface="Times New Roman" panose="02020603050405020304" pitchFamily="18" charset="0"/>
              </a:rPr>
              <a:t>процесі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зберігання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передавання</a:t>
            </a:r>
            <a:r>
              <a:rPr lang="ru-RU" sz="2800" dirty="0">
                <a:latin typeface="Times New Roman" panose="02020603050405020304" pitchFamily="18" charset="0"/>
                <a:cs typeface="Times New Roman" panose="02020603050405020304" pitchFamily="18" charset="0"/>
              </a:rPr>
              <a:t> й </a:t>
            </a:r>
            <a:r>
              <a:rPr lang="ru-RU" sz="2800" dirty="0" err="1">
                <a:latin typeface="Times New Roman" panose="02020603050405020304" pitchFamily="18" charset="0"/>
                <a:cs typeface="Times New Roman" panose="02020603050405020304" pitchFamily="18" charset="0"/>
              </a:rPr>
              <a:t>оброблення</a:t>
            </a:r>
            <a:r>
              <a:rPr lang="ru-RU" sz="2800" dirty="0">
                <a:latin typeface="Times New Roman" panose="02020603050405020304" pitchFamily="18" charset="0"/>
                <a:cs typeface="Times New Roman" panose="02020603050405020304" pitchFamily="18" charset="0"/>
              </a:rPr>
              <a:t>, за </a:t>
            </a:r>
            <a:r>
              <a:rPr lang="ru-RU" sz="2800" dirty="0" err="1">
                <a:latin typeface="Times New Roman" panose="02020603050405020304" pitchFamily="18" charset="0"/>
                <a:cs typeface="Times New Roman" panose="02020603050405020304" pitchFamily="18" charset="0"/>
              </a:rPr>
              <a:t>винятком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змін</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які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виконуються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уповноваженими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суб’єктами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відповідно</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встановлених</a:t>
            </a:r>
            <a:r>
              <a:rPr lang="ru-RU" sz="2800" dirty="0">
                <a:latin typeface="Times New Roman" panose="02020603050405020304" pitchFamily="18" charset="0"/>
                <a:cs typeface="Times New Roman" panose="02020603050405020304" pitchFamily="18" charset="0"/>
              </a:rPr>
              <a:t> процедур.</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цілісності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передбачає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захист</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несанкціонованої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модифікації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підміни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пошкодження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знищення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або</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спотворення</a:t>
            </a:r>
            <a:r>
              <a:rPr lang="ru-RU" sz="2800" dirty="0">
                <a:latin typeface="Times New Roman" panose="02020603050405020304" pitchFamily="18" charset="0"/>
                <a:cs typeface="Times New Roman" panose="02020603050405020304" pitchFamily="18" charset="0"/>
              </a:rPr>
              <a:t>. При </a:t>
            </a:r>
            <a:r>
              <a:rPr lang="ru-RU" sz="2800" dirty="0" err="1">
                <a:latin typeface="Times New Roman" panose="02020603050405020304" pitchFamily="18" charset="0"/>
                <a:cs typeface="Times New Roman" panose="02020603050405020304" pitchFamily="18" charset="0"/>
              </a:rPr>
              <a:t>цьому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важливо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контролювати</a:t>
            </a:r>
            <a:r>
              <a:rPr lang="ru-RU" sz="2800" dirty="0">
                <a:latin typeface="Times New Roman" panose="02020603050405020304" pitchFamily="18" charset="0"/>
                <a:cs typeface="Times New Roman" panose="02020603050405020304" pitchFamily="18" charset="0"/>
              </a:rPr>
              <a:t> не </a:t>
            </a:r>
            <a:r>
              <a:rPr lang="ru-RU" sz="2800" dirty="0" err="1">
                <a:latin typeface="Times New Roman" panose="02020603050405020304" pitchFamily="18" charset="0"/>
                <a:cs typeface="Times New Roman" panose="02020603050405020304" pitchFamily="18" charset="0"/>
              </a:rPr>
              <a:t>тільки</a:t>
            </a:r>
            <a:r>
              <a:rPr lang="ru-RU" sz="2800" dirty="0">
                <a:latin typeface="Times New Roman" panose="02020603050405020304" pitchFamily="18" charset="0"/>
                <a:cs typeface="Times New Roman" panose="02020603050405020304" pitchFamily="18" charset="0"/>
              </a:rPr>
              <a:t> факт </a:t>
            </a:r>
            <a:r>
              <a:rPr lang="ru-RU" sz="2800" dirty="0" err="1">
                <a:latin typeface="Times New Roman" panose="02020603050405020304" pitchFamily="18" charset="0"/>
                <a:cs typeface="Times New Roman" panose="02020603050405020304" pitchFamily="18" charset="0"/>
              </a:rPr>
              <a:t>зміни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даних</a:t>
            </a:r>
            <a:r>
              <a:rPr lang="ru-RU" sz="2800" dirty="0">
                <a:latin typeface="Times New Roman" panose="02020603050405020304" pitchFamily="18" charset="0"/>
                <a:cs typeface="Times New Roman" panose="02020603050405020304" pitchFamily="18" charset="0"/>
              </a:rPr>
              <a:t>, а й </a:t>
            </a:r>
            <a:r>
              <a:rPr lang="ru-RU" sz="2800" dirty="0" err="1">
                <a:latin typeface="Times New Roman" panose="02020603050405020304" pitchFamily="18" charset="0"/>
                <a:cs typeface="Times New Roman" panose="02020603050405020304" pitchFamily="18" charset="0"/>
              </a:rPr>
              <a:t>джерело</a:t>
            </a:r>
            <a:r>
              <a:rPr lang="ru-RU" sz="2800" dirty="0">
                <a:latin typeface="Times New Roman" panose="02020603050405020304" pitchFamily="18" charset="0"/>
                <a:cs typeface="Times New Roman" panose="02020603050405020304" pitchFamily="18" charset="0"/>
              </a:rPr>
              <a:t>, час та </a:t>
            </a:r>
            <a:r>
              <a:rPr lang="ru-RU" sz="2800" dirty="0" err="1">
                <a:latin typeface="Times New Roman" panose="02020603050405020304" pitchFamily="18" charset="0"/>
                <a:cs typeface="Times New Roman" panose="02020603050405020304" pitchFamily="18" charset="0"/>
              </a:rPr>
              <a:t>правомірність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виконаної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операції</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4131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01600" y="26773"/>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0" y="81296"/>
            <a:ext cx="16154400" cy="8279190"/>
          </a:xfrm>
          <a:prstGeom prst="rect">
            <a:avLst/>
          </a:prstGeom>
        </p:spPr>
        <p:txBody>
          <a:bodyPr wrap="square">
            <a:spAutoFit/>
          </a:bodyPr>
          <a:lstStyle/>
          <a:p>
            <a:pPr algn="just"/>
            <a:r>
              <a:rPr lang="ru-RU" sz="2800" dirty="0">
                <a:latin typeface="Times New Roman" panose="02020603050405020304" pitchFamily="18" charset="0"/>
                <a:cs typeface="Times New Roman" panose="02020603050405020304" pitchFamily="18" charset="0"/>
              </a:rPr>
              <a:t>Для </a:t>
            </a:r>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цілісності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використовуються</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криптографічні</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хеш-функції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електронні</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цифрові</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підписи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коди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автентифікації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повідомлень</a:t>
            </a:r>
            <a:r>
              <a:rPr lang="ru-RU" sz="2800" b="1" dirty="0">
                <a:latin typeface="Times New Roman" panose="02020603050405020304" pitchFamily="18" charset="0"/>
                <a:cs typeface="Times New Roman" panose="02020603050405020304" pitchFamily="18" charset="0"/>
              </a:rPr>
              <a:t>, контроль </a:t>
            </a:r>
            <a:r>
              <a:rPr lang="ru-RU" sz="2800" b="1" dirty="0" err="1">
                <a:latin typeface="Times New Roman" panose="02020603050405020304" pitchFamily="18" charset="0"/>
                <a:cs typeface="Times New Roman" panose="02020603050405020304" pitchFamily="18" charset="0"/>
              </a:rPr>
              <a:t>версій</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механізми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журналювання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резервне</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копіювання</a:t>
            </a:r>
            <a:r>
              <a:rPr lang="ru-RU" sz="2800" b="1" dirty="0">
                <a:latin typeface="Times New Roman" panose="02020603050405020304" pitchFamily="18" charset="0"/>
                <a:cs typeface="Times New Roman" panose="02020603050405020304" pitchFamily="18" charset="0"/>
              </a:rPr>
              <a:t>, контроль </a:t>
            </a:r>
            <a:r>
              <a:rPr lang="ru-RU" sz="2800" b="1" dirty="0" err="1">
                <a:latin typeface="Times New Roman" panose="02020603050405020304" pitchFamily="18" charset="0"/>
                <a:cs typeface="Times New Roman" panose="02020603050405020304" pitchFamily="18" charset="0"/>
              </a:rPr>
              <a:t>змін</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засоби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виявлення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несанкціонованої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модифікації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даних</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Важливе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значення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також</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автентичність</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джерела</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оскільки</a:t>
            </a:r>
            <a:r>
              <a:rPr lang="ru-RU" sz="2800" dirty="0">
                <a:latin typeface="Times New Roman" panose="02020603050405020304" pitchFamily="18" charset="0"/>
                <a:cs typeface="Times New Roman" panose="02020603050405020304" pitchFamily="18" charset="0"/>
              </a:rPr>
              <a:t> система повинна </a:t>
            </a:r>
            <a:r>
              <a:rPr lang="ru-RU" sz="2800" dirty="0" err="1">
                <a:latin typeface="Times New Roman" panose="02020603050405020304" pitchFamily="18" charset="0"/>
                <a:cs typeface="Times New Roman" panose="02020603050405020304" pitchFamily="18" charset="0"/>
              </a:rPr>
              <a:t>мати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можливість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визначити</a:t>
            </a:r>
            <a:r>
              <a:rPr lang="ru-RU" sz="2800" dirty="0">
                <a:latin typeface="Times New Roman" panose="02020603050405020304" pitchFamily="18" charset="0"/>
                <a:cs typeface="Times New Roman" panose="02020603050405020304" pitchFamily="18" charset="0"/>
              </a:rPr>
              <a:t>, ким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яким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пристроєм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були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сформовані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певні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дані</a:t>
            </a:r>
            <a:r>
              <a:rPr lang="ru-RU" sz="2800" dirty="0">
                <a:latin typeface="Times New Roman" panose="02020603050405020304" pitchFamily="18" charset="0"/>
                <a:cs typeface="Times New Roman" panose="02020603050405020304" pitchFamily="18" charset="0"/>
              </a:rPr>
              <a:t>. У </a:t>
            </a:r>
            <a:r>
              <a:rPr lang="en-US" sz="2800" dirty="0" err="1">
                <a:latin typeface="Times New Roman" panose="02020603050405020304" pitchFamily="18" charset="0"/>
                <a:cs typeface="Times New Roman" panose="02020603050405020304" pitchFamily="18" charset="0"/>
              </a:rPr>
              <a:t>IoT</a:t>
            </a:r>
            <a:r>
              <a:rPr lang="ru-RU" sz="2800" dirty="0">
                <a:latin typeface="Times New Roman" panose="02020603050405020304" pitchFamily="18" charset="0"/>
                <a:cs typeface="Times New Roman" panose="02020603050405020304" pitchFamily="18" charset="0"/>
              </a:rPr>
              <a:t>-</a:t>
            </a:r>
            <a:r>
              <a:rPr lang="ru-RU" sz="2800" dirty="0" err="1">
                <a:latin typeface="Times New Roman" panose="02020603050405020304" pitchFamily="18" charset="0"/>
                <a:cs typeface="Times New Roman" panose="02020603050405020304" pitchFamily="18" charset="0"/>
              </a:rPr>
              <a:t>середовищі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це</a:t>
            </a:r>
            <a:r>
              <a:rPr lang="ru-RU" sz="2800" dirty="0">
                <a:latin typeface="Times New Roman" panose="02020603050405020304" pitchFamily="18" charset="0"/>
                <a:cs typeface="Times New Roman" panose="02020603050405020304" pitchFamily="18" charset="0"/>
              </a:rPr>
              <a:t> особливо актуально через </a:t>
            </a:r>
            <a:r>
              <a:rPr lang="ru-RU" sz="2800" dirty="0" err="1">
                <a:latin typeface="Times New Roman" panose="02020603050405020304" pitchFamily="18" charset="0"/>
                <a:cs typeface="Times New Roman" panose="02020603050405020304" pitchFamily="18" charset="0"/>
              </a:rPr>
              <a:t>велику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кількість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розподілених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пристроїв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які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можуть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функціонувати</a:t>
            </a:r>
            <a:r>
              <a:rPr lang="ru-RU" sz="2800" dirty="0">
                <a:latin typeface="Times New Roman" panose="02020603050405020304" pitchFamily="18" charset="0"/>
                <a:cs typeface="Times New Roman" panose="02020603050405020304" pitchFamily="18" charset="0"/>
              </a:rPr>
              <a:t> в </a:t>
            </a:r>
            <a:r>
              <a:rPr lang="ru-RU" sz="2800" dirty="0" err="1">
                <a:latin typeface="Times New Roman" panose="02020603050405020304" pitchFamily="18" charset="0"/>
                <a:cs typeface="Times New Roman" panose="02020603050405020304" pitchFamily="18" charset="0"/>
              </a:rPr>
              <a:t>умовах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обмежених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ресурсів</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потенційно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небезпечного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мережевого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середовища</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b="1" dirty="0" err="1" smtClean="0">
                <a:latin typeface="Times New Roman" panose="02020603050405020304" pitchFamily="18" charset="0"/>
                <a:cs typeface="Times New Roman" panose="02020603050405020304" pitchFamily="18" charset="0"/>
              </a:rPr>
              <a:t>Доступність</a:t>
            </a:r>
            <a:r>
              <a:rPr lang="ru-RU" sz="2800" dirty="0" smtClean="0">
                <a:latin typeface="Times New Roman" panose="02020603050405020304" pitchFamily="18" charset="0"/>
                <a:cs typeface="Times New Roman" panose="02020603050405020304" pitchFamily="18" charset="0"/>
              </a:rPr>
              <a:t> - </a:t>
            </a:r>
            <a:r>
              <a:rPr lang="ru-RU" sz="2800" dirty="0" err="1">
                <a:latin typeface="Times New Roman" panose="02020603050405020304" pitchFamily="18" charset="0"/>
                <a:cs typeface="Times New Roman" panose="02020603050405020304" pitchFamily="18" charset="0"/>
              </a:rPr>
              <a:t>це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ресурсів</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сервісів</a:t>
            </a:r>
            <a:r>
              <a:rPr lang="ru-RU" sz="2800" dirty="0">
                <a:latin typeface="Times New Roman" panose="02020603050405020304" pitchFamily="18" charset="0"/>
                <a:cs typeface="Times New Roman" panose="02020603050405020304" pitchFamily="18" charset="0"/>
              </a:rPr>
              <a:t>, яка </a:t>
            </a:r>
            <a:r>
              <a:rPr lang="ru-RU" sz="2800" dirty="0" err="1">
                <a:latin typeface="Times New Roman" panose="02020603050405020304" pitchFamily="18" charset="0"/>
                <a:cs typeface="Times New Roman" panose="02020603050405020304" pitchFamily="18" charset="0"/>
              </a:rPr>
              <a:t>забезпечує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можливість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їх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своєчасного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використання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уповноваженими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суб’єктами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відповідно</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встановлених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вимог</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На </a:t>
            </a:r>
            <a:r>
              <a:rPr lang="ru-RU" sz="2800" dirty="0" err="1">
                <a:latin typeface="Times New Roman" panose="02020603050405020304" pitchFamily="18" charset="0"/>
                <a:cs typeface="Times New Roman" panose="02020603050405020304" pitchFamily="18" charset="0"/>
              </a:rPr>
              <a:t>відміну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конфіденційності</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цілісності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які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переважно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пов’язані</a:t>
            </a:r>
            <a:r>
              <a:rPr lang="ru-RU" sz="2800" dirty="0">
                <a:latin typeface="Times New Roman" panose="02020603050405020304" pitchFamily="18" charset="0"/>
                <a:cs typeface="Times New Roman" panose="02020603050405020304" pitchFamily="18" charset="0"/>
              </a:rPr>
              <a:t> з контролем доступу та </a:t>
            </a:r>
            <a:r>
              <a:rPr lang="ru-RU" sz="2800" dirty="0" err="1">
                <a:latin typeface="Times New Roman" panose="02020603050405020304" pitchFamily="18" charset="0"/>
                <a:cs typeface="Times New Roman" panose="02020603050405020304" pitchFamily="18" charset="0"/>
              </a:rPr>
              <a:t>захистом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несанкціонованих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змін</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доступність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визначає</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здатність</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системи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функціонувати</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надавати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необхідні</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ресурси</a:t>
            </a:r>
            <a:r>
              <a:rPr lang="ru-RU" sz="2800" b="1" dirty="0">
                <a:latin typeface="Times New Roman" panose="02020603050405020304" pitchFamily="18" charset="0"/>
                <a:cs typeface="Times New Roman" panose="02020603050405020304" pitchFamily="18" charset="0"/>
              </a:rPr>
              <a:t> в </a:t>
            </a:r>
            <a:r>
              <a:rPr lang="ru-RU" sz="2800" b="1" dirty="0" err="1">
                <a:latin typeface="Times New Roman" panose="02020603050405020304" pitchFamily="18" charset="0"/>
                <a:cs typeface="Times New Roman" panose="02020603050405020304" pitchFamily="18" charset="0"/>
              </a:rPr>
              <a:t>потрібний</a:t>
            </a:r>
            <a:r>
              <a:rPr lang="ru-RU" sz="2800" b="1" dirty="0">
                <a:latin typeface="Times New Roman" panose="02020603050405020304" pitchFamily="18" charset="0"/>
                <a:cs typeface="Times New Roman" panose="02020603050405020304" pitchFamily="18" charset="0"/>
              </a:rPr>
              <a:t> момент часу</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Порушення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доступності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може</a:t>
            </a:r>
            <a:r>
              <a:rPr lang="ru-RU" sz="2800" dirty="0">
                <a:latin typeface="Times New Roman" panose="02020603050405020304" pitchFamily="18" charset="0"/>
                <a:cs typeface="Times New Roman" panose="02020603050405020304" pitchFamily="18" charset="0"/>
              </a:rPr>
              <a:t> бути </a:t>
            </a:r>
            <a:r>
              <a:rPr lang="ru-RU" sz="2800" dirty="0" err="1">
                <a:latin typeface="Times New Roman" panose="02020603050405020304" pitchFamily="18" charset="0"/>
                <a:cs typeface="Times New Roman" panose="02020603050405020304" pitchFamily="18" charset="0"/>
              </a:rPr>
              <a:t>наслідком</a:t>
            </a:r>
            <a:r>
              <a:rPr lang="ru-RU" sz="2800" dirty="0">
                <a:latin typeface="Times New Roman" panose="02020603050405020304" pitchFamily="18" charset="0"/>
                <a:cs typeface="Times New Roman" panose="02020603050405020304" pitchFamily="18" charset="0"/>
              </a:rPr>
              <a:t> як </a:t>
            </a:r>
            <a:r>
              <a:rPr lang="ru-RU" sz="2800" dirty="0" err="1">
                <a:latin typeface="Times New Roman" panose="02020603050405020304" pitchFamily="18" charset="0"/>
                <a:cs typeface="Times New Roman" panose="02020603050405020304" pitchFamily="18" charset="0"/>
              </a:rPr>
              <a:t>навмисних</a:t>
            </a:r>
            <a:r>
              <a:rPr lang="ru-RU" sz="2800" dirty="0">
                <a:latin typeface="Times New Roman" panose="02020603050405020304" pitchFamily="18" charset="0"/>
                <a:cs typeface="Times New Roman" panose="02020603050405020304" pitchFamily="18" charset="0"/>
              </a:rPr>
              <a:t> атак, так і </a:t>
            </a:r>
            <a:r>
              <a:rPr lang="ru-RU" sz="2800" dirty="0" err="1">
                <a:latin typeface="Times New Roman" panose="02020603050405020304" pitchFamily="18" charset="0"/>
                <a:cs typeface="Times New Roman" panose="02020603050405020304" pitchFamily="18" charset="0"/>
              </a:rPr>
              <a:t>технічних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організаційних</a:t>
            </a:r>
            <a:r>
              <a:rPr lang="ru-RU" sz="2800" dirty="0">
                <a:latin typeface="Times New Roman" panose="02020603050405020304" pitchFamily="18" charset="0"/>
                <a:cs typeface="Times New Roman" panose="02020603050405020304" pitchFamily="18" charset="0"/>
              </a:rPr>
              <a:t> проблем. До </a:t>
            </a:r>
            <a:r>
              <a:rPr lang="ru-RU" sz="2800" dirty="0" err="1">
                <a:latin typeface="Times New Roman" panose="02020603050405020304" pitchFamily="18" charset="0"/>
                <a:cs typeface="Times New Roman" panose="02020603050405020304" pitchFamily="18" charset="0"/>
              </a:rPr>
              <a:t>типових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загроз</a:t>
            </a:r>
            <a:r>
              <a:rPr lang="ru-RU" sz="2800" dirty="0">
                <a:latin typeface="Times New Roman" panose="02020603050405020304" pitchFamily="18" charset="0"/>
                <a:cs typeface="Times New Roman" panose="02020603050405020304" pitchFamily="18" charset="0"/>
              </a:rPr>
              <a:t> належать </a:t>
            </a:r>
            <a:r>
              <a:rPr lang="en-US" sz="2800" b="1" dirty="0" err="1">
                <a:latin typeface="Times New Roman" panose="02020603050405020304" pitchFamily="18" charset="0"/>
                <a:cs typeface="Times New Roman" panose="02020603050405020304" pitchFamily="18" charset="0"/>
              </a:rPr>
              <a:t>DDoS</a:t>
            </a:r>
            <a:r>
              <a:rPr lang="ru-RU" sz="2800" b="1" dirty="0">
                <a:latin typeface="Times New Roman" panose="02020603050405020304" pitchFamily="18" charset="0"/>
                <a:cs typeface="Times New Roman" panose="02020603050405020304" pitchFamily="18" charset="0"/>
              </a:rPr>
              <a:t>-атаки, атаки </a:t>
            </a:r>
            <a:r>
              <a:rPr lang="ru-RU" sz="2800" b="1" dirty="0" err="1">
                <a:latin typeface="Times New Roman" panose="02020603050405020304" pitchFamily="18" charset="0"/>
                <a:cs typeface="Times New Roman" panose="02020603050405020304" pitchFamily="18" charset="0"/>
              </a:rPr>
              <a:t>програм-вимагачів</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ransomware</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відмова</a:t>
            </a:r>
            <a:r>
              <a:rPr lang="ru-RU" sz="2800" b="1" dirty="0">
                <a:latin typeface="Times New Roman" panose="02020603050405020304" pitchFamily="18" charset="0"/>
                <a:cs typeface="Times New Roman" panose="02020603050405020304" pitchFamily="18" charset="0"/>
              </a:rPr>
              <a:t> серверного </a:t>
            </a:r>
            <a:r>
              <a:rPr lang="ru-RU" sz="2800" b="1" dirty="0" err="1">
                <a:latin typeface="Times New Roman" panose="02020603050405020304" pitchFamily="18" charset="0"/>
                <a:cs typeface="Times New Roman" panose="02020603050405020304" pitchFamily="18" charset="0"/>
              </a:rPr>
              <a:t>обладнання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пошкодження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мережевої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інфраструктури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збої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електроживлення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програмні</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помилки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порушення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мережевого</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з’єднання</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блокування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облікових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записів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3902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01600" y="26773"/>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0" y="81296"/>
            <a:ext cx="16154400" cy="8556188"/>
          </a:xfrm>
          <a:prstGeom prst="rect">
            <a:avLst/>
          </a:prstGeom>
        </p:spPr>
        <p:txBody>
          <a:bodyPr wrap="square">
            <a:spAutoFit/>
          </a:bodyPr>
          <a:lstStyle/>
          <a:p>
            <a:pPr algn="just"/>
            <a:r>
              <a:rPr lang="ru-RU" sz="2800" b="1" dirty="0" err="1">
                <a:latin typeface="Times New Roman" panose="02020603050405020304" pitchFamily="18" charset="0"/>
                <a:cs typeface="Times New Roman" panose="02020603050405020304" pitchFamily="18" charset="0"/>
              </a:rPr>
              <a:t>Взаємозв’язок</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конфіденційності</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цілісності</a:t>
            </a:r>
            <a:r>
              <a:rPr lang="ru-RU" sz="2800" b="1" dirty="0">
                <a:latin typeface="Times New Roman" panose="02020603050405020304" pitchFamily="18" charset="0"/>
                <a:cs typeface="Times New Roman" panose="02020603050405020304" pitchFamily="18" charset="0"/>
              </a:rPr>
              <a:t> та </a:t>
            </a:r>
            <a:r>
              <a:rPr lang="ru-RU" sz="2800" b="1" dirty="0" err="1" smtClean="0">
                <a:latin typeface="Times New Roman" panose="02020603050405020304" pitchFamily="18" charset="0"/>
                <a:cs typeface="Times New Roman" panose="02020603050405020304" pitchFamily="18" charset="0"/>
              </a:rPr>
              <a:t>доступності</a:t>
            </a:r>
            <a:endParaRPr lang="ru-RU" sz="2800" b="1" dirty="0" smtClean="0">
              <a:latin typeface="Times New Roman" panose="02020603050405020304" pitchFamily="18" charset="0"/>
              <a:cs typeface="Times New Roman" panose="02020603050405020304" pitchFamily="18" charset="0"/>
            </a:endParaRPr>
          </a:p>
          <a:p>
            <a:pPr algn="just"/>
            <a:endParaRPr lang="en-US" sz="2800" b="1"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Три </a:t>
            </a:r>
            <a:r>
              <a:rPr lang="ru-RU" sz="2800" dirty="0" err="1">
                <a:latin typeface="Times New Roman" panose="02020603050405020304" pitchFamily="18" charset="0"/>
                <a:cs typeface="Times New Roman" panose="02020603050405020304" pitchFamily="18" charset="0"/>
              </a:rPr>
              <a:t>складові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моделі</a:t>
            </a:r>
            <a:r>
              <a:rPr lang="ru-RU"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CIA</a:t>
            </a:r>
            <a:r>
              <a:rPr lang="ru-RU" sz="2800" dirty="0">
                <a:latin typeface="Times New Roman" panose="02020603050405020304" pitchFamily="18" charset="0"/>
                <a:cs typeface="Times New Roman" panose="02020603050405020304" pitchFamily="18" charset="0"/>
              </a:rPr>
              <a:t> не </a:t>
            </a:r>
            <a:r>
              <a:rPr lang="ru-RU" sz="2800" dirty="0" err="1">
                <a:latin typeface="Times New Roman" panose="02020603050405020304" pitchFamily="18" charset="0"/>
                <a:cs typeface="Times New Roman" panose="02020603050405020304" pitchFamily="18" charset="0"/>
              </a:rPr>
              <a:t>повинні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розглядатися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ізольовано</a:t>
            </a:r>
            <a:r>
              <a:rPr lang="ru-RU" sz="2800" dirty="0">
                <a:latin typeface="Times New Roman" panose="02020603050405020304" pitchFamily="18" charset="0"/>
                <a:cs typeface="Times New Roman" panose="02020603050405020304" pitchFamily="18" charset="0"/>
              </a:rPr>
              <a:t>. Вони </a:t>
            </a:r>
            <a:r>
              <a:rPr lang="ru-RU" sz="2800" dirty="0" err="1">
                <a:latin typeface="Times New Roman" panose="02020603050405020304" pitchFamily="18" charset="0"/>
                <a:cs typeface="Times New Roman" panose="02020603050405020304" pitchFamily="18" charset="0"/>
              </a:rPr>
              <a:t>формують</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єдину</a:t>
            </a:r>
            <a:r>
              <a:rPr lang="ru-RU" sz="2800" b="1" dirty="0">
                <a:latin typeface="Times New Roman" panose="02020603050405020304" pitchFamily="18" charset="0"/>
                <a:cs typeface="Times New Roman" panose="02020603050405020304" pitchFamily="18" charset="0"/>
              </a:rPr>
              <a:t> систему </a:t>
            </a:r>
            <a:r>
              <a:rPr lang="ru-RU" sz="2800" b="1" dirty="0" err="1">
                <a:latin typeface="Times New Roman" panose="02020603050405020304" pitchFamily="18" charset="0"/>
                <a:cs typeface="Times New Roman" panose="02020603050405020304" pitchFamily="18" charset="0"/>
              </a:rPr>
              <a:t>вимог</a:t>
            </a:r>
            <a:r>
              <a:rPr lang="ru-RU" sz="2800" b="1" dirty="0">
                <a:latin typeface="Times New Roman" panose="02020603050405020304" pitchFamily="18" charset="0"/>
                <a:cs typeface="Times New Roman" panose="02020603050405020304" pitchFamily="18" charset="0"/>
              </a:rPr>
              <a:t> до </a:t>
            </a:r>
            <a:r>
              <a:rPr lang="ru-RU" sz="2800" b="1" dirty="0" err="1">
                <a:latin typeface="Times New Roman" panose="02020603050405020304" pitchFamily="18" charset="0"/>
                <a:cs typeface="Times New Roman" panose="02020603050405020304" pitchFamily="18" charset="0"/>
              </a:rPr>
              <a:t>інформаційної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безпеки</a:t>
            </a:r>
            <a:r>
              <a:rPr lang="ru-RU" sz="2800" dirty="0">
                <a:latin typeface="Times New Roman" panose="02020603050405020304" pitchFamily="18" charset="0"/>
                <a:cs typeface="Times New Roman" panose="02020603050405020304" pitchFamily="18" charset="0"/>
              </a:rPr>
              <a:t>, у </a:t>
            </a:r>
            <a:r>
              <a:rPr lang="ru-RU" sz="2800" dirty="0" err="1">
                <a:latin typeface="Times New Roman" panose="02020603050405020304" pitchFamily="18" charset="0"/>
                <a:cs typeface="Times New Roman" panose="02020603050405020304" pitchFamily="18" charset="0"/>
              </a:rPr>
              <a:t>якій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порушення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однієї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впливати</a:t>
            </a:r>
            <a:r>
              <a:rPr lang="ru-RU" sz="2800" dirty="0">
                <a:latin typeface="Times New Roman" panose="02020603050405020304" pitchFamily="18" charset="0"/>
                <a:cs typeface="Times New Roman" panose="02020603050405020304" pitchFamily="18" charset="0"/>
              </a:rPr>
              <a:t> на </a:t>
            </a:r>
            <a:r>
              <a:rPr lang="ru-RU" sz="2800" dirty="0" err="1">
                <a:latin typeface="Times New Roman" panose="02020603050405020304" pitchFamily="18" charset="0"/>
                <a:cs typeface="Times New Roman" panose="02020603050405020304" pitchFamily="18" charset="0"/>
              </a:rPr>
              <a:t>інші</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Наприклад</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надмірно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жорстке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обмеження</a:t>
            </a:r>
            <a:r>
              <a:rPr lang="ru-RU" sz="2800" dirty="0">
                <a:latin typeface="Times New Roman" panose="02020603050405020304" pitchFamily="18" charset="0"/>
                <a:cs typeface="Times New Roman" panose="02020603050405020304" pitchFamily="18" charset="0"/>
              </a:rPr>
              <a:t> доступу </a:t>
            </a:r>
            <a:r>
              <a:rPr lang="ru-RU" sz="2800" dirty="0" err="1">
                <a:latin typeface="Times New Roman" panose="02020603050405020304" pitchFamily="18" charset="0"/>
                <a:cs typeface="Times New Roman" panose="02020603050405020304" pitchFamily="18" charset="0"/>
              </a:rPr>
              <a:t>може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підвищити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рівень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конфіденційності</a:t>
            </a:r>
            <a:r>
              <a:rPr lang="ru-RU" sz="2800" dirty="0">
                <a:latin typeface="Times New Roman" panose="02020603050405020304" pitchFamily="18" charset="0"/>
                <a:cs typeface="Times New Roman" panose="02020603050405020304" pitchFamily="18" charset="0"/>
              </a:rPr>
              <a:t>, але </a:t>
            </a:r>
            <a:r>
              <a:rPr lang="ru-RU" sz="2800" dirty="0" err="1">
                <a:latin typeface="Times New Roman" panose="02020603050405020304" pitchFamily="18" charset="0"/>
                <a:cs typeface="Times New Roman" panose="02020603050405020304" pitchFamily="18" charset="0"/>
              </a:rPr>
              <a:t>водночас</a:t>
            </a:r>
            <a:r>
              <a:rPr lang="ru-RU" sz="2800" dirty="0">
                <a:latin typeface="Times New Roman" panose="02020603050405020304" pitchFamily="18" charset="0"/>
                <a:cs typeface="Times New Roman" panose="02020603050405020304" pitchFamily="18" charset="0"/>
              </a:rPr>
              <a:t> негативно </a:t>
            </a:r>
            <a:r>
              <a:rPr lang="ru-RU" sz="2800" dirty="0" err="1">
                <a:latin typeface="Times New Roman" panose="02020603050405020304" pitchFamily="18" charset="0"/>
                <a:cs typeface="Times New Roman" panose="02020603050405020304" pitchFamily="18" charset="0"/>
              </a:rPr>
              <a:t>вплинути</a:t>
            </a:r>
            <a:r>
              <a:rPr lang="ru-RU" sz="2800" dirty="0">
                <a:latin typeface="Times New Roman" panose="02020603050405020304" pitchFamily="18" charset="0"/>
                <a:cs typeface="Times New Roman" panose="02020603050405020304" pitchFamily="18" charset="0"/>
              </a:rPr>
              <a:t> на </a:t>
            </a:r>
            <a:r>
              <a:rPr lang="ru-RU" sz="2800" dirty="0" err="1">
                <a:latin typeface="Times New Roman" panose="02020603050405020304" pitchFamily="18" charset="0"/>
                <a:cs typeface="Times New Roman" panose="02020603050405020304" pitchFamily="18" charset="0"/>
              </a:rPr>
              <a:t>доступність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легітимних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користувачів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Аналогічно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застосування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складних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механізмів</a:t>
            </a:r>
            <a:r>
              <a:rPr lang="ru-RU" sz="2800" dirty="0">
                <a:latin typeface="Times New Roman" panose="02020603050405020304" pitchFamily="18" charset="0"/>
                <a:cs typeface="Times New Roman" panose="02020603050405020304" pitchFamily="18" charset="0"/>
              </a:rPr>
              <a:t> контролю </a:t>
            </a:r>
            <a:r>
              <a:rPr lang="ru-RU" sz="2800" dirty="0" err="1">
                <a:latin typeface="Times New Roman" panose="02020603050405020304" pitchFamily="18" charset="0"/>
                <a:cs typeface="Times New Roman" panose="02020603050405020304" pitchFamily="18" charset="0"/>
              </a:rPr>
              <a:t>цілісності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збільшувати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навантаження</a:t>
            </a:r>
            <a:r>
              <a:rPr lang="ru-RU" sz="2800" dirty="0">
                <a:latin typeface="Times New Roman" panose="02020603050405020304" pitchFamily="18" charset="0"/>
                <a:cs typeface="Times New Roman" panose="02020603050405020304" pitchFamily="18" charset="0"/>
              </a:rPr>
              <a:t> на систему та </a:t>
            </a:r>
            <a:r>
              <a:rPr lang="ru-RU" sz="2800" dirty="0" err="1">
                <a:latin typeface="Times New Roman" panose="02020603050405020304" pitchFamily="18" charset="0"/>
                <a:cs typeface="Times New Roman" panose="02020603050405020304" pitchFamily="18" charset="0"/>
              </a:rPr>
              <a:t>впливати</a:t>
            </a:r>
            <a:r>
              <a:rPr lang="ru-RU" sz="2800" dirty="0">
                <a:latin typeface="Times New Roman" panose="02020603050405020304" pitchFamily="18" charset="0"/>
                <a:cs typeface="Times New Roman" panose="02020603050405020304" pitchFamily="18" charset="0"/>
              </a:rPr>
              <a:t> на </a:t>
            </a:r>
            <a:r>
              <a:rPr lang="ru-RU" sz="2800" dirty="0" err="1">
                <a:latin typeface="Times New Roman" panose="02020603050405020304" pitchFamily="18" charset="0"/>
                <a:cs typeface="Times New Roman" panose="02020603050405020304" pitchFamily="18" charset="0"/>
              </a:rPr>
              <a:t>її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продуктивність</a:t>
            </a:r>
            <a:r>
              <a:rPr lang="ru-RU" sz="2800" dirty="0">
                <a:latin typeface="Times New Roman" panose="02020603050405020304" pitchFamily="18" charset="0"/>
                <a:cs typeface="Times New Roman" panose="02020603050405020304" pitchFamily="18" charset="0"/>
              </a:rPr>
              <a:t>. Тому </a:t>
            </a:r>
            <a:r>
              <a:rPr lang="ru-RU" sz="2800" dirty="0" err="1">
                <a:latin typeface="Times New Roman" panose="02020603050405020304" pitchFamily="18" charset="0"/>
                <a:cs typeface="Times New Roman" panose="02020603050405020304" pitchFamily="18" charset="0"/>
              </a:rPr>
              <a:t>під</a:t>
            </a:r>
            <a:r>
              <a:rPr lang="ru-RU" sz="2800" dirty="0">
                <a:latin typeface="Times New Roman" panose="02020603050405020304" pitchFamily="18" charset="0"/>
                <a:cs typeface="Times New Roman" panose="02020603050405020304" pitchFamily="18" charset="0"/>
              </a:rPr>
              <a:t> час проєктування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кібербезпеки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необхідно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забезпечувати</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збалансоване</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співвідношення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між</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конфіденційністю</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цілісністю</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доступністю</a:t>
            </a:r>
            <a:r>
              <a:rPr lang="ru-RU" sz="2800" dirty="0">
                <a:latin typeface="Times New Roman" panose="02020603050405020304" pitchFamily="18" charset="0"/>
                <a:cs typeface="Times New Roman" panose="02020603050405020304" pitchFamily="18" charset="0"/>
              </a:rPr>
              <a:t> з </a:t>
            </a:r>
            <a:r>
              <a:rPr lang="ru-RU" sz="2800" dirty="0" err="1">
                <a:latin typeface="Times New Roman" panose="02020603050405020304" pitchFamily="18" charset="0"/>
                <a:cs typeface="Times New Roman" panose="02020603050405020304" pitchFamily="18" charset="0"/>
              </a:rPr>
              <a:t>урахуванням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критичності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ресурсів</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бізнес-процесів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У практичному </a:t>
            </a:r>
            <a:r>
              <a:rPr lang="ru-RU" sz="2800" dirty="0" err="1">
                <a:latin typeface="Times New Roman" panose="02020603050405020304" pitchFamily="18" charset="0"/>
                <a:cs typeface="Times New Roman" panose="02020603050405020304" pitchFamily="18" charset="0"/>
              </a:rPr>
              <a:t>аспекті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рівень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захисту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визначається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специфікою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конкретної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банківських</a:t>
            </a:r>
            <a:r>
              <a:rPr lang="ru-RU" sz="2800" dirty="0">
                <a:latin typeface="Times New Roman" panose="02020603050405020304" pitchFamily="18" charset="0"/>
                <a:cs typeface="Times New Roman" panose="02020603050405020304" pitchFamily="18" charset="0"/>
              </a:rPr>
              <a:t> систем особливо </a:t>
            </a:r>
            <a:r>
              <a:rPr lang="ru-RU" sz="2800" dirty="0" err="1">
                <a:latin typeface="Times New Roman" panose="02020603050405020304" pitchFamily="18" charset="0"/>
                <a:cs typeface="Times New Roman" panose="02020603050405020304" pitchFamily="18" charset="0"/>
              </a:rPr>
              <a:t>критичними</a:t>
            </a:r>
            <a:r>
              <a:rPr lang="ru-RU" sz="2800" dirty="0">
                <a:latin typeface="Times New Roman" panose="02020603050405020304" pitchFamily="18" charset="0"/>
                <a:cs typeface="Times New Roman" panose="02020603050405020304" pitchFamily="18" charset="0"/>
              </a:rPr>
              <a:t> є </a:t>
            </a:r>
            <a:r>
              <a:rPr lang="ru-RU" sz="2800" dirty="0" err="1">
                <a:latin typeface="Times New Roman" panose="02020603050405020304" pitchFamily="18" charset="0"/>
                <a:cs typeface="Times New Roman" panose="02020603050405020304" pitchFamily="18" charset="0"/>
              </a:rPr>
              <a:t>конфіденційність</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цілісність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фінансових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даних</a:t>
            </a:r>
            <a:r>
              <a:rPr lang="ru-RU" sz="2800" dirty="0">
                <a:latin typeface="Times New Roman" panose="02020603050405020304" pitchFamily="18" charset="0"/>
                <a:cs typeface="Times New Roman" panose="02020603050405020304" pitchFamily="18" charset="0"/>
              </a:rPr>
              <a:t>; для систем </a:t>
            </a:r>
            <a:r>
              <a:rPr lang="ru-RU" sz="2800" dirty="0" err="1">
                <a:latin typeface="Times New Roman" panose="02020603050405020304" pitchFamily="18" charset="0"/>
                <a:cs typeface="Times New Roman" panose="02020603050405020304" pitchFamily="18" charset="0"/>
              </a:rPr>
              <a:t>управління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технологічними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процесами</a:t>
            </a:r>
            <a:r>
              <a:rPr lang="ru-RU" sz="2800" dirty="0">
                <a:latin typeface="Times New Roman" panose="02020603050405020304" pitchFamily="18" charset="0"/>
                <a:cs typeface="Times New Roman" panose="02020603050405020304" pitchFamily="18" charset="0"/>
              </a:rPr>
              <a:t> — </a:t>
            </a:r>
            <a:r>
              <a:rPr lang="ru-RU" sz="2800" dirty="0" err="1">
                <a:latin typeface="Times New Roman" panose="02020603050405020304" pitchFamily="18" charset="0"/>
                <a:cs typeface="Times New Roman" panose="02020603050405020304" pitchFamily="18" charset="0"/>
              </a:rPr>
              <a:t>цілісність</a:t>
            </a:r>
            <a:r>
              <a:rPr lang="ru-RU" sz="2800" dirty="0">
                <a:latin typeface="Times New Roman" panose="02020603050405020304" pitchFamily="18" charset="0"/>
                <a:cs typeface="Times New Roman" panose="02020603050405020304" pitchFamily="18" charset="0"/>
              </a:rPr>
              <a:t> команд та </a:t>
            </a:r>
            <a:r>
              <a:rPr lang="ru-RU" sz="2800" dirty="0" err="1">
                <a:latin typeface="Times New Roman" panose="02020603050405020304" pitchFamily="18" charset="0"/>
                <a:cs typeface="Times New Roman" panose="02020603050405020304" pitchFamily="18" charset="0"/>
              </a:rPr>
              <a:t>доступність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сервісів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електронної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комерції</a:t>
            </a:r>
            <a:r>
              <a:rPr lang="ru-RU" sz="2800" dirty="0">
                <a:latin typeface="Times New Roman" panose="02020603050405020304" pitchFamily="18" charset="0"/>
                <a:cs typeface="Times New Roman" panose="02020603050405020304" pitchFamily="18" charset="0"/>
              </a:rPr>
              <a:t> — </a:t>
            </a:r>
            <a:r>
              <a:rPr lang="ru-RU" sz="2800" dirty="0" err="1">
                <a:latin typeface="Times New Roman" panose="02020603050405020304" pitchFamily="18" charset="0"/>
                <a:cs typeface="Times New Roman" panose="02020603050405020304" pitchFamily="18" charset="0"/>
              </a:rPr>
              <a:t>доступність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цілісність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замовлень</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конфіденційність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клієнтів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Отже</a:t>
            </a:r>
            <a:r>
              <a:rPr lang="ru-RU" sz="2800" dirty="0">
                <a:latin typeface="Times New Roman" panose="02020603050405020304" pitchFamily="18" charset="0"/>
                <a:cs typeface="Times New Roman" panose="02020603050405020304" pitchFamily="18" charset="0"/>
              </a:rPr>
              <a:t>, </a:t>
            </a:r>
            <a:r>
              <a:rPr lang="ru-RU" sz="2800" b="1" dirty="0">
                <a:latin typeface="Times New Roman" panose="02020603050405020304" pitchFamily="18" charset="0"/>
                <a:cs typeface="Times New Roman" panose="02020603050405020304" pitchFamily="18" charset="0"/>
              </a:rPr>
              <a:t>модель </a:t>
            </a:r>
            <a:r>
              <a:rPr lang="en-US" sz="2800" b="1" dirty="0">
                <a:latin typeface="Times New Roman" panose="02020603050405020304" pitchFamily="18" charset="0"/>
                <a:cs typeface="Times New Roman" panose="02020603050405020304" pitchFamily="18" charset="0"/>
              </a:rPr>
              <a:t>CIA</a:t>
            </a:r>
            <a:r>
              <a:rPr lang="ru-RU" sz="2800" b="1" dirty="0">
                <a:latin typeface="Times New Roman" panose="02020603050405020304" pitchFamily="18" charset="0"/>
                <a:cs typeface="Times New Roman" panose="02020603050405020304" pitchFamily="18" charset="0"/>
              </a:rPr>
              <a:t> є фундаментальною концептуальною основою </a:t>
            </a:r>
            <a:r>
              <a:rPr lang="ru-RU" sz="2800" b="1" dirty="0" err="1">
                <a:latin typeface="Times New Roman" panose="02020603050405020304" pitchFamily="18" charset="0"/>
                <a:cs typeface="Times New Roman" panose="02020603050405020304" pitchFamily="18" charset="0"/>
              </a:rPr>
              <a:t>кібербезпеки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що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змогу</a:t>
            </a:r>
            <a:r>
              <a:rPr lang="ru-RU" sz="2800" dirty="0">
                <a:latin typeface="Times New Roman" panose="02020603050405020304" pitchFamily="18" charset="0"/>
                <a:cs typeface="Times New Roman" panose="02020603050405020304" pitchFamily="18" charset="0"/>
              </a:rPr>
              <a:t> системно </a:t>
            </a:r>
            <a:r>
              <a:rPr lang="ru-RU" sz="2800" dirty="0" err="1">
                <a:latin typeface="Times New Roman" panose="02020603050405020304" pitchFamily="18" charset="0"/>
                <a:cs typeface="Times New Roman" panose="02020603050405020304" pitchFamily="18" charset="0"/>
              </a:rPr>
              <a:t>визначати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вимоги</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захисту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систем, мереж, </a:t>
            </a:r>
            <a:r>
              <a:rPr lang="ru-RU" sz="2800" dirty="0" err="1">
                <a:latin typeface="Times New Roman" panose="02020603050405020304" pitchFamily="18" charset="0"/>
                <a:cs typeface="Times New Roman" panose="02020603050405020304" pitchFamily="18" charset="0"/>
              </a:rPr>
              <a:t>програмного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пристроїв</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бізнес-процесів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Реалізація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конфіденційності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цілісності</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доступності</a:t>
            </a:r>
            <a:r>
              <a:rPr lang="ru-RU" sz="2800" dirty="0">
                <a:latin typeface="Times New Roman" panose="02020603050405020304" pitchFamily="18" charset="0"/>
                <a:cs typeface="Times New Roman" panose="02020603050405020304" pitchFamily="18" charset="0"/>
              </a:rPr>
              <a:t> повинна </a:t>
            </a:r>
            <a:r>
              <a:rPr lang="ru-RU" sz="2800" dirty="0" err="1">
                <a:latin typeface="Times New Roman" panose="02020603050405020304" pitchFamily="18" charset="0"/>
                <a:cs typeface="Times New Roman" panose="02020603050405020304" pitchFamily="18" charset="0"/>
              </a:rPr>
              <a:t>здійснюватися</a:t>
            </a:r>
            <a:r>
              <a:rPr lang="ru-RU" sz="2800" dirty="0">
                <a:latin typeface="Times New Roman" panose="02020603050405020304" pitchFamily="18" charset="0"/>
                <a:cs typeface="Times New Roman" panose="02020603050405020304" pitchFamily="18" charset="0"/>
              </a:rPr>
              <a:t> комплексно на </a:t>
            </a:r>
            <a:r>
              <a:rPr lang="ru-RU" sz="2800" dirty="0" err="1">
                <a:latin typeface="Times New Roman" panose="02020603050405020304" pitchFamily="18" charset="0"/>
                <a:cs typeface="Times New Roman" panose="02020603050405020304" pitchFamily="18" charset="0"/>
              </a:rPr>
              <a:t>організаційному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технічному</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програмному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рівнях</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враховувати</a:t>
            </a:r>
            <a:r>
              <a:rPr lang="ru-RU" sz="2800" dirty="0">
                <a:latin typeface="Times New Roman" panose="02020603050405020304" pitchFamily="18" charset="0"/>
                <a:cs typeface="Times New Roman" panose="02020603050405020304" pitchFamily="18" charset="0"/>
              </a:rPr>
              <a:t> характер </a:t>
            </a:r>
            <a:r>
              <a:rPr lang="ru-RU" sz="2800" dirty="0" err="1">
                <a:latin typeface="Times New Roman" panose="02020603050405020304" pitchFamily="18" charset="0"/>
                <a:cs typeface="Times New Roman" panose="02020603050405020304" pitchFamily="18" charset="0"/>
              </a:rPr>
              <a:t>загроз</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цінність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ресурсів</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потенційні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наслідки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реалізації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кіберризиків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r>
              <a:rPr lang="ru-RU" dirty="0"/>
              <a:t> </a:t>
            </a:r>
            <a:endParaRPr lang="en-US" dirty="0"/>
          </a:p>
        </p:txBody>
      </p:sp>
    </p:spTree>
    <p:extLst>
      <p:ext uri="{BB962C8B-B14F-4D97-AF65-F5344CB8AC3E}">
        <p14:creationId xmlns:p14="http://schemas.microsoft.com/office/powerpoint/2010/main" val="3179026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0" y="-4119"/>
            <a:ext cx="16394327" cy="914811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01600" y="26773"/>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0" y="81296"/>
            <a:ext cx="16154400" cy="9356408"/>
          </a:xfrm>
          <a:prstGeom prst="rect">
            <a:avLst/>
          </a:prstGeom>
        </p:spPr>
        <p:txBody>
          <a:bodyPr wrap="square">
            <a:spAutoFit/>
          </a:bodyPr>
          <a:lstStyle/>
          <a:p>
            <a:r>
              <a:rPr lang="ru-RU" sz="2800" dirty="0">
                <a:latin typeface="Times New Roman" panose="02020603050405020304" pitchFamily="18" charset="0"/>
                <a:cs typeface="Times New Roman" panose="02020603050405020304" pitchFamily="18" charset="0"/>
              </a:rPr>
              <a:t>Модель </a:t>
            </a:r>
            <a:r>
              <a:rPr lang="en-US" sz="2800" dirty="0">
                <a:latin typeface="Times New Roman" panose="02020603050405020304" pitchFamily="18" charset="0"/>
                <a:cs typeface="Times New Roman" panose="02020603050405020304" pitchFamily="18" charset="0"/>
              </a:rPr>
              <a:t>CIA</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що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вимоги</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конфіденційності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цілісності</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доступності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є фундаментальною основою </a:t>
            </a:r>
            <a:r>
              <a:rPr lang="ru-RU" sz="2800" dirty="0" err="1">
                <a:latin typeface="Times New Roman" panose="02020603050405020304" pitchFamily="18" charset="0"/>
                <a:cs typeface="Times New Roman" panose="02020603050405020304" pitchFamily="18" charset="0"/>
              </a:rPr>
              <a:t>побудови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кібербезпеки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Водночас</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сучасне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середовище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характеризується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високою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складністю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розподіленістю</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динамічністю</a:t>
            </a:r>
            <a:r>
              <a:rPr lang="ru-RU" sz="2800" dirty="0">
                <a:latin typeface="Times New Roman" panose="02020603050405020304" pitchFamily="18" charset="0"/>
                <a:cs typeface="Times New Roman" panose="02020603050405020304" pitchFamily="18" charset="0"/>
              </a:rPr>
              <a:t>, тому </a:t>
            </a:r>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лише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трьох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базових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властивостей</a:t>
            </a:r>
            <a:r>
              <a:rPr lang="ru-RU" sz="2800" dirty="0">
                <a:latin typeface="Times New Roman" panose="02020603050405020304" pitchFamily="18" charset="0"/>
                <a:cs typeface="Times New Roman" panose="02020603050405020304" pitchFamily="18" charset="0"/>
              </a:rPr>
              <a:t> не </a:t>
            </a:r>
            <a:r>
              <a:rPr lang="ru-RU" sz="2800" dirty="0" err="1">
                <a:latin typeface="Times New Roman" panose="02020603050405020304" pitchFamily="18" charset="0"/>
                <a:cs typeface="Times New Roman" panose="02020603050405020304" pitchFamily="18" charset="0"/>
              </a:rPr>
              <a:t>завжди</a:t>
            </a:r>
            <a:r>
              <a:rPr lang="ru-RU" sz="2800" dirty="0">
                <a:latin typeface="Times New Roman" panose="02020603050405020304" pitchFamily="18" charset="0"/>
                <a:cs typeface="Times New Roman" panose="02020603050405020304" pitchFamily="18" charset="0"/>
              </a:rPr>
              <a:t> є </a:t>
            </a:r>
            <a:r>
              <a:rPr lang="ru-RU" sz="2800" dirty="0" err="1">
                <a:latin typeface="Times New Roman" panose="02020603050405020304" pitchFamily="18" charset="0"/>
                <a:cs typeface="Times New Roman" panose="02020603050405020304" pitchFamily="18" charset="0"/>
              </a:rPr>
              <a:t>достатнім</a:t>
            </a:r>
            <a:r>
              <a:rPr lang="ru-RU" sz="2800" dirty="0">
                <a:latin typeface="Times New Roman" panose="02020603050405020304" pitchFamily="18" charset="0"/>
                <a:cs typeface="Times New Roman" panose="02020603050405020304" pitchFamily="18" charset="0"/>
              </a:rPr>
              <a:t> для комплексного </a:t>
            </a:r>
            <a:r>
              <a:rPr lang="ru-RU" sz="2800" dirty="0" err="1">
                <a:latin typeface="Times New Roman" panose="02020603050405020304" pitchFamily="18" charset="0"/>
                <a:cs typeface="Times New Roman" panose="02020603050405020304" pitchFamily="18" charset="0"/>
              </a:rPr>
              <a:t>захисту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ресурсів</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бізнес-процесів</a:t>
            </a:r>
            <a:r>
              <a:rPr lang="ru-RU" sz="2800" dirty="0">
                <a:latin typeface="Times New Roman" panose="02020603050405020304" pitchFamily="18" charset="0"/>
                <a:cs typeface="Times New Roman" panose="02020603050405020304" pitchFamily="18" charset="0"/>
              </a:rPr>
              <a:t>. У </a:t>
            </a:r>
            <a:r>
              <a:rPr lang="ru-RU" sz="2800" dirty="0" err="1">
                <a:latin typeface="Times New Roman" panose="02020603050405020304" pitchFamily="18" charset="0"/>
                <a:cs typeface="Times New Roman" panose="02020603050405020304" pitchFamily="18" charset="0"/>
              </a:rPr>
              <a:t>зв’язку</a:t>
            </a:r>
            <a:r>
              <a:rPr lang="ru-RU" sz="2800" dirty="0">
                <a:latin typeface="Times New Roman" panose="02020603050405020304" pitchFamily="18" charset="0"/>
                <a:cs typeface="Times New Roman" panose="02020603050405020304" pitchFamily="18" charset="0"/>
              </a:rPr>
              <a:t> з </a:t>
            </a:r>
            <a:r>
              <a:rPr lang="ru-RU" sz="2800" dirty="0" err="1">
                <a:latin typeface="Times New Roman" panose="02020603050405020304" pitchFamily="18" charset="0"/>
                <a:cs typeface="Times New Roman" panose="02020603050405020304" pitchFamily="18" charset="0"/>
              </a:rPr>
              <a:t>цим</a:t>
            </a:r>
            <a:r>
              <a:rPr lang="ru-RU" sz="2800" dirty="0">
                <a:latin typeface="Times New Roman" panose="02020603050405020304" pitchFamily="18" charset="0"/>
                <a:cs typeface="Times New Roman" panose="02020603050405020304" pitchFamily="18" charset="0"/>
              </a:rPr>
              <a:t> у </a:t>
            </a:r>
            <a:r>
              <a:rPr lang="ru-RU" sz="2800" dirty="0" err="1">
                <a:latin typeface="Times New Roman" panose="02020603050405020304" pitchFamily="18" charset="0"/>
                <a:cs typeface="Times New Roman" panose="02020603050405020304" pitchFamily="18" charset="0"/>
              </a:rPr>
              <a:t>сучасній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практиці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кібербезпеки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застосовується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сукупність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додаткових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принципів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спрямованих</a:t>
            </a:r>
            <a:r>
              <a:rPr lang="ru-RU" sz="2800" dirty="0">
                <a:latin typeface="Times New Roman" panose="02020603050405020304" pitchFamily="18" charset="0"/>
                <a:cs typeface="Times New Roman" panose="02020603050405020304" pitchFamily="18" charset="0"/>
              </a:rPr>
              <a:t> на </a:t>
            </a:r>
            <a:r>
              <a:rPr lang="ru-RU" sz="2800" dirty="0" err="1">
                <a:latin typeface="Times New Roman" panose="02020603050405020304" pitchFamily="18" charset="0"/>
                <a:cs typeface="Times New Roman" panose="02020603050405020304" pitchFamily="18" charset="0"/>
              </a:rPr>
              <a:t>підтвердження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достовірності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суб’єктів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забезпечення</a:t>
            </a:r>
            <a:r>
              <a:rPr lang="ru-RU" sz="2800" dirty="0">
                <a:latin typeface="Times New Roman" panose="02020603050405020304" pitchFamily="18" charset="0"/>
                <a:cs typeface="Times New Roman" panose="02020603050405020304" pitchFamily="18" charset="0"/>
              </a:rPr>
              <a:t> контролю </a:t>
            </a:r>
            <a:r>
              <a:rPr lang="ru-RU" sz="2800" dirty="0" err="1">
                <a:latin typeface="Times New Roman" panose="02020603050405020304" pitchFamily="18" charset="0"/>
                <a:cs typeface="Times New Roman" panose="02020603050405020304" pitchFamily="18" charset="0"/>
              </a:rPr>
              <a:t>їхніх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мінімізацію</a:t>
            </a:r>
            <a:r>
              <a:rPr lang="ru-RU" sz="2800" dirty="0">
                <a:latin typeface="Times New Roman" panose="02020603050405020304" pitchFamily="18" charset="0"/>
                <a:cs typeface="Times New Roman" panose="02020603050405020304" pitchFamily="18" charset="0"/>
              </a:rPr>
              <a:t> прав доступу, </a:t>
            </a:r>
            <a:r>
              <a:rPr lang="ru-RU" sz="2800" dirty="0" err="1">
                <a:latin typeface="Times New Roman" panose="02020603050405020304" pitchFamily="18" charset="0"/>
                <a:cs typeface="Times New Roman" panose="02020603050405020304" pitchFamily="18" charset="0"/>
              </a:rPr>
              <a:t>побудову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багаторівневої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захисту</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врахування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вимог</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безпеки</a:t>
            </a:r>
            <a:r>
              <a:rPr lang="ru-RU" sz="2800" dirty="0">
                <a:latin typeface="Times New Roman" panose="02020603050405020304" pitchFamily="18" charset="0"/>
                <a:cs typeface="Times New Roman" panose="02020603050405020304" pitchFamily="18" charset="0"/>
              </a:rPr>
              <a:t> на </a:t>
            </a:r>
            <a:r>
              <a:rPr lang="ru-RU" sz="2800" dirty="0" err="1">
                <a:latin typeface="Times New Roman" panose="02020603050405020304" pitchFamily="18" charset="0"/>
                <a:cs typeface="Times New Roman" panose="02020603050405020304" pitchFamily="18" charset="0"/>
              </a:rPr>
              <a:t>всіх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етапах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життєвого</a:t>
            </a:r>
            <a:r>
              <a:rPr lang="ru-RU" sz="2800" dirty="0">
                <a:latin typeface="Times New Roman" panose="02020603050405020304" pitchFamily="18" charset="0"/>
                <a:cs typeface="Times New Roman" panose="02020603050405020304" pitchFamily="18" charset="0"/>
              </a:rPr>
              <a:t> циклу </a:t>
            </a:r>
            <a:r>
              <a:rPr lang="ru-RU" sz="2800" dirty="0" err="1">
                <a:latin typeface="Times New Roman" panose="02020603050405020304" pitchFamily="18" charset="0"/>
                <a:cs typeface="Times New Roman" panose="02020603050405020304" pitchFamily="18" charset="0"/>
              </a:rPr>
              <a:t>інформаційної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r>
              <a:rPr lang="ru-RU" sz="2800" b="1" dirty="0" err="1">
                <a:latin typeface="Times New Roman" panose="02020603050405020304" pitchFamily="18" charset="0"/>
                <a:cs typeface="Times New Roman" panose="02020603050405020304" pitchFamily="18" charset="0"/>
              </a:rPr>
              <a:t>Автентичність</a:t>
            </a:r>
            <a:endParaRPr lang="en-US" sz="2800" b="1" dirty="0">
              <a:latin typeface="Times New Roman" panose="02020603050405020304" pitchFamily="18" charset="0"/>
              <a:cs typeface="Times New Roman" panose="02020603050405020304" pitchFamily="18" charset="0"/>
            </a:endParaRPr>
          </a:p>
          <a:p>
            <a:r>
              <a:rPr lang="ru-RU" sz="2800" b="1" dirty="0" err="1">
                <a:latin typeface="Times New Roman" panose="02020603050405020304" pitchFamily="18" charset="0"/>
                <a:cs typeface="Times New Roman" panose="02020603050405020304" pitchFamily="18" charset="0"/>
              </a:rPr>
              <a:t>Автентичність</a:t>
            </a:r>
            <a:r>
              <a:rPr lang="ru-RU" sz="2800" dirty="0">
                <a:latin typeface="Times New Roman" panose="02020603050405020304" pitchFamily="18" charset="0"/>
                <a:cs typeface="Times New Roman" panose="02020603050405020304" pitchFamily="18" charset="0"/>
              </a:rPr>
              <a:t> </a:t>
            </a:r>
            <a:r>
              <a:rPr lang="uk-UA" sz="2800"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 яка </a:t>
            </a:r>
            <a:r>
              <a:rPr lang="ru-RU" sz="2800" dirty="0" err="1">
                <a:latin typeface="Times New Roman" panose="02020603050405020304" pitchFamily="18" charset="0"/>
                <a:cs typeface="Times New Roman" panose="02020603050405020304" pitchFamily="18" charset="0"/>
              </a:rPr>
              <a:t>забезпечує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можливість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підтвердити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справжність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суб’єкта</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об’єкта</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джерела</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встановити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між</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заявленою</a:t>
            </a:r>
            <a:r>
              <a:rPr lang="ru-RU" sz="2800" dirty="0">
                <a:latin typeface="Times New Roman" panose="02020603050405020304" pitchFamily="18" charset="0"/>
                <a:cs typeface="Times New Roman" panose="02020603050405020304" pitchFamily="18" charset="0"/>
              </a:rPr>
              <a:t> і фактичною </a:t>
            </a:r>
            <a:r>
              <a:rPr lang="ru-RU" sz="2800" dirty="0" err="1">
                <a:latin typeface="Times New Roman" panose="02020603050405020304" pitchFamily="18" charset="0"/>
                <a:cs typeface="Times New Roman" panose="02020603050405020304" pitchFamily="18" charset="0"/>
              </a:rPr>
              <a:t>ідентичністю</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r>
              <a:rPr lang="ru-RU" sz="2800" dirty="0">
                <a:latin typeface="Times New Roman" panose="02020603050405020304" pitchFamily="18" charset="0"/>
                <a:cs typeface="Times New Roman" panose="02020603050405020304" pitchFamily="18" charset="0"/>
              </a:rPr>
              <a:t>У </a:t>
            </a:r>
            <a:r>
              <a:rPr lang="ru-RU" sz="2800" dirty="0" err="1">
                <a:latin typeface="Times New Roman" panose="02020603050405020304" pitchFamily="18" charset="0"/>
                <a:cs typeface="Times New Roman" panose="02020603050405020304" pitchFamily="18" charset="0"/>
              </a:rPr>
              <a:t>контексті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кібербезпеки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автентичність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означає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що</a:t>
            </a:r>
            <a:r>
              <a:rPr lang="ru-RU" sz="2800" dirty="0">
                <a:latin typeface="Times New Roman" panose="02020603050405020304" pitchFamily="18" charset="0"/>
                <a:cs typeface="Times New Roman" panose="02020603050405020304" pitchFamily="18" charset="0"/>
              </a:rPr>
              <a:t> система повинна </a:t>
            </a:r>
            <a:r>
              <a:rPr lang="ru-RU" sz="2800" dirty="0" err="1">
                <a:latin typeface="Times New Roman" panose="02020603050405020304" pitchFamily="18" charset="0"/>
                <a:cs typeface="Times New Roman" panose="02020603050405020304" pitchFamily="18" charset="0"/>
              </a:rPr>
              <a:t>мати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можливість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достовірно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визначити</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хто</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саме</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отримує</a:t>
            </a:r>
            <a:r>
              <a:rPr lang="ru-RU" sz="2800" b="1" dirty="0">
                <a:latin typeface="Times New Roman" panose="02020603050405020304" pitchFamily="18" charset="0"/>
                <a:cs typeface="Times New Roman" panose="02020603050405020304" pitchFamily="18" charset="0"/>
              </a:rPr>
              <a:t> доступ до ресурсу, </a:t>
            </a:r>
            <a:r>
              <a:rPr lang="ru-RU" sz="2800" b="1" dirty="0" err="1">
                <a:latin typeface="Times New Roman" panose="02020603050405020304" pitchFamily="18" charset="0"/>
                <a:cs typeface="Times New Roman" panose="02020603050405020304" pitchFamily="18" charset="0"/>
              </a:rPr>
              <a:t>який</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пристрій</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здійснює</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підключення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або</a:t>
            </a:r>
            <a:r>
              <a:rPr lang="ru-RU" sz="2800" b="1" dirty="0">
                <a:latin typeface="Times New Roman" panose="02020603050405020304" pitchFamily="18" charset="0"/>
                <a:cs typeface="Times New Roman" panose="02020603050405020304" pitchFamily="18" charset="0"/>
              </a:rPr>
              <a:t> яка система </a:t>
            </a:r>
            <a:r>
              <a:rPr lang="ru-RU" sz="2800" b="1" dirty="0" err="1">
                <a:latin typeface="Times New Roman" panose="02020603050405020304" pitchFamily="18" charset="0"/>
                <a:cs typeface="Times New Roman" panose="02020603050405020304" pitchFamily="18" charset="0"/>
              </a:rPr>
              <a:t>сформувала</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певне</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повідомлення</a:t>
            </a:r>
            <a:r>
              <a:rPr lang="ru-RU" sz="2800" dirty="0">
                <a:latin typeface="Times New Roman" panose="02020603050405020304" pitchFamily="18" charset="0"/>
                <a:cs typeface="Times New Roman" panose="02020603050405020304" pitchFamily="18" charset="0"/>
              </a:rPr>
              <a:t>. Таким чином, </a:t>
            </a:r>
            <a:r>
              <a:rPr lang="ru-RU" sz="2800" dirty="0" err="1">
                <a:latin typeface="Times New Roman" panose="02020603050405020304" pitchFamily="18" charset="0"/>
                <a:cs typeface="Times New Roman" panose="02020603050405020304" pitchFamily="18" charset="0"/>
              </a:rPr>
              <a:t>автентичність</a:t>
            </a:r>
            <a:r>
              <a:rPr lang="ru-RU" sz="2800" dirty="0">
                <a:latin typeface="Times New Roman" panose="02020603050405020304" pitchFamily="18" charset="0"/>
                <a:cs typeface="Times New Roman" panose="02020603050405020304" pitchFamily="18" charset="0"/>
              </a:rPr>
              <a:t> є </a:t>
            </a:r>
            <a:r>
              <a:rPr lang="ru-RU" sz="2800" dirty="0" err="1">
                <a:latin typeface="Times New Roman" panose="02020603050405020304" pitchFamily="18" charset="0"/>
                <a:cs typeface="Times New Roman" panose="02020603050405020304" pitchFamily="18" charset="0"/>
              </a:rPr>
              <a:t>важливою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передумовою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безпечного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управління</a:t>
            </a:r>
            <a:r>
              <a:rPr lang="ru-RU" sz="2800" dirty="0">
                <a:latin typeface="Times New Roman" panose="02020603050405020304" pitchFamily="18" charset="0"/>
                <a:cs typeface="Times New Roman" panose="02020603050405020304" pitchFamily="18" charset="0"/>
              </a:rPr>
              <a:t> доступом</a:t>
            </a:r>
            <a:r>
              <a:rPr lang="ru-RU" sz="2800" dirty="0" smtClean="0">
                <a:latin typeface="Times New Roman" panose="02020603050405020304" pitchFamily="18" charset="0"/>
                <a:cs typeface="Times New Roman" panose="02020603050405020304" pitchFamily="18" charset="0"/>
              </a:rPr>
              <a:t>.</a:t>
            </a:r>
          </a:p>
          <a:p>
            <a:r>
              <a:rPr lang="ru-RU" sz="2800" dirty="0" err="1">
                <a:latin typeface="Times New Roman" panose="02020603050405020304" pitchFamily="18" charset="0"/>
                <a:cs typeface="Times New Roman" panose="02020603050405020304" pitchFamily="18" charset="0"/>
              </a:rPr>
              <a:t>Необхідно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розрізняти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поняття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ідентифікації</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автентифікації</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Ідентифікація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полягає</a:t>
            </a:r>
            <a:r>
              <a:rPr lang="ru-RU" sz="2800" dirty="0">
                <a:latin typeface="Times New Roman" panose="02020603050405020304" pitchFamily="18" charset="0"/>
                <a:cs typeface="Times New Roman" panose="02020603050405020304" pitchFamily="18" charset="0"/>
              </a:rPr>
              <a:t> у </a:t>
            </a:r>
            <a:r>
              <a:rPr lang="ru-RU" sz="2800" dirty="0" err="1">
                <a:latin typeface="Times New Roman" panose="02020603050405020304" pitchFamily="18" charset="0"/>
                <a:cs typeface="Times New Roman" panose="02020603050405020304" pitchFamily="18" charset="0"/>
              </a:rPr>
              <a:t>заявленні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суб’єктом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певної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ідентичності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наприклад</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введенні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імені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користувача</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Автентифікація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передбачає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перевірку</a:t>
            </a:r>
            <a:r>
              <a:rPr lang="ru-RU" sz="2800" dirty="0">
                <a:latin typeface="Times New Roman" panose="02020603050405020304" pitchFamily="18" charset="0"/>
                <a:cs typeface="Times New Roman" panose="02020603050405020304" pitchFamily="18" charset="0"/>
              </a:rPr>
              <a:t> того, </a:t>
            </a:r>
            <a:r>
              <a:rPr lang="ru-RU" sz="2800" dirty="0" err="1">
                <a:latin typeface="Times New Roman" panose="02020603050405020304" pitchFamily="18" charset="0"/>
                <a:cs typeface="Times New Roman" panose="02020603050405020304" pitchFamily="18" charset="0"/>
              </a:rPr>
              <a:t>що</a:t>
            </a:r>
            <a:r>
              <a:rPr lang="ru-RU" sz="2800" dirty="0">
                <a:latin typeface="Times New Roman" panose="02020603050405020304" pitchFamily="18" charset="0"/>
                <a:cs typeface="Times New Roman" panose="02020603050405020304" pitchFamily="18" charset="0"/>
              </a:rPr>
              <a:t> заявлена </a:t>
            </a:r>
            <a:r>
              <a:rPr lang="ru-RU" sz="2800" dirty="0" err="1">
                <a:latin typeface="Times New Roman" panose="02020603050405020304" pitchFamily="18" charset="0"/>
                <a:cs typeface="Times New Roman" panose="02020603050405020304" pitchFamily="18" charset="0"/>
              </a:rPr>
              <a:t>ідентичність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дійсно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належить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відповідному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суб’єкту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Авторизація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своєю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чергою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набір</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операцій</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ресурсів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доступних</a:t>
            </a:r>
            <a:r>
              <a:rPr lang="ru-RU" sz="2800" dirty="0">
                <a:latin typeface="Times New Roman" panose="02020603050405020304" pitchFamily="18" charset="0"/>
                <a:cs typeface="Times New Roman" panose="02020603050405020304" pitchFamily="18" charset="0"/>
              </a:rPr>
              <a:t> уже </a:t>
            </a:r>
            <a:r>
              <a:rPr lang="ru-RU" sz="2800" dirty="0" err="1">
                <a:latin typeface="Times New Roman" panose="02020603050405020304" pitchFamily="18" charset="0"/>
                <a:cs typeface="Times New Roman" panose="02020603050405020304" pitchFamily="18" charset="0"/>
              </a:rPr>
              <a:t>автентифікованому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суб’єкту</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ru-RU" dirty="0"/>
              <a:t> </a:t>
            </a:r>
            <a:endParaRPr lang="en-US" dirty="0"/>
          </a:p>
        </p:txBody>
      </p:sp>
    </p:spTree>
    <p:extLst>
      <p:ext uri="{BB962C8B-B14F-4D97-AF65-F5344CB8AC3E}">
        <p14:creationId xmlns:p14="http://schemas.microsoft.com/office/powerpoint/2010/main" val="2408102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01600" y="26773"/>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0" y="81296"/>
            <a:ext cx="16154400" cy="9140964"/>
          </a:xfrm>
          <a:prstGeom prst="rect">
            <a:avLst/>
          </a:prstGeom>
        </p:spPr>
        <p:txBody>
          <a:bodyPr wrap="square">
            <a:spAutoFit/>
          </a:bodyPr>
          <a:lstStyle/>
          <a:p>
            <a:pPr algn="just"/>
            <a:r>
              <a:rPr lang="ru-RU" sz="2800" b="1" dirty="0" err="1">
                <a:latin typeface="Times New Roman" panose="02020603050405020304" pitchFamily="18" charset="0"/>
                <a:cs typeface="Times New Roman" panose="02020603050405020304" pitchFamily="18" charset="0"/>
              </a:rPr>
              <a:t>Підзвітність</a:t>
            </a:r>
            <a:endParaRPr lang="en-US" sz="2800" b="1" dirty="0">
              <a:latin typeface="Times New Roman" panose="02020603050405020304" pitchFamily="18" charset="0"/>
              <a:cs typeface="Times New Roman" panose="02020603050405020304" pitchFamily="18" charset="0"/>
            </a:endParaRPr>
          </a:p>
          <a:p>
            <a:pPr algn="just"/>
            <a:r>
              <a:rPr lang="ru-RU" sz="2800" b="1" dirty="0" err="1">
                <a:latin typeface="Times New Roman" panose="02020603050405020304" pitchFamily="18" charset="0"/>
                <a:cs typeface="Times New Roman" panose="02020603050405020304" pitchFamily="18" charset="0"/>
              </a:rPr>
              <a:t>Підзвітність</a:t>
            </a:r>
            <a:r>
              <a:rPr lang="ru-RU" sz="2800" dirty="0">
                <a:latin typeface="Times New Roman" panose="02020603050405020304" pitchFamily="18" charset="0"/>
                <a:cs typeface="Times New Roman" panose="02020603050405020304" pitchFamily="18" charset="0"/>
              </a:rPr>
              <a:t> - </a:t>
            </a:r>
            <a:r>
              <a:rPr lang="ru-RU" sz="2800" dirty="0" err="1">
                <a:latin typeface="Times New Roman" panose="02020603050405020304" pitchFamily="18" charset="0"/>
                <a:cs typeface="Times New Roman" panose="02020603050405020304" pitchFamily="18" charset="0"/>
              </a:rPr>
              <a:t>це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властивість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системи</a:t>
            </a:r>
            <a:r>
              <a:rPr lang="ru-RU" sz="2800" dirty="0">
                <a:latin typeface="Times New Roman" panose="02020603050405020304" pitchFamily="18" charset="0"/>
                <a:cs typeface="Times New Roman" panose="02020603050405020304" pitchFamily="18" charset="0"/>
              </a:rPr>
              <a:t>, яка </a:t>
            </a:r>
            <a:r>
              <a:rPr lang="ru-RU" sz="2800" dirty="0" err="1">
                <a:latin typeface="Times New Roman" panose="02020603050405020304" pitchFamily="18" charset="0"/>
                <a:cs typeface="Times New Roman" panose="02020603050405020304" pitchFamily="18" charset="0"/>
              </a:rPr>
              <a:t>забезпечує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можливість</a:t>
            </a:r>
            <a:r>
              <a:rPr lang="ru-RU" sz="2800" dirty="0">
                <a:latin typeface="Times New Roman" panose="02020603050405020304" pitchFamily="18" charset="0"/>
                <a:cs typeface="Times New Roman" panose="02020603050405020304" pitchFamily="18" charset="0"/>
              </a:rPr>
              <a:t> однозначно </a:t>
            </a:r>
            <a:r>
              <a:rPr lang="ru-RU" sz="2800" dirty="0" err="1">
                <a:latin typeface="Times New Roman" panose="02020603050405020304" pitchFamily="18" charset="0"/>
                <a:cs typeface="Times New Roman" panose="02020603050405020304" pitchFamily="18" charset="0"/>
              </a:rPr>
              <a:t>встановити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між</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певною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дією</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суб’єктом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який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її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здійснив</a:t>
            </a:r>
            <a:r>
              <a:rPr lang="ru-RU" sz="2800" dirty="0">
                <a:latin typeface="Times New Roman" panose="02020603050405020304" pitchFamily="18" charset="0"/>
                <a:cs typeface="Times New Roman" panose="02020603050405020304" pitchFamily="18" charset="0"/>
              </a:rPr>
              <a:t>, а </a:t>
            </a:r>
            <a:r>
              <a:rPr lang="ru-RU" sz="2800" dirty="0" err="1">
                <a:latin typeface="Times New Roman" panose="02020603050405020304" pitchFamily="18" charset="0"/>
                <a:cs typeface="Times New Roman" panose="02020603050405020304" pitchFamily="18" charset="0"/>
              </a:rPr>
              <a:t>також</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визначити</a:t>
            </a:r>
            <a:r>
              <a:rPr lang="ru-RU" sz="2800" dirty="0">
                <a:latin typeface="Times New Roman" panose="02020603050405020304" pitchFamily="18" charset="0"/>
                <a:cs typeface="Times New Roman" panose="02020603050405020304" pitchFamily="18" charset="0"/>
              </a:rPr>
              <a:t> час, </a:t>
            </a:r>
            <a:r>
              <a:rPr lang="ru-RU" sz="2800" dirty="0" err="1">
                <a:latin typeface="Times New Roman" panose="02020603050405020304" pitchFamily="18" charset="0"/>
                <a:cs typeface="Times New Roman" panose="02020603050405020304" pitchFamily="18" charset="0"/>
              </a:rPr>
              <a:t>обставини</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результати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цієї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дії</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Підзвітність</a:t>
            </a:r>
            <a:r>
              <a:rPr lang="ru-RU" sz="2800" dirty="0">
                <a:latin typeface="Times New Roman" panose="02020603050405020304" pitchFamily="18" charset="0"/>
                <a:cs typeface="Times New Roman" panose="02020603050405020304" pitchFamily="18" charset="0"/>
              </a:rPr>
              <a:t> є </a:t>
            </a:r>
            <a:r>
              <a:rPr lang="ru-RU" sz="2800" dirty="0" err="1">
                <a:latin typeface="Times New Roman" panose="02020603050405020304" pitchFamily="18" charset="0"/>
                <a:cs typeface="Times New Roman" panose="02020603050405020304" pitchFamily="18" charset="0"/>
              </a:rPr>
              <a:t>важливим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елементом</a:t>
            </a:r>
            <a:r>
              <a:rPr lang="ru-RU" sz="2800" dirty="0">
                <a:latin typeface="Times New Roman" panose="02020603050405020304" pitchFamily="18" charset="0"/>
                <a:cs typeface="Times New Roman" panose="02020603050405020304" pitchFamily="18" charset="0"/>
              </a:rPr>
              <a:t> контролю </a:t>
            </a:r>
            <a:r>
              <a:rPr lang="ru-RU" sz="2800" dirty="0" err="1">
                <a:latin typeface="Times New Roman" panose="02020603050405020304" pitchFamily="18" charset="0"/>
                <a:cs typeface="Times New Roman" panose="02020603050405020304" pitchFamily="18" charset="0"/>
              </a:rPr>
              <a:t>інформаційної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безпеки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оскільки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забезпечує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можливість</a:t>
            </a:r>
            <a:r>
              <a:rPr lang="ru-RU" sz="2800"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відстеження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подій</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розслідування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інцидентів</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виявлення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порушень</a:t>
            </a:r>
            <a:r>
              <a:rPr lang="ru-RU" sz="2800" b="1" dirty="0">
                <a:latin typeface="Times New Roman" panose="02020603050405020304" pitchFamily="18" charset="0"/>
                <a:cs typeface="Times New Roman" panose="02020603050405020304" pitchFamily="18" charset="0"/>
              </a:rPr>
              <a:t> і </a:t>
            </a:r>
            <a:r>
              <a:rPr lang="ru-RU" sz="2800" b="1" dirty="0" err="1">
                <a:latin typeface="Times New Roman" panose="02020603050405020304" pitchFamily="18" charset="0"/>
                <a:cs typeface="Times New Roman" panose="02020603050405020304" pitchFamily="18" charset="0"/>
              </a:rPr>
              <a:t>встановлення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відповідальних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суб’єктів</a:t>
            </a:r>
            <a:r>
              <a:rPr lang="ru-RU" sz="2800" dirty="0">
                <a:latin typeface="Times New Roman" panose="02020603050405020304" pitchFamily="18" charset="0"/>
                <a:cs typeface="Times New Roman" panose="02020603050405020304" pitchFamily="18" charset="0"/>
              </a:rPr>
              <a:t>. Вона </a:t>
            </a:r>
            <a:r>
              <a:rPr lang="ru-RU" sz="2800" dirty="0" err="1">
                <a:latin typeface="Times New Roman" panose="02020603050405020304" pitchFamily="18" charset="0"/>
                <a:cs typeface="Times New Roman" panose="02020603050405020304" pitchFamily="18" charset="0"/>
              </a:rPr>
              <a:t>передбачає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ведення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журналів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подій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реєстрацію</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операцій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користувачів</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системних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компонентів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збереження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інформації</a:t>
            </a:r>
            <a:r>
              <a:rPr lang="ru-RU" sz="2800" dirty="0">
                <a:latin typeface="Times New Roman" panose="02020603050405020304" pitchFamily="18" charset="0"/>
                <a:cs typeface="Times New Roman" panose="02020603050405020304" pitchFamily="18" charset="0"/>
              </a:rPr>
              <a:t> про </a:t>
            </a:r>
            <a:r>
              <a:rPr lang="ru-RU" sz="2800" dirty="0" err="1">
                <a:latin typeface="Times New Roman" panose="02020603050405020304" pitchFamily="18" charset="0"/>
                <a:cs typeface="Times New Roman" panose="02020603050405020304" pitchFamily="18" charset="0"/>
              </a:rPr>
              <a:t>спроби</a:t>
            </a:r>
            <a:r>
              <a:rPr lang="ru-RU" sz="2800" dirty="0">
                <a:latin typeface="Times New Roman" panose="02020603050405020304" pitchFamily="18" charset="0"/>
                <a:cs typeface="Times New Roman" panose="02020603050405020304" pitchFamily="18" charset="0"/>
              </a:rPr>
              <a:t> доступу та контроль </a:t>
            </a:r>
            <a:r>
              <a:rPr lang="ru-RU" sz="2800" dirty="0" err="1">
                <a:latin typeface="Times New Roman" panose="02020603050405020304" pitchFamily="18" charset="0"/>
                <a:cs typeface="Times New Roman" panose="02020603050405020304" pitchFamily="18" charset="0"/>
              </a:rPr>
              <a:t>адміністративних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дій</a:t>
            </a:r>
            <a:r>
              <a:rPr lang="ru-RU" sz="2800" dirty="0" smtClean="0">
                <a:latin typeface="Times New Roman" panose="02020603050405020304" pitchFamily="18" charset="0"/>
                <a:cs typeface="Times New Roman" panose="02020603050405020304" pitchFamily="18" charset="0"/>
              </a:rPr>
              <a:t>.</a:t>
            </a:r>
          </a:p>
          <a:p>
            <a:pPr algn="just"/>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У системах аудиту </a:t>
            </a:r>
            <a:r>
              <a:rPr lang="ru-RU" sz="2800" dirty="0" err="1">
                <a:latin typeface="Times New Roman" panose="02020603050405020304" pitchFamily="18" charset="0"/>
                <a:cs typeface="Times New Roman" panose="02020603050405020304" pitchFamily="18" charset="0"/>
              </a:rPr>
              <a:t>доцільно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фіксувати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інформацію</a:t>
            </a:r>
            <a:r>
              <a:rPr lang="ru-RU" sz="2800" dirty="0">
                <a:latin typeface="Times New Roman" panose="02020603050405020304" pitchFamily="18" charset="0"/>
                <a:cs typeface="Times New Roman" panose="02020603050405020304" pitchFamily="18" charset="0"/>
              </a:rPr>
              <a:t> про те, </a:t>
            </a:r>
            <a:r>
              <a:rPr lang="ru-RU" sz="2800" b="1" dirty="0" err="1">
                <a:latin typeface="Times New Roman" panose="02020603050405020304" pitchFamily="18" charset="0"/>
                <a:cs typeface="Times New Roman" panose="02020603050405020304" pitchFamily="18" charset="0"/>
              </a:rPr>
              <a:t>хто</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виконав</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дію</a:t>
            </a:r>
            <a:r>
              <a:rPr lang="ru-RU" sz="2800" b="1" dirty="0">
                <a:latin typeface="Times New Roman" panose="02020603050405020304" pitchFamily="18" charset="0"/>
                <a:cs typeface="Times New Roman" panose="02020603050405020304" pitchFamily="18" charset="0"/>
              </a:rPr>
              <a:t>, коли вона </a:t>
            </a:r>
            <a:r>
              <a:rPr lang="ru-RU" sz="2800" b="1" dirty="0" err="1">
                <a:latin typeface="Times New Roman" panose="02020603050405020304" pitchFamily="18" charset="0"/>
                <a:cs typeface="Times New Roman" panose="02020603050405020304" pitchFamily="18" charset="0"/>
              </a:rPr>
              <a:t>була</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виконана</a:t>
            </a:r>
            <a:r>
              <a:rPr lang="ru-RU" sz="2800" b="1" dirty="0">
                <a:latin typeface="Times New Roman" panose="02020603050405020304" pitchFamily="18" charset="0"/>
                <a:cs typeface="Times New Roman" panose="02020603050405020304" pitchFamily="18" charset="0"/>
              </a:rPr>
              <a:t>, з </a:t>
            </a:r>
            <a:r>
              <a:rPr lang="ru-RU" sz="2800" b="1" dirty="0" err="1">
                <a:latin typeface="Times New Roman" panose="02020603050405020304" pitchFamily="18" charset="0"/>
                <a:cs typeface="Times New Roman" panose="02020603050405020304" pitchFamily="18" charset="0"/>
              </a:rPr>
              <a:t>якого</a:t>
            </a:r>
            <a:r>
              <a:rPr lang="ru-RU" sz="2800" b="1" dirty="0">
                <a:latin typeface="Times New Roman" panose="02020603050405020304" pitchFamily="18" charset="0"/>
                <a:cs typeface="Times New Roman" panose="02020603050405020304" pitchFamily="18" charset="0"/>
              </a:rPr>
              <a:t> пристрою </a:t>
            </a:r>
            <a:r>
              <a:rPr lang="ru-RU" sz="2800" b="1" dirty="0" err="1">
                <a:latin typeface="Times New Roman" panose="02020603050405020304" pitchFamily="18" charset="0"/>
                <a:cs typeface="Times New Roman" panose="02020603050405020304" pitchFamily="18" charset="0"/>
              </a:rPr>
              <a:t>або</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мережевого</a:t>
            </a:r>
            <a:r>
              <a:rPr lang="ru-RU" sz="2800" b="1" dirty="0">
                <a:latin typeface="Times New Roman" panose="02020603050405020304" pitchFamily="18" charset="0"/>
                <a:cs typeface="Times New Roman" panose="02020603050405020304" pitchFamily="18" charset="0"/>
              </a:rPr>
              <a:t> сегмента </a:t>
            </a:r>
            <a:r>
              <a:rPr lang="ru-RU" sz="2800" b="1" dirty="0" err="1">
                <a:latin typeface="Times New Roman" panose="02020603050405020304" pitchFamily="18" charset="0"/>
                <a:cs typeface="Times New Roman" panose="02020603050405020304" pitchFamily="18" charset="0"/>
              </a:rPr>
              <a:t>здійснювався</a:t>
            </a:r>
            <a:r>
              <a:rPr lang="ru-RU" sz="2800" b="1" dirty="0">
                <a:latin typeface="Times New Roman" panose="02020603050405020304" pitchFamily="18" charset="0"/>
                <a:cs typeface="Times New Roman" panose="02020603050405020304" pitchFamily="18" charset="0"/>
              </a:rPr>
              <a:t> доступ, до </a:t>
            </a:r>
            <a:r>
              <a:rPr lang="ru-RU" sz="2800" b="1" dirty="0" err="1">
                <a:latin typeface="Times New Roman" panose="02020603050405020304" pitchFamily="18" charset="0"/>
                <a:cs typeface="Times New Roman" panose="02020603050405020304" pitchFamily="18" charset="0"/>
              </a:rPr>
              <a:t>якого</a:t>
            </a:r>
            <a:r>
              <a:rPr lang="ru-RU" sz="2800" b="1" dirty="0">
                <a:latin typeface="Times New Roman" panose="02020603050405020304" pitchFamily="18" charset="0"/>
                <a:cs typeface="Times New Roman" panose="02020603050405020304" pitchFamily="18" charset="0"/>
              </a:rPr>
              <a:t> ресурсу </a:t>
            </a:r>
            <a:r>
              <a:rPr lang="ru-RU" sz="2800" b="1" dirty="0" err="1">
                <a:latin typeface="Times New Roman" panose="02020603050405020304" pitchFamily="18" charset="0"/>
                <a:cs typeface="Times New Roman" panose="02020603050405020304" pitchFamily="18" charset="0"/>
              </a:rPr>
              <a:t>звертався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суб’єкт</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які</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операції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були</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виконані</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критичних</a:t>
            </a:r>
            <a:r>
              <a:rPr lang="ru-RU" sz="2800" dirty="0">
                <a:latin typeface="Times New Roman" panose="02020603050405020304" pitchFamily="18" charset="0"/>
                <a:cs typeface="Times New Roman" panose="02020603050405020304" pitchFamily="18" charset="0"/>
              </a:rPr>
              <a:t> систем </a:t>
            </a:r>
            <a:r>
              <a:rPr lang="ru-RU" sz="2800" dirty="0" err="1">
                <a:latin typeface="Times New Roman" panose="02020603050405020304" pitchFamily="18" charset="0"/>
                <a:cs typeface="Times New Roman" panose="02020603050405020304" pitchFamily="18" charset="0"/>
              </a:rPr>
              <a:t>додатково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реєструватися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інформація</a:t>
            </a:r>
            <a:r>
              <a:rPr lang="ru-RU" sz="2800" dirty="0">
                <a:latin typeface="Times New Roman" panose="02020603050405020304" pitchFamily="18" charset="0"/>
                <a:cs typeface="Times New Roman" panose="02020603050405020304" pitchFamily="18" charset="0"/>
              </a:rPr>
              <a:t> про результат </a:t>
            </a:r>
            <a:r>
              <a:rPr lang="ru-RU" sz="2800" dirty="0" err="1">
                <a:latin typeface="Times New Roman" panose="02020603050405020304" pitchFamily="18" charset="0"/>
                <a:cs typeface="Times New Roman" panose="02020603050405020304" pitchFamily="18" charset="0"/>
              </a:rPr>
              <a:t>операції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змінені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параметри</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пов’язані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системні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події</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Важливим</a:t>
            </a:r>
            <a:r>
              <a:rPr lang="ru-RU" sz="2800" dirty="0">
                <a:latin typeface="Times New Roman" panose="02020603050405020304" pitchFamily="18" charset="0"/>
                <a:cs typeface="Times New Roman" panose="02020603050405020304" pitchFamily="18" charset="0"/>
              </a:rPr>
              <a:t> компонентом </a:t>
            </a:r>
            <a:r>
              <a:rPr lang="ru-RU" sz="2800" dirty="0" err="1">
                <a:latin typeface="Times New Roman" panose="02020603050405020304" pitchFamily="18" charset="0"/>
                <a:cs typeface="Times New Roman" panose="02020603050405020304" pitchFamily="18" charset="0"/>
              </a:rPr>
              <a:t>підзвітності</a:t>
            </a:r>
            <a:r>
              <a:rPr lang="ru-RU" sz="2800" dirty="0">
                <a:latin typeface="Times New Roman" panose="02020603050405020304" pitchFamily="18" charset="0"/>
                <a:cs typeface="Times New Roman" panose="02020603050405020304" pitchFamily="18" charset="0"/>
              </a:rPr>
              <a:t> є </a:t>
            </a:r>
            <a:r>
              <a:rPr lang="ru-RU" sz="2800" b="1" dirty="0" err="1">
                <a:latin typeface="Times New Roman" panose="02020603050405020304" pitchFamily="18" charset="0"/>
                <a:cs typeface="Times New Roman" panose="02020603050405020304" pitchFamily="18" charset="0"/>
              </a:rPr>
              <a:t>журналювання</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logging</a:t>
            </a:r>
            <a:r>
              <a:rPr lang="ru-RU" sz="2800" b="1"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Журнали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безпеки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повинні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захищатися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несанкціонованої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модифікації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видалення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оскільки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їхня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достовірність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безпосереднє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значення</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проведення</a:t>
            </a:r>
            <a:r>
              <a:rPr lang="ru-RU" sz="2800" dirty="0">
                <a:latin typeface="Times New Roman" panose="02020603050405020304" pitchFamily="18" charset="0"/>
                <a:cs typeface="Times New Roman" panose="02020603050405020304" pitchFamily="18" charset="0"/>
              </a:rPr>
              <a:t> аудиту та </a:t>
            </a:r>
            <a:r>
              <a:rPr lang="ru-RU" sz="2800" dirty="0" err="1">
                <a:latin typeface="Times New Roman" panose="02020603050405020304" pitchFamily="18" charset="0"/>
                <a:cs typeface="Times New Roman" panose="02020603050405020304" pitchFamily="18" charset="0"/>
              </a:rPr>
              <a:t>розслідування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кіберінцидентів</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У великих </a:t>
            </a:r>
            <a:r>
              <a:rPr lang="ru-RU" sz="2800" dirty="0" err="1">
                <a:latin typeface="Times New Roman" panose="02020603050405020304" pitchFamily="18" charset="0"/>
                <a:cs typeface="Times New Roman" panose="02020603050405020304" pitchFamily="18" charset="0"/>
              </a:rPr>
              <a:t>інформаційних</a:t>
            </a:r>
            <a:r>
              <a:rPr lang="ru-RU" sz="2800" dirty="0">
                <a:latin typeface="Times New Roman" panose="02020603050405020304" pitchFamily="18" charset="0"/>
                <a:cs typeface="Times New Roman" panose="02020603050405020304" pitchFamily="18" charset="0"/>
              </a:rPr>
              <a:t> системах </a:t>
            </a:r>
            <a:r>
              <a:rPr lang="ru-RU" sz="2800" dirty="0" err="1">
                <a:latin typeface="Times New Roman" panose="02020603050405020304" pitchFamily="18" charset="0"/>
                <a:cs typeface="Times New Roman" panose="02020603050405020304" pitchFamily="18" charset="0"/>
              </a:rPr>
              <a:t>журнали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подій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можуть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централізовано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збиратися</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аналізуватися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засобами</a:t>
            </a:r>
            <a:r>
              <a:rPr lang="ru-RU"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SIEM</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Security Information and Event Management</a:t>
            </a:r>
            <a:r>
              <a:rPr lang="ru-RU" sz="2800" b="1"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Це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змогу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виявляти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аномальну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поведінку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корелювати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події</a:t>
            </a:r>
            <a:r>
              <a:rPr lang="ru-RU" sz="2800" dirty="0">
                <a:latin typeface="Times New Roman" panose="02020603050405020304" pitchFamily="18" charset="0"/>
                <a:cs typeface="Times New Roman" panose="02020603050405020304" pitchFamily="18" charset="0"/>
              </a:rPr>
              <a:t> з </a:t>
            </a:r>
            <a:r>
              <a:rPr lang="ru-RU" sz="2800" dirty="0" err="1">
                <a:latin typeface="Times New Roman" panose="02020603050405020304" pitchFamily="18" charset="0"/>
                <a:cs typeface="Times New Roman" panose="02020603050405020304" pitchFamily="18" charset="0"/>
              </a:rPr>
              <a:t>різних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джерел</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своєчасно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виявляти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ознаки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кібератак</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6683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01600" y="26773"/>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0" y="81296"/>
            <a:ext cx="16154400" cy="9571851"/>
          </a:xfrm>
          <a:prstGeom prst="rect">
            <a:avLst/>
          </a:prstGeom>
        </p:spPr>
        <p:txBody>
          <a:bodyPr wrap="square">
            <a:spAutoFit/>
          </a:bodyPr>
          <a:lstStyle/>
          <a:p>
            <a:pPr algn="just"/>
            <a:r>
              <a:rPr lang="ru-RU" sz="2800" b="1" dirty="0">
                <a:latin typeface="Times New Roman" panose="02020603050405020304" pitchFamily="18" charset="0"/>
                <a:cs typeface="Times New Roman" panose="02020603050405020304" pitchFamily="18" charset="0"/>
              </a:rPr>
              <a:t>Принцип </a:t>
            </a:r>
            <a:r>
              <a:rPr lang="ru-RU" sz="2800" b="1" dirty="0" err="1">
                <a:latin typeface="Times New Roman" panose="02020603050405020304" pitchFamily="18" charset="0"/>
                <a:cs typeface="Times New Roman" panose="02020603050405020304" pitchFamily="18" charset="0"/>
              </a:rPr>
              <a:t>найменших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привілеїв</a:t>
            </a:r>
            <a:endParaRPr lang="en-US" sz="2800" b="1" dirty="0">
              <a:latin typeface="Times New Roman" panose="02020603050405020304" pitchFamily="18" charset="0"/>
              <a:cs typeface="Times New Roman" panose="02020603050405020304" pitchFamily="18" charset="0"/>
            </a:endParaRPr>
          </a:p>
          <a:p>
            <a:pPr algn="just"/>
            <a:r>
              <a:rPr lang="ru-RU" sz="2800" b="1" dirty="0">
                <a:latin typeface="Times New Roman" panose="02020603050405020304" pitchFamily="18" charset="0"/>
                <a:cs typeface="Times New Roman" panose="02020603050405020304" pitchFamily="18" charset="0"/>
              </a:rPr>
              <a:t>Принцип </a:t>
            </a:r>
            <a:r>
              <a:rPr lang="ru-RU" sz="2800" b="1" dirty="0" err="1">
                <a:latin typeface="Times New Roman" panose="02020603050405020304" pitchFamily="18" charset="0"/>
                <a:cs typeface="Times New Roman" panose="02020603050405020304" pitchFamily="18" charset="0"/>
              </a:rPr>
              <a:t>найменших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привілеїв</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Principle of Least Privilege</a:t>
            </a:r>
            <a:r>
              <a:rPr lang="ru-RU"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PoLP</a:t>
            </a:r>
            <a:r>
              <a:rPr lang="ru-RU" sz="2800" b="1"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 — </a:t>
            </a:r>
            <a:r>
              <a:rPr lang="ru-RU" sz="2800" dirty="0" err="1">
                <a:latin typeface="Times New Roman" panose="02020603050405020304" pitchFamily="18" charset="0"/>
                <a:cs typeface="Times New Roman" panose="02020603050405020304" pitchFamily="18" charset="0"/>
              </a:rPr>
              <a:t>це</a:t>
            </a:r>
            <a:r>
              <a:rPr lang="ru-RU" sz="2800" dirty="0">
                <a:latin typeface="Times New Roman" panose="02020603050405020304" pitchFamily="18" charset="0"/>
                <a:cs typeface="Times New Roman" panose="02020603050405020304" pitchFamily="18" charset="0"/>
              </a:rPr>
              <a:t> принцип </a:t>
            </a:r>
            <a:r>
              <a:rPr lang="ru-RU" sz="2800" dirty="0" err="1">
                <a:latin typeface="Times New Roman" panose="02020603050405020304" pitchFamily="18" charset="0"/>
                <a:cs typeface="Times New Roman" panose="02020603050405020304" pitchFamily="18" charset="0"/>
              </a:rPr>
              <a:t>інформаційної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безпеки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відповідно</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якого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користувач</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пристрій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програмний</a:t>
            </a:r>
            <a:r>
              <a:rPr lang="ru-RU" sz="2800" dirty="0">
                <a:latin typeface="Times New Roman" panose="02020603050405020304" pitchFamily="18" charset="0"/>
                <a:cs typeface="Times New Roman" panose="02020603050405020304" pitchFamily="18" charset="0"/>
              </a:rPr>
              <a:t> компонент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процес</a:t>
            </a:r>
            <a:r>
              <a:rPr lang="ru-RU" sz="2800" dirty="0">
                <a:latin typeface="Times New Roman" panose="02020603050405020304" pitchFamily="18" charset="0"/>
                <a:cs typeface="Times New Roman" panose="02020603050405020304" pitchFamily="18" charset="0"/>
              </a:rPr>
              <a:t> повинен </a:t>
            </a:r>
            <a:r>
              <a:rPr lang="ru-RU" sz="2800" dirty="0" err="1">
                <a:latin typeface="Times New Roman" panose="02020603050405020304" pitchFamily="18" charset="0"/>
                <a:cs typeface="Times New Roman" panose="02020603050405020304" pitchFamily="18" charset="0"/>
              </a:rPr>
              <a:t>отримувати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лише</a:t>
            </a:r>
            <a:r>
              <a:rPr lang="ru-RU" sz="2800" dirty="0">
                <a:latin typeface="Times New Roman" panose="02020603050405020304" pitchFamily="18" charset="0"/>
                <a:cs typeface="Times New Roman" panose="02020603050405020304" pitchFamily="18" charset="0"/>
              </a:rPr>
              <a:t> той </a:t>
            </a:r>
            <a:r>
              <a:rPr lang="ru-RU" sz="2800" dirty="0" err="1">
                <a:latin typeface="Times New Roman" panose="02020603050405020304" pitchFamily="18" charset="0"/>
                <a:cs typeface="Times New Roman" panose="02020603050405020304" pitchFamily="18" charset="0"/>
              </a:rPr>
              <a:t>мінімальний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набір</a:t>
            </a:r>
            <a:r>
              <a:rPr lang="ru-RU" sz="2800" dirty="0">
                <a:latin typeface="Times New Roman" panose="02020603050405020304" pitchFamily="18" charset="0"/>
                <a:cs typeface="Times New Roman" panose="02020603050405020304" pitchFamily="18" charset="0"/>
              </a:rPr>
              <a:t> прав доступу, </a:t>
            </a:r>
            <a:r>
              <a:rPr lang="ru-RU" sz="2800" dirty="0" err="1">
                <a:latin typeface="Times New Roman" panose="02020603050405020304" pitchFamily="18" charset="0"/>
                <a:cs typeface="Times New Roman" panose="02020603050405020304" pitchFamily="18" charset="0"/>
              </a:rPr>
              <a:t>який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необхідний</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виконання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визначених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функціональних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завдань</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Основною метою </a:t>
            </a:r>
            <a:r>
              <a:rPr lang="ru-RU" sz="2800" dirty="0" err="1">
                <a:latin typeface="Times New Roman" panose="02020603050405020304" pitchFamily="18" charset="0"/>
                <a:cs typeface="Times New Roman" panose="02020603050405020304" pitchFamily="18" charset="0"/>
              </a:rPr>
              <a:t>цього</a:t>
            </a:r>
            <a:r>
              <a:rPr lang="ru-RU" sz="2800" dirty="0">
                <a:latin typeface="Times New Roman" panose="02020603050405020304" pitchFamily="18" charset="0"/>
                <a:cs typeface="Times New Roman" panose="02020603050405020304" pitchFamily="18" charset="0"/>
              </a:rPr>
              <a:t> принципу є </a:t>
            </a:r>
            <a:r>
              <a:rPr lang="ru-RU" sz="2800" b="1" dirty="0" err="1">
                <a:latin typeface="Times New Roman" panose="02020603050405020304" pitchFamily="18" charset="0"/>
                <a:cs typeface="Times New Roman" panose="02020603050405020304" pitchFamily="18" charset="0"/>
              </a:rPr>
              <a:t>мінімізація</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потенційних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наслідків</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компрометації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облікового</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запису</a:t>
            </a:r>
            <a:r>
              <a:rPr lang="ru-RU" sz="2800" b="1" dirty="0">
                <a:latin typeface="Times New Roman" panose="02020603050405020304" pitchFamily="18" charset="0"/>
                <a:cs typeface="Times New Roman" panose="02020603050405020304" pitchFamily="18" charset="0"/>
              </a:rPr>
              <a:t>, пристрою </a:t>
            </a:r>
            <a:r>
              <a:rPr lang="ru-RU" sz="2800" b="1" dirty="0" err="1">
                <a:latin typeface="Times New Roman" panose="02020603050405020304" pitchFamily="18" charset="0"/>
                <a:cs typeface="Times New Roman" panose="02020603050405020304" pitchFamily="18" charset="0"/>
              </a:rPr>
              <a:t>або</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програмного</a:t>
            </a:r>
            <a:r>
              <a:rPr lang="ru-RU" sz="2800" b="1" dirty="0">
                <a:latin typeface="Times New Roman" panose="02020603050405020304" pitchFamily="18" charset="0"/>
                <a:cs typeface="Times New Roman" panose="02020603050405020304" pitchFamily="18" charset="0"/>
              </a:rPr>
              <a:t> компонента</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Надання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надмірних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привілеїв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збільшує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площу</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потенційної</a:t>
            </a:r>
            <a:r>
              <a:rPr lang="ru-RU" sz="2800" dirty="0">
                <a:latin typeface="Times New Roman" panose="02020603050405020304" pitchFamily="18" charset="0"/>
                <a:cs typeface="Times New Roman" panose="02020603050405020304" pitchFamily="18" charset="0"/>
              </a:rPr>
              <a:t> атаки та </a:t>
            </a:r>
            <a:r>
              <a:rPr lang="ru-RU" sz="2800" dirty="0" err="1">
                <a:latin typeface="Times New Roman" panose="02020603050405020304" pitchFamily="18" charset="0"/>
                <a:cs typeface="Times New Roman" panose="02020603050405020304" pitchFamily="18" charset="0"/>
              </a:rPr>
              <a:t>створює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можливість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використання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отриманого</a:t>
            </a:r>
            <a:r>
              <a:rPr lang="ru-RU" sz="2800" dirty="0">
                <a:latin typeface="Times New Roman" panose="02020603050405020304" pitchFamily="18" charset="0"/>
                <a:cs typeface="Times New Roman" panose="02020603050405020304" pitchFamily="18" charset="0"/>
              </a:rPr>
              <a:t> доступу для </a:t>
            </a:r>
            <a:r>
              <a:rPr lang="ru-RU" sz="2800" dirty="0" err="1">
                <a:latin typeface="Times New Roman" panose="02020603050405020304" pitchFamily="18" charset="0"/>
                <a:cs typeface="Times New Roman" panose="02020603050405020304" pitchFamily="18" charset="0"/>
              </a:rPr>
              <a:t>виконання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несанкціонованих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операцій</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Наприклад</a:t>
            </a:r>
            <a:r>
              <a:rPr lang="ru-RU"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IoT</a:t>
            </a:r>
            <a:r>
              <a:rPr lang="ru-RU" sz="2800" dirty="0">
                <a:latin typeface="Times New Roman" panose="02020603050405020304" pitchFamily="18" charset="0"/>
                <a:cs typeface="Times New Roman" panose="02020603050405020304" pitchFamily="18" charset="0"/>
              </a:rPr>
              <a:t>-сенсору, </a:t>
            </a:r>
            <a:r>
              <a:rPr lang="ru-RU" sz="2800" dirty="0" err="1">
                <a:latin typeface="Times New Roman" panose="02020603050405020304" pitchFamily="18" charset="0"/>
                <a:cs typeface="Times New Roman" panose="02020603050405020304" pitchFamily="18" charset="0"/>
              </a:rPr>
              <a:t>призначеному</a:t>
            </a:r>
            <a:r>
              <a:rPr lang="ru-RU" sz="2800" dirty="0">
                <a:latin typeface="Times New Roman" panose="02020603050405020304" pitchFamily="18" charset="0"/>
                <a:cs typeface="Times New Roman" panose="02020603050405020304" pitchFamily="18" charset="0"/>
              </a:rPr>
              <a:t> для </a:t>
            </a:r>
            <a:r>
              <a:rPr lang="ru-RU" sz="2800" dirty="0" err="1">
                <a:latin typeface="Times New Roman" panose="02020603050405020304" pitchFamily="18" charset="0"/>
                <a:cs typeface="Times New Roman" panose="02020603050405020304" pitchFamily="18" charset="0"/>
              </a:rPr>
              <a:t>вимірювання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температури</a:t>
            </a:r>
            <a:r>
              <a:rPr lang="ru-RU" sz="2800" dirty="0">
                <a:latin typeface="Times New Roman" panose="02020603050405020304" pitchFamily="18" charset="0"/>
                <a:cs typeface="Times New Roman" panose="02020603050405020304" pitchFamily="18" charset="0"/>
              </a:rPr>
              <a:t>, не </a:t>
            </a:r>
            <a:r>
              <a:rPr lang="ru-RU" sz="2800" dirty="0" err="1">
                <a:latin typeface="Times New Roman" panose="02020603050405020304" pitchFamily="18" charset="0"/>
                <a:cs typeface="Times New Roman" panose="02020603050405020304" pitchFamily="18" charset="0"/>
              </a:rPr>
              <a:t>потрібно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надавати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адміністративні</a:t>
            </a:r>
            <a:r>
              <a:rPr lang="ru-RU" sz="2800" dirty="0">
                <a:latin typeface="Times New Roman" panose="02020603050405020304" pitchFamily="18" charset="0"/>
                <a:cs typeface="Times New Roman" panose="02020603050405020304" pitchFamily="18" charset="0"/>
              </a:rPr>
              <a:t> права в </a:t>
            </a:r>
            <a:r>
              <a:rPr lang="ru-RU" sz="2800" dirty="0" err="1">
                <a:latin typeface="Times New Roman" panose="02020603050405020304" pitchFamily="18" charset="0"/>
                <a:cs typeface="Times New Roman" panose="02020603050405020304" pitchFamily="18" charset="0"/>
              </a:rPr>
              <a:t>корпоративній</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мережі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Його</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функціональні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повноваження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можуть</a:t>
            </a:r>
            <a:r>
              <a:rPr lang="ru-RU" sz="2800" dirty="0">
                <a:latin typeface="Times New Roman" panose="02020603050405020304" pitchFamily="18" charset="0"/>
                <a:cs typeface="Times New Roman" panose="02020603050405020304" pitchFamily="18" charset="0"/>
              </a:rPr>
              <a:t> бути </a:t>
            </a:r>
            <a:r>
              <a:rPr lang="ru-RU" sz="2800" dirty="0" err="1">
                <a:latin typeface="Times New Roman" panose="02020603050405020304" pitchFamily="18" charset="0"/>
                <a:cs typeface="Times New Roman" panose="02020603050405020304" pitchFamily="18" charset="0"/>
              </a:rPr>
              <a:t>обмежені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передаванням</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показників</a:t>
            </a:r>
            <a:r>
              <a:rPr lang="ru-RU" sz="2800" dirty="0">
                <a:latin typeface="Times New Roman" panose="02020603050405020304" pitchFamily="18" charset="0"/>
                <a:cs typeface="Times New Roman" panose="02020603050405020304" pitchFamily="18" charset="0"/>
              </a:rPr>
              <a:t> на </a:t>
            </a:r>
            <a:r>
              <a:rPr lang="ru-RU" sz="2800" dirty="0" err="1">
                <a:latin typeface="Times New Roman" panose="02020603050405020304" pitchFamily="18" charset="0"/>
                <a:cs typeface="Times New Roman" panose="02020603050405020304" pitchFamily="18" charset="0"/>
              </a:rPr>
              <a:t>визначений</a:t>
            </a:r>
            <a:r>
              <a:rPr lang="ru-RU" sz="2800" dirty="0">
                <a:latin typeface="Times New Roman" panose="02020603050405020304" pitchFamily="18" charset="0"/>
                <a:cs typeface="Times New Roman" panose="02020603050405020304" pitchFamily="18" charset="0"/>
              </a:rPr>
              <a:t> сервер </a:t>
            </a:r>
            <a:r>
              <a:rPr lang="ru-RU" sz="2800" dirty="0" err="1">
                <a:latin typeface="Times New Roman" panose="02020603050405020304" pitchFamily="18" charset="0"/>
                <a:cs typeface="Times New Roman" panose="02020603050405020304" pitchFamily="18" charset="0"/>
              </a:rPr>
              <a:t>або</a:t>
            </a:r>
            <a:r>
              <a:rPr lang="ru-RU"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IoT</a:t>
            </a:r>
            <a:r>
              <a:rPr lang="ru-RU" sz="2800" dirty="0">
                <a:latin typeface="Times New Roman" panose="02020603050405020304" pitchFamily="18" charset="0"/>
                <a:cs typeface="Times New Roman" panose="02020603050405020304" pitchFamily="18" charset="0"/>
              </a:rPr>
              <a:t>-шлюз. </a:t>
            </a:r>
            <a:r>
              <a:rPr lang="ru-RU" sz="2800" dirty="0" err="1">
                <a:latin typeface="Times New Roman" panose="02020603050405020304" pitchFamily="18" charset="0"/>
                <a:cs typeface="Times New Roman" panose="02020603050405020304" pitchFamily="18" charset="0"/>
              </a:rPr>
              <a:t>Навіть</a:t>
            </a:r>
            <a:r>
              <a:rPr lang="ru-RU" sz="2800" dirty="0">
                <a:latin typeface="Times New Roman" panose="02020603050405020304" pitchFamily="18" charset="0"/>
                <a:cs typeface="Times New Roman" panose="02020603050405020304" pitchFamily="18" charset="0"/>
              </a:rPr>
              <a:t> у </a:t>
            </a:r>
            <a:r>
              <a:rPr lang="ru-RU" sz="2800" dirty="0" err="1">
                <a:latin typeface="Times New Roman" panose="02020603050405020304" pitchFamily="18" charset="0"/>
                <a:cs typeface="Times New Roman" panose="02020603050405020304" pitchFamily="18" charset="0"/>
              </a:rPr>
              <a:t>разі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компрометації</a:t>
            </a:r>
            <a:r>
              <a:rPr lang="ru-RU" sz="2800" dirty="0">
                <a:latin typeface="Times New Roman" panose="02020603050405020304" pitchFamily="18" charset="0"/>
                <a:cs typeface="Times New Roman" panose="02020603050405020304" pitchFamily="18" charset="0"/>
              </a:rPr>
              <a:t> такого пристрою </a:t>
            </a:r>
            <a:r>
              <a:rPr lang="ru-RU" sz="2800" dirty="0" err="1">
                <a:latin typeface="Times New Roman" panose="02020603050405020304" pitchFamily="18" charset="0"/>
                <a:cs typeface="Times New Roman" panose="02020603050405020304" pitchFamily="18" charset="0"/>
              </a:rPr>
              <a:t>зловмисник</a:t>
            </a:r>
            <a:r>
              <a:rPr lang="ru-RU" sz="2800" dirty="0">
                <a:latin typeface="Times New Roman" panose="02020603050405020304" pitchFamily="18" charset="0"/>
                <a:cs typeface="Times New Roman" panose="02020603050405020304" pitchFamily="18" charset="0"/>
              </a:rPr>
              <a:t> не повинен </a:t>
            </a:r>
            <a:r>
              <a:rPr lang="ru-RU" sz="2800" dirty="0" err="1">
                <a:latin typeface="Times New Roman" panose="02020603050405020304" pitchFamily="18" charset="0"/>
                <a:cs typeface="Times New Roman" panose="02020603050405020304" pitchFamily="18" charset="0"/>
              </a:rPr>
              <a:t>отримати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можливість</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керувати</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іншими</a:t>
            </a:r>
            <a:r>
              <a:rPr lang="ru-RU" sz="2800" dirty="0">
                <a:latin typeface="Times New Roman" panose="02020603050405020304" pitchFamily="18" charset="0"/>
                <a:cs typeface="Times New Roman" panose="02020603050405020304" pitchFamily="18" charset="0"/>
              </a:rPr>
              <a:t> системами </a:t>
            </a:r>
            <a:r>
              <a:rPr lang="ru-RU" sz="2800" dirty="0" err="1">
                <a:latin typeface="Times New Roman" panose="02020603050405020304" pitchFamily="18" charset="0"/>
                <a:cs typeface="Times New Roman" panose="02020603050405020304" pitchFamily="18" charset="0"/>
              </a:rPr>
              <a:t>підприємства</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Принцип </a:t>
            </a:r>
            <a:r>
              <a:rPr lang="ru-RU" sz="2800" dirty="0" err="1">
                <a:latin typeface="Times New Roman" panose="02020603050405020304" pitchFamily="18" charset="0"/>
                <a:cs typeface="Times New Roman" panose="02020603050405020304" pitchFamily="18" charset="0"/>
              </a:rPr>
              <a:t>найменших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привілеїв</a:t>
            </a:r>
            <a:r>
              <a:rPr lang="ru-RU" sz="2800" dirty="0">
                <a:latin typeface="Times New Roman" panose="02020603050405020304" pitchFamily="18" charset="0"/>
                <a:cs typeface="Times New Roman" panose="02020603050405020304" pitchFamily="18" charset="0"/>
              </a:rPr>
              <a:t> повинен </a:t>
            </a:r>
            <a:r>
              <a:rPr lang="ru-RU" sz="2800" dirty="0" err="1">
                <a:latin typeface="Times New Roman" panose="02020603050405020304" pitchFamily="18" charset="0"/>
                <a:cs typeface="Times New Roman" panose="02020603050405020304" pitchFamily="18" charset="0"/>
              </a:rPr>
              <a:t>застосовуватися</a:t>
            </a:r>
            <a:r>
              <a:rPr lang="ru-RU" sz="2800" dirty="0">
                <a:latin typeface="Times New Roman" panose="02020603050405020304" pitchFamily="18" charset="0"/>
                <a:cs typeface="Times New Roman" panose="02020603050405020304" pitchFamily="18" charset="0"/>
              </a:rPr>
              <a:t> не </a:t>
            </a:r>
            <a:r>
              <a:rPr lang="ru-RU" sz="2800" dirty="0" err="1">
                <a:latin typeface="Times New Roman" panose="02020603050405020304" pitchFamily="18" charset="0"/>
                <a:cs typeface="Times New Roman" panose="02020603050405020304" pitchFamily="18" charset="0"/>
              </a:rPr>
              <a:t>тільки</a:t>
            </a:r>
            <a:r>
              <a:rPr lang="ru-RU" sz="2800" dirty="0">
                <a:latin typeface="Times New Roman" panose="02020603050405020304" pitchFamily="18" charset="0"/>
                <a:cs typeface="Times New Roman" panose="02020603050405020304" pitchFamily="18" charset="0"/>
              </a:rPr>
              <a:t> до </a:t>
            </a:r>
            <a:r>
              <a:rPr lang="ru-RU" sz="2800" dirty="0" err="1">
                <a:latin typeface="Times New Roman" panose="02020603050405020304" pitchFamily="18" charset="0"/>
                <a:cs typeface="Times New Roman" panose="02020603050405020304" pitchFamily="18" charset="0"/>
              </a:rPr>
              <a:t>користувачів</a:t>
            </a:r>
            <a:r>
              <a:rPr lang="ru-RU" sz="2800" dirty="0">
                <a:latin typeface="Times New Roman" panose="02020603050405020304" pitchFamily="18" charset="0"/>
                <a:cs typeface="Times New Roman" panose="02020603050405020304" pitchFamily="18" charset="0"/>
              </a:rPr>
              <a:t>, а й до </a:t>
            </a:r>
            <a:r>
              <a:rPr lang="ru-RU" sz="2800" b="1" dirty="0" err="1">
                <a:latin typeface="Times New Roman" panose="02020603050405020304" pitchFamily="18" charset="0"/>
                <a:cs typeface="Times New Roman" panose="02020603050405020304" pitchFamily="18" charset="0"/>
              </a:rPr>
              <a:t>серверів</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застосунків</a:t>
            </a:r>
            <a:r>
              <a:rPr lang="ru-RU"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API</a:t>
            </a:r>
            <a:r>
              <a:rPr lang="ru-RU" sz="2800" b="1" dirty="0">
                <a:latin typeface="Times New Roman" panose="02020603050405020304" pitchFamily="18" charset="0"/>
                <a:cs typeface="Times New Roman" panose="02020603050405020304" pitchFamily="18" charset="0"/>
              </a:rPr>
              <a:t>, служб, </a:t>
            </a:r>
            <a:r>
              <a:rPr lang="ru-RU" sz="2800" b="1" dirty="0" err="1">
                <a:latin typeface="Times New Roman" panose="02020603050405020304" pitchFamily="18" charset="0"/>
                <a:cs typeface="Times New Roman" panose="02020603050405020304" pitchFamily="18" charset="0"/>
              </a:rPr>
              <a:t>контейнерів</a:t>
            </a:r>
            <a:r>
              <a:rPr lang="ru-RU"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IoT</a:t>
            </a:r>
            <a:r>
              <a:rPr lang="ru-RU" sz="2800" b="1" dirty="0">
                <a:latin typeface="Times New Roman" panose="02020603050405020304" pitchFamily="18" charset="0"/>
                <a:cs typeface="Times New Roman" panose="02020603050405020304" pitchFamily="18" charset="0"/>
              </a:rPr>
              <a:t>-</a:t>
            </a:r>
            <a:r>
              <a:rPr lang="ru-RU" sz="2800" b="1" dirty="0" err="1">
                <a:latin typeface="Times New Roman" panose="02020603050405020304" pitchFamily="18" charset="0"/>
                <a:cs typeface="Times New Roman" panose="02020603050405020304" pitchFamily="18" charset="0"/>
              </a:rPr>
              <a:t>пристроїв</a:t>
            </a:r>
            <a:r>
              <a:rPr lang="ru-RU" sz="2800" b="1" dirty="0">
                <a:latin typeface="Times New Roman" panose="02020603050405020304" pitchFamily="18" charset="0"/>
                <a:cs typeface="Times New Roman" panose="02020603050405020304" pitchFamily="18" charset="0"/>
              </a:rPr>
              <a:t> та </a:t>
            </a:r>
            <a:r>
              <a:rPr lang="ru-RU" sz="2800" b="1" dirty="0" err="1">
                <a:latin typeface="Times New Roman" panose="02020603050405020304" pitchFamily="18" charset="0"/>
                <a:cs typeface="Times New Roman" panose="02020603050405020304" pitchFamily="18" charset="0"/>
              </a:rPr>
              <a:t>інших</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компонентів</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інформаційної</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інфраструктури</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Практична </a:t>
            </a:r>
            <a:r>
              <a:rPr lang="ru-RU" sz="2800" dirty="0" err="1">
                <a:latin typeface="Times New Roman" panose="02020603050405020304" pitchFamily="18" charset="0"/>
                <a:cs typeface="Times New Roman" panose="02020603050405020304" pitchFamily="18" charset="0"/>
              </a:rPr>
              <a:t>реалізація</a:t>
            </a:r>
            <a:r>
              <a:rPr lang="ru-RU" sz="2800" dirty="0">
                <a:latin typeface="Times New Roman" panose="02020603050405020304" pitchFamily="18" charset="0"/>
                <a:cs typeface="Times New Roman" panose="02020603050405020304" pitchFamily="18" charset="0"/>
              </a:rPr>
              <a:t> принципу </a:t>
            </a:r>
            <a:r>
              <a:rPr lang="ru-RU" sz="2800" dirty="0" err="1">
                <a:latin typeface="Times New Roman" panose="02020603050405020304" pitchFamily="18" charset="0"/>
                <a:cs typeface="Times New Roman" panose="02020603050405020304" pitchFamily="18" charset="0"/>
              </a:rPr>
              <a:t>передбачає</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регулярний</a:t>
            </a:r>
            <a:r>
              <a:rPr lang="ru-RU" sz="2800" dirty="0">
                <a:latin typeface="Times New Roman" panose="02020603050405020304" pitchFamily="18" charset="0"/>
                <a:cs typeface="Times New Roman" panose="02020603050405020304" pitchFamily="18" charset="0"/>
              </a:rPr>
              <a:t> перегляд прав доступу, </a:t>
            </a:r>
            <a:r>
              <a:rPr lang="ru-RU" sz="2800" dirty="0" err="1">
                <a:latin typeface="Times New Roman" panose="02020603050405020304" pitchFamily="18" charset="0"/>
                <a:cs typeface="Times New Roman" panose="02020603050405020304" pitchFamily="18" charset="0"/>
              </a:rPr>
              <a:t>використання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рольової</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моделі</a:t>
            </a:r>
            <a:r>
              <a:rPr lang="ru-RU" sz="2800" dirty="0">
                <a:latin typeface="Times New Roman" panose="02020603050405020304" pitchFamily="18" charset="0"/>
                <a:cs typeface="Times New Roman" panose="02020603050405020304" pitchFamily="18" charset="0"/>
              </a:rPr>
              <a:t> доступу, </a:t>
            </a:r>
            <a:r>
              <a:rPr lang="ru-RU" sz="2800" dirty="0" err="1">
                <a:latin typeface="Times New Roman" panose="02020603050405020304" pitchFamily="18" charset="0"/>
                <a:cs typeface="Times New Roman" panose="02020603050405020304" pitchFamily="18" charset="0"/>
              </a:rPr>
              <a:t>розмежування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адміністративних</a:t>
            </a:r>
            <a:r>
              <a:rPr lang="ru-RU" sz="2800" dirty="0">
                <a:latin typeface="Times New Roman" panose="02020603050405020304" pitchFamily="18" charset="0"/>
                <a:cs typeface="Times New Roman" panose="02020603050405020304" pitchFamily="18" charset="0"/>
              </a:rPr>
              <a:t> і </a:t>
            </a:r>
            <a:r>
              <a:rPr lang="ru-RU" sz="2800" dirty="0" err="1">
                <a:latin typeface="Times New Roman" panose="02020603050405020304" pitchFamily="18" charset="0"/>
                <a:cs typeface="Times New Roman" panose="02020603050405020304" pitchFamily="18" charset="0"/>
              </a:rPr>
              <a:t>звичайних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облікових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записів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обмеження</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привілеїв</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службових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облікових</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записів</a:t>
            </a:r>
            <a:r>
              <a:rPr lang="ru-RU" sz="2800" dirty="0">
                <a:latin typeface="Times New Roman" panose="02020603050405020304" pitchFamily="18" charset="0"/>
                <a:cs typeface="Times New Roman" panose="02020603050405020304" pitchFamily="18" charset="0"/>
              </a:rPr>
              <a:t> та </a:t>
            </a:r>
            <a:r>
              <a:rPr lang="ru-RU" sz="2800" dirty="0" err="1">
                <a:latin typeface="Times New Roman" panose="02020603050405020304" pitchFamily="18" charset="0"/>
                <a:cs typeface="Times New Roman" panose="02020603050405020304" pitchFamily="18" charset="0"/>
              </a:rPr>
              <a:t>своєчасне</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видалення</a:t>
            </a:r>
            <a:r>
              <a:rPr lang="ru-RU" sz="2800" dirty="0">
                <a:latin typeface="Times New Roman" panose="02020603050405020304" pitchFamily="18" charset="0"/>
                <a:cs typeface="Times New Roman" panose="02020603050405020304" pitchFamily="18" charset="0"/>
              </a:rPr>
              <a:t> прав, </a:t>
            </a:r>
            <a:r>
              <a:rPr lang="ru-RU" sz="2800" dirty="0" err="1">
                <a:latin typeface="Times New Roman" panose="02020603050405020304" pitchFamily="18" charset="0"/>
                <a:cs typeface="Times New Roman" panose="02020603050405020304" pitchFamily="18" charset="0"/>
              </a:rPr>
              <a:t>які</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більше</a:t>
            </a:r>
            <a:r>
              <a:rPr lang="ru-RU" sz="2800" dirty="0">
                <a:latin typeface="Times New Roman" panose="02020603050405020304" pitchFamily="18" charset="0"/>
                <a:cs typeface="Times New Roman" panose="02020603050405020304" pitchFamily="18" charset="0"/>
              </a:rPr>
              <a:t> не </a:t>
            </a:r>
            <a:r>
              <a:rPr lang="ru-RU" sz="2800" dirty="0" err="1">
                <a:latin typeface="Times New Roman" panose="02020603050405020304" pitchFamily="18" charset="0"/>
                <a:cs typeface="Times New Roman" panose="02020603050405020304" pitchFamily="18" charset="0"/>
              </a:rPr>
              <a:t>потрібні</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647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0" y="83355"/>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488268" y="609600"/>
            <a:ext cx="15316200" cy="7294305"/>
          </a:xfrm>
          <a:prstGeom prst="rect">
            <a:avLst/>
          </a:prstGeom>
        </p:spPr>
        <p:txBody>
          <a:bodyPr wrap="square">
            <a:spAutoFit/>
          </a:bodyPr>
          <a:lstStyle/>
          <a:p>
            <a:pPr algn="just"/>
            <a:r>
              <a:rPr lang="ru-RU" sz="2600" b="1" dirty="0" err="1">
                <a:latin typeface="Times New Roman" panose="02020603050405020304" pitchFamily="18" charset="0"/>
                <a:cs typeface="Times New Roman" panose="02020603050405020304" pitchFamily="18" charset="0"/>
              </a:rPr>
              <a:t>Багаторівневий</a:t>
            </a:r>
            <a:r>
              <a:rPr lang="ru-RU" sz="2600" b="1"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захист</a:t>
            </a:r>
            <a:endParaRPr lang="en-US" sz="2600" b="1" dirty="0">
              <a:latin typeface="Times New Roman" panose="02020603050405020304" pitchFamily="18" charset="0"/>
              <a:cs typeface="Times New Roman" panose="02020603050405020304" pitchFamily="18" charset="0"/>
            </a:endParaRPr>
          </a:p>
          <a:p>
            <a:pPr algn="just"/>
            <a:r>
              <a:rPr lang="ru-RU" sz="2600" b="1" dirty="0" err="1">
                <a:latin typeface="Times New Roman" panose="02020603050405020304" pitchFamily="18" charset="0"/>
                <a:cs typeface="Times New Roman" panose="02020603050405020304" pitchFamily="18" charset="0"/>
              </a:rPr>
              <a:t>Багаторівневий</a:t>
            </a:r>
            <a:r>
              <a:rPr lang="ru-RU" sz="2600" b="1"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захист</a:t>
            </a:r>
            <a:r>
              <a:rPr lang="ru-RU" sz="2600"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Defense in Depth</a:t>
            </a:r>
            <a:r>
              <a:rPr lang="ru-RU" sz="2600" b="1" dirty="0">
                <a:latin typeface="Times New Roman" panose="02020603050405020304" pitchFamily="18" charset="0"/>
                <a:cs typeface="Times New Roman" panose="02020603050405020304" pitchFamily="18" charset="0"/>
              </a:rPr>
              <a:t>)</a:t>
            </a:r>
            <a:r>
              <a:rPr lang="ru-RU" sz="2600" dirty="0">
                <a:latin typeface="Times New Roman" panose="02020603050405020304" pitchFamily="18" charset="0"/>
                <a:cs typeface="Times New Roman" panose="02020603050405020304" pitchFamily="18" charset="0"/>
              </a:rPr>
              <a:t> </a:t>
            </a:r>
            <a:r>
              <a:rPr lang="ru-RU" sz="2600" dirty="0" smtClean="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це</a:t>
            </a:r>
            <a:r>
              <a:rPr lang="ru-RU" sz="2600" dirty="0">
                <a:latin typeface="Times New Roman" panose="02020603050405020304" pitchFamily="18" charset="0"/>
                <a:cs typeface="Times New Roman" panose="02020603050405020304" pitchFamily="18" charset="0"/>
              </a:rPr>
              <a:t> принцип </a:t>
            </a:r>
            <a:r>
              <a:rPr lang="ru-RU" sz="2600" dirty="0" err="1">
                <a:latin typeface="Times New Roman" panose="02020603050405020304" pitchFamily="18" charset="0"/>
                <a:cs typeface="Times New Roman" panose="02020603050405020304" pitchFamily="18" charset="0"/>
              </a:rPr>
              <a:t>побудови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кібербезпеки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відповідно</a:t>
            </a:r>
            <a:r>
              <a:rPr lang="ru-RU" sz="2600" dirty="0">
                <a:latin typeface="Times New Roman" panose="02020603050405020304" pitchFamily="18" charset="0"/>
                <a:cs typeface="Times New Roman" panose="02020603050405020304" pitchFamily="18" charset="0"/>
              </a:rPr>
              <a:t> до </a:t>
            </a:r>
            <a:r>
              <a:rPr lang="ru-RU" sz="2600" dirty="0" err="1">
                <a:latin typeface="Times New Roman" panose="02020603050405020304" pitchFamily="18" charset="0"/>
                <a:cs typeface="Times New Roman" panose="02020603050405020304" pitchFamily="18" charset="0"/>
              </a:rPr>
              <a:t>якого</a:t>
            </a:r>
            <a:r>
              <a:rPr lang="ru-RU" sz="2600" dirty="0">
                <a:latin typeface="Times New Roman" panose="02020603050405020304" pitchFamily="18" charset="0"/>
                <a:cs typeface="Times New Roman" panose="02020603050405020304" pitchFamily="18" charset="0"/>
              </a:rPr>
              <a:t> для </a:t>
            </a:r>
            <a:r>
              <a:rPr lang="ru-RU" sz="2600" dirty="0" err="1">
                <a:latin typeface="Times New Roman" panose="02020603050405020304" pitchFamily="18" charset="0"/>
                <a:cs typeface="Times New Roman" panose="02020603050405020304" pitchFamily="18" charset="0"/>
              </a:rPr>
              <a:t>захисту</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інформаційних</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ресурсів</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застосовується</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сукупність</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взаємодоповнювальних</a:t>
            </a:r>
            <a:r>
              <a:rPr lang="ru-RU" sz="2600" dirty="0">
                <a:latin typeface="Times New Roman" panose="02020603050405020304" pitchFamily="18" charset="0"/>
                <a:cs typeface="Times New Roman" panose="02020603050405020304" pitchFamily="18" charset="0"/>
              </a:rPr>
              <a:t> і </a:t>
            </a:r>
            <a:r>
              <a:rPr lang="ru-RU" sz="2600" dirty="0" err="1">
                <a:latin typeface="Times New Roman" panose="02020603050405020304" pitchFamily="18" charset="0"/>
                <a:cs typeface="Times New Roman" panose="02020603050405020304" pitchFamily="18" charset="0"/>
              </a:rPr>
              <a:t>відносно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незалежних</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механізмів</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безпеки</a:t>
            </a:r>
            <a:r>
              <a:rPr lang="ru-RU" sz="2600" dirty="0">
                <a:latin typeface="Times New Roman" panose="02020603050405020304" pitchFamily="18" charset="0"/>
                <a:cs typeface="Times New Roman" panose="02020603050405020304" pitchFamily="18" charset="0"/>
              </a:rPr>
              <a:t> на </a:t>
            </a:r>
            <a:r>
              <a:rPr lang="ru-RU" sz="2600" dirty="0" err="1">
                <a:latin typeface="Times New Roman" panose="02020603050405020304" pitchFamily="18" charset="0"/>
                <a:cs typeface="Times New Roman" panose="02020603050405020304" pitchFamily="18" charset="0"/>
              </a:rPr>
              <a:t>різних</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рівнях</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інформаційної</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системи</a:t>
            </a:r>
            <a:r>
              <a:rPr lang="ru-RU" sz="2600"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algn="just"/>
            <a:r>
              <a:rPr lang="ru-RU" sz="2600" dirty="0">
                <a:latin typeface="Times New Roman" panose="02020603050405020304" pitchFamily="18" charset="0"/>
                <a:cs typeface="Times New Roman" panose="02020603050405020304" pitchFamily="18" charset="0"/>
              </a:rPr>
              <a:t>Основною </a:t>
            </a:r>
            <a:r>
              <a:rPr lang="ru-RU" sz="2600" dirty="0" err="1">
                <a:latin typeface="Times New Roman" panose="02020603050405020304" pitchFamily="18" charset="0"/>
                <a:cs typeface="Times New Roman" panose="02020603050405020304" pitchFamily="18" charset="0"/>
              </a:rPr>
              <a:t>ідеєю</a:t>
            </a:r>
            <a:r>
              <a:rPr lang="ru-RU"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Defense in Depth</a:t>
            </a:r>
            <a:r>
              <a:rPr lang="ru-RU" sz="2600" dirty="0">
                <a:latin typeface="Times New Roman" panose="02020603050405020304" pitchFamily="18" charset="0"/>
                <a:cs typeface="Times New Roman" panose="02020603050405020304" pitchFamily="18" charset="0"/>
              </a:rPr>
              <a:t> є </a:t>
            </a:r>
            <a:r>
              <a:rPr lang="ru-RU" sz="2600" dirty="0" err="1">
                <a:latin typeface="Times New Roman" panose="02020603050405020304" pitchFamily="18" charset="0"/>
                <a:cs typeface="Times New Roman" panose="02020603050405020304" pitchFamily="18" charset="0"/>
              </a:rPr>
              <a:t>відмова</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від</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залежності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від</a:t>
            </a:r>
            <a:r>
              <a:rPr lang="ru-RU" sz="2600"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єдиного</a:t>
            </a:r>
            <a:r>
              <a:rPr lang="ru-RU" sz="2600" b="1"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механізму</a:t>
            </a:r>
            <a:r>
              <a:rPr lang="ru-RU" sz="2600" b="1"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захисту</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Якщо</a:t>
            </a:r>
            <a:r>
              <a:rPr lang="ru-RU" sz="2600" dirty="0">
                <a:latin typeface="Times New Roman" panose="02020603050405020304" pitchFamily="18" charset="0"/>
                <a:cs typeface="Times New Roman" panose="02020603050405020304" pitchFamily="18" charset="0"/>
              </a:rPr>
              <a:t> один </a:t>
            </a:r>
            <a:r>
              <a:rPr lang="ru-RU" sz="2600" dirty="0" err="1">
                <a:latin typeface="Times New Roman" panose="02020603050405020304" pitchFamily="18" charset="0"/>
                <a:cs typeface="Times New Roman" panose="02020603050405020304" pitchFamily="18" charset="0"/>
              </a:rPr>
              <a:t>із</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компонентів</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системи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безпеки</a:t>
            </a:r>
            <a:r>
              <a:rPr lang="ru-RU" sz="2600" dirty="0">
                <a:latin typeface="Times New Roman" panose="02020603050405020304" pitchFamily="18" charset="0"/>
                <a:cs typeface="Times New Roman" panose="02020603050405020304" pitchFamily="18" charset="0"/>
              </a:rPr>
              <a:t> буде </a:t>
            </a:r>
            <a:r>
              <a:rPr lang="ru-RU" sz="2600" dirty="0" err="1">
                <a:latin typeface="Times New Roman" panose="02020603050405020304" pitchFamily="18" charset="0"/>
                <a:cs typeface="Times New Roman" panose="02020603050405020304" pitchFamily="18" charset="0"/>
              </a:rPr>
              <a:t>обійдений</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або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скомпрометований</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інші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рівні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повинні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продовжувати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протидіяти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загрозі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або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мінімізувати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її</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наслідки</a:t>
            </a:r>
            <a:r>
              <a:rPr lang="ru-RU" sz="2600"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algn="just"/>
            <a:r>
              <a:rPr lang="ru-RU" sz="2600" dirty="0" err="1">
                <a:latin typeface="Times New Roman" panose="02020603050405020304" pitchFamily="18" charset="0"/>
                <a:cs typeface="Times New Roman" panose="02020603050405020304" pitchFamily="18" charset="0"/>
              </a:rPr>
              <a:t>Багаторівнева</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архітектура</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може</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передбачати</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послідовне</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застосування</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механізмів</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автентифікації</a:t>
            </a:r>
            <a:r>
              <a:rPr lang="ru-RU" sz="2600" dirty="0">
                <a:latin typeface="Times New Roman" panose="02020603050405020304" pitchFamily="18" charset="0"/>
                <a:cs typeface="Times New Roman" panose="02020603050405020304" pitchFamily="18" charset="0"/>
              </a:rPr>
              <a:t>, контролю доступу, </a:t>
            </a:r>
            <a:r>
              <a:rPr lang="ru-RU" sz="2600" dirty="0" err="1">
                <a:latin typeface="Times New Roman" panose="02020603050405020304" pitchFamily="18" charset="0"/>
                <a:cs typeface="Times New Roman" panose="02020603050405020304" pitchFamily="18" charset="0"/>
              </a:rPr>
              <a:t>мережевого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екранування</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сегментації</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мережі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шифрування</a:t>
            </a:r>
            <a:r>
              <a:rPr lang="ru-RU" sz="2600" dirty="0">
                <a:latin typeface="Times New Roman" panose="02020603050405020304" pitchFamily="18" charset="0"/>
                <a:cs typeface="Times New Roman" panose="02020603050405020304" pitchFamily="18" charset="0"/>
              </a:rPr>
              <a:t>, систем </a:t>
            </a:r>
            <a:r>
              <a:rPr lang="ru-RU" sz="2600" dirty="0" err="1">
                <a:latin typeface="Times New Roman" panose="02020603050405020304" pitchFamily="18" charset="0"/>
                <a:cs typeface="Times New Roman" panose="02020603050405020304" pitchFamily="18" charset="0"/>
              </a:rPr>
              <a:t>виявлення</a:t>
            </a:r>
            <a:r>
              <a:rPr lang="ru-RU" sz="2600" dirty="0">
                <a:latin typeface="Times New Roman" panose="02020603050405020304" pitchFamily="18" charset="0"/>
                <a:cs typeface="Times New Roman" panose="02020603050405020304" pitchFamily="18" charset="0"/>
              </a:rPr>
              <a:t> та </a:t>
            </a:r>
            <a:r>
              <a:rPr lang="ru-RU" sz="2600" dirty="0" err="1">
                <a:latin typeface="Times New Roman" panose="02020603050405020304" pitchFamily="18" charset="0"/>
                <a:cs typeface="Times New Roman" panose="02020603050405020304" pitchFamily="18" charset="0"/>
              </a:rPr>
              <a:t>запобігання</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вторгненням</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централізованого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моніторингу</a:t>
            </a:r>
            <a:r>
              <a:rPr lang="ru-RU" sz="2600" dirty="0">
                <a:latin typeface="Times New Roman" panose="02020603050405020304" pitchFamily="18" charset="0"/>
                <a:cs typeface="Times New Roman" panose="02020603050405020304" pitchFamily="18" charset="0"/>
              </a:rPr>
              <a:t>, резервного </a:t>
            </a:r>
            <a:r>
              <a:rPr lang="ru-RU" sz="2600" dirty="0" err="1">
                <a:latin typeface="Times New Roman" panose="02020603050405020304" pitchFamily="18" charset="0"/>
                <a:cs typeface="Times New Roman" panose="02020603050405020304" pitchFamily="18" charset="0"/>
              </a:rPr>
              <a:t>копіювання</a:t>
            </a:r>
            <a:r>
              <a:rPr lang="ru-RU" sz="2600" dirty="0">
                <a:latin typeface="Times New Roman" panose="02020603050405020304" pitchFamily="18" charset="0"/>
                <a:cs typeface="Times New Roman" panose="02020603050405020304" pitchFamily="18" charset="0"/>
              </a:rPr>
              <a:t> та </a:t>
            </a:r>
            <a:r>
              <a:rPr lang="ru-RU" sz="2600" dirty="0" err="1">
                <a:latin typeface="Times New Roman" panose="02020603050405020304" pitchFamily="18" charset="0"/>
                <a:cs typeface="Times New Roman" panose="02020603050405020304" pitchFamily="18" charset="0"/>
              </a:rPr>
              <a:t>засобів</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відновлення</a:t>
            </a:r>
            <a:r>
              <a:rPr lang="ru-RU" sz="2600"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algn="just"/>
            <a:r>
              <a:rPr lang="ru-RU" sz="2600" dirty="0" err="1">
                <a:latin typeface="Times New Roman" panose="02020603050405020304" pitchFamily="18" charset="0"/>
                <a:cs typeface="Times New Roman" panose="02020603050405020304" pitchFamily="18" charset="0"/>
              </a:rPr>
              <a:t>Умовно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така</a:t>
            </a:r>
            <a:r>
              <a:rPr lang="ru-RU" sz="2600" dirty="0">
                <a:latin typeface="Times New Roman" panose="02020603050405020304" pitchFamily="18" charset="0"/>
                <a:cs typeface="Times New Roman" panose="02020603050405020304" pitchFamily="18" charset="0"/>
              </a:rPr>
              <a:t> модель </a:t>
            </a:r>
            <a:r>
              <a:rPr lang="ru-RU" sz="2600" dirty="0" err="1">
                <a:latin typeface="Times New Roman" panose="02020603050405020304" pitchFamily="18" charset="0"/>
                <a:cs typeface="Times New Roman" panose="02020603050405020304" pitchFamily="18" charset="0"/>
              </a:rPr>
              <a:t>може</a:t>
            </a:r>
            <a:r>
              <a:rPr lang="ru-RU" sz="2600" dirty="0">
                <a:latin typeface="Times New Roman" panose="02020603050405020304" pitchFamily="18" charset="0"/>
                <a:cs typeface="Times New Roman" panose="02020603050405020304" pitchFamily="18" charset="0"/>
              </a:rPr>
              <a:t> бути представлена як:</a:t>
            </a:r>
            <a:endParaRPr lang="en-US" sz="2600" dirty="0">
              <a:latin typeface="Times New Roman" panose="02020603050405020304" pitchFamily="18" charset="0"/>
              <a:cs typeface="Times New Roman" panose="02020603050405020304" pitchFamily="18" charset="0"/>
            </a:endParaRPr>
          </a:p>
          <a:p>
            <a:pPr algn="just"/>
            <a:r>
              <a:rPr lang="ru-RU" sz="2600" b="1" dirty="0" err="1">
                <a:latin typeface="Times New Roman" panose="02020603050405020304" pitchFamily="18" charset="0"/>
                <a:cs typeface="Times New Roman" panose="02020603050405020304" pitchFamily="18" charset="0"/>
              </a:rPr>
              <a:t>автентифікація</a:t>
            </a:r>
            <a:r>
              <a:rPr lang="ru-RU" sz="2600" b="1" dirty="0">
                <a:latin typeface="Times New Roman" panose="02020603050405020304" pitchFamily="18" charset="0"/>
                <a:cs typeface="Times New Roman" panose="02020603050405020304" pitchFamily="18" charset="0"/>
              </a:rPr>
              <a:t> → контроль доступу → </a:t>
            </a:r>
            <a:r>
              <a:rPr lang="en-US" sz="2600" b="1" dirty="0">
                <a:latin typeface="Times New Roman" panose="02020603050405020304" pitchFamily="18" charset="0"/>
                <a:cs typeface="Times New Roman" panose="02020603050405020304" pitchFamily="18" charset="0"/>
              </a:rPr>
              <a:t>Firewall</a:t>
            </a:r>
            <a:r>
              <a:rPr lang="ru-RU" sz="2600" b="1" dirty="0">
                <a:latin typeface="Times New Roman" panose="02020603050405020304" pitchFamily="18" charset="0"/>
                <a:cs typeface="Times New Roman" panose="02020603050405020304" pitchFamily="18" charset="0"/>
              </a:rPr>
              <a:t> → </a:t>
            </a:r>
            <a:r>
              <a:rPr lang="ru-RU" sz="2600" b="1" dirty="0" err="1">
                <a:latin typeface="Times New Roman" panose="02020603050405020304" pitchFamily="18" charset="0"/>
                <a:cs typeface="Times New Roman" panose="02020603050405020304" pitchFamily="18" charset="0"/>
              </a:rPr>
              <a:t>сегментація</a:t>
            </a:r>
            <a:r>
              <a:rPr lang="ru-RU" sz="2600" b="1"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мережі</a:t>
            </a:r>
            <a:r>
              <a:rPr lang="ru-RU" sz="2600" b="1" dirty="0">
                <a:latin typeface="Times New Roman" panose="02020603050405020304" pitchFamily="18" charset="0"/>
                <a:cs typeface="Times New Roman" panose="02020603050405020304" pitchFamily="18" charset="0"/>
              </a:rPr>
              <a:t> → </a:t>
            </a:r>
            <a:r>
              <a:rPr lang="ru-RU" sz="2600" b="1" dirty="0" err="1">
                <a:latin typeface="Times New Roman" panose="02020603050405020304" pitchFamily="18" charset="0"/>
                <a:cs typeface="Times New Roman" panose="02020603050405020304" pitchFamily="18" charset="0"/>
              </a:rPr>
              <a:t>шифрування</a:t>
            </a:r>
            <a:r>
              <a:rPr lang="ru-RU" sz="2600" b="1" dirty="0">
                <a:latin typeface="Times New Roman" panose="02020603050405020304" pitchFamily="18" charset="0"/>
                <a:cs typeface="Times New Roman" panose="02020603050405020304" pitchFamily="18" charset="0"/>
              </a:rPr>
              <a:t> → </a:t>
            </a:r>
            <a:r>
              <a:rPr lang="en-US" sz="2600" b="1" dirty="0">
                <a:latin typeface="Times New Roman" panose="02020603050405020304" pitchFamily="18" charset="0"/>
                <a:cs typeface="Times New Roman" panose="02020603050405020304" pitchFamily="18" charset="0"/>
              </a:rPr>
              <a:t>IDS</a:t>
            </a:r>
            <a:r>
              <a:rPr lang="ru-RU" sz="2600" b="1" dirty="0">
                <a:latin typeface="Times New Roman" panose="02020603050405020304" pitchFamily="18" charset="0"/>
                <a:cs typeface="Times New Roman" panose="02020603050405020304" pitchFamily="18" charset="0"/>
              </a:rPr>
              <a:t>/</a:t>
            </a:r>
            <a:r>
              <a:rPr lang="en-US" sz="2600" b="1" dirty="0">
                <a:latin typeface="Times New Roman" panose="02020603050405020304" pitchFamily="18" charset="0"/>
                <a:cs typeface="Times New Roman" panose="02020603050405020304" pitchFamily="18" charset="0"/>
              </a:rPr>
              <a:t>IPS</a:t>
            </a:r>
            <a:r>
              <a:rPr lang="ru-RU" sz="2600" b="1" dirty="0">
                <a:latin typeface="Times New Roman" panose="02020603050405020304" pitchFamily="18" charset="0"/>
                <a:cs typeface="Times New Roman" panose="02020603050405020304" pitchFamily="18" charset="0"/>
              </a:rPr>
              <a:t> → </a:t>
            </a:r>
            <a:r>
              <a:rPr lang="en-US" sz="2600" b="1" dirty="0">
                <a:latin typeface="Times New Roman" panose="02020603050405020304" pitchFamily="18" charset="0"/>
                <a:cs typeface="Times New Roman" panose="02020603050405020304" pitchFamily="18" charset="0"/>
              </a:rPr>
              <a:t>SIEM</a:t>
            </a:r>
            <a:r>
              <a:rPr lang="ru-RU" sz="2600" b="1" dirty="0">
                <a:latin typeface="Times New Roman" panose="02020603050405020304" pitchFamily="18" charset="0"/>
                <a:cs typeface="Times New Roman" panose="02020603050405020304" pitchFamily="18" charset="0"/>
              </a:rPr>
              <a:t> → </a:t>
            </a:r>
            <a:r>
              <a:rPr lang="ru-RU" sz="2600" b="1" dirty="0" err="1">
                <a:latin typeface="Times New Roman" panose="02020603050405020304" pitchFamily="18" charset="0"/>
                <a:cs typeface="Times New Roman" panose="02020603050405020304" pitchFamily="18" charset="0"/>
              </a:rPr>
              <a:t>резервне</a:t>
            </a:r>
            <a:r>
              <a:rPr lang="ru-RU" sz="2600" b="1" dirty="0">
                <a:latin typeface="Times New Roman" panose="02020603050405020304" pitchFamily="18" charset="0"/>
                <a:cs typeface="Times New Roman" panose="02020603050405020304" pitchFamily="18" charset="0"/>
              </a:rPr>
              <a:t> </a:t>
            </a:r>
            <a:r>
              <a:rPr lang="ru-RU" sz="2600" b="1" dirty="0" err="1">
                <a:latin typeface="Times New Roman" panose="02020603050405020304" pitchFamily="18" charset="0"/>
                <a:cs typeface="Times New Roman" panose="02020603050405020304" pitchFamily="18" charset="0"/>
              </a:rPr>
              <a:t>копіювання</a:t>
            </a:r>
            <a:r>
              <a:rPr lang="ru-RU" sz="2600" b="1" dirty="0">
                <a:latin typeface="Times New Roman" panose="02020603050405020304" pitchFamily="18" charset="0"/>
                <a:cs typeface="Times New Roman" panose="02020603050405020304" pitchFamily="18" charset="0"/>
              </a:rPr>
              <a:t> → </a:t>
            </a:r>
            <a:r>
              <a:rPr lang="ru-RU" sz="2600" b="1" dirty="0" err="1">
                <a:latin typeface="Times New Roman" panose="02020603050405020304" pitchFamily="18" charset="0"/>
                <a:cs typeface="Times New Roman" panose="02020603050405020304" pitchFamily="18" charset="0"/>
              </a:rPr>
              <a:t>відновлення</a:t>
            </a:r>
            <a:r>
              <a:rPr lang="ru-RU" sz="2600" b="1"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algn="just"/>
            <a:r>
              <a:rPr lang="ru-RU" sz="2600" dirty="0">
                <a:latin typeface="Times New Roman" panose="02020603050405020304" pitchFamily="18" charset="0"/>
                <a:cs typeface="Times New Roman" panose="02020603050405020304" pitchFamily="18" charset="0"/>
              </a:rPr>
              <a:t>При </a:t>
            </a:r>
            <a:r>
              <a:rPr lang="ru-RU" sz="2600" dirty="0" err="1">
                <a:latin typeface="Times New Roman" panose="02020603050405020304" pitchFamily="18" charset="0"/>
                <a:cs typeface="Times New Roman" panose="02020603050405020304" pitchFamily="18" charset="0"/>
              </a:rPr>
              <a:t>цьому</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зазначені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механізми</a:t>
            </a:r>
            <a:r>
              <a:rPr lang="ru-RU" sz="2600" dirty="0">
                <a:latin typeface="Times New Roman" panose="02020603050405020304" pitchFamily="18" charset="0"/>
                <a:cs typeface="Times New Roman" panose="02020603050405020304" pitchFamily="18" charset="0"/>
              </a:rPr>
              <a:t> не </a:t>
            </a:r>
            <a:r>
              <a:rPr lang="ru-RU" sz="2600" dirty="0" err="1">
                <a:latin typeface="Times New Roman" panose="02020603050405020304" pitchFamily="18" charset="0"/>
                <a:cs typeface="Times New Roman" panose="02020603050405020304" pitchFamily="18" charset="0"/>
              </a:rPr>
              <a:t>повинні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розглядатися</a:t>
            </a:r>
            <a:r>
              <a:rPr lang="ru-RU" sz="2600" dirty="0">
                <a:latin typeface="Times New Roman" panose="02020603050405020304" pitchFamily="18" charset="0"/>
                <a:cs typeface="Times New Roman" panose="02020603050405020304" pitchFamily="18" charset="0"/>
              </a:rPr>
              <a:t> як </a:t>
            </a:r>
            <a:r>
              <a:rPr lang="ru-RU" sz="2600" dirty="0" err="1">
                <a:latin typeface="Times New Roman" panose="02020603050405020304" pitchFamily="18" charset="0"/>
                <a:cs typeface="Times New Roman" panose="02020603050405020304" pitchFamily="18" charset="0"/>
              </a:rPr>
              <a:t>виключно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послідовний</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ланцюг</a:t>
            </a:r>
            <a:r>
              <a:rPr lang="ru-RU" sz="2600" dirty="0">
                <a:latin typeface="Times New Roman" panose="02020603050405020304" pitchFamily="18" charset="0"/>
                <a:cs typeface="Times New Roman" panose="02020603050405020304" pitchFamily="18" charset="0"/>
              </a:rPr>
              <a:t>. У </a:t>
            </a:r>
            <a:r>
              <a:rPr lang="ru-RU" sz="2600" dirty="0" err="1">
                <a:latin typeface="Times New Roman" panose="02020603050405020304" pitchFamily="18" charset="0"/>
                <a:cs typeface="Times New Roman" panose="02020603050405020304" pitchFamily="18" charset="0"/>
              </a:rPr>
              <a:t>реальній</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інформаційній</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системі</a:t>
            </a:r>
            <a:r>
              <a:rPr lang="ru-RU" sz="2600" dirty="0">
                <a:latin typeface="Times New Roman" panose="02020603050405020304" pitchFamily="18" charset="0"/>
                <a:cs typeface="Times New Roman" panose="02020603050405020304" pitchFamily="18" charset="0"/>
              </a:rPr>
              <a:t> вони </a:t>
            </a:r>
            <a:r>
              <a:rPr lang="ru-RU" sz="2600" dirty="0" err="1">
                <a:latin typeface="Times New Roman" panose="02020603050405020304" pitchFamily="18" charset="0"/>
                <a:cs typeface="Times New Roman" panose="02020603050405020304" pitchFamily="18" charset="0"/>
              </a:rPr>
              <a:t>функціонують</a:t>
            </a:r>
            <a:r>
              <a:rPr lang="ru-RU" sz="2600" dirty="0">
                <a:latin typeface="Times New Roman" panose="02020603050405020304" pitchFamily="18" charset="0"/>
                <a:cs typeface="Times New Roman" panose="02020603050405020304" pitchFamily="18" charset="0"/>
              </a:rPr>
              <a:t> на </a:t>
            </a:r>
            <a:r>
              <a:rPr lang="ru-RU" sz="2600" dirty="0" err="1">
                <a:latin typeface="Times New Roman" panose="02020603050405020304" pitchFamily="18" charset="0"/>
                <a:cs typeface="Times New Roman" panose="02020603050405020304" pitchFamily="18" charset="0"/>
              </a:rPr>
              <a:t>різних</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рівнях</a:t>
            </a:r>
            <a:r>
              <a:rPr lang="ru-RU" sz="2600" dirty="0">
                <a:latin typeface="Times New Roman" panose="02020603050405020304" pitchFamily="18" charset="0"/>
                <a:cs typeface="Times New Roman" panose="02020603050405020304" pitchFamily="18" charset="0"/>
              </a:rPr>
              <a:t> і </a:t>
            </a:r>
            <a:r>
              <a:rPr lang="ru-RU" sz="2600" dirty="0" err="1">
                <a:latin typeface="Times New Roman" panose="02020603050405020304" pitchFamily="18" charset="0"/>
                <a:cs typeface="Times New Roman" panose="02020603050405020304" pitchFamily="18" charset="0"/>
              </a:rPr>
              <a:t>доповнюють</a:t>
            </a:r>
            <a:r>
              <a:rPr lang="ru-RU" sz="2600" dirty="0">
                <a:latin typeface="Times New Roman" panose="02020603050405020304" pitchFamily="18" charset="0"/>
                <a:cs typeface="Times New Roman" panose="02020603050405020304" pitchFamily="18" charset="0"/>
              </a:rPr>
              <a:t> один одного.</a:t>
            </a:r>
            <a:endParaRPr lang="en-US" sz="2600" dirty="0">
              <a:latin typeface="Times New Roman" panose="02020603050405020304" pitchFamily="18" charset="0"/>
              <a:cs typeface="Times New Roman" panose="02020603050405020304" pitchFamily="18" charset="0"/>
            </a:endParaRPr>
          </a:p>
          <a:p>
            <a:pPr algn="just"/>
            <a:r>
              <a:rPr lang="ru-RU" sz="2600" dirty="0">
                <a:latin typeface="Times New Roman" panose="02020603050405020304" pitchFamily="18" charset="0"/>
                <a:cs typeface="Times New Roman" panose="02020603050405020304" pitchFamily="18" charset="0"/>
              </a:rPr>
              <a:t>Для </a:t>
            </a:r>
            <a:r>
              <a:rPr lang="en-US" sz="2600" dirty="0" err="1">
                <a:latin typeface="Times New Roman" panose="02020603050405020304" pitchFamily="18" charset="0"/>
                <a:cs typeface="Times New Roman" panose="02020603050405020304" pitchFamily="18" charset="0"/>
              </a:rPr>
              <a:t>IoT</a:t>
            </a:r>
            <a:r>
              <a:rPr lang="ru-RU" sz="2600" dirty="0">
                <a:latin typeface="Times New Roman" panose="02020603050405020304" pitchFamily="18" charset="0"/>
                <a:cs typeface="Times New Roman" panose="02020603050405020304" pitchFamily="18" charset="0"/>
              </a:rPr>
              <a:t>-</a:t>
            </a:r>
            <a:r>
              <a:rPr lang="ru-RU" sz="2600" dirty="0" err="1">
                <a:latin typeface="Times New Roman" panose="02020603050405020304" pitchFamily="18" charset="0"/>
                <a:cs typeface="Times New Roman" panose="02020603050405020304" pitchFamily="18" charset="0"/>
              </a:rPr>
              <a:t>інфраструктури</a:t>
            </a:r>
            <a:r>
              <a:rPr lang="ru-RU"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Defense in Depth</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передбачає</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захист</a:t>
            </a:r>
            <a:r>
              <a:rPr lang="ru-RU" sz="2600" dirty="0">
                <a:latin typeface="Times New Roman" panose="02020603050405020304" pitchFamily="18" charset="0"/>
                <a:cs typeface="Times New Roman" panose="02020603050405020304" pitchFamily="18" charset="0"/>
              </a:rPr>
              <a:t> самого пристрою, </a:t>
            </a:r>
            <a:r>
              <a:rPr lang="ru-RU" sz="2600" dirty="0" err="1">
                <a:latin typeface="Times New Roman" panose="02020603050405020304" pitchFamily="18" charset="0"/>
                <a:cs typeface="Times New Roman" panose="02020603050405020304" pitchFamily="18" charset="0"/>
              </a:rPr>
              <a:t>його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програмного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забезпечення</a:t>
            </a:r>
            <a:r>
              <a:rPr lang="ru-RU" sz="2600" dirty="0">
                <a:latin typeface="Times New Roman" panose="02020603050405020304" pitchFamily="18" charset="0"/>
                <a:cs typeface="Times New Roman" panose="02020603050405020304" pitchFamily="18" charset="0"/>
              </a:rPr>
              <a:t>, каналу </a:t>
            </a:r>
            <a:r>
              <a:rPr lang="ru-RU" sz="2600" dirty="0" err="1">
                <a:latin typeface="Times New Roman" panose="02020603050405020304" pitchFamily="18" charset="0"/>
                <a:cs typeface="Times New Roman" panose="02020603050405020304" pitchFamily="18" charset="0"/>
              </a:rPr>
              <a:t>зв’язку</a:t>
            </a:r>
            <a:r>
              <a:rPr lang="ru-RU"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IoT</a:t>
            </a:r>
            <a:r>
              <a:rPr lang="ru-RU" sz="2600" dirty="0">
                <a:latin typeface="Times New Roman" panose="02020603050405020304" pitchFamily="18" charset="0"/>
                <a:cs typeface="Times New Roman" panose="02020603050405020304" pitchFamily="18" charset="0"/>
              </a:rPr>
              <a:t>-шлюзу, </a:t>
            </a:r>
            <a:r>
              <a:rPr lang="ru-RU" sz="2600" dirty="0" err="1">
                <a:latin typeface="Times New Roman" panose="02020603050405020304" pitchFamily="18" charset="0"/>
                <a:cs typeface="Times New Roman" panose="02020603050405020304" pitchFamily="18" charset="0"/>
              </a:rPr>
              <a:t>серверної</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або</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хмарної</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платформи</a:t>
            </a:r>
            <a:r>
              <a:rPr lang="ru-RU" sz="2600" dirty="0">
                <a:latin typeface="Times New Roman" panose="02020603050405020304" pitchFamily="18" charset="0"/>
                <a:cs typeface="Times New Roman" panose="02020603050405020304" pitchFamily="18" charset="0"/>
              </a:rPr>
              <a:t> та </a:t>
            </a:r>
            <a:r>
              <a:rPr lang="ru-RU" sz="2600" dirty="0" err="1">
                <a:latin typeface="Times New Roman" panose="02020603050405020304" pitchFamily="18" charset="0"/>
                <a:cs typeface="Times New Roman" panose="02020603050405020304" pitchFamily="18" charset="0"/>
              </a:rPr>
              <a:t>інформаційних</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ресурсів</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які</a:t>
            </a:r>
            <a:r>
              <a:rPr lang="ru-RU" sz="2600" dirty="0">
                <a:latin typeface="Times New Roman" panose="02020603050405020304" pitchFamily="18" charset="0"/>
                <a:cs typeface="Times New Roman" panose="02020603050405020304" pitchFamily="18" charset="0"/>
              </a:rPr>
              <a:t> </a:t>
            </a:r>
            <a:r>
              <a:rPr lang="ru-RU" sz="2600" dirty="0" err="1">
                <a:latin typeface="Times New Roman" panose="02020603050405020304" pitchFamily="18" charset="0"/>
                <a:cs typeface="Times New Roman" panose="02020603050405020304" pitchFamily="18" charset="0"/>
              </a:rPr>
              <a:t>обробляються</a:t>
            </a:r>
            <a:r>
              <a:rPr lang="ru-RU" sz="2600" dirty="0">
                <a:latin typeface="Times New Roman" panose="02020603050405020304" pitchFamily="18" charset="0"/>
                <a:cs typeface="Times New Roman" panose="02020603050405020304" pitchFamily="18" charset="0"/>
              </a:rPr>
              <a:t> системою</a:t>
            </a:r>
            <a:r>
              <a:rPr lang="ru-RU" sz="2600" dirty="0" smtClean="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139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0" y="153798"/>
            <a:ext cx="16256000" cy="883640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15789" y="0"/>
            <a:ext cx="16256000" cy="869795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0" y="83355"/>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36737" y="83355"/>
            <a:ext cx="16092263" cy="8710077"/>
          </a:xfrm>
          <a:prstGeom prst="rect">
            <a:avLst/>
          </a:prstGeom>
        </p:spPr>
        <p:txBody>
          <a:bodyPr wrap="square">
            <a:spAutoFit/>
          </a:bodyPr>
          <a:lstStyle/>
          <a:p>
            <a:pPr algn="just"/>
            <a:r>
              <a:rPr lang="uk-UA" sz="2800" b="1" dirty="0" err="1" smtClean="0">
                <a:latin typeface="Times New Roman" panose="02020603050405020304" pitchFamily="18" charset="0"/>
                <a:cs typeface="Times New Roman" panose="02020603050405020304" pitchFamily="18" charset="0"/>
              </a:rPr>
              <a:t>Zero</a:t>
            </a:r>
            <a:r>
              <a:rPr lang="uk-UA" sz="2800" b="1" dirty="0" smtClean="0">
                <a:latin typeface="Times New Roman" panose="02020603050405020304" pitchFamily="18" charset="0"/>
                <a:cs typeface="Times New Roman" panose="02020603050405020304" pitchFamily="18" charset="0"/>
              </a:rPr>
              <a:t> </a:t>
            </a:r>
            <a:r>
              <a:rPr lang="uk-UA" sz="2800" b="1" dirty="0" err="1" smtClean="0">
                <a:latin typeface="Times New Roman" panose="02020603050405020304" pitchFamily="18" charset="0"/>
                <a:cs typeface="Times New Roman" panose="02020603050405020304" pitchFamily="18" charset="0"/>
              </a:rPr>
              <a:t>Trust</a:t>
            </a:r>
            <a:endParaRPr lang="uk-UA" sz="2800" b="1" dirty="0" smtClean="0">
              <a:latin typeface="Times New Roman" panose="02020603050405020304" pitchFamily="18" charset="0"/>
              <a:cs typeface="Times New Roman" panose="02020603050405020304" pitchFamily="18" charset="0"/>
            </a:endParaRPr>
          </a:p>
          <a:p>
            <a:pPr algn="just"/>
            <a:r>
              <a:rPr lang="uk-UA" sz="2800" b="1" dirty="0" err="1" smtClean="0">
                <a:latin typeface="Times New Roman" panose="02020603050405020304" pitchFamily="18" charset="0"/>
                <a:cs typeface="Times New Roman" panose="02020603050405020304" pitchFamily="18" charset="0"/>
              </a:rPr>
              <a:t>Zero</a:t>
            </a:r>
            <a:r>
              <a:rPr lang="uk-UA" sz="2800" b="1" dirty="0" smtClean="0">
                <a:latin typeface="Times New Roman" panose="02020603050405020304" pitchFamily="18" charset="0"/>
                <a:cs typeface="Times New Roman" panose="02020603050405020304" pitchFamily="18" charset="0"/>
              </a:rPr>
              <a:t> </a:t>
            </a:r>
            <a:r>
              <a:rPr lang="uk-UA" sz="2800" b="1" dirty="0" err="1" smtClean="0">
                <a:latin typeface="Times New Roman" panose="02020603050405020304" pitchFamily="18" charset="0"/>
                <a:cs typeface="Times New Roman" panose="02020603050405020304" pitchFamily="18" charset="0"/>
              </a:rPr>
              <a:t>Trust</a:t>
            </a:r>
            <a:r>
              <a:rPr lang="uk-UA" sz="2800" dirty="0" smtClean="0">
                <a:latin typeface="Times New Roman" panose="02020603050405020304" pitchFamily="18" charset="0"/>
                <a:cs typeface="Times New Roman" panose="02020603050405020304" pitchFamily="18" charset="0"/>
              </a:rPr>
              <a:t> - це модель </a:t>
            </a:r>
            <a:r>
              <a:rPr lang="uk-UA" sz="2800" dirty="0" err="1" smtClean="0">
                <a:latin typeface="Times New Roman" panose="02020603050405020304" pitchFamily="18" charset="0"/>
                <a:cs typeface="Times New Roman" panose="02020603050405020304" pitchFamily="18" charset="0"/>
              </a:rPr>
              <a:t>кібербезпеки</a:t>
            </a:r>
            <a:r>
              <a:rPr lang="uk-UA" sz="2800" dirty="0" smtClean="0">
                <a:latin typeface="Times New Roman" panose="02020603050405020304" pitchFamily="18" charset="0"/>
                <a:cs typeface="Times New Roman" panose="02020603050405020304" pitchFamily="18" charset="0"/>
              </a:rPr>
              <a:t>, відповідно до якої жоден користувач, пристрій, застосунок або мережевий компонент не вважається автоматично довіреним лише на підставі його розташування або попередньої автентифікації.</a:t>
            </a:r>
          </a:p>
          <a:p>
            <a:pPr algn="just"/>
            <a:r>
              <a:rPr lang="uk-UA" sz="2800" dirty="0" smtClean="0">
                <a:latin typeface="Times New Roman" panose="02020603050405020304" pitchFamily="18" charset="0"/>
                <a:cs typeface="Times New Roman" panose="02020603050405020304" pitchFamily="18" charset="0"/>
              </a:rPr>
              <a:t>Ключова ідея </a:t>
            </a:r>
            <a:r>
              <a:rPr lang="uk-UA" sz="2800" dirty="0" err="1" smtClean="0">
                <a:latin typeface="Times New Roman" panose="02020603050405020304" pitchFamily="18" charset="0"/>
                <a:cs typeface="Times New Roman" panose="02020603050405020304" pitchFamily="18" charset="0"/>
              </a:rPr>
              <a:t>Zero</a:t>
            </a:r>
            <a:r>
              <a:rPr lang="uk-UA" sz="2800" dirty="0" smtClean="0">
                <a:latin typeface="Times New Roman" panose="02020603050405020304" pitchFamily="18" charset="0"/>
                <a:cs typeface="Times New Roman" panose="02020603050405020304" pitchFamily="18" charset="0"/>
              </a:rPr>
              <a:t> </a:t>
            </a:r>
            <a:r>
              <a:rPr lang="uk-UA" sz="2800" dirty="0" err="1" smtClean="0">
                <a:latin typeface="Times New Roman" panose="02020603050405020304" pitchFamily="18" charset="0"/>
                <a:cs typeface="Times New Roman" panose="02020603050405020304" pitchFamily="18" charset="0"/>
              </a:rPr>
              <a:t>Trust</a:t>
            </a:r>
            <a:r>
              <a:rPr lang="uk-UA" sz="2800" dirty="0" smtClean="0">
                <a:latin typeface="Times New Roman" panose="02020603050405020304" pitchFamily="18" charset="0"/>
                <a:cs typeface="Times New Roman" panose="02020603050405020304" pitchFamily="18" charset="0"/>
              </a:rPr>
              <a:t> може бути сформульована як </a:t>
            </a:r>
            <a:r>
              <a:rPr lang="uk-UA" sz="2800" b="1" dirty="0" smtClean="0">
                <a:latin typeface="Times New Roman" panose="02020603050405020304" pitchFamily="18" charset="0"/>
                <a:cs typeface="Times New Roman" panose="02020603050405020304" pitchFamily="18" charset="0"/>
              </a:rPr>
              <a:t>«не довіряй автоматично - перевіряй постійно»</a:t>
            </a:r>
            <a:r>
              <a:rPr lang="uk-UA" sz="2800" dirty="0" smtClean="0">
                <a:latin typeface="Times New Roman" panose="02020603050405020304" pitchFamily="18" charset="0"/>
                <a:cs typeface="Times New Roman" panose="02020603050405020304" pitchFamily="18" charset="0"/>
              </a:rPr>
              <a:t>. На відміну від традиційної моделі, у якій внутрішня корпоративна мережа часто розглядається як довірене середовище, </a:t>
            </a:r>
            <a:r>
              <a:rPr lang="uk-UA" sz="2800" dirty="0" err="1" smtClean="0">
                <a:latin typeface="Times New Roman" panose="02020603050405020304" pitchFamily="18" charset="0"/>
                <a:cs typeface="Times New Roman" panose="02020603050405020304" pitchFamily="18" charset="0"/>
              </a:rPr>
              <a:t>Zero</a:t>
            </a:r>
            <a:r>
              <a:rPr lang="uk-UA" sz="2800" dirty="0" smtClean="0">
                <a:latin typeface="Times New Roman" panose="02020603050405020304" pitchFamily="18" charset="0"/>
                <a:cs typeface="Times New Roman" panose="02020603050405020304" pitchFamily="18" charset="0"/>
              </a:rPr>
              <a:t> </a:t>
            </a:r>
            <a:r>
              <a:rPr lang="uk-UA" sz="2800" dirty="0" err="1" smtClean="0">
                <a:latin typeface="Times New Roman" panose="02020603050405020304" pitchFamily="18" charset="0"/>
                <a:cs typeface="Times New Roman" panose="02020603050405020304" pitchFamily="18" charset="0"/>
              </a:rPr>
              <a:t>Trust</a:t>
            </a:r>
            <a:r>
              <a:rPr lang="uk-UA" sz="2800" dirty="0" smtClean="0">
                <a:latin typeface="Times New Roman" panose="02020603050405020304" pitchFamily="18" charset="0"/>
                <a:cs typeface="Times New Roman" panose="02020603050405020304" pitchFamily="18" charset="0"/>
              </a:rPr>
              <a:t> передбачає постійну перевірку суб’єкта, пристрою, контексту доступу та відповідності встановленим політикам безпеки.</a:t>
            </a:r>
          </a:p>
          <a:p>
            <a:pPr algn="just"/>
            <a:r>
              <a:rPr lang="uk-UA" sz="2800" dirty="0" smtClean="0">
                <a:latin typeface="Times New Roman" panose="02020603050405020304" pitchFamily="18" charset="0"/>
                <a:cs typeface="Times New Roman" panose="02020603050405020304" pitchFamily="18" charset="0"/>
              </a:rPr>
              <a:t>Факт перебування пристрою всередині корпоративної мережі не повинен автоматично надавати йому доступ до всіх внутрішніх ресурсів. Перед отриманням доступу система повинна оцінити </a:t>
            </a:r>
            <a:r>
              <a:rPr lang="uk-UA" sz="2800" b="1" dirty="0" smtClean="0">
                <a:latin typeface="Times New Roman" panose="02020603050405020304" pitchFamily="18" charset="0"/>
                <a:cs typeface="Times New Roman" panose="02020603050405020304" pitchFamily="18" charset="0"/>
              </a:rPr>
              <a:t>ідентичність користувача або пристрою, стан пристрою, необхідні права, характеристики запиту, контекст доступу та рівень ризику</a:t>
            </a:r>
            <a:r>
              <a:rPr lang="uk-UA" sz="2800" dirty="0" smtClean="0">
                <a:latin typeface="Times New Roman" panose="02020603050405020304" pitchFamily="18" charset="0"/>
                <a:cs typeface="Times New Roman" panose="02020603050405020304" pitchFamily="18" charset="0"/>
              </a:rPr>
              <a:t>.</a:t>
            </a:r>
          </a:p>
          <a:p>
            <a:pPr algn="just"/>
            <a:r>
              <a:rPr lang="uk-UA" sz="2800" dirty="0" err="1" smtClean="0">
                <a:latin typeface="Times New Roman" panose="02020603050405020304" pitchFamily="18" charset="0"/>
                <a:cs typeface="Times New Roman" panose="02020603050405020304" pitchFamily="18" charset="0"/>
              </a:rPr>
              <a:t>Zero</a:t>
            </a:r>
            <a:r>
              <a:rPr lang="uk-UA" sz="2800" dirty="0" smtClean="0">
                <a:latin typeface="Times New Roman" panose="02020603050405020304" pitchFamily="18" charset="0"/>
                <a:cs typeface="Times New Roman" panose="02020603050405020304" pitchFamily="18" charset="0"/>
              </a:rPr>
              <a:t> </a:t>
            </a:r>
            <a:r>
              <a:rPr lang="uk-UA" sz="2800" dirty="0" err="1" smtClean="0">
                <a:latin typeface="Times New Roman" panose="02020603050405020304" pitchFamily="18" charset="0"/>
                <a:cs typeface="Times New Roman" panose="02020603050405020304" pitchFamily="18" charset="0"/>
              </a:rPr>
              <a:t>Trust</a:t>
            </a:r>
            <a:r>
              <a:rPr lang="uk-UA" sz="2800" dirty="0" smtClean="0">
                <a:latin typeface="Times New Roman" panose="02020603050405020304" pitchFamily="18" charset="0"/>
                <a:cs typeface="Times New Roman" panose="02020603050405020304" pitchFamily="18" charset="0"/>
              </a:rPr>
              <a:t> тісно пов’язаний із принципом найменших привілеїв, </a:t>
            </a:r>
            <a:r>
              <a:rPr lang="uk-UA" sz="2800" dirty="0" err="1" smtClean="0">
                <a:latin typeface="Times New Roman" panose="02020603050405020304" pitchFamily="18" charset="0"/>
                <a:cs typeface="Times New Roman" panose="02020603050405020304" pitchFamily="18" charset="0"/>
              </a:rPr>
              <a:t>мікросегментацією</a:t>
            </a:r>
            <a:r>
              <a:rPr lang="uk-UA" sz="2800" dirty="0" smtClean="0">
                <a:latin typeface="Times New Roman" panose="02020603050405020304" pitchFamily="18" charset="0"/>
                <a:cs typeface="Times New Roman" panose="02020603050405020304" pitchFamily="18" charset="0"/>
              </a:rPr>
              <a:t>, багатофакторною автентифікацією, постійним моніторингом та аналізом поведінки суб’єктів. У такій моделі доступ надається не за принципом «довіряти або не довіряти», а відповідно до конкретної політики та поточного контексту запиту.</a:t>
            </a:r>
          </a:p>
          <a:p>
            <a:pPr algn="just"/>
            <a:r>
              <a:rPr lang="uk-UA" sz="2800" dirty="0" smtClean="0">
                <a:latin typeface="Times New Roman" panose="02020603050405020304" pitchFamily="18" charset="0"/>
                <a:cs typeface="Times New Roman" panose="02020603050405020304" pitchFamily="18" charset="0"/>
              </a:rPr>
              <a:t>Для </a:t>
            </a:r>
            <a:r>
              <a:rPr lang="uk-UA" sz="2800" dirty="0" err="1" smtClean="0">
                <a:latin typeface="Times New Roman" panose="02020603050405020304" pitchFamily="18" charset="0"/>
                <a:cs typeface="Times New Roman" panose="02020603050405020304" pitchFamily="18" charset="0"/>
              </a:rPr>
              <a:t>IoT</a:t>
            </a:r>
            <a:r>
              <a:rPr lang="uk-UA" sz="2800" dirty="0" smtClean="0">
                <a:latin typeface="Times New Roman" panose="02020603050405020304" pitchFamily="18" charset="0"/>
                <a:cs typeface="Times New Roman" panose="02020603050405020304" pitchFamily="18" charset="0"/>
              </a:rPr>
              <a:t>-середовища </a:t>
            </a:r>
            <a:r>
              <a:rPr lang="uk-UA" sz="2800" dirty="0" err="1" smtClean="0">
                <a:latin typeface="Times New Roman" panose="02020603050405020304" pitchFamily="18" charset="0"/>
                <a:cs typeface="Times New Roman" panose="02020603050405020304" pitchFamily="18" charset="0"/>
              </a:rPr>
              <a:t>Zero</a:t>
            </a:r>
            <a:r>
              <a:rPr lang="uk-UA" sz="2800" dirty="0" smtClean="0">
                <a:latin typeface="Times New Roman" panose="02020603050405020304" pitchFamily="18" charset="0"/>
                <a:cs typeface="Times New Roman" panose="02020603050405020304" pitchFamily="18" charset="0"/>
              </a:rPr>
              <a:t> </a:t>
            </a:r>
            <a:r>
              <a:rPr lang="uk-UA" sz="2800" dirty="0" err="1" smtClean="0">
                <a:latin typeface="Times New Roman" panose="02020603050405020304" pitchFamily="18" charset="0"/>
                <a:cs typeface="Times New Roman" panose="02020603050405020304" pitchFamily="18" charset="0"/>
              </a:rPr>
              <a:t>Trust</a:t>
            </a:r>
            <a:r>
              <a:rPr lang="uk-UA" sz="2800" dirty="0" smtClean="0">
                <a:latin typeface="Times New Roman" panose="02020603050405020304" pitchFamily="18" charset="0"/>
                <a:cs typeface="Times New Roman" panose="02020603050405020304" pitchFamily="18" charset="0"/>
              </a:rPr>
              <a:t> є особливо актуальним, оскільки корпоративна мережа може містити велику кількість пристроїв різного рівня надійності. Кожен пристрій повинен розглядатися як потенційно скомпрометований, а його взаємодія з іншими компонентами - контролюватися відповідно до визначених політик.</a:t>
            </a:r>
            <a:endParaRPr lang="uk-UA"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2758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0" y="83355"/>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508000" y="381000"/>
            <a:ext cx="14782800" cy="8402300"/>
          </a:xfrm>
          <a:prstGeom prst="rect">
            <a:avLst/>
          </a:prstGeom>
        </p:spPr>
        <p:txBody>
          <a:bodyPr wrap="square">
            <a:spAutoFit/>
          </a:bodyPr>
          <a:lstStyle/>
          <a:p>
            <a:pPr algn="just"/>
            <a:r>
              <a:rPr lang="uk-UA" sz="3000" b="1" dirty="0" err="1" smtClean="0">
                <a:latin typeface="Times New Roman" panose="02020603050405020304" pitchFamily="18" charset="0"/>
                <a:cs typeface="Times New Roman" panose="02020603050405020304" pitchFamily="18" charset="0"/>
              </a:rPr>
              <a:t>Security</a:t>
            </a:r>
            <a:r>
              <a:rPr lang="uk-UA" sz="3000" b="1" dirty="0" smtClean="0">
                <a:latin typeface="Times New Roman" panose="02020603050405020304" pitchFamily="18" charset="0"/>
                <a:cs typeface="Times New Roman" panose="02020603050405020304" pitchFamily="18" charset="0"/>
              </a:rPr>
              <a:t> </a:t>
            </a:r>
            <a:r>
              <a:rPr lang="uk-UA" sz="3000" b="1" dirty="0" err="1" smtClean="0">
                <a:latin typeface="Times New Roman" panose="02020603050405020304" pitchFamily="18" charset="0"/>
                <a:cs typeface="Times New Roman" panose="02020603050405020304" pitchFamily="18" charset="0"/>
              </a:rPr>
              <a:t>by</a:t>
            </a:r>
            <a:r>
              <a:rPr lang="uk-UA" sz="3000" b="1" dirty="0" smtClean="0">
                <a:latin typeface="Times New Roman" panose="02020603050405020304" pitchFamily="18" charset="0"/>
                <a:cs typeface="Times New Roman" panose="02020603050405020304" pitchFamily="18" charset="0"/>
              </a:rPr>
              <a:t> </a:t>
            </a:r>
            <a:r>
              <a:rPr lang="uk-UA" sz="3000" b="1" dirty="0" err="1" smtClean="0">
                <a:latin typeface="Times New Roman" panose="02020603050405020304" pitchFamily="18" charset="0"/>
                <a:cs typeface="Times New Roman" panose="02020603050405020304" pitchFamily="18" charset="0"/>
              </a:rPr>
              <a:t>Design</a:t>
            </a:r>
            <a:endParaRPr lang="uk-UA" sz="3000" b="1" dirty="0" smtClean="0">
              <a:latin typeface="Times New Roman" panose="02020603050405020304" pitchFamily="18" charset="0"/>
              <a:cs typeface="Times New Roman" panose="02020603050405020304" pitchFamily="18" charset="0"/>
            </a:endParaRPr>
          </a:p>
          <a:p>
            <a:pPr algn="just"/>
            <a:r>
              <a:rPr lang="uk-UA" sz="3000" b="1" dirty="0" err="1" smtClean="0">
                <a:latin typeface="Times New Roman" panose="02020603050405020304" pitchFamily="18" charset="0"/>
                <a:cs typeface="Times New Roman" panose="02020603050405020304" pitchFamily="18" charset="0"/>
              </a:rPr>
              <a:t>Security</a:t>
            </a:r>
            <a:r>
              <a:rPr lang="uk-UA" sz="3000" b="1" dirty="0" smtClean="0">
                <a:latin typeface="Times New Roman" panose="02020603050405020304" pitchFamily="18" charset="0"/>
                <a:cs typeface="Times New Roman" panose="02020603050405020304" pitchFamily="18" charset="0"/>
              </a:rPr>
              <a:t> </a:t>
            </a:r>
            <a:r>
              <a:rPr lang="uk-UA" sz="3000" b="1" dirty="0" err="1" smtClean="0">
                <a:latin typeface="Times New Roman" panose="02020603050405020304" pitchFamily="18" charset="0"/>
                <a:cs typeface="Times New Roman" panose="02020603050405020304" pitchFamily="18" charset="0"/>
              </a:rPr>
              <a:t>by</a:t>
            </a:r>
            <a:r>
              <a:rPr lang="uk-UA" sz="3000" b="1" dirty="0" smtClean="0">
                <a:latin typeface="Times New Roman" panose="02020603050405020304" pitchFamily="18" charset="0"/>
                <a:cs typeface="Times New Roman" panose="02020603050405020304" pitchFamily="18" charset="0"/>
              </a:rPr>
              <a:t> </a:t>
            </a:r>
            <a:r>
              <a:rPr lang="uk-UA" sz="3000" b="1" dirty="0" err="1" smtClean="0">
                <a:latin typeface="Times New Roman" panose="02020603050405020304" pitchFamily="18" charset="0"/>
                <a:cs typeface="Times New Roman" panose="02020603050405020304" pitchFamily="18" charset="0"/>
              </a:rPr>
              <a:t>Design</a:t>
            </a:r>
            <a:r>
              <a:rPr lang="uk-UA" sz="3000" dirty="0" smtClean="0">
                <a:latin typeface="Times New Roman" panose="02020603050405020304" pitchFamily="18" charset="0"/>
                <a:cs typeface="Times New Roman" panose="02020603050405020304" pitchFamily="18" charset="0"/>
              </a:rPr>
              <a:t> - це принцип проєктування інформаційних систем, відповідно до якого вимоги </a:t>
            </a:r>
            <a:r>
              <a:rPr lang="uk-UA" sz="3000" dirty="0" err="1" smtClean="0">
                <a:latin typeface="Times New Roman" panose="02020603050405020304" pitchFamily="18" charset="0"/>
                <a:cs typeface="Times New Roman" panose="02020603050405020304" pitchFamily="18" charset="0"/>
              </a:rPr>
              <a:t>кібербезпеки</a:t>
            </a:r>
            <a:r>
              <a:rPr lang="uk-UA" sz="3000" dirty="0" smtClean="0">
                <a:latin typeface="Times New Roman" panose="02020603050405020304" pitchFamily="18" charset="0"/>
                <a:cs typeface="Times New Roman" panose="02020603050405020304" pitchFamily="18" charset="0"/>
              </a:rPr>
              <a:t> інтегруються в архітектуру, функціональні компоненти та процеси системи </a:t>
            </a:r>
            <a:r>
              <a:rPr lang="uk-UA" sz="3000" b="1" dirty="0" smtClean="0">
                <a:latin typeface="Times New Roman" panose="02020603050405020304" pitchFamily="18" charset="0"/>
                <a:cs typeface="Times New Roman" panose="02020603050405020304" pitchFamily="18" charset="0"/>
              </a:rPr>
              <a:t>з найперших етапів її життєвого циклу</a:t>
            </a:r>
            <a:r>
              <a:rPr lang="uk-UA" sz="3000" dirty="0" smtClean="0">
                <a:latin typeface="Times New Roman" panose="02020603050405020304" pitchFamily="18" charset="0"/>
                <a:cs typeface="Times New Roman" panose="02020603050405020304" pitchFamily="18" charset="0"/>
              </a:rPr>
              <a:t>, а не додаються після завершення розроблення.</a:t>
            </a:r>
          </a:p>
          <a:p>
            <a:pPr algn="just"/>
            <a:r>
              <a:rPr lang="uk-UA" sz="3000" dirty="0" smtClean="0">
                <a:latin typeface="Times New Roman" panose="02020603050405020304" pitchFamily="18" charset="0"/>
                <a:cs typeface="Times New Roman" panose="02020603050405020304" pitchFamily="18" charset="0"/>
              </a:rPr>
              <a:t>Такий підхід передбачає, що питання безпеки враховуються вже під час визначення вимог, аналізу загроз, проєктування архітектури, вибору технологій, розроблення програмного забезпечення, тестування, впровадження та подальшого супроводу системи.</a:t>
            </a:r>
          </a:p>
          <a:p>
            <a:pPr algn="just"/>
            <a:r>
              <a:rPr lang="uk-UA" sz="3000" dirty="0" smtClean="0">
                <a:latin typeface="Times New Roman" panose="02020603050405020304" pitchFamily="18" charset="0"/>
                <a:cs typeface="Times New Roman" panose="02020603050405020304" pitchFamily="18" charset="0"/>
              </a:rPr>
              <a:t>Застосування </a:t>
            </a:r>
            <a:r>
              <a:rPr lang="uk-UA" sz="3000" dirty="0" err="1" smtClean="0">
                <a:latin typeface="Times New Roman" panose="02020603050405020304" pitchFamily="18" charset="0"/>
                <a:cs typeface="Times New Roman" panose="02020603050405020304" pitchFamily="18" charset="0"/>
              </a:rPr>
              <a:t>Security</a:t>
            </a:r>
            <a:r>
              <a:rPr lang="uk-UA" sz="3000" dirty="0" smtClean="0">
                <a:latin typeface="Times New Roman" panose="02020603050405020304" pitchFamily="18" charset="0"/>
                <a:cs typeface="Times New Roman" panose="02020603050405020304" pitchFamily="18" charset="0"/>
              </a:rPr>
              <a:t> </a:t>
            </a:r>
            <a:r>
              <a:rPr lang="uk-UA" sz="3000" dirty="0" err="1" smtClean="0">
                <a:latin typeface="Times New Roman" panose="02020603050405020304" pitchFamily="18" charset="0"/>
                <a:cs typeface="Times New Roman" panose="02020603050405020304" pitchFamily="18" charset="0"/>
              </a:rPr>
              <a:t>by</a:t>
            </a:r>
            <a:r>
              <a:rPr lang="uk-UA" sz="3000" dirty="0" smtClean="0">
                <a:latin typeface="Times New Roman" panose="02020603050405020304" pitchFamily="18" charset="0"/>
                <a:cs typeface="Times New Roman" panose="02020603050405020304" pitchFamily="18" charset="0"/>
              </a:rPr>
              <a:t> </a:t>
            </a:r>
            <a:r>
              <a:rPr lang="uk-UA" sz="3000" dirty="0" err="1" smtClean="0">
                <a:latin typeface="Times New Roman" panose="02020603050405020304" pitchFamily="18" charset="0"/>
                <a:cs typeface="Times New Roman" panose="02020603050405020304" pitchFamily="18" charset="0"/>
              </a:rPr>
              <a:t>Design</a:t>
            </a:r>
            <a:r>
              <a:rPr lang="uk-UA" sz="3000" dirty="0" smtClean="0">
                <a:latin typeface="Times New Roman" panose="02020603050405020304" pitchFamily="18" charset="0"/>
                <a:cs typeface="Times New Roman" panose="02020603050405020304" pitchFamily="18" charset="0"/>
              </a:rPr>
              <a:t> дає змогу виявляти потенційні вразливості до початку експлуатації та зменшувати витрати на їх усунення. Вразливість, виявлена на етапі архітектурного проєктування, зазвичай може бути усунена значно простіше, ніж аналогічна проблема в уже розгорнутій системі.</a:t>
            </a:r>
          </a:p>
          <a:p>
            <a:pPr algn="just"/>
            <a:r>
              <a:rPr lang="uk-UA" sz="3000" dirty="0" smtClean="0">
                <a:latin typeface="Times New Roman" panose="02020603050405020304" pitchFamily="18" charset="0"/>
                <a:cs typeface="Times New Roman" panose="02020603050405020304" pitchFamily="18" charset="0"/>
              </a:rPr>
              <a:t>Для </a:t>
            </a:r>
            <a:r>
              <a:rPr lang="uk-UA" sz="3000" dirty="0" err="1" smtClean="0">
                <a:latin typeface="Times New Roman" panose="02020603050405020304" pitchFamily="18" charset="0"/>
                <a:cs typeface="Times New Roman" panose="02020603050405020304" pitchFamily="18" charset="0"/>
              </a:rPr>
              <a:t>IoT</a:t>
            </a:r>
            <a:r>
              <a:rPr lang="uk-UA" sz="3000" dirty="0" smtClean="0">
                <a:latin typeface="Times New Roman" panose="02020603050405020304" pitchFamily="18" charset="0"/>
                <a:cs typeface="Times New Roman" panose="02020603050405020304" pitchFamily="18" charset="0"/>
              </a:rPr>
              <a:t> особливе значення має врахування безпеки протягом усього життєвого циклу пристрою: від виробництва та первинного налаштування до експлуатації, оновлення програмного забезпечення та виведення пристрою з експлуатації. Це пов’язано з тим, що після масового розгортання пристроїв заміна апаратних компонентів або виправлення фундаментальних архітектурних недоліків може бути технічно складним та економічно недоцільним.</a:t>
            </a:r>
            <a:endParaRPr lang="uk-UA"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8466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0" y="0"/>
            <a:ext cx="16256000" cy="891700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3432" y="16476"/>
            <a:ext cx="16156523" cy="905132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0" y="35011"/>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36737" y="32950"/>
            <a:ext cx="16219263" cy="9034849"/>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uk-UA" sz="5100" b="1" dirty="0">
              <a:latin typeface="Times New Roman" panose="02020603050405020304" pitchFamily="18" charset="0"/>
              <a:cs typeface="Times New Roman" panose="02020603050405020304" pitchFamily="18" charset="0"/>
            </a:endParaRPr>
          </a:p>
          <a:p>
            <a:pPr algn="just"/>
            <a:r>
              <a:rPr lang="ru-RU" sz="5100" dirty="0" smtClean="0">
                <a:latin typeface="Times New Roman" panose="02020603050405020304" pitchFamily="18" charset="0"/>
                <a:cs typeface="Times New Roman" panose="02020603050405020304" pitchFamily="18" charset="0"/>
              </a:rPr>
              <a:t> </a:t>
            </a:r>
            <a:endParaRPr lang="uk-UA" sz="6700" dirty="0" smtClean="0">
              <a:latin typeface="Times New Roman" panose="02020603050405020304" pitchFamily="18" charset="0"/>
              <a:cs typeface="Times New Roman" panose="02020603050405020304" pitchFamily="18" charset="0"/>
            </a:endParaRPr>
          </a:p>
          <a:p>
            <a:endParaRPr lang="en-US" sz="31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736600" y="838200"/>
            <a:ext cx="14782800" cy="6555641"/>
          </a:xfrm>
          <a:prstGeom prst="rect">
            <a:avLst/>
          </a:prstGeom>
        </p:spPr>
        <p:txBody>
          <a:bodyPr wrap="square">
            <a:spAutoFit/>
          </a:bodyPr>
          <a:lstStyle/>
          <a:p>
            <a:pPr algn="just"/>
            <a:r>
              <a:rPr lang="uk-UA" sz="3000" b="1" dirty="0" smtClean="0">
                <a:latin typeface="Times New Roman" panose="02020603050405020304" pitchFamily="18" charset="0"/>
                <a:cs typeface="Times New Roman" panose="02020603050405020304" pitchFamily="18" charset="0"/>
              </a:rPr>
              <a:t>Взаємодія додаткових принципів</a:t>
            </a:r>
          </a:p>
          <a:p>
            <a:pPr algn="just"/>
            <a:r>
              <a:rPr lang="uk-UA" sz="3000" dirty="0" smtClean="0">
                <a:latin typeface="Times New Roman" panose="02020603050405020304" pitchFamily="18" charset="0"/>
                <a:cs typeface="Times New Roman" panose="02020603050405020304" pitchFamily="18" charset="0"/>
              </a:rPr>
              <a:t>Розглянуті принципи не є взаємовиключними. Навпаки, їх комплексне застосування формує </a:t>
            </a:r>
            <a:r>
              <a:rPr lang="uk-UA" sz="3000" b="1" dirty="0" smtClean="0">
                <a:latin typeface="Times New Roman" panose="02020603050405020304" pitchFamily="18" charset="0"/>
                <a:cs typeface="Times New Roman" panose="02020603050405020304" pitchFamily="18" charset="0"/>
              </a:rPr>
              <a:t>багаторівневу модель сучасної </a:t>
            </a:r>
            <a:r>
              <a:rPr lang="uk-UA" sz="3000" b="1" dirty="0" err="1" smtClean="0">
                <a:latin typeface="Times New Roman" panose="02020603050405020304" pitchFamily="18" charset="0"/>
                <a:cs typeface="Times New Roman" panose="02020603050405020304" pitchFamily="18" charset="0"/>
              </a:rPr>
              <a:t>кібербезпеки</a:t>
            </a:r>
            <a:r>
              <a:rPr lang="uk-UA" sz="3000" dirty="0" smtClean="0">
                <a:latin typeface="Times New Roman" panose="02020603050405020304" pitchFamily="18" charset="0"/>
                <a:cs typeface="Times New Roman" panose="02020603050405020304" pitchFamily="18" charset="0"/>
              </a:rPr>
              <a:t>. Автентичність забезпечує перевірку суб’єкта, принцип найменших привілеїв визначає мінімально необхідний рівень його повноважень, підзвітність забезпечує фіксацію виконаних дій, </a:t>
            </a:r>
            <a:r>
              <a:rPr lang="uk-UA" sz="3000" dirty="0" err="1" smtClean="0">
                <a:latin typeface="Times New Roman" panose="02020603050405020304" pitchFamily="18" charset="0"/>
                <a:cs typeface="Times New Roman" panose="02020603050405020304" pitchFamily="18" charset="0"/>
              </a:rPr>
              <a:t>Defense</a:t>
            </a:r>
            <a:r>
              <a:rPr lang="uk-UA" sz="3000" dirty="0" smtClean="0">
                <a:latin typeface="Times New Roman" panose="02020603050405020304" pitchFamily="18" charset="0"/>
                <a:cs typeface="Times New Roman" panose="02020603050405020304" pitchFamily="18" charset="0"/>
              </a:rPr>
              <a:t> </a:t>
            </a:r>
            <a:r>
              <a:rPr lang="uk-UA" sz="3000" dirty="0" err="1" smtClean="0">
                <a:latin typeface="Times New Roman" panose="02020603050405020304" pitchFamily="18" charset="0"/>
                <a:cs typeface="Times New Roman" panose="02020603050405020304" pitchFamily="18" charset="0"/>
              </a:rPr>
              <a:t>in</a:t>
            </a:r>
            <a:r>
              <a:rPr lang="uk-UA" sz="3000" dirty="0" smtClean="0">
                <a:latin typeface="Times New Roman" panose="02020603050405020304" pitchFamily="18" charset="0"/>
                <a:cs typeface="Times New Roman" panose="02020603050405020304" pitchFamily="18" charset="0"/>
              </a:rPr>
              <a:t> </a:t>
            </a:r>
            <a:r>
              <a:rPr lang="uk-UA" sz="3000" dirty="0" err="1" smtClean="0">
                <a:latin typeface="Times New Roman" panose="02020603050405020304" pitchFamily="18" charset="0"/>
                <a:cs typeface="Times New Roman" panose="02020603050405020304" pitchFamily="18" charset="0"/>
              </a:rPr>
              <a:t>Depth</a:t>
            </a:r>
            <a:r>
              <a:rPr lang="uk-UA" sz="3000" dirty="0" smtClean="0">
                <a:latin typeface="Times New Roman" panose="02020603050405020304" pitchFamily="18" charset="0"/>
                <a:cs typeface="Times New Roman" panose="02020603050405020304" pitchFamily="18" charset="0"/>
              </a:rPr>
              <a:t> створює декілька рівнів захисту, </a:t>
            </a:r>
            <a:r>
              <a:rPr lang="uk-UA" sz="3000" dirty="0" err="1" smtClean="0">
                <a:latin typeface="Times New Roman" panose="02020603050405020304" pitchFamily="18" charset="0"/>
                <a:cs typeface="Times New Roman" panose="02020603050405020304" pitchFamily="18" charset="0"/>
              </a:rPr>
              <a:t>Security</a:t>
            </a:r>
            <a:r>
              <a:rPr lang="uk-UA" sz="3000" dirty="0" smtClean="0">
                <a:latin typeface="Times New Roman" panose="02020603050405020304" pitchFamily="18" charset="0"/>
                <a:cs typeface="Times New Roman" panose="02020603050405020304" pitchFamily="18" charset="0"/>
              </a:rPr>
              <a:t> </a:t>
            </a:r>
            <a:r>
              <a:rPr lang="uk-UA" sz="3000" dirty="0" err="1" smtClean="0">
                <a:latin typeface="Times New Roman" panose="02020603050405020304" pitchFamily="18" charset="0"/>
                <a:cs typeface="Times New Roman" panose="02020603050405020304" pitchFamily="18" charset="0"/>
              </a:rPr>
              <a:t>by</a:t>
            </a:r>
            <a:r>
              <a:rPr lang="uk-UA" sz="3000" dirty="0" smtClean="0">
                <a:latin typeface="Times New Roman" panose="02020603050405020304" pitchFamily="18" charset="0"/>
                <a:cs typeface="Times New Roman" panose="02020603050405020304" pitchFamily="18" charset="0"/>
              </a:rPr>
              <a:t> </a:t>
            </a:r>
            <a:r>
              <a:rPr lang="uk-UA" sz="3000" dirty="0" err="1" smtClean="0">
                <a:latin typeface="Times New Roman" panose="02020603050405020304" pitchFamily="18" charset="0"/>
                <a:cs typeface="Times New Roman" panose="02020603050405020304" pitchFamily="18" charset="0"/>
              </a:rPr>
              <a:t>Design</a:t>
            </a:r>
            <a:r>
              <a:rPr lang="uk-UA" sz="3000" dirty="0" smtClean="0">
                <a:latin typeface="Times New Roman" panose="02020603050405020304" pitchFamily="18" charset="0"/>
                <a:cs typeface="Times New Roman" panose="02020603050405020304" pitchFamily="18" charset="0"/>
              </a:rPr>
              <a:t> інтегрує безпеку в архітектуру системи, а </a:t>
            </a:r>
            <a:r>
              <a:rPr lang="uk-UA" sz="3000" dirty="0" err="1" smtClean="0">
                <a:latin typeface="Times New Roman" panose="02020603050405020304" pitchFamily="18" charset="0"/>
                <a:cs typeface="Times New Roman" panose="02020603050405020304" pitchFamily="18" charset="0"/>
              </a:rPr>
              <a:t>Zero</a:t>
            </a:r>
            <a:r>
              <a:rPr lang="uk-UA" sz="3000" dirty="0" smtClean="0">
                <a:latin typeface="Times New Roman" panose="02020603050405020304" pitchFamily="18" charset="0"/>
                <a:cs typeface="Times New Roman" panose="02020603050405020304" pitchFamily="18" charset="0"/>
              </a:rPr>
              <a:t> </a:t>
            </a:r>
            <a:r>
              <a:rPr lang="uk-UA" sz="3000" dirty="0" err="1" smtClean="0">
                <a:latin typeface="Times New Roman" panose="02020603050405020304" pitchFamily="18" charset="0"/>
                <a:cs typeface="Times New Roman" panose="02020603050405020304" pitchFamily="18" charset="0"/>
              </a:rPr>
              <a:t>Trust</a:t>
            </a:r>
            <a:r>
              <a:rPr lang="uk-UA" sz="3000" dirty="0" smtClean="0">
                <a:latin typeface="Times New Roman" panose="02020603050405020304" pitchFamily="18" charset="0"/>
                <a:cs typeface="Times New Roman" panose="02020603050405020304" pitchFamily="18" charset="0"/>
              </a:rPr>
              <a:t> забезпечує постійну перевірку доступу та мінімізує необґрунтовану довіру до суб’єктів.</a:t>
            </a:r>
          </a:p>
          <a:p>
            <a:pPr algn="just"/>
            <a:r>
              <a:rPr lang="uk-UA" sz="3000" dirty="0" smtClean="0">
                <a:latin typeface="Times New Roman" panose="02020603050405020304" pitchFamily="18" charset="0"/>
                <a:cs typeface="Times New Roman" panose="02020603050405020304" pitchFamily="18" charset="0"/>
              </a:rPr>
              <a:t>У сукупності ці принципи доповнюють модель CIA та дають змогу перейти від простого захисту інформації до </a:t>
            </a:r>
            <a:r>
              <a:rPr lang="uk-UA" sz="3000" b="1" dirty="0" smtClean="0">
                <a:latin typeface="Times New Roman" panose="02020603050405020304" pitchFamily="18" charset="0"/>
                <a:cs typeface="Times New Roman" panose="02020603050405020304" pitchFamily="18" charset="0"/>
              </a:rPr>
              <a:t>комплексного управління безпекою інформаційних систем, пристроїв, мереж і бізнес-процесів</a:t>
            </a:r>
            <a:r>
              <a:rPr lang="uk-UA" sz="3000" dirty="0" smtClean="0">
                <a:latin typeface="Times New Roman" panose="02020603050405020304" pitchFamily="18" charset="0"/>
                <a:cs typeface="Times New Roman" panose="02020603050405020304" pitchFamily="18" charset="0"/>
              </a:rPr>
              <a:t>. Особливо важливого значення такий підхід набуває для </a:t>
            </a:r>
            <a:r>
              <a:rPr lang="uk-UA" sz="3000" dirty="0" err="1" smtClean="0">
                <a:latin typeface="Times New Roman" panose="02020603050405020304" pitchFamily="18" charset="0"/>
                <a:cs typeface="Times New Roman" panose="02020603050405020304" pitchFamily="18" charset="0"/>
              </a:rPr>
              <a:t>IoT</a:t>
            </a:r>
            <a:r>
              <a:rPr lang="uk-UA" sz="3000" dirty="0" smtClean="0">
                <a:latin typeface="Times New Roman" panose="02020603050405020304" pitchFamily="18" charset="0"/>
                <a:cs typeface="Times New Roman" panose="02020603050405020304" pitchFamily="18" charset="0"/>
              </a:rPr>
              <a:t>-інфраструктури, де велика кількість різнорідних пристроїв, </a:t>
            </a:r>
            <a:r>
              <a:rPr lang="uk-UA" sz="3000" dirty="0" err="1" smtClean="0">
                <a:latin typeface="Times New Roman" panose="02020603050405020304" pitchFamily="18" charset="0"/>
                <a:cs typeface="Times New Roman" panose="02020603050405020304" pitchFamily="18" charset="0"/>
              </a:rPr>
              <a:t>розподіленість</a:t>
            </a:r>
            <a:r>
              <a:rPr lang="uk-UA" sz="3000" dirty="0" smtClean="0">
                <a:latin typeface="Times New Roman" panose="02020603050405020304" pitchFamily="18" charset="0"/>
                <a:cs typeface="Times New Roman" panose="02020603050405020304" pitchFamily="18" charset="0"/>
              </a:rPr>
              <a:t> компонентів, автоматизований обмін даними та взаємодія з фізичними об’єктами значно розширюють потенційну поверхню кібератак.</a:t>
            </a:r>
            <a:endParaRPr lang="uk-UA"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68579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0" y="20594"/>
            <a:ext cx="16256000" cy="9144000"/>
          </a:xfrm>
          <a:prstGeom prst="rect">
            <a:avLst/>
          </a:prstGeom>
          <a:solidFill>
            <a:srgbClr val="EEEEE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Прямоугольник 3"/>
          <p:cNvSpPr/>
          <p:nvPr/>
        </p:nvSpPr>
        <p:spPr>
          <a:xfrm>
            <a:off x="2260600" y="603976"/>
            <a:ext cx="10382678" cy="1384995"/>
          </a:xfrm>
          <a:prstGeom prst="rect">
            <a:avLst/>
          </a:prstGeom>
        </p:spPr>
        <p:txBody>
          <a:bodyPr wrap="square">
            <a:spAutoFit/>
          </a:bodyPr>
          <a:lstStyle/>
          <a:p>
            <a:pPr algn="ctr" fontAlgn="base"/>
            <a:r>
              <a:rPr lang="ru-RU" sz="2800" dirty="0">
                <a:solidFill>
                  <a:srgbClr val="000000"/>
                </a:solidFill>
                <a:latin typeface="Times New Roman" panose="02020603050405020304" pitchFamily="18" charset="0"/>
                <a:cs typeface="Times New Roman" panose="02020603050405020304" pitchFamily="18" charset="0"/>
              </a:rPr>
              <a:t>МІНІСТЕРСТВО ОСВІТИ І НАУКИ УКРАЇНИ </a:t>
            </a:r>
            <a:r>
              <a:rPr lang="en-US" sz="2800" dirty="0">
                <a:solidFill>
                  <a:srgbClr val="000000"/>
                </a:solidFill>
                <a:latin typeface="Times New Roman" panose="02020603050405020304" pitchFamily="18" charset="0"/>
                <a:cs typeface="Times New Roman" panose="02020603050405020304" pitchFamily="18" charset="0"/>
              </a:rPr>
              <a:t>​</a:t>
            </a:r>
          </a:p>
          <a:p>
            <a:pPr algn="ctr" fontAlgn="base"/>
            <a:r>
              <a:rPr lang="ru-RU" sz="2800" dirty="0" err="1">
                <a:solidFill>
                  <a:srgbClr val="000000"/>
                </a:solidFill>
                <a:latin typeface="Times New Roman" panose="02020603050405020304" pitchFamily="18" charset="0"/>
                <a:cs typeface="Times New Roman" panose="02020603050405020304" pitchFamily="18" charset="0"/>
              </a:rPr>
              <a:t>Київський</a:t>
            </a:r>
            <a:r>
              <a:rPr lang="ru-RU" sz="2800" dirty="0">
                <a:solidFill>
                  <a:srgbClr val="000000"/>
                </a:solidFill>
                <a:latin typeface="Times New Roman" panose="02020603050405020304" pitchFamily="18" charset="0"/>
                <a:cs typeface="Times New Roman" panose="02020603050405020304" pitchFamily="18" charset="0"/>
              </a:rPr>
              <a:t> </a:t>
            </a:r>
            <a:r>
              <a:rPr lang="ru-RU" sz="2800" dirty="0" err="1">
                <a:solidFill>
                  <a:srgbClr val="000000"/>
                </a:solidFill>
                <a:latin typeface="Times New Roman" panose="02020603050405020304" pitchFamily="18" charset="0"/>
                <a:cs typeface="Times New Roman" panose="02020603050405020304" pitchFamily="18" charset="0"/>
              </a:rPr>
              <a:t>національний</a:t>
            </a:r>
            <a:r>
              <a:rPr lang="ru-RU" sz="2800" dirty="0">
                <a:solidFill>
                  <a:srgbClr val="000000"/>
                </a:solidFill>
                <a:latin typeface="Times New Roman" panose="02020603050405020304" pitchFamily="18" charset="0"/>
                <a:cs typeface="Times New Roman" panose="02020603050405020304" pitchFamily="18" charset="0"/>
              </a:rPr>
              <a:t> </a:t>
            </a:r>
            <a:r>
              <a:rPr lang="ru-RU" sz="2800" dirty="0" err="1">
                <a:solidFill>
                  <a:srgbClr val="000000"/>
                </a:solidFill>
                <a:latin typeface="Times New Roman" panose="02020603050405020304" pitchFamily="18" charset="0"/>
                <a:cs typeface="Times New Roman" panose="02020603050405020304" pitchFamily="18" charset="0"/>
              </a:rPr>
              <a:t>університет</a:t>
            </a:r>
            <a:r>
              <a:rPr lang="ru-RU" sz="2800" dirty="0">
                <a:solidFill>
                  <a:srgbClr val="000000"/>
                </a:solidFill>
                <a:latin typeface="Times New Roman" panose="02020603050405020304" pitchFamily="18" charset="0"/>
                <a:cs typeface="Times New Roman" panose="02020603050405020304" pitchFamily="18" charset="0"/>
              </a:rPr>
              <a:t> </a:t>
            </a:r>
            <a:r>
              <a:rPr lang="ru-RU" sz="2800" dirty="0" err="1">
                <a:solidFill>
                  <a:srgbClr val="000000"/>
                </a:solidFill>
                <a:latin typeface="Times New Roman" panose="02020603050405020304" pitchFamily="18" charset="0"/>
                <a:cs typeface="Times New Roman" panose="02020603050405020304" pitchFamily="18" charset="0"/>
              </a:rPr>
              <a:t>імені</a:t>
            </a:r>
            <a:r>
              <a:rPr lang="ru-RU" sz="2800" dirty="0">
                <a:solidFill>
                  <a:srgbClr val="000000"/>
                </a:solidFill>
                <a:latin typeface="Times New Roman" panose="02020603050405020304" pitchFamily="18" charset="0"/>
                <a:cs typeface="Times New Roman" panose="02020603050405020304" pitchFamily="18" charset="0"/>
              </a:rPr>
              <a:t> </a:t>
            </a:r>
            <a:r>
              <a:rPr lang="ru-RU" sz="2800">
                <a:solidFill>
                  <a:srgbClr val="000000"/>
                </a:solidFill>
                <a:latin typeface="Times New Roman" panose="02020603050405020304" pitchFamily="18" charset="0"/>
                <a:cs typeface="Times New Roman" panose="02020603050405020304" pitchFamily="18" charset="0"/>
              </a:rPr>
              <a:t>Тараса </a:t>
            </a:r>
            <a:r>
              <a:rPr lang="ru-RU" sz="2800" smtClean="0">
                <a:solidFill>
                  <a:srgbClr val="000000"/>
                </a:solidFill>
                <a:latin typeface="Times New Roman" panose="02020603050405020304" pitchFamily="18" charset="0"/>
                <a:cs typeface="Times New Roman" panose="02020603050405020304" pitchFamily="18" charset="0"/>
              </a:rPr>
              <a:t>ШЕВЧЕНКА </a:t>
            </a:r>
            <a:r>
              <a:rPr lang="en-US" sz="2800" smtClean="0">
                <a:solidFill>
                  <a:srgbClr val="000000"/>
                </a:solidFill>
                <a:latin typeface="Times New Roman" panose="02020603050405020304" pitchFamily="18" charset="0"/>
                <a:cs typeface="Times New Roman" panose="02020603050405020304" pitchFamily="18" charset="0"/>
              </a:rPr>
              <a:t>​</a:t>
            </a:r>
            <a:endParaRPr lang="en-US" sz="2800" dirty="0">
              <a:solidFill>
                <a:srgbClr val="000000"/>
              </a:solidFill>
              <a:latin typeface="Times New Roman" panose="02020603050405020304" pitchFamily="18" charset="0"/>
              <a:cs typeface="Times New Roman" panose="02020603050405020304" pitchFamily="18" charset="0"/>
            </a:endParaRPr>
          </a:p>
          <a:p>
            <a:pPr algn="ctr" fontAlgn="base"/>
            <a:r>
              <a:rPr lang="ru-RU" sz="2800" dirty="0">
                <a:solidFill>
                  <a:srgbClr val="000000"/>
                </a:solidFill>
                <a:latin typeface="Times New Roman" panose="02020603050405020304" pitchFamily="18" charset="0"/>
                <a:cs typeface="Times New Roman" panose="02020603050405020304" pitchFamily="18" charset="0"/>
              </a:rPr>
              <a:t>Кафедра </a:t>
            </a:r>
            <a:r>
              <a:rPr lang="ru-RU" sz="2800" dirty="0" err="1">
                <a:solidFill>
                  <a:srgbClr val="000000"/>
                </a:solidFill>
                <a:latin typeface="Times New Roman" panose="02020603050405020304" pitchFamily="18" charset="0"/>
                <a:cs typeface="Times New Roman" panose="02020603050405020304" pitchFamily="18" charset="0"/>
              </a:rPr>
              <a:t>інформаційних</a:t>
            </a:r>
            <a:r>
              <a:rPr lang="ru-RU" sz="2800" dirty="0">
                <a:solidFill>
                  <a:srgbClr val="000000"/>
                </a:solidFill>
                <a:latin typeface="Times New Roman" panose="02020603050405020304" pitchFamily="18" charset="0"/>
                <a:cs typeface="Times New Roman" panose="02020603050405020304" pitchFamily="18" charset="0"/>
              </a:rPr>
              <a:t> систем та </a:t>
            </a:r>
            <a:r>
              <a:rPr lang="ru-RU" sz="2800" dirty="0" err="1">
                <a:solidFill>
                  <a:srgbClr val="000000"/>
                </a:solidFill>
                <a:latin typeface="Times New Roman" panose="02020603050405020304" pitchFamily="18" charset="0"/>
                <a:cs typeface="Times New Roman" panose="02020603050405020304" pitchFamily="18" charset="0"/>
              </a:rPr>
              <a:t>технологій</a:t>
            </a:r>
            <a:endParaRPr lang="ru-RU" sz="2800" b="0" i="0" dirty="0">
              <a:solidFill>
                <a:srgbClr val="000000"/>
              </a:solidFill>
              <a:effectLst/>
              <a:latin typeface="Times New Roman" panose="02020603050405020304" pitchFamily="18" charset="0"/>
              <a:cs typeface="Times New Roman" panose="02020603050405020304" pitchFamily="18" charset="0"/>
            </a:endParaRPr>
          </a:p>
        </p:txBody>
      </p:sp>
      <p:sp>
        <p:nvSpPr>
          <p:cNvPr id="5" name="Freeform 6"/>
          <p:cNvSpPr/>
          <p:nvPr/>
        </p:nvSpPr>
        <p:spPr>
          <a:xfrm>
            <a:off x="13766800" y="381000"/>
            <a:ext cx="1710288" cy="1754141"/>
          </a:xfrm>
          <a:custGeom>
            <a:avLst/>
            <a:gdLst/>
            <a:ahLst/>
            <a:cxnLst/>
            <a:rect l="l" t="t" r="r" b="b"/>
            <a:pathLst>
              <a:path w="1710288" h="1754141">
                <a:moveTo>
                  <a:pt x="0" y="0"/>
                </a:moveTo>
                <a:lnTo>
                  <a:pt x="1710288" y="0"/>
                </a:lnTo>
                <a:lnTo>
                  <a:pt x="1710288" y="1754141"/>
                </a:lnTo>
                <a:lnTo>
                  <a:pt x="0" y="1754141"/>
                </a:lnTo>
                <a:lnTo>
                  <a:pt x="0" y="0"/>
                </a:lnTo>
                <a:close/>
              </a:path>
            </a:pathLst>
          </a:custGeom>
          <a:blipFill>
            <a:blip r:embed="rId2"/>
            <a:stretch>
              <a:fillRect/>
            </a:stretch>
          </a:blipFill>
        </p:spPr>
        <p:txBody>
          <a:bodyPr/>
          <a:lstStyle/>
          <a:p>
            <a:endParaRPr lang="en-UA"/>
          </a:p>
        </p:txBody>
      </p:sp>
      <p:sp>
        <p:nvSpPr>
          <p:cNvPr id="6" name="Заголовок 1">
            <a:extLst>
              <a:ext uri="{FF2B5EF4-FFF2-40B4-BE49-F238E27FC236}">
                <a16:creationId xmlns:a16="http://schemas.microsoft.com/office/drawing/2014/main" id="{3D30D32A-359B-41BB-9746-2CF3A21EEFFC}"/>
              </a:ext>
            </a:extLst>
          </p:cNvPr>
          <p:cNvSpPr txBox="1">
            <a:spLocks/>
          </p:cNvSpPr>
          <p:nvPr/>
        </p:nvSpPr>
        <p:spPr>
          <a:xfrm>
            <a:off x="1498600" y="2861810"/>
            <a:ext cx="13792200" cy="104921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uk-UA" sz="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КІБЕРНЕТИЧНА БЕЗПЕКА ПІДПРИЄМСТВА</a:t>
            </a:r>
            <a:endParaRPr lang="en-US"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Заголовок 1">
            <a:extLst>
              <a:ext uri="{FF2B5EF4-FFF2-40B4-BE49-F238E27FC236}">
                <a16:creationId xmlns:a16="http://schemas.microsoft.com/office/drawing/2014/main" id="{3D30D32A-359B-41BB-9746-2CF3A21EEFFC}"/>
              </a:ext>
            </a:extLst>
          </p:cNvPr>
          <p:cNvSpPr txBox="1">
            <a:spLocks/>
          </p:cNvSpPr>
          <p:nvPr/>
        </p:nvSpPr>
        <p:spPr>
          <a:xfrm>
            <a:off x="1803400" y="4783865"/>
            <a:ext cx="12649200" cy="1732005"/>
          </a:xfrm>
          <a:prstGeom prst="rect">
            <a:avLst/>
          </a:prstGeom>
        </p:spPr>
        <p:txBody>
          <a:bodyPr rtlCol="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uk-UA" sz="3200" b="1" dirty="0" smtClean="0">
                <a:latin typeface="Times New Roman" panose="02020603050405020304" pitchFamily="18" charset="0"/>
                <a:cs typeface="Times New Roman" panose="02020603050405020304" pitchFamily="18" charset="0"/>
              </a:rPr>
              <a:t>ЛЕКЦІЯ 1. </a:t>
            </a:r>
            <a:r>
              <a:rPr lang="ru-RU" sz="3200" b="1" dirty="0" smtClean="0">
                <a:latin typeface="Times New Roman" panose="02020603050405020304" pitchFamily="18" charset="0"/>
                <a:cs typeface="Times New Roman" panose="02020603050405020304" pitchFamily="18" charset="0"/>
              </a:rPr>
              <a:t>КІБЕРНЕТИЧНА БЕЗПЕКА ПІДПРИЄМСТВА: ПОНЯТТЯ, ПРИНЦИПИ ТА СУЧАСНІ ВИКЛИКИ</a:t>
            </a:r>
            <a:endParaRPr lang="en-US" sz="2200" dirty="0">
              <a:latin typeface="Times New Roman" panose="02020603050405020304" pitchFamily="18" charset="0"/>
              <a:cs typeface="Times New Roman" panose="02020603050405020304" pitchFamily="18" charset="0"/>
            </a:endParaRPr>
          </a:p>
        </p:txBody>
      </p:sp>
      <p:sp>
        <p:nvSpPr>
          <p:cNvPr id="9" name="Подзаголовок 3"/>
          <p:cNvSpPr txBox="1">
            <a:spLocks/>
          </p:cNvSpPr>
          <p:nvPr/>
        </p:nvSpPr>
        <p:spPr>
          <a:xfrm>
            <a:off x="7594600" y="6575457"/>
            <a:ext cx="7253654" cy="86142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uk-UA" sz="2800" dirty="0" smtClean="0">
                <a:latin typeface="Times New Roman" panose="02020603050405020304" pitchFamily="18" charset="0"/>
                <a:cs typeface="Times New Roman" panose="02020603050405020304" pitchFamily="18" charset="0"/>
              </a:rPr>
              <a:t>к. т. н. , доцент кафедри ІСТ  Ірина Борисенко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697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CCE969D0E7CF8B45BF82E61A64A9492C" ma:contentTypeVersion="7" ma:contentTypeDescription="Створення нового документа." ma:contentTypeScope="" ma:versionID="a478701e8ede3afbd4a6882c32eef1aa">
  <xsd:schema xmlns:xsd="http://www.w3.org/2001/XMLSchema" xmlns:xs="http://www.w3.org/2001/XMLSchema" xmlns:p="http://schemas.microsoft.com/office/2006/metadata/properties" xmlns:ns2="3695f620-fbe1-4a7a-bb91-0c71b98b2fd0" targetNamespace="http://schemas.microsoft.com/office/2006/metadata/properties" ma:root="true" ma:fieldsID="46f421d175458475962a97513df97c04" ns2:_="">
    <xsd:import namespace="3695f620-fbe1-4a7a-bb91-0c71b98b2f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95f620-fbe1-4a7a-bb91-0c71b98b2f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вмісту"/>
        <xsd:element ref="dc:title" minOccurs="0" maxOccurs="1" ma:index="4" ma:displayName="Заголовок"/>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A046989-6359-401A-A166-E90B8E615F27}"/>
</file>

<file path=customXml/itemProps2.xml><?xml version="1.0" encoding="utf-8"?>
<ds:datastoreItem xmlns:ds="http://schemas.openxmlformats.org/officeDocument/2006/customXml" ds:itemID="{1D0939BF-4DE8-4CBA-805A-156B95C70E83}"/>
</file>

<file path=customXml/itemProps3.xml><?xml version="1.0" encoding="utf-8"?>
<ds:datastoreItem xmlns:ds="http://schemas.openxmlformats.org/officeDocument/2006/customXml" ds:itemID="{D6A94C90-7C58-426D-A967-D750561835F1}"/>
</file>

<file path=docProps/app.xml><?xml version="1.0" encoding="utf-8"?>
<Properties xmlns="http://schemas.openxmlformats.org/officeDocument/2006/extended-properties" xmlns:vt="http://schemas.openxmlformats.org/officeDocument/2006/docPropsVTypes">
  <TotalTime>481</TotalTime>
  <Words>3297</Words>
  <Application>Microsoft Office PowerPoint</Application>
  <PresentationFormat>Произвольный</PresentationFormat>
  <Paragraphs>152</Paragraphs>
  <Slides>39</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39</vt:i4>
      </vt:variant>
    </vt:vector>
  </HeadingPairs>
  <TitlesOfParts>
    <vt:vector size="43" baseType="lpstr">
      <vt:lpstr>Arial</vt:lpstr>
      <vt:lpstr>Calibri</vt:lpstr>
      <vt:lpstr>Times New Roman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H O M E</dc:creator>
  <cp:lastModifiedBy>Ірина Борисенко</cp:lastModifiedBy>
  <cp:revision>18</cp:revision>
  <dcterms:created xsi:type="dcterms:W3CDTF">2006-08-16T00:00:00Z</dcterms:created>
  <dcterms:modified xsi:type="dcterms:W3CDTF">2026-08-31T20:47:05Z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0x010100CCE969D0E7CF8B45BF82E61A64A9492C</vt:lpwstr>
  </property>
</Properties>
</file>