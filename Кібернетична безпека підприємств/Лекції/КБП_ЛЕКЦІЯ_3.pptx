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1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1.xml" ContentType="application/vnd.openxmlformats-officedocument.presentationml.slide+xml"/>
  <Override PartName="/ppt/slides/slide13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1" r:id="rId2"/>
    <p:sldId id="256" r:id="rId3"/>
    <p:sldId id="273" r:id="rId4"/>
    <p:sldId id="257" r:id="rId5"/>
    <p:sldId id="258" r:id="rId6"/>
    <p:sldId id="274" r:id="rId7"/>
    <p:sldId id="259" r:id="rId8"/>
    <p:sldId id="260" r:id="rId9"/>
    <p:sldId id="275" r:id="rId10"/>
    <p:sldId id="261" r:id="rId11"/>
    <p:sldId id="262" r:id="rId12"/>
    <p:sldId id="263" r:id="rId13"/>
    <p:sldId id="264" r:id="rId14"/>
    <p:sldId id="265" r:id="rId15"/>
    <p:sldId id="276" r:id="rId16"/>
    <p:sldId id="266" r:id="rId17"/>
    <p:sldId id="267" r:id="rId18"/>
    <p:sldId id="268" r:id="rId19"/>
    <p:sldId id="269" r:id="rId20"/>
    <p:sldId id="270" r:id="rId21"/>
    <p:sldId id="272" r:id="rId22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2" d="100"/>
          <a:sy n="62" d="100"/>
        </p:scale>
        <p:origin x="667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customXml" Target="../customXml/item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23" y="-152400"/>
            <a:ext cx="16535613" cy="9296400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2260600" y="603976"/>
            <a:ext cx="10382678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/>
            <a:r>
              <a:rPr lang="ru-RU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МІНІСТЕРСТВО ОСВІТИ І НАУКИ УКРАЇНИ 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algn="ctr" fontAlgn="base"/>
            <a:r>
              <a:rPr lang="ru-RU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Київський</a:t>
            </a:r>
            <a:r>
              <a:rPr lang="ru-RU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національний</a:t>
            </a:r>
            <a:r>
              <a:rPr lang="ru-RU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університет</a:t>
            </a:r>
            <a:r>
              <a:rPr lang="ru-RU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імені</a:t>
            </a:r>
            <a:r>
              <a:rPr lang="ru-RU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Тараса </a:t>
            </a:r>
            <a:r>
              <a:rPr lang="ru-RU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ШЕВЧЕНКА </a:t>
            </a:r>
            <a:r>
              <a:rPr lang="en-US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  <a:endParaRPr lang="en-US" sz="2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fontAlgn="base"/>
            <a:r>
              <a:rPr lang="ru-RU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Кафедра </a:t>
            </a:r>
            <a:r>
              <a:rPr lang="ru-RU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інформаційних</a:t>
            </a:r>
            <a:r>
              <a:rPr lang="ru-RU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систем та </a:t>
            </a:r>
            <a:r>
              <a:rPr lang="ru-RU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технологій</a:t>
            </a:r>
            <a:endParaRPr lang="ru-RU" sz="28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reeform 6"/>
          <p:cNvSpPr/>
          <p:nvPr/>
        </p:nvSpPr>
        <p:spPr>
          <a:xfrm>
            <a:off x="13766800" y="381000"/>
            <a:ext cx="1710288" cy="1754141"/>
          </a:xfrm>
          <a:custGeom>
            <a:avLst/>
            <a:gdLst/>
            <a:ahLst/>
            <a:cxnLst/>
            <a:rect l="l" t="t" r="r" b="b"/>
            <a:pathLst>
              <a:path w="1710288" h="1754141">
                <a:moveTo>
                  <a:pt x="0" y="0"/>
                </a:moveTo>
                <a:lnTo>
                  <a:pt x="1710288" y="0"/>
                </a:lnTo>
                <a:lnTo>
                  <a:pt x="1710288" y="1754141"/>
                </a:lnTo>
                <a:lnTo>
                  <a:pt x="0" y="17541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A"/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3D30D32A-359B-41BB-9746-2CF3A21EEFFC}"/>
              </a:ext>
            </a:extLst>
          </p:cNvPr>
          <p:cNvSpPr txBox="1">
            <a:spLocks/>
          </p:cNvSpPr>
          <p:nvPr/>
        </p:nvSpPr>
        <p:spPr>
          <a:xfrm>
            <a:off x="1498600" y="2861810"/>
            <a:ext cx="13792200" cy="104921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uk-UA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КІБЕРНЕТИЧНА БЕЗПЕКА ПІДПРИЄМСТВА</a:t>
            </a:r>
            <a:endParaRPr lang="en-US" sz="4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3D30D32A-359B-41BB-9746-2CF3A21EEFFC}"/>
              </a:ext>
            </a:extLst>
          </p:cNvPr>
          <p:cNvSpPr txBox="1">
            <a:spLocks/>
          </p:cNvSpPr>
          <p:nvPr/>
        </p:nvSpPr>
        <p:spPr>
          <a:xfrm>
            <a:off x="1803400" y="4783865"/>
            <a:ext cx="12649200" cy="1732005"/>
          </a:xfrm>
          <a:prstGeom prst="rect">
            <a:avLst/>
          </a:prstGeom>
        </p:spPr>
        <p:txBody>
          <a:bodyPr rtlCol="0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uk-UA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ЛЕКЦІЯ </a:t>
            </a:r>
            <a:r>
              <a:rPr lang="uk-UA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КІБЕРЗАГРОЗИ, ВРАЗЛИВОСТІ ТА МОДЕЛЮВАННЯ АТАК НА ПІДПРИЄМСТВО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Подзаголовок 3"/>
          <p:cNvSpPr txBox="1">
            <a:spLocks/>
          </p:cNvSpPr>
          <p:nvPr/>
        </p:nvSpPr>
        <p:spPr>
          <a:xfrm>
            <a:off x="7594600" y="6575457"/>
            <a:ext cx="7253654" cy="86142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uk-UA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к. т. н. , доцент кафедри ІСТ  Ірина Борисенко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84970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3468"/>
            <a:ext cx="16256000" cy="87570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6178"/>
            <a:ext cx="16256000" cy="9226378"/>
          </a:xfrm>
          <a:prstGeom prst="rect">
            <a:avLst/>
          </a:prstGeom>
        </p:spPr>
      </p:pic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3D30D32A-359B-41BB-9746-2CF3A21EEFFC}"/>
              </a:ext>
            </a:extLst>
          </p:cNvPr>
          <p:cNvSpPr txBox="1">
            <a:spLocks/>
          </p:cNvSpPr>
          <p:nvPr/>
        </p:nvSpPr>
        <p:spPr>
          <a:xfrm>
            <a:off x="1193800" y="3048000"/>
            <a:ext cx="14249400" cy="3276600"/>
          </a:xfrm>
          <a:prstGeom prst="rect">
            <a:avLst/>
          </a:prstGeom>
        </p:spPr>
        <p:txBody>
          <a:bodyPr rtlCol="0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uk-UA" sz="5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indent="-914400" algn="just">
              <a:buAutoNum type="arabicPeriod"/>
            </a:pPr>
            <a:r>
              <a:rPr lang="ru-RU" sz="4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КЛАСИФІКАЦІЯ КІБЕРЗАГРОЗ ПІДПРИЄМСТВА </a:t>
            </a:r>
            <a:endParaRPr lang="en-US" sz="3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576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535"/>
            <a:ext cx="16136800" cy="876597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4119"/>
            <a:ext cx="16350367" cy="891951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6178"/>
            <a:ext cx="16256000" cy="9226378"/>
          </a:xfrm>
          <a:prstGeom prst="rect">
            <a:avLst/>
          </a:prstGeom>
        </p:spPr>
      </p:pic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3D30D32A-359B-41BB-9746-2CF3A21EEFFC}"/>
              </a:ext>
            </a:extLst>
          </p:cNvPr>
          <p:cNvSpPr txBox="1">
            <a:spLocks/>
          </p:cNvSpPr>
          <p:nvPr/>
        </p:nvSpPr>
        <p:spPr>
          <a:xfrm>
            <a:off x="1041400" y="3200400"/>
            <a:ext cx="14935200" cy="3276600"/>
          </a:xfrm>
          <a:prstGeom prst="rect">
            <a:avLst/>
          </a:prstGeom>
        </p:spPr>
        <p:txBody>
          <a:bodyPr rtlCol="0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uk-UA" sz="5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4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 ВРАЗЛИВОСТІ ПРОГРАМНОГО ЗАБЕЗПЕЧЕННЯ ТА IOT</a:t>
            </a:r>
            <a:endParaRPr lang="en-US" sz="3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1266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70" y="16476"/>
            <a:ext cx="16128999" cy="912752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6178"/>
            <a:ext cx="16256000" cy="9226378"/>
          </a:xfrm>
          <a:prstGeom prst="rect">
            <a:avLst/>
          </a:prstGeom>
        </p:spPr>
      </p:pic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3D30D32A-359B-41BB-9746-2CF3A21EEFFC}"/>
              </a:ext>
            </a:extLst>
          </p:cNvPr>
          <p:cNvSpPr txBox="1">
            <a:spLocks/>
          </p:cNvSpPr>
          <p:nvPr/>
        </p:nvSpPr>
        <p:spPr>
          <a:xfrm>
            <a:off x="2565400" y="3276600"/>
            <a:ext cx="12192000" cy="3276600"/>
          </a:xfrm>
          <a:prstGeom prst="rect">
            <a:avLst/>
          </a:prstGeom>
        </p:spPr>
        <p:txBody>
          <a:bodyPr rtlCol="0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uk-UA" sz="5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4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 ОСНОВНІ ВИДИ АТАК НА ПІДПРИЄМСТВО </a:t>
            </a:r>
            <a:endParaRPr lang="en-US" sz="3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18908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67" y="0"/>
            <a:ext cx="16224533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52400"/>
            <a:ext cx="16252743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86" y="228600"/>
            <a:ext cx="16133805" cy="869887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2400"/>
            <a:ext cx="16191108" cy="877741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2400"/>
            <a:ext cx="16325335" cy="880027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6178"/>
            <a:ext cx="16256000" cy="9226378"/>
          </a:xfrm>
          <a:prstGeom prst="rect">
            <a:avLst/>
          </a:prstGeom>
        </p:spPr>
      </p:pic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3D30D32A-359B-41BB-9746-2CF3A21EEFFC}"/>
              </a:ext>
            </a:extLst>
          </p:cNvPr>
          <p:cNvSpPr txBox="1">
            <a:spLocks/>
          </p:cNvSpPr>
          <p:nvPr/>
        </p:nvSpPr>
        <p:spPr>
          <a:xfrm>
            <a:off x="4241800" y="3200400"/>
            <a:ext cx="7543800" cy="3276600"/>
          </a:xfrm>
          <a:prstGeom prst="rect">
            <a:avLst/>
          </a:prstGeom>
        </p:spPr>
        <p:txBody>
          <a:bodyPr rtlCol="0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uk-UA" sz="5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ru-RU" sz="4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МЕТОДОЛОГІЯ </a:t>
            </a:r>
            <a:r>
              <a:rPr lang="en-US" sz="4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STRIDE</a:t>
            </a:r>
            <a:endParaRPr lang="en-US" sz="3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04906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0" y="0"/>
            <a:ext cx="16328139" cy="88392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24" y="152400"/>
            <a:ext cx="16160661" cy="8763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2400"/>
            <a:ext cx="16292579" cy="883302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35" y="228600"/>
            <a:ext cx="16182465" cy="855911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" y="152400"/>
            <a:ext cx="15995526" cy="86868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23" y="-152400"/>
            <a:ext cx="16535613" cy="9296400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2260600" y="603976"/>
            <a:ext cx="10382678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/>
            <a:r>
              <a:rPr lang="ru-RU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МІНІСТЕРСТВО ОСВІТИ І НАУКИ УКРАЇНИ 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algn="ctr" fontAlgn="base"/>
            <a:r>
              <a:rPr lang="ru-RU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Київський</a:t>
            </a:r>
            <a:r>
              <a:rPr lang="ru-RU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національний</a:t>
            </a:r>
            <a:r>
              <a:rPr lang="ru-RU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університет</a:t>
            </a:r>
            <a:r>
              <a:rPr lang="ru-RU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імені</a:t>
            </a:r>
            <a:r>
              <a:rPr lang="ru-RU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Тараса </a:t>
            </a:r>
            <a:r>
              <a:rPr lang="ru-RU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ШЕВЧЕНКА </a:t>
            </a:r>
            <a:r>
              <a:rPr lang="en-US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  <a:endParaRPr lang="en-US" sz="2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fontAlgn="base"/>
            <a:r>
              <a:rPr lang="ru-RU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Кафедра </a:t>
            </a:r>
            <a:r>
              <a:rPr lang="ru-RU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інформаційних</a:t>
            </a:r>
            <a:r>
              <a:rPr lang="ru-RU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систем та </a:t>
            </a:r>
            <a:r>
              <a:rPr lang="ru-RU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технологій</a:t>
            </a:r>
            <a:endParaRPr lang="ru-RU" sz="28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reeform 6"/>
          <p:cNvSpPr/>
          <p:nvPr/>
        </p:nvSpPr>
        <p:spPr>
          <a:xfrm>
            <a:off x="13766800" y="381000"/>
            <a:ext cx="1710288" cy="1754141"/>
          </a:xfrm>
          <a:custGeom>
            <a:avLst/>
            <a:gdLst/>
            <a:ahLst/>
            <a:cxnLst/>
            <a:rect l="l" t="t" r="r" b="b"/>
            <a:pathLst>
              <a:path w="1710288" h="1754141">
                <a:moveTo>
                  <a:pt x="0" y="0"/>
                </a:moveTo>
                <a:lnTo>
                  <a:pt x="1710288" y="0"/>
                </a:lnTo>
                <a:lnTo>
                  <a:pt x="1710288" y="1754141"/>
                </a:lnTo>
                <a:lnTo>
                  <a:pt x="0" y="17541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A"/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3D30D32A-359B-41BB-9746-2CF3A21EEFFC}"/>
              </a:ext>
            </a:extLst>
          </p:cNvPr>
          <p:cNvSpPr txBox="1">
            <a:spLocks/>
          </p:cNvSpPr>
          <p:nvPr/>
        </p:nvSpPr>
        <p:spPr>
          <a:xfrm>
            <a:off x="1498600" y="2861810"/>
            <a:ext cx="13792200" cy="104921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uk-UA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КІБЕРНЕТИЧНА БЕЗПЕКА ПІДПРИЄМСТВА</a:t>
            </a:r>
            <a:endParaRPr lang="en-US" sz="4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3D30D32A-359B-41BB-9746-2CF3A21EEFFC}"/>
              </a:ext>
            </a:extLst>
          </p:cNvPr>
          <p:cNvSpPr txBox="1">
            <a:spLocks/>
          </p:cNvSpPr>
          <p:nvPr/>
        </p:nvSpPr>
        <p:spPr>
          <a:xfrm>
            <a:off x="1803400" y="4783865"/>
            <a:ext cx="12649200" cy="1732005"/>
          </a:xfrm>
          <a:prstGeom prst="rect">
            <a:avLst/>
          </a:prstGeom>
        </p:spPr>
        <p:txBody>
          <a:bodyPr rtlCol="0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uk-UA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ЛЕКЦІЯ </a:t>
            </a:r>
            <a:r>
              <a:rPr lang="uk-UA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КІБЕРЗАГРОЗИ, ВРАЗЛИВОСТІ ТА МОДЕЛЮВАННЯ АТАК НА ПІДПРИЄМСТВО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Подзаголовок 3"/>
          <p:cNvSpPr txBox="1">
            <a:spLocks/>
          </p:cNvSpPr>
          <p:nvPr/>
        </p:nvSpPr>
        <p:spPr>
          <a:xfrm>
            <a:off x="7594600" y="6575457"/>
            <a:ext cx="7253654" cy="86142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uk-UA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к. т. н. , доцент кафедри ІСТ  Ірина Борисенко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93629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CCE969D0E7CF8B45BF82E61A64A9492C" ma:contentTypeVersion="7" ma:contentTypeDescription="Створення нового документа." ma:contentTypeScope="" ma:versionID="a478701e8ede3afbd4a6882c32eef1aa">
  <xsd:schema xmlns:xsd="http://www.w3.org/2001/XMLSchema" xmlns:xs="http://www.w3.org/2001/XMLSchema" xmlns:p="http://schemas.microsoft.com/office/2006/metadata/properties" xmlns:ns2="3695f620-fbe1-4a7a-bb91-0c71b98b2fd0" targetNamespace="http://schemas.microsoft.com/office/2006/metadata/properties" ma:root="true" ma:fieldsID="46f421d175458475962a97513df97c04" ns2:_="">
    <xsd:import namespace="3695f620-fbe1-4a7a-bb91-0c71b98b2fd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95f620-fbe1-4a7a-bb91-0c71b98b2fd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вмісту"/>
        <xsd:element ref="dc:title" minOccurs="0" maxOccurs="1" ma:index="4" ma:displayName="Заголовок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6D18A20-3BE6-46D9-B3FC-1EF7F8A2CDCC}"/>
</file>

<file path=customXml/itemProps2.xml><?xml version="1.0" encoding="utf-8"?>
<ds:datastoreItem xmlns:ds="http://schemas.openxmlformats.org/officeDocument/2006/customXml" ds:itemID="{87A511C1-CDFB-448E-95A3-0B42590317F2}"/>
</file>

<file path=customXml/itemProps3.xml><?xml version="1.0" encoding="utf-8"?>
<ds:datastoreItem xmlns:ds="http://schemas.openxmlformats.org/officeDocument/2006/customXml" ds:itemID="{3297079C-735C-4406-AD73-A81B7D714002}"/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109</Words>
  <Application>Microsoft Office PowerPoint</Application>
  <PresentationFormat>Произвольный</PresentationFormat>
  <Paragraphs>20</Paragraphs>
  <Slides>21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25" baseType="lpstr">
      <vt:lpstr>Arial</vt:lpstr>
      <vt:lpstr>Calibri</vt:lpstr>
      <vt:lpstr>Times New Roman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H O M E</dc:creator>
  <cp:lastModifiedBy>Ірина Борисенко</cp:lastModifiedBy>
  <cp:revision>4</cp:revision>
  <dcterms:created xsi:type="dcterms:W3CDTF">2006-08-16T00:00:00Z</dcterms:created>
  <dcterms:modified xsi:type="dcterms:W3CDTF">2026-09-02T16:40:03Z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0x010100CCE969D0E7CF8B45BF82E61A64A9492C</vt:lpwstr>
  </property>
</Properties>
</file>