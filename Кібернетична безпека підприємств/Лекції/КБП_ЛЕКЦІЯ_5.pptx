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9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73" r:id="rId3"/>
    <p:sldId id="280" r:id="rId4"/>
    <p:sldId id="278" r:id="rId5"/>
    <p:sldId id="279" r:id="rId6"/>
    <p:sldId id="285" r:id="rId7"/>
    <p:sldId id="293" r:id="rId8"/>
    <p:sldId id="281" r:id="rId9"/>
    <p:sldId id="290" r:id="rId10"/>
    <p:sldId id="294" r:id="rId11"/>
    <p:sldId id="295" r:id="rId12"/>
    <p:sldId id="296" r:id="rId13"/>
    <p:sldId id="282" r:id="rId14"/>
    <p:sldId id="284" r:id="rId15"/>
    <p:sldId id="297" r:id="rId16"/>
    <p:sldId id="298" r:id="rId17"/>
    <p:sldId id="299" r:id="rId18"/>
    <p:sldId id="300" r:id="rId19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2" d="100"/>
          <a:sy n="62" d="100"/>
        </p:scale>
        <p:origin x="667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23" y="-152400"/>
            <a:ext cx="16535613" cy="929640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2260600" y="603976"/>
            <a:ext cx="1038267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МІНІСТЕРСТВО ОСВІТИ І НАУКИ УКРАЇНИ 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ctr" fontAlgn="base"/>
            <a:r>
              <a:rPr lang="ru-RU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Київський</a:t>
            </a:r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національний</a:t>
            </a:r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університет</a:t>
            </a:r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імені</a:t>
            </a:r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Тараса </a:t>
            </a:r>
            <a:r>
              <a:rPr lang="ru-RU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ШЕВЧЕНКА </a:t>
            </a:r>
            <a:r>
              <a:rPr 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fontAlgn="base"/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</a:t>
            </a:r>
            <a:r>
              <a:rPr lang="ru-RU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інформаційних</a:t>
            </a:r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 та </a:t>
            </a:r>
            <a:r>
              <a:rPr lang="ru-RU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технологій</a:t>
            </a:r>
            <a:endParaRPr lang="ru-RU" sz="2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reeform 6"/>
          <p:cNvSpPr/>
          <p:nvPr/>
        </p:nvSpPr>
        <p:spPr>
          <a:xfrm>
            <a:off x="13766800" y="381000"/>
            <a:ext cx="1710288" cy="1754141"/>
          </a:xfrm>
          <a:custGeom>
            <a:avLst/>
            <a:gdLst/>
            <a:ahLst/>
            <a:cxnLst/>
            <a:rect l="l" t="t" r="r" b="b"/>
            <a:pathLst>
              <a:path w="1710288" h="1754141">
                <a:moveTo>
                  <a:pt x="0" y="0"/>
                </a:moveTo>
                <a:lnTo>
                  <a:pt x="1710288" y="0"/>
                </a:lnTo>
                <a:lnTo>
                  <a:pt x="1710288" y="1754141"/>
                </a:lnTo>
                <a:lnTo>
                  <a:pt x="0" y="17541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 txBox="1">
            <a:spLocks/>
          </p:cNvSpPr>
          <p:nvPr/>
        </p:nvSpPr>
        <p:spPr>
          <a:xfrm>
            <a:off x="1498600" y="2861810"/>
            <a:ext cx="13792200" cy="104921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КІБЕРНЕТИЧНА БЕЗПЕКА ПІДПРИЄМСТВА</a:t>
            </a:r>
            <a:endParaRPr lang="en-US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 txBox="1">
            <a:spLocks/>
          </p:cNvSpPr>
          <p:nvPr/>
        </p:nvSpPr>
        <p:spPr>
          <a:xfrm>
            <a:off x="1803400" y="4783865"/>
            <a:ext cx="12649200" cy="1732005"/>
          </a:xfrm>
          <a:prstGeom prst="rect">
            <a:avLst/>
          </a:prstGeom>
        </p:spPr>
        <p:txBody>
          <a:bodyPr rtlCol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ЛЕКЦІЯ 5. 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ОРГАНІЗАЦІЙНИЙ ТА ПРОЦЕДУРНИЙ РІВЕНЬ КІБЕРНЕТИЧНОЇ БЕЗПЕКИ ПІДПРИЄМСТВА 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одзаголовок 3"/>
          <p:cNvSpPr txBox="1">
            <a:spLocks/>
          </p:cNvSpPr>
          <p:nvPr/>
        </p:nvSpPr>
        <p:spPr>
          <a:xfrm>
            <a:off x="7594600" y="6575457"/>
            <a:ext cx="7253654" cy="86142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uk-UA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к. т. н. , доцент кафедри ІСТ  Ірина Борисенко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8497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2378"/>
            <a:ext cx="16256000" cy="9226378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 txBox="1">
            <a:spLocks/>
          </p:cNvSpPr>
          <p:nvPr/>
        </p:nvSpPr>
        <p:spPr>
          <a:xfrm>
            <a:off x="355600" y="2438400"/>
            <a:ext cx="14401800" cy="3352800"/>
          </a:xfrm>
          <a:prstGeom prst="rect">
            <a:avLst/>
          </a:prstGeom>
        </p:spPr>
        <p:txBody>
          <a:bodyPr rtlCol="0">
            <a:normAutofit fontScale="9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ПЛАН:</a:t>
            </a:r>
          </a:p>
          <a:p>
            <a:endParaRPr lang="ru-RU" sz="4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indent="-742950" algn="just">
              <a:buAutoNum type="arabicPeriod"/>
            </a:pPr>
            <a:r>
              <a:rPr lang="ru-RU" sz="4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Реагування</a:t>
            </a:r>
            <a:r>
              <a:rPr lang="ru-RU" sz="4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</a:t>
            </a:r>
            <a:r>
              <a:rPr lang="ru-RU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інциденти</a:t>
            </a:r>
            <a:r>
              <a:rPr lang="ru-RU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indent="-742950" algn="just">
              <a:buAutoNum type="arabicPeriod"/>
            </a:pPr>
            <a:r>
              <a:rPr lang="ru-RU" sz="4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Аспекти</a:t>
            </a:r>
            <a:r>
              <a:rPr lang="ru-RU" sz="4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інформаційної</a:t>
            </a:r>
            <a:r>
              <a:rPr lang="ru-RU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безпеки</a:t>
            </a:r>
            <a:r>
              <a:rPr lang="ru-RU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управління</a:t>
            </a:r>
            <a:r>
              <a:rPr lang="ru-RU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безперервністю</a:t>
            </a:r>
            <a:r>
              <a:rPr lang="ru-RU" sz="4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бізнесу</a:t>
            </a:r>
            <a:r>
              <a:rPr lang="ru-RU" sz="4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indent="-742950" algn="just">
              <a:buAutoNum type="arabicPeriod"/>
            </a:pPr>
            <a:r>
              <a:rPr lang="ru-RU" sz="4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Політика</a:t>
            </a:r>
            <a:r>
              <a:rPr lang="ru-RU" sz="4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інформаційної</a:t>
            </a:r>
            <a:r>
              <a:rPr lang="ru-RU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безпеки</a:t>
            </a:r>
            <a:endParaRPr lang="ru-RU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57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9151"/>
            <a:ext cx="16256000" cy="9226378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 txBox="1">
            <a:spLocks/>
          </p:cNvSpPr>
          <p:nvPr/>
        </p:nvSpPr>
        <p:spPr>
          <a:xfrm>
            <a:off x="1193800" y="3733800"/>
            <a:ext cx="13487400" cy="3352800"/>
          </a:xfrm>
          <a:prstGeom prst="rect">
            <a:avLst/>
          </a:prstGeom>
        </p:spPr>
        <p:txBody>
          <a:bodyPr rtlCol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42950" indent="-742950">
              <a:buAutoNum type="arabicPeriod"/>
            </a:pPr>
            <a:r>
              <a:rPr lang="ru-RU" sz="4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РЕАГУВАННЯ НА ІНЦИДЕНТИ </a:t>
            </a:r>
          </a:p>
          <a:p>
            <a:pPr marL="514350" indent="-514350">
              <a:buAutoNum type="arabicPeriod"/>
            </a:pP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2119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5605"/>
            <a:ext cx="16256000" cy="9226378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134" y="228600"/>
            <a:ext cx="15755731" cy="838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926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Скругленная прямоугольная выноска 5"/>
          <p:cNvSpPr/>
          <p:nvPr/>
        </p:nvSpPr>
        <p:spPr>
          <a:xfrm>
            <a:off x="10109200" y="1143000"/>
            <a:ext cx="5562600" cy="6553200"/>
          </a:xfrm>
          <a:prstGeom prst="wedgeRoundRectCallou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4735"/>
            <a:ext cx="16256000" cy="9226378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084" y="266700"/>
            <a:ext cx="15665831" cy="830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994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Скругленная прямоугольная выноска 5"/>
          <p:cNvSpPr/>
          <p:nvPr/>
        </p:nvSpPr>
        <p:spPr>
          <a:xfrm>
            <a:off x="10109200" y="1143000"/>
            <a:ext cx="5562600" cy="6553200"/>
          </a:xfrm>
          <a:prstGeom prst="wedgeRoundRectCallou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4735"/>
            <a:ext cx="16256000" cy="9226378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28600"/>
            <a:ext cx="15468600" cy="850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81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Скругленная прямоугольная выноска 5"/>
          <p:cNvSpPr/>
          <p:nvPr/>
        </p:nvSpPr>
        <p:spPr>
          <a:xfrm>
            <a:off x="10109200" y="1143000"/>
            <a:ext cx="5562600" cy="6553200"/>
          </a:xfrm>
          <a:prstGeom prst="wedgeRoundRectCallou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4735"/>
            <a:ext cx="16256000" cy="9226378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228600"/>
            <a:ext cx="16099704" cy="861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900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2378"/>
            <a:ext cx="16256000" cy="9226378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 txBox="1">
            <a:spLocks/>
          </p:cNvSpPr>
          <p:nvPr/>
        </p:nvSpPr>
        <p:spPr>
          <a:xfrm>
            <a:off x="1270000" y="3352800"/>
            <a:ext cx="13487400" cy="3352800"/>
          </a:xfrm>
          <a:prstGeom prst="rect">
            <a:avLst/>
          </a:prstGeom>
        </p:spPr>
        <p:txBody>
          <a:bodyPr rtlCol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4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4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АСПЕКТИ ІНФОРМАЦІЙНОЇ БЕЗПЕКИ УПРАВЛІННЯ БЕЗПЕРЕРВНІСТЮ БІЗНЕСУ </a:t>
            </a:r>
          </a:p>
          <a:p>
            <a:pPr marL="514350" indent="-514350">
              <a:buAutoNum type="arabicPeriod"/>
            </a:pP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4757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2378"/>
            <a:ext cx="16256000" cy="9226378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199" y="380999"/>
            <a:ext cx="14706601" cy="8088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082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2378"/>
            <a:ext cx="16256000" cy="9226378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604" y="228600"/>
            <a:ext cx="15840791" cy="845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140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2378"/>
            <a:ext cx="16256000" cy="9226378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" y="381000"/>
            <a:ext cx="15224167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026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2378"/>
            <a:ext cx="16256000" cy="9226378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" y="381000"/>
            <a:ext cx="15377114" cy="830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5867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1600" y="-82378"/>
            <a:ext cx="16256000" cy="9226378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 txBox="1">
            <a:spLocks/>
          </p:cNvSpPr>
          <p:nvPr/>
        </p:nvSpPr>
        <p:spPr>
          <a:xfrm>
            <a:off x="2565400" y="3657600"/>
            <a:ext cx="11658600" cy="3352800"/>
          </a:xfrm>
          <a:prstGeom prst="rect">
            <a:avLst/>
          </a:prstGeom>
        </p:spPr>
        <p:txBody>
          <a:bodyPr rtlCol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ru-RU" sz="4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ПОЛІТИКА ІНФОРМАЦІЙНОЇ БЕЗПЕКИ</a:t>
            </a:r>
          </a:p>
          <a:p>
            <a:pPr marL="514350" indent="-514350">
              <a:buAutoNum type="arabicPeriod"/>
            </a:pP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32413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2378"/>
            <a:ext cx="16256000" cy="9226378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799" y="304800"/>
            <a:ext cx="15790143" cy="861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459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2378"/>
            <a:ext cx="16256000" cy="9226378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" y="304800"/>
            <a:ext cx="15452652" cy="830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4702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2378"/>
            <a:ext cx="16256000" cy="9226378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" y="228600"/>
            <a:ext cx="15242794" cy="815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5569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2378"/>
            <a:ext cx="16256000" cy="9226378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" y="152400"/>
            <a:ext cx="15418236" cy="830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8713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23" y="-152400"/>
            <a:ext cx="16535613" cy="929640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2260600" y="603976"/>
            <a:ext cx="1038267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МІНІСТЕРСТВО ОСВІТИ І НАУКИ УКРАЇНИ 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ctr" fontAlgn="base"/>
            <a:r>
              <a:rPr lang="ru-RU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Київський</a:t>
            </a:r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національний</a:t>
            </a:r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університет</a:t>
            </a:r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імені</a:t>
            </a:r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Тараса </a:t>
            </a:r>
            <a:r>
              <a:rPr lang="ru-RU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ШЕВЧЕНКА </a:t>
            </a:r>
            <a:r>
              <a:rPr 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fontAlgn="base"/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</a:t>
            </a:r>
            <a:r>
              <a:rPr lang="ru-RU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інформаційних</a:t>
            </a:r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 та </a:t>
            </a:r>
            <a:r>
              <a:rPr lang="ru-RU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технологій</a:t>
            </a:r>
            <a:endParaRPr lang="ru-RU" sz="2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reeform 6"/>
          <p:cNvSpPr/>
          <p:nvPr/>
        </p:nvSpPr>
        <p:spPr>
          <a:xfrm>
            <a:off x="13766800" y="381000"/>
            <a:ext cx="1710288" cy="1754141"/>
          </a:xfrm>
          <a:custGeom>
            <a:avLst/>
            <a:gdLst/>
            <a:ahLst/>
            <a:cxnLst/>
            <a:rect l="l" t="t" r="r" b="b"/>
            <a:pathLst>
              <a:path w="1710288" h="1754141">
                <a:moveTo>
                  <a:pt x="0" y="0"/>
                </a:moveTo>
                <a:lnTo>
                  <a:pt x="1710288" y="0"/>
                </a:lnTo>
                <a:lnTo>
                  <a:pt x="1710288" y="1754141"/>
                </a:lnTo>
                <a:lnTo>
                  <a:pt x="0" y="17541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 txBox="1">
            <a:spLocks/>
          </p:cNvSpPr>
          <p:nvPr/>
        </p:nvSpPr>
        <p:spPr>
          <a:xfrm>
            <a:off x="1498600" y="2861810"/>
            <a:ext cx="13792200" cy="104921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КІБЕРНЕТИЧНА БЕЗПЕКА ПІДПРИЄМСТВА</a:t>
            </a:r>
            <a:endParaRPr lang="en-US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 txBox="1">
            <a:spLocks/>
          </p:cNvSpPr>
          <p:nvPr/>
        </p:nvSpPr>
        <p:spPr>
          <a:xfrm>
            <a:off x="1803400" y="4783865"/>
            <a:ext cx="12649200" cy="1732005"/>
          </a:xfrm>
          <a:prstGeom prst="rect">
            <a:avLst/>
          </a:prstGeom>
        </p:spPr>
        <p:txBody>
          <a:bodyPr rtlCol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ЛЕКЦІЯ 5. 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ОРГАНІЗАЦІЙНИЙ ТА ПРОЦЕДУРНИЙ РІВЕНЬ КІБЕРНЕТИЧНОЇ БЕЗПЕКИ ПІДПРИЄМСТВА 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одзаголовок 3"/>
          <p:cNvSpPr txBox="1">
            <a:spLocks/>
          </p:cNvSpPr>
          <p:nvPr/>
        </p:nvSpPr>
        <p:spPr>
          <a:xfrm>
            <a:off x="7594600" y="6575457"/>
            <a:ext cx="7253654" cy="86142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uk-UA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к. т. н. , доцент кафедри ІСТ  Ірина Борисенко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2906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CCE969D0E7CF8B45BF82E61A64A9492C" ma:contentTypeVersion="7" ma:contentTypeDescription="Створення нового документа." ma:contentTypeScope="" ma:versionID="a478701e8ede3afbd4a6882c32eef1aa">
  <xsd:schema xmlns:xsd="http://www.w3.org/2001/XMLSchema" xmlns:xs="http://www.w3.org/2001/XMLSchema" xmlns:p="http://schemas.microsoft.com/office/2006/metadata/properties" xmlns:ns2="3695f620-fbe1-4a7a-bb91-0c71b98b2fd0" targetNamespace="http://schemas.microsoft.com/office/2006/metadata/properties" ma:root="true" ma:fieldsID="46f421d175458475962a97513df97c04" ns2:_="">
    <xsd:import namespace="3695f620-fbe1-4a7a-bb91-0c71b98b2fd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95f620-fbe1-4a7a-bb91-0c71b98b2f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вмісту"/>
        <xsd:element ref="dc:title" minOccurs="0" maxOccurs="1" ma:index="4" ma:displayName="Заголовок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63262A7-F0E7-4F03-B484-9FDE50DF1EEF}"/>
</file>

<file path=customXml/itemProps2.xml><?xml version="1.0" encoding="utf-8"?>
<ds:datastoreItem xmlns:ds="http://schemas.openxmlformats.org/officeDocument/2006/customXml" ds:itemID="{FD6AA373-C286-435E-A1FE-A10AA6CB07B3}"/>
</file>

<file path=customXml/itemProps3.xml><?xml version="1.0" encoding="utf-8"?>
<ds:datastoreItem xmlns:ds="http://schemas.openxmlformats.org/officeDocument/2006/customXml" ds:itemID="{845B0EE9-EB2F-470D-B619-C4EE16D6F640}"/>
</file>

<file path=docProps/app.xml><?xml version="1.0" encoding="utf-8"?>
<Properties xmlns="http://schemas.openxmlformats.org/officeDocument/2006/extended-properties" xmlns:vt="http://schemas.openxmlformats.org/officeDocument/2006/docPropsVTypes">
  <TotalTime>357</TotalTime>
  <Words>117</Words>
  <Application>Microsoft Office PowerPoint</Application>
  <PresentationFormat>Произвольный</PresentationFormat>
  <Paragraphs>21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H O M E</dc:creator>
  <cp:lastModifiedBy>Ірина Борисенко</cp:lastModifiedBy>
  <cp:revision>11</cp:revision>
  <dcterms:created xsi:type="dcterms:W3CDTF">2006-08-16T00:00:00Z</dcterms:created>
  <dcterms:modified xsi:type="dcterms:W3CDTF">2026-09-21T08:10:11Z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0x010100CCE969D0E7CF8B45BF82E61A64A9492C</vt:lpwstr>
  </property>
</Properties>
</file>