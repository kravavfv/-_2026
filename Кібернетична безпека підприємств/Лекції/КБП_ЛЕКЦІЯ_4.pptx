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280" r:id="rId4"/>
    <p:sldId id="278" r:id="rId5"/>
    <p:sldId id="279" r:id="rId6"/>
    <p:sldId id="285" r:id="rId7"/>
    <p:sldId id="281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82" r:id="rId16"/>
    <p:sldId id="284" r:id="rId17"/>
    <p:sldId id="283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6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3" y="-152400"/>
            <a:ext cx="16535613" cy="92964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260600" y="603976"/>
            <a:ext cx="103826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/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Київський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національний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університет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імені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Тараса </a:t>
            </a:r>
            <a:r>
              <a:rPr lang="ru-RU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ШЕВЧЕНКА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та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endParaRPr lang="ru-R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6"/>
          <p:cNvSpPr/>
          <p:nvPr/>
        </p:nvSpPr>
        <p:spPr>
          <a:xfrm>
            <a:off x="13766800" y="381000"/>
            <a:ext cx="1710288" cy="1754141"/>
          </a:xfrm>
          <a:custGeom>
            <a:avLst/>
            <a:gdLst/>
            <a:ahLst/>
            <a:cxnLst/>
            <a:rect l="l" t="t" r="r" b="b"/>
            <a:pathLst>
              <a:path w="1710288" h="1754141">
                <a:moveTo>
                  <a:pt x="0" y="0"/>
                </a:moveTo>
                <a:lnTo>
                  <a:pt x="1710288" y="0"/>
                </a:lnTo>
                <a:lnTo>
                  <a:pt x="1710288" y="1754141"/>
                </a:lnTo>
                <a:lnTo>
                  <a:pt x="0" y="175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498600" y="2861810"/>
            <a:ext cx="13792200" cy="1049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КІБЕРНЕТИЧНА БЕЗПЕКА ПІДПРИЄМСТВА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803400" y="4783865"/>
            <a:ext cx="12649200" cy="1732005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ЛЕКЦІЯ </a:t>
            </a:r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ПОРУШНИК У СИСТЕМІ КІБЕРНЕТИЧНОЇ БЕЗПЕКИ ПІДПРИЄМСТВА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одзаголовок 3"/>
          <p:cNvSpPr txBox="1">
            <a:spLocks/>
          </p:cNvSpPr>
          <p:nvPr/>
        </p:nvSpPr>
        <p:spPr>
          <a:xfrm>
            <a:off x="7594600" y="6575457"/>
            <a:ext cx="7253654" cy="8614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к. т. н. , доцент кафедри ІСТ  Ірина Борисенко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497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270000" y="2438400"/>
            <a:ext cx="13487400" cy="33528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ПЛАН:</a:t>
            </a:r>
          </a:p>
          <a:p>
            <a:pPr marL="742950" indent="-742950">
              <a:buAutoNum type="arabicPeriod"/>
            </a:pP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ПОРУШНИКА</a:t>
            </a:r>
          </a:p>
          <a:p>
            <a:pPr marL="742950" indent="-742950">
              <a:buAutoNum type="arabicPeriod"/>
            </a:pP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МОЖЛИВОСТІ ПОРУШНИКА</a:t>
            </a:r>
          </a:p>
          <a:p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3.ОСОБЛИВОСТІ МОДЕЛІ ПОРУШНИКА </a:t>
            </a:r>
            <a:endParaRPr lang="ru-RU" sz="4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IOT-ІНФРАСТРУКТУРІ ПІДПРИЄМСТВА</a:t>
            </a:r>
          </a:p>
          <a:p>
            <a:pPr marL="514350" indent="-514350">
              <a:buAutoNum type="arabicPeriod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9151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193800" y="3733800"/>
            <a:ext cx="13487400" cy="33528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ПОРУШНИКА</a:t>
            </a:r>
          </a:p>
          <a:p>
            <a:pPr marL="514350" indent="-514350">
              <a:buAutoNum type="arabicPeriod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11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605"/>
            <a:ext cx="16256000" cy="922637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214184"/>
            <a:ext cx="13153856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2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ая прямоугольная выноска 5"/>
          <p:cNvSpPr/>
          <p:nvPr/>
        </p:nvSpPr>
        <p:spPr>
          <a:xfrm>
            <a:off x="10109200" y="1143000"/>
            <a:ext cx="5562600" cy="6553200"/>
          </a:xfrm>
          <a:prstGeom prst="wedgeRoundRect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735"/>
            <a:ext cx="16256000" cy="922637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52" y="327509"/>
            <a:ext cx="9383348" cy="857316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0261600" y="1754925"/>
            <a:ext cx="5283200" cy="5605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кібербезпеки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ненавмисний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навмисний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характер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Ненавмисні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виникають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унаслідок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помилок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персоналу,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недостатньої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обізнаності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працівників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неправильного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налаштування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систем,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встановлених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процедур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випадкового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розголошення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Навмисні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пов’язані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цілеспрямованими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діями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суб’єкта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загрози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прагне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вразливості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досягнення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певної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мети.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0490200" y="7696200"/>
            <a:ext cx="47244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0414000" y="1371600"/>
            <a:ext cx="47244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994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ая прямоугольная выноска 5"/>
          <p:cNvSpPr/>
          <p:nvPr/>
        </p:nvSpPr>
        <p:spPr>
          <a:xfrm>
            <a:off x="10109200" y="1143000"/>
            <a:ext cx="5562600" cy="6553200"/>
          </a:xfrm>
          <a:prstGeom prst="wedgeRoundRect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735"/>
            <a:ext cx="16256000" cy="922637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381000"/>
            <a:ext cx="1231805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270000" y="3352800"/>
            <a:ext cx="13487400" cy="33528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МОЖЛИВОСТІ ПОРУШНИКА</a:t>
            </a:r>
          </a:p>
          <a:p>
            <a:pPr marL="514350" indent="-514350">
              <a:buAutoNum type="arabicPeriod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75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279400" y="609600"/>
            <a:ext cx="15697200" cy="7976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Можливості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порушника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Можливості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порушника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attacker ability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щодо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впливу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інформаційні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ресурси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ІТ-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інфраструктуру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бізнес-процеси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можна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представити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вигляді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ієрархічної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класифікації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Перший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можливостей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можливість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використовувати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обмежений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набір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штатного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сервісів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відповідно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наданих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йому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прав доступу. На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цьому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він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здійснювати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перегляд,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введення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передавання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 межах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дозволених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функціональних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можливостей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Другий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можливостей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можливість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створювати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власне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програмне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використовувати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спеціалізовані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інструменти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модифікувати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наявні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компоненти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 метою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розширення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функціональних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можливостей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доступу до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додаткової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передбачати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вразливостей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автоматизацію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певних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дій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обхід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окремих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механізмів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захисту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Третій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можливостей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можливість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безпосередньо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впливати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функціонування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корпоративної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інформаційної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зокрема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програмне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мережеве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обладнання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сервери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бази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автентифікації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засоби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кіберзахисту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На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цьому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вплив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конфігурацію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систем, права доступу та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параметри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функціонування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Четвертий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можливостей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володіє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значним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обсягом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повноважень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технічних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можливостей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співставним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можливостями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привілейованих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адміністративних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Він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змінювати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конфігурацію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корпоративної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ІТ-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впроваджувати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підключати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додаткові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й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технічні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засоби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змінювати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механізми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захисту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отримувати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доступ до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критичних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508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279400" y="391216"/>
            <a:ext cx="15697200" cy="8279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Орієнтовну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класифікацію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працівників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рівнем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потенційного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ризику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можна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таким чином: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Найвищий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ризик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системний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адміністратор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адміністратор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баз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адміністратор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кібербезпеки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адміністратор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хмарної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мережевий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адміністратор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працівники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привілейований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до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критичних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ІТ-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тому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компрометація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їхніх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облікових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призвести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масштабного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порушення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функціонування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Високий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ризик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оператор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інформаційної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фахівець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підготовки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оброблення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системний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програміст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фахівець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фахівець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супроводу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Працівники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цієї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категорії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розширений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до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впливати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функціонування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окремих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та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бізнес-процесів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Середній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ризик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інженер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фахівець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фахівець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мережевої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розробник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прикладного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Їхні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повноваження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зазвичай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обмежені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певними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інформаційними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системами,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програмними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компонентами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технологічними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сегментами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Обмежений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ризик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оператор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периферійного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обладнання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фахівець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технічного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обслуговування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оператор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зв'язку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інформаційної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прикладний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програміст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інші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працівники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окремих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відповідно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своїх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посадових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обов'язків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Низький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ризик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працівники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доступу до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критичних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адміністративних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функцій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ІТ-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інфраструктурою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045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1524000"/>
            <a:ext cx="13105325" cy="737193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622299" y="818730"/>
            <a:ext cx="15011400" cy="2048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Водночас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ризику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не повинен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визначатися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виключно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посадою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працівника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Для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сучасного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його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доцільно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оцінювати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урахуванням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обсягу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фактичних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прав доступу,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критичності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віддаленого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доступу,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привілейованих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облікових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записів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доступу до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хмарних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сервісів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рівня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контролю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дій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потенційних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наслідків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компрометації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його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облікових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153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74650" y="685800"/>
            <a:ext cx="1550670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неможливості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необхідного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безпосередньо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намагатися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отримати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скомпрометувати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облікові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легітимних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шляхом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фішингу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інженерії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повторно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застосованих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слабких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паролів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викрадення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токенів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отримати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фізичний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приміщень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серверного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обладнання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робочих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станцій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використати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вразливості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технічного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несанкціонованого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підвищення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привілеїв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змінити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конфігурацію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систем,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мережевого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обладнання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засобів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кіберзахисту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метою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послаблення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встановленого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захисту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встановити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шкідливе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доступу до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контролю над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пристроями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подальшого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розвитку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атаки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всередині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здійснити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викрадення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модифікацію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знищення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комерційну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технологічну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фінансову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цінність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порушити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доступність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шляхом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надмірного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навантаження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блокування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шифрування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перешкоджають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нормальному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функціонуванню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отримати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несанкціонований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до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корпоративних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мереж,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серверів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баз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хмарних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прикладних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здійснити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компрометацію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засобів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кіберзахисту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зокрема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контролю доступу,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моніторингу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журналювання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виявлення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реагування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кіберінциденти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819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293" y="381000"/>
            <a:ext cx="12771414" cy="853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82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55600" y="821294"/>
            <a:ext cx="15316200" cy="7186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Класифікація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порушників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 характером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дій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 характером і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мотивацією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дій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кібернетичної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безпеки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доцільно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виділити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категорії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Випадковий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працівник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інший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користувач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ненавмисно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порушує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вимоги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політики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кібербезпеки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Причиною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бути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помилки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час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інформаційними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системами,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неправильне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налаштування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обладнання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випадкове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розголошення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відкриття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шкідливого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електронного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Пасивний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обережний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суб'єкт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навмисно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намагається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отримати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доступ до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додаткової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однак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прагне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уникати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виявлення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своїх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дій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використовувати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отримані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облікові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аналізувати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доступні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інформаційні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ресурси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поступово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розширювати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Активний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зловмисник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цілеспрямовано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здійснює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подолання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механізмів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кіберзахисту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Його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метою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бути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викрадення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модифікація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знищення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контролю над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інформаційними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системами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порушення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критичних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бізнес-процесів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Віддалений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суб'єкт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здійснює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вплив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інформаційну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інфраструктуру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мережеві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телекомунікаційні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канали без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безпосередньої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фізичної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присутності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території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підприємства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Організований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високоресурсний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суб'єкт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значні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фінансові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технічні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організаційні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ресурси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спеціалізовані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інструменти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команду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фахівців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Такий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порушник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здійснювати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тривалі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цілеспрямовані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атаки на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підприємство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комбінувати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технічні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організаційні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й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соціальні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методи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впливу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304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600" y="685800"/>
            <a:ext cx="11940515" cy="74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51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384300" y="3733800"/>
            <a:ext cx="13487400" cy="33528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3.ОСОБЛИВОСТІ </a:t>
            </a:r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МОДЕЛІ ПОРУШНИКА </a:t>
            </a:r>
            <a:endParaRPr lang="ru-RU" sz="4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IOT-ІНФРАСТРУКТУРІ ПІДПРИЄМСТВА</a:t>
            </a:r>
          </a:p>
          <a:p>
            <a:pPr marL="514350" indent="-514350">
              <a:buAutoNum type="arabicPeriod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241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689466"/>
            <a:ext cx="11799859" cy="768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59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3" y="-152400"/>
            <a:ext cx="16535613" cy="92964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260600" y="603976"/>
            <a:ext cx="103826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/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Київський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національний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університет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імені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Тараса </a:t>
            </a:r>
            <a:r>
              <a:rPr lang="ru-RU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ШЕВЧЕНКА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та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endParaRPr lang="ru-R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6"/>
          <p:cNvSpPr/>
          <p:nvPr/>
        </p:nvSpPr>
        <p:spPr>
          <a:xfrm>
            <a:off x="13766800" y="381000"/>
            <a:ext cx="1710288" cy="1754141"/>
          </a:xfrm>
          <a:custGeom>
            <a:avLst/>
            <a:gdLst/>
            <a:ahLst/>
            <a:cxnLst/>
            <a:rect l="l" t="t" r="r" b="b"/>
            <a:pathLst>
              <a:path w="1710288" h="1754141">
                <a:moveTo>
                  <a:pt x="0" y="0"/>
                </a:moveTo>
                <a:lnTo>
                  <a:pt x="1710288" y="0"/>
                </a:lnTo>
                <a:lnTo>
                  <a:pt x="1710288" y="1754141"/>
                </a:lnTo>
                <a:lnTo>
                  <a:pt x="0" y="175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498600" y="2861810"/>
            <a:ext cx="13792200" cy="1049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КІБЕРНЕТИЧНА БЕЗПЕКА ПІДПРИЄМСТВА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803400" y="4783865"/>
            <a:ext cx="12649200" cy="1732005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ЛЕКЦІЯ </a:t>
            </a:r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ПОРУШНИК У СИСТЕМІ КІБЕРНЕТИЧНОЇ БЕЗПЕКИ ПІДПРИЄМСТВА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одзаголовок 3"/>
          <p:cNvSpPr txBox="1">
            <a:spLocks/>
          </p:cNvSpPr>
          <p:nvPr/>
        </p:nvSpPr>
        <p:spPr>
          <a:xfrm>
            <a:off x="7594600" y="6575457"/>
            <a:ext cx="7253654" cy="8614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к. т. н. , доцент кафедри ІСТ  Ірина Борисенко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926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CE969D0E7CF8B45BF82E61A64A9492C" ma:contentTypeVersion="7" ma:contentTypeDescription="Створення нового документа." ma:contentTypeScope="" ma:versionID="a478701e8ede3afbd4a6882c32eef1aa">
  <xsd:schema xmlns:xsd="http://www.w3.org/2001/XMLSchema" xmlns:xs="http://www.w3.org/2001/XMLSchema" xmlns:p="http://schemas.microsoft.com/office/2006/metadata/properties" xmlns:ns2="3695f620-fbe1-4a7a-bb91-0c71b98b2fd0" targetNamespace="http://schemas.microsoft.com/office/2006/metadata/properties" ma:root="true" ma:fieldsID="46f421d175458475962a97513df97c04" ns2:_="">
    <xsd:import namespace="3695f620-fbe1-4a7a-bb91-0c71b98b2f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95f620-fbe1-4a7a-bb91-0c71b98b2f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C65ECE-D157-4E5C-AFC6-8A3A82D5DB90}"/>
</file>

<file path=customXml/itemProps2.xml><?xml version="1.0" encoding="utf-8"?>
<ds:datastoreItem xmlns:ds="http://schemas.openxmlformats.org/officeDocument/2006/customXml" ds:itemID="{AF64750E-2B35-4FA2-9E5F-D34FBC1BCD6C}"/>
</file>

<file path=customXml/itemProps3.xml><?xml version="1.0" encoding="utf-8"?>
<ds:datastoreItem xmlns:ds="http://schemas.openxmlformats.org/officeDocument/2006/customXml" ds:itemID="{87A1C2DE-B247-4BE3-A8AF-D777B36F9B51}"/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1056</Words>
  <Application>Microsoft Office PowerPoint</Application>
  <PresentationFormat>Произвольный</PresentationFormat>
  <Paragraphs>53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 O M E</dc:creator>
  <cp:lastModifiedBy>Ірина Борисенко</cp:lastModifiedBy>
  <cp:revision>9</cp:revision>
  <dcterms:created xsi:type="dcterms:W3CDTF">2006-08-16T00:00:00Z</dcterms:created>
  <dcterms:modified xsi:type="dcterms:W3CDTF">2026-09-08T18:55:15Z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0x010100CCE969D0E7CF8B45BF82E61A64A9492C</vt:lpwstr>
  </property>
</Properties>
</file>