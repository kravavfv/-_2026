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0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</a:rPr>
              <a:t>ПР 3. Зони, VLAN і адреси відділення — варіант 08 (Кравченко), блок 10.209.0.0/16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24000" y="684000"/>
            <a:ext cx="2520000" cy="54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Головний офіс / Інтернет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64000" y="1548000"/>
            <a:ext cx="3240000" cy="68400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Маршрутизатор і міжмережевий екран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шлюзи зон = остання корисна адреса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3999" y="1224000"/>
            <a:ext cx="0" cy="324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64000" y="2592000"/>
            <a:ext cx="3240000" cy="612000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Комутатор відділення</a:t>
            </a:r>
          </a:p>
          <a:p>
            <a:pPr algn="ctr"/>
            <a:r>
              <a:rPr sz="1200" b="0">
                <a:solidFill>
                  <a:srgbClr val="000000"/>
                </a:solidFill>
              </a:rPr>
              <a:t>trunk до МЕ, native VLAN 250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3999" y="2232000"/>
            <a:ext cx="0" cy="360000"/>
          </a:xfrm>
          <a:prstGeom prst="line">
            <a:avLst/>
          </a:prstGeom>
          <a:ln w="3810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156000" y="2250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</a:rPr>
              <a:t>802.1Q trunk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52460" y="3600000"/>
            <a:ext cx="10087200" cy="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3999" y="3204000"/>
            <a:ext cx="0" cy="396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52460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9460" y="3888000"/>
            <a:ext cx="1565999" cy="2015999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10 · KASA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Каси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(4 РМ, 2 принтери)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10.209.10.0/28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.14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14 адрес (треба 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33660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50660" y="3888000"/>
            <a:ext cx="1565999" cy="2015999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20 · MANAGERS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Менеджери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(6 РМ)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10.209.20.0/28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.14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14 адрес (треба 9)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14860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31860" y="3888000"/>
            <a:ext cx="1565999" cy="2015999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30 · ABS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Термінали АБС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(3)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10.209.30.0/29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.6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6 адрес (треба 5)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59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313060" y="3888000"/>
            <a:ext cx="1565999" cy="2015999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40 · ATM_POS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Банкомати й POS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(2 + 8)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10.209.40.0/28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.14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14 адрес (треба 13)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77260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94260" y="3888000"/>
            <a:ext cx="1565999" cy="2015999"/>
          </a:xfrm>
          <a:prstGeom prst="roundRect">
            <a:avLst/>
          </a:prstGeom>
          <a:solidFill>
            <a:srgbClr val="EDEDED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50 · IOT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IoT: камери, замки,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датчики, сейф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10.209.50.0/26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.62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62 адрес (треба 36)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58460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75460" y="3888000"/>
            <a:ext cx="1565999" cy="2015999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90 · GUEST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Гостьова Wi-Fi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(80 + 2 ноутб. підрядн.)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10.209.90.0/25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.126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126 адрес (треба 104)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39660" y="3600000"/>
            <a:ext cx="0" cy="288000"/>
          </a:xfrm>
          <a:prstGeom prst="line">
            <a:avLst/>
          </a:prstGeom>
          <a:ln w="22225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356660" y="3888000"/>
            <a:ext cx="1565999" cy="2015999"/>
          </a:xfrm>
          <a:prstGeom prst="roundRect">
            <a:avLst/>
          </a:prstGeom>
          <a:solidFill>
            <a:srgbClr val="DDEBF7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100" b="1">
                <a:solidFill>
                  <a:srgbClr val="000000"/>
                </a:solidFill>
              </a:rPr>
              <a:t>VLAN 100 · MGMT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Керування: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комутатори, AP, МЕ,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станція адм.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/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10.209.100.0/28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шлюз .14</a:t>
            </a:r>
          </a:p>
          <a:p>
            <a:pPr algn="ctr"/>
            <a:r>
              <a:rPr sz="1100" b="0">
                <a:solidFill>
                  <a:srgbClr val="000000"/>
                </a:solidFill>
              </a:rPr>
              <a:t>14 адрес (треба 11)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000" y="6048000"/>
            <a:ext cx="11736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Між зонами трафік іде лише через міжмережевий екран (ACL): гості — тільки в Інтернет; IoT і сейф — доступні лише з MGMT; каси, АБС і POS — до шлюзу ГО. Ноутбуки підрядників — у гостьовій зоні, налаштування обладнання — зі станції адміністратора.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0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</a:rPr>
              <a:t>Схема після нової обставини — варіант 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0000" y="2520000"/>
            <a:ext cx="7848000" cy="144000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/>
            <a:r>
              <a:rPr sz="1600" b="0">
                <a:solidFill>
                  <a:srgbClr val="000000"/>
                </a:solidFill>
              </a:rPr>
              <a:t>Слайд заповнюється після отримання файлу «ПР_3_Нова_обставина_Варіант_08» (крок 4): нові зони NEW1/NEW2 або зміни VLAN.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