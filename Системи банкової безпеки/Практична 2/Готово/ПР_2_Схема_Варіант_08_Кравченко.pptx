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0000" y="108000"/>
            <a:ext cx="11807999" cy="432000"/>
          </a:xfrm>
          <a:prstGeom prst="rect">
            <a:avLst/>
          </a:prstGeom>
          <a:noFill/>
        </p:spPr>
        <p:txBody>
          <a:bodyPr wrap="square" lIns="18000" rIns="18000">
            <a:spAutoFit/>
          </a:bodyPr>
          <a:lstStyle/>
          <a:p>
            <a:pPr algn="ctr"/>
            <a:r>
              <a:rPr sz="2000" b="1">
                <a:solidFill>
                  <a:srgbClr val="1F3864"/>
                </a:solidFill>
              </a:rPr>
              <a:t>ПР 2. Шлях платіжної картки і межі довіри — варіант 08 (Кравченко)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0000" y="2376000"/>
            <a:ext cx="1116000" cy="1007999"/>
          </a:xfrm>
          <a:prstGeom prst="roundRect">
            <a:avLst/>
          </a:prstGeom>
          <a:solidFill>
            <a:srgbClr val="E8EEF7"/>
          </a:solidFill>
          <a:ln w="190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/>
            <a:r>
              <a:rPr sz="1300" b="1">
                <a:solidFill>
                  <a:srgbClr val="000000"/>
                </a:solidFill>
              </a:rPr>
              <a:t>Клієнт</a:t>
            </a:r>
          </a:p>
          <a:p>
            <a:pPr algn="ctr"/>
            <a:r>
              <a:rPr sz="1300" b="1">
                <a:solidFill>
                  <a:srgbClr val="000000"/>
                </a:solidFill>
              </a:rPr>
              <a:t>(картка, ПІН)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25999" y="2376000"/>
            <a:ext cx="1116000" cy="1007999"/>
          </a:xfrm>
          <a:prstGeom prst="roundRect">
            <a:avLst/>
          </a:prstGeom>
          <a:solidFill>
            <a:srgbClr val="E8EEF7"/>
          </a:solidFill>
          <a:ln w="190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/>
            <a:r>
              <a:rPr sz="1300" b="1">
                <a:solidFill>
                  <a:srgbClr val="000000"/>
                </a:solidFill>
              </a:rPr>
              <a:t>POS-термінал</a:t>
            </a:r>
          </a:p>
          <a:p>
            <a:pPr algn="ctr"/>
            <a:r>
              <a:rPr sz="1300" b="1">
                <a:solidFill>
                  <a:srgbClr val="000000"/>
                </a:solidFill>
              </a:rPr>
              <a:t>на касі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71999" y="2376000"/>
            <a:ext cx="1116000" cy="1007999"/>
          </a:xfrm>
          <a:prstGeom prst="roundRect">
            <a:avLst/>
          </a:prstGeom>
          <a:solidFill>
            <a:srgbClr val="E8EEF7"/>
          </a:solidFill>
          <a:ln w="190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/>
            <a:r>
              <a:rPr sz="1300" b="1">
                <a:solidFill>
                  <a:srgbClr val="000000"/>
                </a:solidFill>
              </a:rPr>
              <a:t>Точка доступу</a:t>
            </a:r>
          </a:p>
          <a:p>
            <a:pPr algn="ctr"/>
            <a:r>
              <a:rPr sz="1300" b="1">
                <a:solidFill>
                  <a:srgbClr val="000000"/>
                </a:solidFill>
              </a:rPr>
              <a:t>Wi-Fi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18000" y="2376000"/>
            <a:ext cx="1116000" cy="1007999"/>
          </a:xfrm>
          <a:prstGeom prst="roundRect">
            <a:avLst/>
          </a:prstGeom>
          <a:solidFill>
            <a:srgbClr val="E8EEF7"/>
          </a:solidFill>
          <a:ln w="190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/>
            <a:r>
              <a:rPr sz="1300" b="1">
                <a:solidFill>
                  <a:srgbClr val="000000"/>
                </a:solidFill>
              </a:rPr>
              <a:t>Комутатор</a:t>
            </a:r>
          </a:p>
          <a:p>
            <a:pPr algn="ctr"/>
            <a:r>
              <a:rPr sz="1300" b="1">
                <a:solidFill>
                  <a:srgbClr val="000000"/>
                </a:solidFill>
              </a:rPr>
              <a:t>відділення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63999" y="2376000"/>
            <a:ext cx="1116000" cy="1007999"/>
          </a:xfrm>
          <a:prstGeom prst="roundRect">
            <a:avLst/>
          </a:prstGeom>
          <a:solidFill>
            <a:srgbClr val="E8EEF7"/>
          </a:solidFill>
          <a:ln w="190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/>
            <a:r>
              <a:rPr sz="1300" b="1">
                <a:solidFill>
                  <a:srgbClr val="000000"/>
                </a:solidFill>
              </a:rPr>
              <a:t>Маршрути-</a:t>
            </a:r>
          </a:p>
          <a:p>
            <a:pPr algn="ctr"/>
            <a:r>
              <a:rPr sz="1300" b="1">
                <a:solidFill>
                  <a:srgbClr val="000000"/>
                </a:solidFill>
              </a:rPr>
              <a:t>затор / МЕ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10000" y="2376000"/>
            <a:ext cx="1116000" cy="1007999"/>
          </a:xfrm>
          <a:prstGeom prst="roundRect">
            <a:avLst/>
          </a:prstGeom>
          <a:solidFill>
            <a:srgbClr val="E8EEF7"/>
          </a:solidFill>
          <a:ln w="190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/>
            <a:r>
              <a:rPr sz="1300" b="1">
                <a:solidFill>
                  <a:srgbClr val="000000"/>
                </a:solidFill>
              </a:rPr>
              <a:t>Виділена лінія</a:t>
            </a:r>
          </a:p>
          <a:p>
            <a:pPr algn="ctr"/>
            <a:r>
              <a:rPr sz="1300" b="1">
                <a:solidFill>
                  <a:srgbClr val="000000"/>
                </a:solidFill>
              </a:rPr>
              <a:t>до ГО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656000" y="2376000"/>
            <a:ext cx="1116000" cy="1007999"/>
          </a:xfrm>
          <a:prstGeom prst="roundRect">
            <a:avLst/>
          </a:prstGeom>
          <a:solidFill>
            <a:srgbClr val="E8EEF7"/>
          </a:solidFill>
          <a:ln w="190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/>
            <a:r>
              <a:rPr sz="1300" b="1">
                <a:solidFill>
                  <a:srgbClr val="000000"/>
                </a:solidFill>
              </a:rPr>
              <a:t>Платіжний</a:t>
            </a:r>
          </a:p>
          <a:p>
            <a:pPr algn="ctr"/>
            <a:r>
              <a:rPr sz="1300" b="1">
                <a:solidFill>
                  <a:srgbClr val="000000"/>
                </a:solidFill>
              </a:rPr>
              <a:t>шлюз → АБС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296000" y="2880000"/>
            <a:ext cx="629999" cy="0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242000" y="3006000"/>
            <a:ext cx="737999" cy="432000"/>
          </a:xfrm>
          <a:prstGeom prst="rect">
            <a:avLst/>
          </a:prstGeom>
          <a:noFill/>
        </p:spPr>
        <p:txBody>
          <a:bodyPr wrap="square" lIns="18000" rIns="1800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</a:rPr>
              <a:t>картка,</a:t>
            </a:r>
          </a:p>
          <a:p>
            <a:pPr algn="ctr"/>
            <a:r>
              <a:rPr sz="1000" b="0">
                <a:solidFill>
                  <a:srgbClr val="595959"/>
                </a:solidFill>
              </a:rPr>
              <a:t>ПІН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041999" y="2880000"/>
            <a:ext cx="630000" cy="0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987999" y="3006000"/>
            <a:ext cx="737999" cy="432000"/>
          </a:xfrm>
          <a:prstGeom prst="rect">
            <a:avLst/>
          </a:prstGeom>
          <a:noFill/>
        </p:spPr>
        <p:txBody>
          <a:bodyPr wrap="square" lIns="18000" rIns="1800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</a:rPr>
              <a:t>платіжне</a:t>
            </a:r>
          </a:p>
          <a:p>
            <a:pPr algn="ctr"/>
            <a:r>
              <a:rPr sz="1000" b="0">
                <a:solidFill>
                  <a:srgbClr val="595959"/>
                </a:solidFill>
              </a:rPr>
              <a:t>повідомл.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788000" y="2880000"/>
            <a:ext cx="630000" cy="0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733999" y="3006000"/>
            <a:ext cx="737999" cy="432000"/>
          </a:xfrm>
          <a:prstGeom prst="rect">
            <a:avLst/>
          </a:prstGeom>
          <a:noFill/>
        </p:spPr>
        <p:txBody>
          <a:bodyPr wrap="square" lIns="18000" rIns="1800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</a:rPr>
              <a:t>платіжне</a:t>
            </a:r>
          </a:p>
          <a:p>
            <a:pPr algn="ctr"/>
            <a:r>
              <a:rPr sz="1000" b="0">
                <a:solidFill>
                  <a:srgbClr val="595959"/>
                </a:solidFill>
              </a:rPr>
              <a:t>повідомл.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33999" y="2880000"/>
            <a:ext cx="630000" cy="0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80000" y="3006000"/>
            <a:ext cx="737999" cy="432000"/>
          </a:xfrm>
          <a:prstGeom prst="rect">
            <a:avLst/>
          </a:prstGeom>
          <a:noFill/>
        </p:spPr>
        <p:txBody>
          <a:bodyPr wrap="square" lIns="18000" rIns="1800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</a:rPr>
              <a:t>платіжне</a:t>
            </a:r>
          </a:p>
          <a:p>
            <a:pPr algn="ctr"/>
            <a:r>
              <a:rPr sz="1000" b="0">
                <a:solidFill>
                  <a:srgbClr val="595959"/>
                </a:solidFill>
              </a:rPr>
              <a:t>повідомл.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280000" y="2880000"/>
            <a:ext cx="630000" cy="0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226000" y="3006000"/>
            <a:ext cx="737999" cy="432000"/>
          </a:xfrm>
          <a:prstGeom prst="rect">
            <a:avLst/>
          </a:prstGeom>
          <a:noFill/>
        </p:spPr>
        <p:txBody>
          <a:bodyPr wrap="square" lIns="18000" rIns="1800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</a:rPr>
              <a:t>платіжне</a:t>
            </a:r>
          </a:p>
          <a:p>
            <a:pPr algn="ctr"/>
            <a:r>
              <a:rPr sz="1000" b="0">
                <a:solidFill>
                  <a:srgbClr val="595959"/>
                </a:solidFill>
              </a:rPr>
              <a:t>повідомл.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026000" y="2880000"/>
            <a:ext cx="630000" cy="0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972000" y="3006000"/>
            <a:ext cx="737999" cy="432000"/>
          </a:xfrm>
          <a:prstGeom prst="rect">
            <a:avLst/>
          </a:prstGeom>
          <a:noFill/>
        </p:spPr>
        <p:txBody>
          <a:bodyPr wrap="square" lIns="18000" rIns="1800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</a:rPr>
              <a:t>платіжне</a:t>
            </a:r>
          </a:p>
          <a:p>
            <a:pPr algn="ctr"/>
            <a:r>
              <a:rPr sz="1000" b="0">
                <a:solidFill>
                  <a:srgbClr val="595959"/>
                </a:solidFill>
              </a:rPr>
              <a:t>повідомл.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40000" y="4752000"/>
            <a:ext cx="3744000" cy="792000"/>
          </a:xfrm>
          <a:prstGeom prst="roundRect">
            <a:avLst/>
          </a:prstGeom>
          <a:solidFill>
            <a:srgbClr val="FDE9D9"/>
          </a:solidFill>
          <a:ln w="19050">
            <a:solidFill>
              <a:srgbClr val="1F386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/>
            <a:r>
              <a:rPr sz="1200" b="1">
                <a:solidFill>
                  <a:srgbClr val="000000"/>
                </a:solidFill>
              </a:rPr>
              <a:t>Підрядник-інтегратор мережі й Wi-Fi</a:t>
            </a:r>
          </a:p>
          <a:p>
            <a:pPr algn="ctr"/>
            <a:r>
              <a:rPr sz="1200" b="1">
                <a:solidFill>
                  <a:srgbClr val="000000"/>
                </a:solidFill>
              </a:rPr>
              <a:t>(адміністрування Wi-Fi та комутаторів)</a:t>
            </a:r>
          </a:p>
        </p:txBody>
      </p:sp>
      <p:cxnSp>
        <p:nvCxnSpPr>
          <p:cNvPr id="23" name="Connector 22"/>
          <p:cNvCxnSpPr/>
          <p:nvPr/>
        </p:nvCxnSpPr>
        <p:spPr>
          <a:xfrm flipH="1" flipV="1">
            <a:off x="4230000" y="3383999"/>
            <a:ext cx="216000" cy="1368001"/>
          </a:xfrm>
          <a:prstGeom prst="line">
            <a:avLst/>
          </a:prstGeom>
          <a:ln w="25400">
            <a:solidFill>
              <a:srgbClr val="C55A11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5759999" y="3383999"/>
            <a:ext cx="216000" cy="1368001"/>
          </a:xfrm>
          <a:prstGeom prst="line">
            <a:avLst/>
          </a:prstGeom>
          <a:ln w="25400">
            <a:solidFill>
              <a:srgbClr val="C55A11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155999" y="3816000"/>
            <a:ext cx="2015999" cy="468000"/>
          </a:xfrm>
          <a:prstGeom prst="rect">
            <a:avLst/>
          </a:prstGeom>
          <a:noFill/>
        </p:spPr>
        <p:txBody>
          <a:bodyPr wrap="square" lIns="18000" rIns="18000">
            <a:spAutoFit/>
          </a:bodyPr>
          <a:lstStyle/>
          <a:p>
            <a:pPr algn="ctr"/>
            <a:r>
              <a:rPr sz="1000" b="0">
                <a:solidFill>
                  <a:srgbClr val="C55A11"/>
                </a:solidFill>
              </a:rPr>
              <a:t>команди керування</a:t>
            </a:r>
          </a:p>
          <a:p>
            <a:pPr algn="ctr"/>
            <a:r>
              <a:rPr sz="1000" b="0">
                <a:solidFill>
                  <a:srgbClr val="C55A11"/>
                </a:solidFill>
              </a:rPr>
              <a:t>(SSH / веб-інтерфейс)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610999" y="2051999"/>
            <a:ext cx="0" cy="936001"/>
          </a:xfrm>
          <a:prstGeom prst="line">
            <a:avLst/>
          </a:prstGeom>
          <a:ln w="28575">
            <a:solidFill>
              <a:srgbClr val="C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323000" y="1781999"/>
            <a:ext cx="576000" cy="324000"/>
          </a:xfrm>
          <a:prstGeom prst="rect">
            <a:avLst/>
          </a:prstGeom>
          <a:noFill/>
        </p:spPr>
        <p:txBody>
          <a:bodyPr wrap="square" lIns="18000" rIns="18000">
            <a:spAutoFit/>
          </a:bodyPr>
          <a:lstStyle/>
          <a:p>
            <a:pPr algn="ctr"/>
            <a:r>
              <a:rPr sz="1300" b="1">
                <a:solidFill>
                  <a:srgbClr val="C00000"/>
                </a:solidFill>
              </a:rPr>
              <a:t>M1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356999" y="2051999"/>
            <a:ext cx="0" cy="936001"/>
          </a:xfrm>
          <a:prstGeom prst="line">
            <a:avLst/>
          </a:prstGeom>
          <a:ln w="28575">
            <a:solidFill>
              <a:srgbClr val="C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068999" y="1781999"/>
            <a:ext cx="576000" cy="324000"/>
          </a:xfrm>
          <a:prstGeom prst="rect">
            <a:avLst/>
          </a:prstGeom>
          <a:noFill/>
        </p:spPr>
        <p:txBody>
          <a:bodyPr wrap="square" lIns="18000" rIns="18000">
            <a:spAutoFit/>
          </a:bodyPr>
          <a:lstStyle/>
          <a:p>
            <a:pPr algn="ctr"/>
            <a:r>
              <a:rPr sz="1300" b="1">
                <a:solidFill>
                  <a:srgbClr val="C00000"/>
                </a:solidFill>
              </a:rPr>
              <a:t>M2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103000" y="2051999"/>
            <a:ext cx="0" cy="936001"/>
          </a:xfrm>
          <a:prstGeom prst="line">
            <a:avLst/>
          </a:prstGeom>
          <a:ln w="28575">
            <a:solidFill>
              <a:srgbClr val="C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814999" y="1781999"/>
            <a:ext cx="576000" cy="324000"/>
          </a:xfrm>
          <a:prstGeom prst="rect">
            <a:avLst/>
          </a:prstGeom>
          <a:noFill/>
        </p:spPr>
        <p:txBody>
          <a:bodyPr wrap="square" lIns="18000" rIns="18000">
            <a:spAutoFit/>
          </a:bodyPr>
          <a:lstStyle/>
          <a:p>
            <a:pPr algn="ctr"/>
            <a:r>
              <a:rPr sz="1300" b="1">
                <a:solidFill>
                  <a:srgbClr val="C00000"/>
                </a:solidFill>
              </a:rPr>
              <a:t>M3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595000" y="2051999"/>
            <a:ext cx="0" cy="936001"/>
          </a:xfrm>
          <a:prstGeom prst="line">
            <a:avLst/>
          </a:prstGeom>
          <a:ln w="28575">
            <a:solidFill>
              <a:srgbClr val="C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307000" y="1781999"/>
            <a:ext cx="576000" cy="324000"/>
          </a:xfrm>
          <a:prstGeom prst="rect">
            <a:avLst/>
          </a:prstGeom>
          <a:noFill/>
        </p:spPr>
        <p:txBody>
          <a:bodyPr wrap="square" lIns="18000" rIns="18000">
            <a:spAutoFit/>
          </a:bodyPr>
          <a:lstStyle/>
          <a:p>
            <a:pPr algn="ctr"/>
            <a:r>
              <a:rPr sz="1300" b="1">
                <a:solidFill>
                  <a:srgbClr val="C00000"/>
                </a:solidFill>
              </a:rPr>
              <a:t>M4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0341000" y="2051999"/>
            <a:ext cx="0" cy="936001"/>
          </a:xfrm>
          <a:prstGeom prst="line">
            <a:avLst/>
          </a:prstGeom>
          <a:ln w="28575">
            <a:solidFill>
              <a:srgbClr val="C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10053000" y="1781999"/>
            <a:ext cx="576000" cy="324000"/>
          </a:xfrm>
          <a:prstGeom prst="rect">
            <a:avLst/>
          </a:prstGeom>
          <a:noFill/>
        </p:spPr>
        <p:txBody>
          <a:bodyPr wrap="square" lIns="18000" rIns="18000">
            <a:spAutoFit/>
          </a:bodyPr>
          <a:lstStyle/>
          <a:p>
            <a:pPr algn="ctr"/>
            <a:r>
              <a:rPr sz="1300" b="1">
                <a:solidFill>
                  <a:srgbClr val="C00000"/>
                </a:solidFill>
              </a:rPr>
              <a:t>M5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3096000" y="4464000"/>
            <a:ext cx="4032000" cy="0"/>
          </a:xfrm>
          <a:prstGeom prst="line">
            <a:avLst/>
          </a:prstGeom>
          <a:ln w="28575">
            <a:solidFill>
              <a:srgbClr val="C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163999" y="4302000"/>
            <a:ext cx="576000" cy="324000"/>
          </a:xfrm>
          <a:prstGeom prst="rect">
            <a:avLst/>
          </a:prstGeom>
          <a:noFill/>
        </p:spPr>
        <p:txBody>
          <a:bodyPr wrap="square" lIns="18000" rIns="18000">
            <a:spAutoFit/>
          </a:bodyPr>
          <a:lstStyle/>
          <a:p>
            <a:pPr algn="ctr"/>
            <a:r>
              <a:rPr sz="1300" b="1">
                <a:solidFill>
                  <a:srgbClr val="C00000"/>
                </a:solidFill>
              </a:rPr>
              <a:t>M6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6000" y="5616000"/>
            <a:ext cx="11736000" cy="11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000000"/>
                </a:solidFill>
              </a:rPr>
              <a:t>M1 — Клієнт і картка ↔ POS-термінал на касі (зчитувач картки, ПІН-клавіатура)</a:t>
            </a:r>
          </a:p>
          <a:p>
            <a:r>
              <a:rPr sz="1100">
                <a:solidFill>
                  <a:srgbClr val="000000"/>
                </a:solidFill>
              </a:rPr>
              <a:t>M2 — POS-термінал ↔ Wi-Fi відділення (радіоефір доступний будь-кому поблизу)</a:t>
            </a:r>
          </a:p>
          <a:p>
            <a:r>
              <a:rPr sz="1100">
                <a:solidFill>
                  <a:srgbClr val="000000"/>
                </a:solidFill>
              </a:rPr>
              <a:t>M3 — Точки доступу Wi-Fi ↔ дротова мережа відділення (комутатори, каси, АБС)</a:t>
            </a:r>
          </a:p>
          <a:p>
            <a:r>
              <a:rPr sz="1100">
                <a:solidFill>
                  <a:srgbClr val="000000"/>
                </a:solidFill>
              </a:rPr>
              <a:t>M4 — Маршрутизатор відділення ↔ виділена лінія оператора до головного офісу</a:t>
            </a:r>
          </a:p>
          <a:p>
            <a:r>
              <a:rPr sz="1100">
                <a:solidFill>
                  <a:srgbClr val="000000"/>
                </a:solidFill>
              </a:rPr>
              <a:t>M5 — Головний офіс ↔ платіжний шлюз і АБС у центрі обробки</a:t>
            </a:r>
          </a:p>
          <a:p>
            <a:r>
              <a:rPr sz="1100">
                <a:solidFill>
                  <a:srgbClr val="000000"/>
                </a:solidFill>
              </a:rPr>
              <a:t>M6 — Підрядник-інтегратор ↔ інтерфейси керування Wi-Fi і комутаторів</a:t>
            </a:r>
          </a:p>
          <a:p>
            <a:r>
              <a:rPr sz="1100" i="1">
                <a:solidFill>
                  <a:srgbClr val="595959"/>
                </a:solidFill>
              </a:rPr>
              <a:t>Відповідь шлюзу (схвалено / відхилено) проходить тим самим шляхом у зворотному напрямку.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0000" y="108000"/>
            <a:ext cx="11807999" cy="432000"/>
          </a:xfrm>
          <a:prstGeom prst="rect">
            <a:avLst/>
          </a:prstGeom>
          <a:noFill/>
        </p:spPr>
        <p:txBody>
          <a:bodyPr wrap="square" lIns="18000" rIns="18000">
            <a:spAutoFit/>
          </a:bodyPr>
          <a:lstStyle/>
          <a:p>
            <a:pPr algn="ctr"/>
            <a:r>
              <a:rPr sz="2000" b="1">
                <a:solidFill>
                  <a:srgbClr val="1F3864"/>
                </a:solidFill>
              </a:rPr>
              <a:t>Схема після нової обставини — варіант 08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60000" y="2520000"/>
            <a:ext cx="7848000" cy="1440000"/>
          </a:xfrm>
          <a:prstGeom prst="roundRect">
            <a:avLst/>
          </a:prstGeom>
          <a:solidFill>
            <a:srgbClr val="FFF2CC"/>
          </a:solidFill>
          <a:ln w="190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/>
            <a:r>
              <a:rPr sz="1600" b="0">
                <a:solidFill>
                  <a:srgbClr val="000000"/>
                </a:solidFill>
              </a:rPr>
              <a:t>Слайд заповнюється після отримання файлу «ПР_2_Нова_обставина_Варіант_08» (крок 4): буде додано межу M7, нові вузли й потоки.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