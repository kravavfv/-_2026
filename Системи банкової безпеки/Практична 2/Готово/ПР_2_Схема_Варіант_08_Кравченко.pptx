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0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</a:rPr>
              <a:t>ПР 2. Шлях платіжної картки і межі довіри — варіант 08 (Кравченко)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Клієнт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(картка, ПІН)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5999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POS-термінал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на касі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71999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Точка доступу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Wi-Fi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8000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Комутатор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відділення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3999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Маршрути-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затор / МЕ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10000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Виділена лінія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до ГО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56000" y="2376000"/>
            <a:ext cx="1116000" cy="1007999"/>
          </a:xfrm>
          <a:prstGeom prst="roundRect">
            <a:avLst/>
          </a:prstGeom>
          <a:solidFill>
            <a:srgbClr val="E8EEF7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300" b="1">
                <a:solidFill>
                  <a:srgbClr val="000000"/>
                </a:solidFill>
              </a:rPr>
              <a:t>Платіжний</a:t>
            </a:r>
          </a:p>
          <a:p>
            <a:pPr algn="ctr"/>
            <a:r>
              <a:rPr sz="1300" b="1">
                <a:solidFill>
                  <a:srgbClr val="000000"/>
                </a:solidFill>
              </a:rPr>
              <a:t>шлюз → АБС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96000" y="2880000"/>
            <a:ext cx="629999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242000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картка,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ПІН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41999" y="2880000"/>
            <a:ext cx="6300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87999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платіжне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повідомл.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88000" y="2880000"/>
            <a:ext cx="6300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33999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платіжне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повідомл.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33999" y="2880000"/>
            <a:ext cx="6300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80000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платіжне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повідомл.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80000" y="2880000"/>
            <a:ext cx="6300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6000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платіжне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повідомл.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026000" y="2880000"/>
            <a:ext cx="630000" cy="0"/>
          </a:xfrm>
          <a:prstGeom prst="line">
            <a:avLst/>
          </a:prstGeom>
          <a:ln w="2540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972000" y="3006000"/>
            <a:ext cx="73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</a:rPr>
              <a:t>платіжне</a:t>
            </a:r>
          </a:p>
          <a:p>
            <a:pPr algn="ctr"/>
            <a:r>
              <a:rPr sz="1000" b="0">
                <a:solidFill>
                  <a:srgbClr val="595959"/>
                </a:solidFill>
              </a:rPr>
              <a:t>повідомл.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0" y="4752000"/>
            <a:ext cx="3744000" cy="792000"/>
          </a:xfrm>
          <a:prstGeom prst="roundRect">
            <a:avLst/>
          </a:prstGeom>
          <a:solidFill>
            <a:srgbClr val="FDE9D9"/>
          </a:solidFill>
          <a:ln w="19050">
            <a:solidFill>
              <a:srgbClr val="1F386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Підрядник-інтегратор мережі й Wi-Fi</a:t>
            </a:r>
          </a:p>
          <a:p>
            <a:pPr algn="ctr"/>
            <a:r>
              <a:rPr sz="1200" b="1">
                <a:solidFill>
                  <a:srgbClr val="000000"/>
                </a:solidFill>
              </a:rPr>
              <a:t>(адміністрування Wi-Fi та комутаторів)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4230000" y="3383999"/>
            <a:ext cx="216000" cy="1368001"/>
          </a:xfrm>
          <a:prstGeom prst="line">
            <a:avLst/>
          </a:prstGeom>
          <a:ln w="2540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59999" y="3383999"/>
            <a:ext cx="216000" cy="1368001"/>
          </a:xfrm>
          <a:prstGeom prst="line">
            <a:avLst/>
          </a:prstGeom>
          <a:ln w="25400">
            <a:solidFill>
              <a:srgbClr val="C55A1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155999" y="3816000"/>
            <a:ext cx="2015999" cy="468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000" b="0">
                <a:solidFill>
                  <a:srgbClr val="C55A11"/>
                </a:solidFill>
              </a:rPr>
              <a:t>команди керування</a:t>
            </a:r>
          </a:p>
          <a:p>
            <a:pPr algn="ctr"/>
            <a:r>
              <a:rPr sz="1000" b="0">
                <a:solidFill>
                  <a:srgbClr val="C55A11"/>
                </a:solidFill>
              </a:rPr>
              <a:t>(SSH / веб-інтерфейс)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10999" y="2051999"/>
            <a:ext cx="0" cy="93600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23000" y="1781999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356999" y="2051999"/>
            <a:ext cx="0" cy="93600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68999" y="1781999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03000" y="2051999"/>
            <a:ext cx="0" cy="93600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814999" y="1781999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M3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95000" y="2051999"/>
            <a:ext cx="0" cy="93600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7000" y="1781999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341000" y="2051999"/>
            <a:ext cx="0" cy="936001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53000" y="1781999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M5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96000" y="4464000"/>
            <a:ext cx="4032000" cy="0"/>
          </a:xfrm>
          <a:prstGeom prst="line">
            <a:avLst/>
          </a:prstGeom>
          <a:ln w="285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163999" y="4302000"/>
            <a:ext cx="576000" cy="324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1300" b="1">
                <a:solidFill>
                  <a:srgbClr val="C00000"/>
                </a:solidFill>
              </a:rPr>
              <a:t>M6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6000" y="5616000"/>
            <a:ext cx="11736000" cy="11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0000"/>
                </a:solidFill>
              </a:rPr>
              <a:t>M1 — Клієнт і картка ↔ POS-термінал на касі (зчитувач картки, ПІН-клавіатура)</a:t>
            </a:r>
          </a:p>
          <a:p>
            <a:r>
              <a:rPr sz="1100">
                <a:solidFill>
                  <a:srgbClr val="000000"/>
                </a:solidFill>
              </a:rPr>
              <a:t>M2 — POS-термінал ↔ Wi-Fi відділення (радіоефір доступний будь-кому поблизу)</a:t>
            </a:r>
          </a:p>
          <a:p>
            <a:r>
              <a:rPr sz="1100">
                <a:solidFill>
                  <a:srgbClr val="000000"/>
                </a:solidFill>
              </a:rPr>
              <a:t>M3 — Точки доступу Wi-Fi ↔ дротова мережа відділення (комутатори, каси, АБС)</a:t>
            </a:r>
          </a:p>
          <a:p>
            <a:r>
              <a:rPr sz="1100">
                <a:solidFill>
                  <a:srgbClr val="000000"/>
                </a:solidFill>
              </a:rPr>
              <a:t>M4 — Маршрутизатор відділення ↔ виділена лінія оператора до головного офісу</a:t>
            </a:r>
          </a:p>
          <a:p>
            <a:r>
              <a:rPr sz="1100">
                <a:solidFill>
                  <a:srgbClr val="000000"/>
                </a:solidFill>
              </a:rPr>
              <a:t>M5 — Головний офіс ↔ платіжний шлюз і АБС у центрі обробки</a:t>
            </a:r>
          </a:p>
          <a:p>
            <a:r>
              <a:rPr sz="1100">
                <a:solidFill>
                  <a:srgbClr val="000000"/>
                </a:solidFill>
              </a:rPr>
              <a:t>M6 — Підрядник-інтегратор ↔ інтерфейси керування Wi-Fi і комутаторів</a:t>
            </a:r>
          </a:p>
          <a:p>
            <a:r>
              <a:rPr sz="1100" i="1">
                <a:solidFill>
                  <a:srgbClr val="595959"/>
                </a:solidFill>
              </a:rPr>
              <a:t>Відповідь шлюзу (схвалено / відхилено) проходить тим самим шляхом у зворотному напрямку.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11807999" cy="432000"/>
          </a:xfrm>
          <a:prstGeom prst="rect">
            <a:avLst/>
          </a:prstGeom>
          <a:noFill/>
        </p:spPr>
        <p:txBody>
          <a:bodyPr wrap="square" lIns="18000" rIns="18000">
            <a:spAutoFit/>
          </a:bodyPr>
          <a:lstStyle/>
          <a:p>
            <a:pPr algn="ctr"/>
            <a:r>
              <a:rPr sz="2000" b="1">
                <a:solidFill>
                  <a:srgbClr val="1F3864"/>
                </a:solidFill>
              </a:rPr>
              <a:t>Схема після нової обставини — варіант 08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60000" y="2520000"/>
            <a:ext cx="7848000" cy="144000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/>
            <a:r>
              <a:rPr sz="1600" b="0">
                <a:solidFill>
                  <a:srgbClr val="000000"/>
                </a:solidFill>
              </a:rPr>
              <a:t>Слайд заповнюється після отримання файлу «ПР_2_Нова_обставина_Варіант_08» (крок 4): буде додано межу M7, нові вузли й потоки.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